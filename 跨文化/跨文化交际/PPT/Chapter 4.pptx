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7"/>
  </p:notesMasterIdLst>
  <p:handoutMasterIdLst>
    <p:handoutMasterId r:id="rId108"/>
  </p:handoutMasterIdLst>
  <p:sldIdLst>
    <p:sldId id="11519" r:id="rId3"/>
    <p:sldId id="11525" r:id="rId4"/>
    <p:sldId id="11526" r:id="rId5"/>
    <p:sldId id="11527" r:id="rId6"/>
    <p:sldId id="11528" r:id="rId7"/>
    <p:sldId id="11529" r:id="rId8"/>
    <p:sldId id="11530" r:id="rId9"/>
    <p:sldId id="11531" r:id="rId10"/>
    <p:sldId id="11532" r:id="rId11"/>
    <p:sldId id="11533" r:id="rId12"/>
    <p:sldId id="11534" r:id="rId13"/>
    <p:sldId id="11535" r:id="rId14"/>
    <p:sldId id="11536" r:id="rId15"/>
    <p:sldId id="11537" r:id="rId16"/>
    <p:sldId id="11538" r:id="rId17"/>
    <p:sldId id="11539" r:id="rId18"/>
    <p:sldId id="11540" r:id="rId19"/>
    <p:sldId id="11541" r:id="rId20"/>
    <p:sldId id="11542" r:id="rId21"/>
    <p:sldId id="11543" r:id="rId22"/>
    <p:sldId id="11544" r:id="rId23"/>
    <p:sldId id="11545" r:id="rId24"/>
    <p:sldId id="11546" r:id="rId25"/>
    <p:sldId id="11547" r:id="rId26"/>
    <p:sldId id="11548" r:id="rId27"/>
    <p:sldId id="11549" r:id="rId28"/>
    <p:sldId id="11550" r:id="rId29"/>
    <p:sldId id="11551" r:id="rId30"/>
    <p:sldId id="11552" r:id="rId31"/>
    <p:sldId id="11553" r:id="rId32"/>
    <p:sldId id="11554" r:id="rId33"/>
    <p:sldId id="11555" r:id="rId34"/>
    <p:sldId id="11557" r:id="rId35"/>
    <p:sldId id="11558" r:id="rId36"/>
    <p:sldId id="11556" r:id="rId37"/>
    <p:sldId id="11559" r:id="rId38"/>
    <p:sldId id="11560" r:id="rId39"/>
    <p:sldId id="11561" r:id="rId40"/>
    <p:sldId id="11562" r:id="rId41"/>
    <p:sldId id="11563" r:id="rId42"/>
    <p:sldId id="11565" r:id="rId43"/>
    <p:sldId id="11564" r:id="rId44"/>
    <p:sldId id="11566" r:id="rId45"/>
    <p:sldId id="11567" r:id="rId46"/>
    <p:sldId id="11568" r:id="rId47"/>
    <p:sldId id="11569" r:id="rId48"/>
    <p:sldId id="11570" r:id="rId49"/>
    <p:sldId id="11571" r:id="rId50"/>
    <p:sldId id="11572" r:id="rId51"/>
    <p:sldId id="11573" r:id="rId52"/>
    <p:sldId id="11574" r:id="rId53"/>
    <p:sldId id="11575" r:id="rId54"/>
    <p:sldId id="11576" r:id="rId55"/>
    <p:sldId id="11577" r:id="rId56"/>
    <p:sldId id="11578" r:id="rId57"/>
    <p:sldId id="11579" r:id="rId58"/>
    <p:sldId id="11580" r:id="rId59"/>
    <p:sldId id="11581" r:id="rId60"/>
    <p:sldId id="11582" r:id="rId61"/>
    <p:sldId id="11583" r:id="rId62"/>
    <p:sldId id="11584" r:id="rId63"/>
    <p:sldId id="11585" r:id="rId64"/>
    <p:sldId id="11586" r:id="rId65"/>
    <p:sldId id="11587" r:id="rId66"/>
    <p:sldId id="11588" r:id="rId67"/>
    <p:sldId id="11589" r:id="rId68"/>
    <p:sldId id="11590" r:id="rId69"/>
    <p:sldId id="11591" r:id="rId70"/>
    <p:sldId id="11592" r:id="rId71"/>
    <p:sldId id="11593" r:id="rId72"/>
    <p:sldId id="11594" r:id="rId73"/>
    <p:sldId id="11595" r:id="rId74"/>
    <p:sldId id="11596" r:id="rId75"/>
    <p:sldId id="11597" r:id="rId76"/>
    <p:sldId id="11599" r:id="rId77"/>
    <p:sldId id="11600" r:id="rId78"/>
    <p:sldId id="11598" r:id="rId79"/>
    <p:sldId id="11601" r:id="rId80"/>
    <p:sldId id="11602" r:id="rId81"/>
    <p:sldId id="11627" r:id="rId82"/>
    <p:sldId id="11603" r:id="rId83"/>
    <p:sldId id="11604" r:id="rId84"/>
    <p:sldId id="11605" r:id="rId85"/>
    <p:sldId id="11606" r:id="rId86"/>
    <p:sldId id="11607" r:id="rId87"/>
    <p:sldId id="11609" r:id="rId88"/>
    <p:sldId id="11610" r:id="rId89"/>
    <p:sldId id="11611" r:id="rId90"/>
    <p:sldId id="11612" r:id="rId91"/>
    <p:sldId id="11613" r:id="rId92"/>
    <p:sldId id="11614" r:id="rId93"/>
    <p:sldId id="11615" r:id="rId94"/>
    <p:sldId id="11616" r:id="rId95"/>
    <p:sldId id="11617" r:id="rId96"/>
    <p:sldId id="11618" r:id="rId97"/>
    <p:sldId id="11619" r:id="rId98"/>
    <p:sldId id="11620" r:id="rId99"/>
    <p:sldId id="11621" r:id="rId100"/>
    <p:sldId id="11622" r:id="rId101"/>
    <p:sldId id="11623" r:id="rId102"/>
    <p:sldId id="11624" r:id="rId103"/>
    <p:sldId id="11625" r:id="rId104"/>
    <p:sldId id="11626" r:id="rId105"/>
    <p:sldId id="11520" r:id="rId106"/>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庞门正道标题体" charset="0"/>
        <a:ea typeface="庞门正道标题体" charset="0"/>
        <a:cs typeface="+mn-cs"/>
      </a:defRPr>
    </a:lvl1pPr>
    <a:lvl2pPr marL="457200" lvl="1"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2pPr>
    <a:lvl3pPr marL="914400" lvl="2"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3pPr>
    <a:lvl4pPr marL="1371600" lvl="3"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4pPr>
    <a:lvl5pPr marL="1828800" lvl="4"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5pPr>
    <a:lvl6pPr marL="2286000" lvl="5"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6pPr>
    <a:lvl7pPr marL="2743200" lvl="6"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7pPr>
    <a:lvl8pPr marL="3200400" lvl="7"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8pPr>
    <a:lvl9pPr marL="3657600" lvl="8"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9pPr>
  </p:defaultTextStyle>
  <p:extLst>
    <p:ext uri="{EFAFB233-063F-42B5-8137-9DF3F51BA10A}">
      <p15:sldGuideLst xmlns:p15="http://schemas.microsoft.com/office/powerpoint/2012/main">
        <p15:guide id="1" orient="horz" pos="19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7979"/>
    <a:srgbClr val="44546A"/>
    <a:srgbClr val="FECC66"/>
    <a:srgbClr val="DD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p:restoredTop sz="95317"/>
  </p:normalViewPr>
  <p:slideViewPr>
    <p:cSldViewPr snapToGrid="0" showGuides="1">
      <p:cViewPr varScale="1">
        <p:scale>
          <a:sx n="91" d="100"/>
          <a:sy n="91" d="100"/>
        </p:scale>
        <p:origin x="1128" y="44"/>
      </p:cViewPr>
      <p:guideLst>
        <p:guide orient="horz" pos="1940"/>
        <p:guide pos="2880"/>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notesMaster" Target="notesMasters/notes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handoutMaster" Target="handoutMasters/handout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2022/4/9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08.372"/>
    </inkml:context>
    <inkml:brush xml:id="br0">
      <inkml:brushProperty name="width" value="0.05" units="cm"/>
      <inkml:brushProperty name="height" value="0.05" units="cm"/>
      <inkml:brushProperty name="color" value="#E71224"/>
    </inkml:brush>
  </inkml:definitions>
  <inkml:trace contextRef="#ctx0" brushRef="#br0">1 1 24575,'2026'0'-1365,"-2006"0"-5461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15.052"/>
    </inkml:context>
    <inkml:brush xml:id="br0">
      <inkml:brushProperty name="width" value="0.05" units="cm"/>
      <inkml:brushProperty name="height" value="0.05" units="cm"/>
      <inkml:brushProperty name="color" value="#E71224"/>
    </inkml:brush>
  </inkml:definitions>
  <inkml:trace contextRef="#ctx0" brushRef="#br0">0 42 24575,'0'0'0,"1"1"0,-1-1 0,0 1 0,0 0 0,0-1 0,0 1 0,1-1 0,-1 1 0,0-1 0,1 1 0,-1-1 0,0 1 0,1-1 0,-1 1 0,0-1 0,1 1 0,-1-1 0,1 0 0,-1 1 0,1-1 0,-1 0 0,1 1 0,-1-1 0,1 0 0,0 0 0,-1 1 0,1-1 0,-1 0 0,1 0 0,0 0 0,-1 0 0,1 0 0,-1 0 0,2 0 0,22-2 0,0-6 0,4-2 0,-1 1 0,1 2 0,1 1 0,-1 1 0,46-2 0,1199 9 0,-831-2 0,-395 4-1365,-29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2:16.716"/>
    </inkml:context>
    <inkml:brush xml:id="br0">
      <inkml:brushProperty name="width" value="0.05" units="cm"/>
      <inkml:brushProperty name="height" value="0.05" units="cm"/>
      <inkml:brushProperty name="color" value="#E71224"/>
    </inkml:brush>
  </inkml:definitions>
  <inkml:trace contextRef="#ctx0" brushRef="#br0">1 1 24575,'2183'0'-1365,"-2161"0"-5461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2:31.209"/>
    </inkml:context>
    <inkml:brush xml:id="br0">
      <inkml:brushProperty name="width" value="0.05" units="cm"/>
      <inkml:brushProperty name="height" value="0.05" units="cm"/>
      <inkml:brushProperty name="color" value="#E71224"/>
    </inkml:brush>
  </inkml:definitions>
  <inkml:trace contextRef="#ctx0" brushRef="#br0">1 21 24575,'134'-10'0,"3"-1"0,1319 12 0,-1331 9 337,-16 0-2039,-91-9-5124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2:58.939"/>
    </inkml:context>
    <inkml:brush xml:id="br0">
      <inkml:brushProperty name="width" value="0.05" units="cm"/>
      <inkml:brushProperty name="height" value="0.05" units="cm"/>
      <inkml:brushProperty name="color" value="#E71224"/>
    </inkml:brush>
  </inkml:definitions>
  <inkml:trace contextRef="#ctx0" brushRef="#br0">1 21 24575,'0'0'0,"0"-1"0,1 0 0,-1 0 0,0 1 0,1-1 0,-1 0 0,1 1 0,-1-1 0,1 0 0,-1 1 0,1-1 0,0 1 0,-1-1 0,1 1 0,-1-1 0,1 1 0,0-1 0,0 1 0,-1 0 0,1-1 0,0 1 0,0 0 0,-1 0 0,1-1 0,0 1 0,0 0 0,0 0 0,0 0 0,30-3 0,-25 3 0,345-4 0,-193 6 0,246-2-1365,-385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32.460"/>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33.251"/>
    </inkml:context>
    <inkml:brush xml:id="br0">
      <inkml:brushProperty name="width" value="0.05" units="cm"/>
      <inkml:brushProperty name="height" value="0.05" units="cm"/>
      <inkml:brushProperty name="color" value="#E71224"/>
    </inkml:brush>
  </inkml:definitions>
  <inkml:trace contextRef="#ctx0" brushRef="#br0">1 1 24575,'0'3'0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33.655"/>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34.006"/>
    </inkml:context>
    <inkml:brush xml:id="br0">
      <inkml:brushProperty name="width" value="0.05" units="cm"/>
      <inkml:brushProperty name="height" value="0.05" units="cm"/>
      <inkml:brushProperty name="color" value="#E71224"/>
    </inkml:brush>
  </inkml:definitions>
  <inkml:trace contextRef="#ctx0" brushRef="#br0">134 0 24575,'-4'0'0,"-7"0"0,-5 0 0,-6 0 0,-4 0 0,-3 0 0,4 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3:34.611"/>
    </inkml:context>
    <inkml:brush xml:id="br0">
      <inkml:brushProperty name="width" value="0.05" units="cm"/>
      <inkml:brushProperty name="height" value="0.05" units="cm"/>
      <inkml:brushProperty name="color" value="#E71224"/>
    </inkml:brush>
  </inkml:definitions>
  <inkml:trace contextRef="#ctx0" brushRef="#br0">71 1 24575,'-7'0'0,"-5"0"0,-4 0 0,-3 0 0,2 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1T10:24:08.053"/>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FE26FED-0DD7-4A82-A311-86EEE75CA699}" type="datetimeFigureOut">
              <a:rPr lang="zh-CN" altLang="en-US" strike="noStrike" noProof="1" smtClean="0">
                <a:latin typeface="+mn-lt"/>
                <a:ea typeface="+mn-ea"/>
                <a:cs typeface="+mn-cs"/>
              </a:rPr>
              <a:t>2022/4/9</a:t>
            </a:fld>
            <a:endParaRPr lang="zh-CN" altLang="en-US" strike="noStrike" noProof="1"/>
          </a:p>
        </p:txBody>
      </p:sp>
      <p:sp>
        <p:nvSpPr>
          <p:cNvPr id="819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819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p>
          <a:p>
            <a:pPr lvl="1" indent="0"/>
            <a:r>
              <a:rPr lang="zh-CN" altLang="en-US"/>
              <a:t>二级</a:t>
            </a:r>
          </a:p>
          <a:p>
            <a:pPr lvl="2" indent="0"/>
            <a:r>
              <a:rPr lang="zh-CN" altLang="en-US"/>
              <a:t>三级</a:t>
            </a:r>
          </a:p>
          <a:p>
            <a:pPr lvl="3" indent="0"/>
            <a:r>
              <a:rPr lang="zh-CN" altLang="en-US"/>
              <a:t>四级</a:t>
            </a:r>
          </a:p>
          <a:p>
            <a:pPr lvl="4" indent="0"/>
            <a:r>
              <a:rPr lang="zh-CN" altLang="en-US"/>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4E61829-E50B-4091-AE21-893680968DF2}"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66763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923342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580250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147978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880418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6892470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4844595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5141185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6689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2261365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706564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t>‹#›</a:t>
            </a:fld>
            <a:endParaRPr lang="zh-CN" altLang="en-US">
              <a:solidFill>
                <a:srgbClr val="000000"/>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30461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hyperlink" Target="videos/Low%20Context%20vs%20High%20Context%20Societies.flv" TargetMode="External"/><Relationship Id="rId4" Type="http://schemas.openxmlformats.org/officeDocument/2006/relationships/hyperlink" Target="videos/What%20Is%20The%20Difference%20Between%20a%20High-Context%20and%20Low-Context%20Culture_&#36229;&#28165;.kux"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5.png"/><Relationship Id="rId1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customXml" Target="../ink/ink7.xml"/><Relationship Id="rId17" Type="http://schemas.openxmlformats.org/officeDocument/2006/relationships/customXml" Target="../ink/ink10.xml"/><Relationship Id="rId2" Type="http://schemas.openxmlformats.org/officeDocument/2006/relationships/image" Target="../media/image2.jpeg"/><Relationship Id="rId16" Type="http://schemas.openxmlformats.org/officeDocument/2006/relationships/image" Target="../media/image16.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customXml" Target="../ink/ink4.xml"/><Relationship Id="rId11" Type="http://schemas.openxmlformats.org/officeDocument/2006/relationships/image" Target="../media/image14.png"/><Relationship Id="rId5" Type="http://schemas.openxmlformats.org/officeDocument/2006/relationships/image" Target="../media/image11.png"/><Relationship Id="rId15" Type="http://schemas.openxmlformats.org/officeDocument/2006/relationships/customXml" Target="../ink/ink9.xml"/><Relationship Id="rId10" Type="http://schemas.openxmlformats.org/officeDocument/2006/relationships/customXml" Target="../ink/ink6.xml"/><Relationship Id="rId19" Type="http://schemas.openxmlformats.org/officeDocument/2006/relationships/customXml" Target="../ink/ink11.xml"/><Relationship Id="rId4" Type="http://schemas.openxmlformats.org/officeDocument/2006/relationships/customXml" Target="../ink/ink3.xml"/><Relationship Id="rId9" Type="http://schemas.openxmlformats.org/officeDocument/2006/relationships/image" Target="../media/image13.png"/><Relationship Id="rId14" Type="http://schemas.openxmlformats.org/officeDocument/2006/relationships/customXml" Target="../ink/ink8.xml"/></Relationships>
</file>

<file path=ppt/slides/_rels/slide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hyperlink" Target="videos/short-term%20orientation%20vs%20long-term%20orientation.flv"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3360420" y="1466215"/>
            <a:ext cx="242316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rPr>
              <a:t>Chapter 4 </a:t>
            </a:r>
          </a:p>
        </p:txBody>
      </p:sp>
      <p:sp>
        <p:nvSpPr>
          <p:cNvPr id="4" name="文本框 3"/>
          <p:cNvSpPr txBox="1"/>
          <p:nvPr/>
        </p:nvSpPr>
        <p:spPr>
          <a:xfrm>
            <a:off x="983615" y="3133090"/>
            <a:ext cx="7176770" cy="1322070"/>
          </a:xfrm>
          <a:prstGeom prst="rect">
            <a:avLst/>
          </a:prstGeom>
          <a:noFill/>
        </p:spPr>
        <p:txBody>
          <a:bodyPr wrap="square" rtlCol="0">
            <a:spAutoFit/>
          </a:bodyPr>
          <a:lstStyle/>
          <a:p>
            <a:pPr algn="ctr"/>
            <a:r>
              <a:rPr lang="en-US" altLang="zh-CN" sz="4000" b="1">
                <a:latin typeface="Times New Roman" panose="02020603050405020304" pitchFamily="18" charset="0"/>
                <a:cs typeface="Times New Roman" panose="02020603050405020304" pitchFamily="18" charset="0"/>
              </a:rPr>
              <a:t>Cultural Values:</a:t>
            </a:r>
          </a:p>
          <a:p>
            <a:pPr algn="ctr"/>
            <a:r>
              <a:rPr lang="en-US" altLang="zh-CN" sz="4000" b="1">
                <a:latin typeface="Times New Roman" panose="02020603050405020304" pitchFamily="18" charset="0"/>
                <a:cs typeface="Times New Roman" panose="02020603050405020304" pitchFamily="18" charset="0"/>
              </a:rPr>
              <a:t>Road Maps for Behavior</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3360420" y="1466215"/>
            <a:ext cx="242316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rPr>
              <a:t>Contents </a:t>
            </a:r>
          </a:p>
        </p:txBody>
      </p:sp>
      <p:sp>
        <p:nvSpPr>
          <p:cNvPr id="2" name="文本框 1"/>
          <p:cNvSpPr txBox="1"/>
          <p:nvPr/>
        </p:nvSpPr>
        <p:spPr>
          <a:xfrm>
            <a:off x="473710" y="2254885"/>
            <a:ext cx="8196580" cy="4523105"/>
          </a:xfrm>
          <a:prstGeom prst="rect">
            <a:avLst/>
          </a:prstGeom>
          <a:noFill/>
        </p:spPr>
        <p:txBody>
          <a:bodyPr wrap="square" rtlCol="0">
            <a:spAutoFit/>
          </a:bodyPr>
          <a:lstStyle/>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Perception's Influence</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Beliefs, Values, and Behaviors</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Understanding Cultural Patterns</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Choosing Cultural Patterns</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Applying Cultural Patterns</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Other Cultural Pattern Typologies</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Face and Facework</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Cultural Patterns and Communication</a:t>
            </a:r>
          </a:p>
          <a:p>
            <a:pPr marL="285750" indent="-285750">
              <a:buFont typeface="Arial" panose="020B0604020202020204" pitchFamily="34" charset="0"/>
              <a:buChar char="•"/>
            </a:pPr>
            <a:r>
              <a:rPr lang="en-US" altLang="zh-CN" sz="3200">
                <a:latin typeface="Times New Roman" panose="02020603050405020304" pitchFamily="18" charset="0"/>
                <a:cs typeface="Times New Roman" panose="02020603050405020304" pitchFamily="18" charset="0"/>
              </a:rPr>
              <a:t>Developing Cultural Value Awareness</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6435"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4.1 Perception's Influence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P120</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464820" y="2345690"/>
            <a:ext cx="835787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We live in an information-saturated environment. Daily, our senses are barraged with far more physical and psychological stimuli than we can process and interpret. To survive, we engage in a </a:t>
            </a:r>
            <a:r>
              <a:rPr lang="en-US" altLang="zh-CN" sz="2400" b="1" i="1" dirty="0">
                <a:solidFill>
                  <a:srgbClr val="FF0000"/>
                </a:solidFill>
                <a:latin typeface="Times New Roman" panose="02020603050405020304" pitchFamily="18" charset="0"/>
                <a:cs typeface="Times New Roman" panose="02020603050405020304" pitchFamily="18" charset="0"/>
              </a:rPr>
              <a:t>three-step process—selection, organization, and interpretation</a:t>
            </a:r>
            <a:r>
              <a:rPr lang="en-US" altLang="zh-CN" sz="2400" dirty="0">
                <a:latin typeface="Times New Roman" panose="02020603050405020304" pitchFamily="18" charset="0"/>
                <a:cs typeface="Times New Roman" panose="02020603050405020304" pitchFamily="18" charset="0"/>
              </a:rPr>
              <a:t>—to manage the stimuli considered important:</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cs typeface="Times New Roman" panose="02020603050405020304" pitchFamily="18" charset="0"/>
              </a:rPr>
              <a:t>selection</a:t>
            </a:r>
            <a:r>
              <a:rPr lang="en-US" altLang="zh-CN" sz="2000" dirty="0">
                <a:latin typeface="Times New Roman" panose="02020603050405020304" pitchFamily="18" charset="0"/>
                <a:cs typeface="Times New Roman" panose="02020603050405020304" pitchFamily="18" charset="0"/>
              </a:rPr>
              <a:t>: we selectively decide which of the stimuli to attend to and which to ignore.</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cs typeface="Times New Roman" panose="02020603050405020304" pitchFamily="18" charset="0"/>
              </a:rPr>
              <a:t>organization</a:t>
            </a:r>
            <a:r>
              <a:rPr lang="en-US" altLang="zh-CN" sz="2000" dirty="0">
                <a:latin typeface="Times New Roman" panose="02020603050405020304" pitchFamily="18" charset="0"/>
                <a:cs typeface="Times New Roman" panose="02020603050405020304" pitchFamily="18" charset="0"/>
              </a:rPr>
              <a:t>: the selected information must be organized, or categorized, after which a meaning is assigned. </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cs typeface="Times New Roman" panose="02020603050405020304" pitchFamily="18" charset="0"/>
              </a:rPr>
              <a:t>interpretation</a:t>
            </a:r>
            <a:r>
              <a:rPr lang="en-US" altLang="zh-CN" sz="2000" dirty="0">
                <a:latin typeface="Times New Roman" panose="02020603050405020304" pitchFamily="18" charset="0"/>
                <a:cs typeface="Times New Roman" panose="02020603050405020304" pitchFamily="18" charset="0"/>
              </a:rPr>
              <a:t>: produces perception of a situation, emotion, or even another person.</a:t>
            </a:r>
          </a:p>
          <a:p>
            <a:pPr algn="just">
              <a:buFont typeface="Arial" panose="020B0604020202020204" pitchFamily="34" charset="0"/>
            </a:pPr>
            <a:r>
              <a:rPr lang="en-US" altLang="zh-CN" sz="2400" dirty="0">
                <a:latin typeface="Times New Roman" panose="02020603050405020304" pitchFamily="18" charset="0"/>
                <a:cs typeface="Times New Roman" panose="02020603050405020304" pitchFamily="18" charset="0"/>
              </a:rPr>
              <a:t>    In its simplest form, perception is how we make sense of the world, how we construct reality.</a:t>
            </a:r>
          </a:p>
        </p:txBody>
      </p:sp>
      <p:sp>
        <p:nvSpPr>
          <p:cNvPr id="6" name="星形: 五角 5">
            <a:extLst>
              <a:ext uri="{FF2B5EF4-FFF2-40B4-BE49-F238E27FC236}">
                <a16:creationId xmlns:a16="http://schemas.microsoft.com/office/drawing/2014/main" id="{3E443B25-6E9F-41EE-A42F-8AD0A6809800}"/>
              </a:ext>
            </a:extLst>
          </p:cNvPr>
          <p:cNvSpPr/>
          <p:nvPr/>
        </p:nvSpPr>
        <p:spPr>
          <a:xfrm>
            <a:off x="5018731" y="63300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323972" y="1423268"/>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4.1 Perception's Influence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P121</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5" name="文本框 4"/>
          <p:cNvSpPr txBox="1"/>
          <p:nvPr/>
        </p:nvSpPr>
        <p:spPr>
          <a:xfrm>
            <a:off x="393065" y="2054225"/>
            <a:ext cx="8357870" cy="489267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Culture influences one's subjective reality and that there are direct links among culture, perception, and behavior.</a:t>
            </a:r>
          </a:p>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five characteristics of perception</a:t>
            </a:r>
            <a:r>
              <a:rPr lang="en-US" altLang="zh-CN"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cs typeface="Times New Roman" panose="02020603050405020304" pitchFamily="18" charset="0"/>
              </a:rPr>
              <a:t>Perception is selective</a:t>
            </a:r>
            <a:r>
              <a:rPr lang="en-US" altLang="zh-CN" sz="2000" dirty="0">
                <a:latin typeface="Times New Roman" panose="02020603050405020304" pitchFamily="18" charset="0"/>
                <a:cs typeface="Times New Roman" panose="02020603050405020304" pitchFamily="18" charset="0"/>
              </a:rPr>
              <a:t>——Because there are so many stimuli simultaneously competing for the attention of senses, you focus only on selected information and filter out the rest.</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cs typeface="Times New Roman" panose="02020603050405020304" pitchFamily="18" charset="0"/>
              </a:rPr>
              <a:t>Perception is learned</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Life's experiences teach you to see the world in a particular way. </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Perception is culturally determined</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——Culture teaches you the meaning behind most of your experiences.</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Perception is consistent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——Once you perceive something in a particular manner, that interpretation is usually resistant to change.</a:t>
            </a:r>
          </a:p>
          <a:p>
            <a:pPr marL="342900" indent="-342900" algn="just">
              <a:buFont typeface="Arial" panose="020B0604020202020204" pitchFamily="34" charset="0"/>
              <a:buChar char="•"/>
            </a:pPr>
            <a:r>
              <a:rPr lang="en-US" altLang="zh-CN" sz="20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Perception is inaccurate</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——You view the world through a subjective lens influenced by culture, values, and personal experiences. This tends to make you see what you expect or want to see.</a:t>
            </a:r>
          </a:p>
        </p:txBody>
      </p:sp>
      <p:sp>
        <p:nvSpPr>
          <p:cNvPr id="6" name="星形: 五角 5">
            <a:extLst>
              <a:ext uri="{FF2B5EF4-FFF2-40B4-BE49-F238E27FC236}">
                <a16:creationId xmlns:a16="http://schemas.microsoft.com/office/drawing/2014/main" id="{C1625285-3203-413A-A572-709F3A1D4028}"/>
              </a:ext>
            </a:extLst>
          </p:cNvPr>
          <p:cNvSpPr/>
          <p:nvPr/>
        </p:nvSpPr>
        <p:spPr>
          <a:xfrm>
            <a:off x="4969870" y="656169"/>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1199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392430" y="2701290"/>
            <a:ext cx="8357870" cy="1753235"/>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Beliefs</a:t>
            </a:r>
          </a:p>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Values</a:t>
            </a:r>
          </a:p>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Behaviors</a:t>
            </a: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4.2 Beliefs, Values, and Behaviors</a:t>
            </a:r>
            <a:endParaRPr lang="en-US" altLang="zh-CN" sz="4000" b="1">
              <a:latin typeface="Times New Roman" panose="02020603050405020304" pitchFamily="18" charset="0"/>
              <a:cs typeface="Times New Roman" panose="02020603050405020304" pitchFamily="18" charset="0"/>
            </a:endParaRPr>
          </a:p>
        </p:txBody>
      </p:sp>
      <p:sp>
        <p:nvSpPr>
          <p:cNvPr id="6" name="星形: 五角 5">
            <a:extLst>
              <a:ext uri="{FF2B5EF4-FFF2-40B4-BE49-F238E27FC236}">
                <a16:creationId xmlns:a16="http://schemas.microsoft.com/office/drawing/2014/main" id="{866230BB-7476-490D-87F0-192D79716E14}"/>
              </a:ext>
            </a:extLst>
          </p:cNvPr>
          <p:cNvSpPr/>
          <p:nvPr/>
        </p:nvSpPr>
        <p:spPr>
          <a:xfrm>
            <a:off x="4900068" y="663993"/>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55215"/>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393065" y="2479074"/>
            <a:ext cx="8357870" cy="41541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A belief is a concept or idea that an individual or group holds to be true. </a:t>
            </a:r>
            <a:r>
              <a:rPr lang="en-US" altLang="zh-CN" sz="2400" dirty="0">
                <a:latin typeface="Times New Roman" panose="02020603050405020304" pitchFamily="18" charset="0"/>
                <a:cs typeface="Times New Roman" panose="02020603050405020304" pitchFamily="18" charset="0"/>
              </a:rPr>
              <a:t>Beliefs represent one's subjective conviction in the truth of something——with or without proof. The degree to which we believe that an object, event, phenomenon, person, or group of people possesses certain characteristics reflects the level of our subjective probability and, consequently, the depth or intensity of our belief. </a:t>
            </a:r>
          </a:p>
          <a:p>
            <a:pPr algn="just"/>
            <a:r>
              <a:rPr lang="en-US" altLang="zh-CN" sz="2400" dirty="0">
                <a:latin typeface="Times New Roman" panose="02020603050405020304" pitchFamily="18" charset="0"/>
                <a:cs typeface="Times New Roman" panose="02020603050405020304" pitchFamily="18" charset="0"/>
              </a:rPr>
              <a:t>    A shared belief or attitude is usually perceived to be more valid than one that is not shared. When a person holds a certain belief or attitude, knowing that other people share this belief or attitude will increase the person's adherence to his belief or attitude.</a:t>
            </a: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4.2.1 Beliefs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P122</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393065" y="2345690"/>
            <a:ext cx="835787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What makes belief system </a:t>
            </a:r>
            <a:r>
              <a:rPr lang="en-US" altLang="zh-CN" sz="2400" dirty="0">
                <a:solidFill>
                  <a:srgbClr val="FF0000"/>
                </a:solidFill>
                <a:latin typeface="Times New Roman" panose="02020603050405020304" pitchFamily="18" charset="0"/>
                <a:cs typeface="Times New Roman" panose="02020603050405020304" pitchFamily="18" charset="0"/>
              </a:rPr>
              <a:t>important</a:t>
            </a:r>
            <a:r>
              <a:rPr lang="en-US" altLang="zh-CN" sz="2400" dirty="0">
                <a:latin typeface="Times New Roman" panose="02020603050405020304" pitchFamily="18" charset="0"/>
                <a:cs typeface="Times New Roman" panose="02020603050405020304" pitchFamily="18" charset="0"/>
              </a:rPr>
              <a:t> is that </a:t>
            </a:r>
            <a:r>
              <a:rPr lang="en-US" altLang="zh-CN" sz="2400" dirty="0">
                <a:solidFill>
                  <a:srgbClr val="FF0000"/>
                </a:solidFill>
                <a:latin typeface="Times New Roman" panose="02020603050405020304" pitchFamily="18" charset="0"/>
                <a:cs typeface="Times New Roman" panose="02020603050405020304" pitchFamily="18" charset="0"/>
              </a:rPr>
              <a:t>it is learned, and subject to cultural interpretation</a:t>
            </a:r>
            <a:r>
              <a:rPr lang="en-US" altLang="zh-CN" sz="2400" dirty="0">
                <a:latin typeface="Times New Roman" panose="02020603050405020304" pitchFamily="18" charset="0"/>
                <a:cs typeface="Times New Roman" panose="02020603050405020304" pitchFamily="18" charset="0"/>
              </a:rPr>
              <a:t>. Therefore, shared beliefs can come to represent cultural norms, or values, characterizing a large collective of people. But even within a large collective, people may hold beliefs that run counter to the beliefs of others. Thus, beliefs and the cultural values they may produce can both unite and divide. </a:t>
            </a:r>
          </a:p>
          <a:p>
            <a:pPr algn="just"/>
            <a:r>
              <a:rPr lang="en-US" altLang="zh-CN" sz="2400" dirty="0">
                <a:latin typeface="Times New Roman" panose="02020603050405020304" pitchFamily="18" charset="0"/>
                <a:cs typeface="Times New Roman" panose="02020603050405020304" pitchFamily="18" charset="0"/>
              </a:rPr>
              <a:t>    In those situations where you find that someone does not share your beliefs and values, you have to be able to </a:t>
            </a:r>
            <a:r>
              <a:rPr lang="en-US" altLang="zh-CN" sz="2400" dirty="0">
                <a:solidFill>
                  <a:srgbClr val="FF0000"/>
                </a:solidFill>
                <a:latin typeface="Times New Roman" panose="02020603050405020304" pitchFamily="18" charset="0"/>
                <a:cs typeface="Times New Roman" panose="02020603050405020304" pitchFamily="18" charset="0"/>
              </a:rPr>
              <a:t>recognize the importance of other people's beliefs and how those beliefs and values shape their worldview and even their manner of communicating</a:t>
            </a:r>
            <a:r>
              <a:rPr lang="en-US" altLang="zh-CN" sz="2400" dirty="0">
                <a:latin typeface="Times New Roman" panose="02020603050405020304" pitchFamily="18" charset="0"/>
                <a:cs typeface="Times New Roman" panose="02020603050405020304" pitchFamily="18" charset="0"/>
              </a:rPr>
              <a:t>.</a:t>
            </a: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4.2.1 Beliefs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P122</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393065" y="2537460"/>
            <a:ext cx="8357870" cy="415417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Beliefs form the foundation of values. What you consider desirable for yourself and for the society you live in is a product of your values, which can be held both consciously and subconsciously.</a:t>
            </a:r>
          </a:p>
          <a:p>
            <a:pPr algn="just"/>
            <a:r>
              <a:rPr lang="en-US" altLang="zh-CN" sz="2400">
                <a:latin typeface="Times New Roman" panose="02020603050405020304" pitchFamily="18" charset="0"/>
                <a:cs typeface="Times New Roman" panose="02020603050405020304" pitchFamily="18" charset="0"/>
              </a:rPr>
              <a:t>    Although each of us has a unique set of values, there are also values that tend to permeate and characterize a culture. These </a:t>
            </a:r>
            <a:r>
              <a:rPr lang="en-US" altLang="zh-CN" sz="2400" i="1">
                <a:latin typeface="Times New Roman" panose="02020603050405020304" pitchFamily="18" charset="0"/>
                <a:cs typeface="Times New Roman" panose="02020603050405020304" pitchFamily="18" charset="0"/>
              </a:rPr>
              <a:t>cultural values</a:t>
            </a:r>
            <a:r>
              <a:rPr lang="en-US" altLang="zh-CN" sz="2400">
                <a:latin typeface="Times New Roman" panose="02020603050405020304" pitchFamily="18" charset="0"/>
                <a:cs typeface="Times New Roman" panose="02020603050405020304" pitchFamily="18" charset="0"/>
              </a:rPr>
              <a:t> provide a set of guidelines that assist the culture's members in deciding what is good or bad, desirable or undesirable, right or wrong, and appropriate or inappropriate in almost every context of human activity. Varied cultural values can create intercultural conflict at both a personal and an international level.</a:t>
            </a: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4.2.2 Values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P122</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393065" y="2507615"/>
            <a:ext cx="8357870" cy="378460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One's cultural values——like all important aspects of culture——are acquired through a variety of sources (family, history, proverbs, media, school, church, state, etc.) and, therefore, tend to be broad-based, enduring, and relatively stable. A culture's value system establishes the expected, normative modes of behavior for members of that culture and institutes the criteria to judge people's conduct. Unfortunately, during intercultural interactions people have a tendency to apply their own criteria to members of other cultures who usually hold different values. This frequently results in misunderstandings, confusion, and even conflict. </a:t>
            </a: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4.2.2 Values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P123</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4.2.3 Behaviors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P123</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393065" y="2507615"/>
            <a:ext cx="8357870" cy="304609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Behaviors are the outward manifestations of people's internalized beliefs and values. As with almost all things in life, culture also has a regulatory influence on behaviors. Culture tells people the accepted deportment for different social contexts and what is age appropriate, and specifies gender-specific conduct.</a:t>
            </a:r>
          </a:p>
          <a:p>
            <a:pPr algn="just"/>
            <a:r>
              <a:rPr lang="en-US" altLang="zh-CN" sz="2400">
                <a:latin typeface="Times New Roman" panose="02020603050405020304" pitchFamily="18" charset="0"/>
                <a:cs typeface="Times New Roman" panose="02020603050405020304" pitchFamily="18" charset="0"/>
              </a:rPr>
              <a:t>    For the study of intercultural communication, it is also important to know that beliefs and values exert an influence on people's communicative behaviors.</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1" y="1498571"/>
            <a:ext cx="9206821"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4.3 Understanding Cultural Patterns </a:t>
            </a:r>
            <a:r>
              <a:rPr lang="en-US" altLang="zh-CN" sz="3200" dirty="0">
                <a:highlight>
                  <a:srgbClr val="FFFF00"/>
                </a:highlight>
                <a:latin typeface="Times New Roman" panose="02020603050405020304" pitchFamily="18" charset="0"/>
                <a:cs typeface="Times New Roman" panose="02020603050405020304" pitchFamily="18" charset="0"/>
                <a:sym typeface="+mn-ea"/>
              </a:rPr>
              <a:t>P124</a:t>
            </a:r>
            <a:endParaRPr lang="en-US" altLang="zh-CN" sz="3200"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393065" y="2507615"/>
            <a:ext cx="835787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Cultural patterns</a:t>
            </a:r>
            <a:r>
              <a:rPr lang="en-US" altLang="zh-CN" sz="2400" dirty="0">
                <a:latin typeface="Times New Roman" panose="02020603050405020304" pitchFamily="18" charset="0"/>
                <a:cs typeface="Times New Roman" panose="02020603050405020304" pitchFamily="18" charset="0"/>
              </a:rPr>
              <a:t>, sometimes called value orientations, is an umbrella term used to collectively describe those cultural values that characterize the dominant group within a culture. The term refers to culturally based beliefs, values, attitudes, and behaviors shared by members of a particular culture. These patterns encompass the conditions that contribute to a social group's perception of the world and how they live in that world. </a:t>
            </a:r>
          </a:p>
          <a:p>
            <a:pPr algn="just"/>
            <a:r>
              <a:rPr lang="en-US" altLang="zh-CN" sz="2400" dirty="0">
                <a:latin typeface="Times New Roman" panose="02020603050405020304" pitchFamily="18" charset="0"/>
                <a:cs typeface="Times New Roman" panose="02020603050405020304" pitchFamily="18" charset="0"/>
              </a:rPr>
              <a:t>    The application of cultural patterns in the study of intercultural communication is beneficial because such patterns offer a systematic structure to help identify and examine recurring values.</a:t>
            </a:r>
          </a:p>
        </p:txBody>
      </p:sp>
      <p:sp>
        <p:nvSpPr>
          <p:cNvPr id="6" name="星形: 五角 5">
            <a:extLst>
              <a:ext uri="{FF2B5EF4-FFF2-40B4-BE49-F238E27FC236}">
                <a16:creationId xmlns:a16="http://schemas.microsoft.com/office/drawing/2014/main" id="{203169AE-A198-4A3F-8C74-3385063913F2}"/>
              </a:ext>
            </a:extLst>
          </p:cNvPr>
          <p:cNvSpPr/>
          <p:nvPr/>
        </p:nvSpPr>
        <p:spPr>
          <a:xfrm>
            <a:off x="4900068" y="663993"/>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77631"/>
            <a:ext cx="9318504"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4.3 Understanding Cultural Patterns </a:t>
            </a:r>
            <a:r>
              <a:rPr lang="en-US" altLang="zh-CN" sz="2800" dirty="0">
                <a:highlight>
                  <a:srgbClr val="FFFF00"/>
                </a:highlight>
                <a:latin typeface="Times New Roman" panose="02020603050405020304" pitchFamily="18" charset="0"/>
                <a:cs typeface="Times New Roman" panose="02020603050405020304" pitchFamily="18" charset="0"/>
                <a:sym typeface="+mn-ea"/>
              </a:rPr>
              <a:t>P124</a:t>
            </a:r>
            <a:endParaRPr lang="en-US" altLang="zh-CN" sz="2800" dirty="0">
              <a:highlight>
                <a:srgbClr val="FFFF00"/>
              </a:highlight>
              <a:latin typeface="Times New Roman" panose="02020603050405020304" pitchFamily="18" charset="0"/>
              <a:cs typeface="Times New Roman" panose="02020603050405020304" pitchFamily="18" charset="0"/>
            </a:endParaRPr>
          </a:p>
        </p:txBody>
      </p:sp>
      <p:sp>
        <p:nvSpPr>
          <p:cNvPr id="6" name="文本框 5"/>
          <p:cNvSpPr txBox="1"/>
          <p:nvPr/>
        </p:nvSpPr>
        <p:spPr>
          <a:xfrm>
            <a:off x="393065" y="2330505"/>
            <a:ext cx="8357870" cy="427672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When using cultural patterns to help gain added insight relative to various ideas and activities exhibited by other cultures, the following </a:t>
            </a:r>
            <a:r>
              <a:rPr lang="en-US" altLang="zh-CN" sz="2400" dirty="0">
                <a:solidFill>
                  <a:srgbClr val="FF0000"/>
                </a:solidFill>
                <a:latin typeface="Times New Roman" panose="02020603050405020304" pitchFamily="18" charset="0"/>
                <a:cs typeface="Times New Roman" panose="02020603050405020304" pitchFamily="18" charset="0"/>
              </a:rPr>
              <a:t>four caveats </a:t>
            </a:r>
            <a:r>
              <a:rPr lang="en-US" altLang="zh-CN" sz="2400" dirty="0">
                <a:latin typeface="Times New Roman" panose="02020603050405020304" pitchFamily="18" charset="0"/>
                <a:cs typeface="Times New Roman" panose="02020603050405020304" pitchFamily="18" charset="0"/>
              </a:rPr>
              <a:t>should be kept in mind:</a:t>
            </a:r>
          </a:p>
          <a:p>
            <a:pPr marL="342900" indent="-342900" algn="just">
              <a:buFont typeface="Arial" panose="020B0604020202020204" pitchFamily="34" charset="0"/>
              <a:buChar char="•"/>
            </a:pPr>
            <a:r>
              <a:rPr lang="en-US" altLang="zh-CN" sz="2000" b="1" i="1" dirty="0">
                <a:solidFill>
                  <a:srgbClr val="FF0000"/>
                </a:solidFill>
                <a:latin typeface="Times New Roman" panose="02020603050405020304" pitchFamily="18" charset="0"/>
                <a:cs typeface="Times New Roman" panose="02020603050405020304" pitchFamily="18" charset="0"/>
              </a:rPr>
              <a:t>You are more than your culture</a:t>
            </a:r>
            <a:r>
              <a:rPr lang="en-US" altLang="zh-CN" sz="2000" dirty="0">
                <a:latin typeface="Times New Roman" panose="02020603050405020304" pitchFamily="18" charset="0"/>
                <a:cs typeface="Times New Roman" panose="02020603050405020304" pitchFamily="18" charset="0"/>
              </a:rPr>
              <a:t>: all individuals within a cultural group may not share the dominant values of that culture.</a:t>
            </a:r>
          </a:p>
          <a:p>
            <a:pPr marL="342900" indent="-342900" algn="just">
              <a:buFont typeface="Arial" panose="020B0604020202020204" pitchFamily="34" charset="0"/>
              <a:buChar char="•"/>
            </a:pPr>
            <a:r>
              <a:rPr lang="en-US" altLang="zh-CN" sz="2000" b="1" i="1" dirty="0">
                <a:solidFill>
                  <a:srgbClr val="FF0000"/>
                </a:solidFill>
                <a:latin typeface="Times New Roman" panose="02020603050405020304" pitchFamily="18" charset="0"/>
                <a:cs typeface="Times New Roman" panose="02020603050405020304" pitchFamily="18" charset="0"/>
              </a:rPr>
              <a:t>Cultural patterns are integrated</a:t>
            </a:r>
            <a:r>
              <a:rPr lang="en-US" altLang="zh-CN" sz="2000" dirty="0">
                <a:latin typeface="Times New Roman" panose="02020603050405020304" pitchFamily="18" charset="0"/>
                <a:cs typeface="Times New Roman" panose="02020603050405020304" pitchFamily="18" charset="0"/>
              </a:rPr>
              <a:t>: it is important to realize that cultural patterns do not occur or operate in isolation; they are interrelated and integrated. </a:t>
            </a:r>
            <a:endParaRPr lang="en-US" altLang="zh-CN" sz="2000" b="1" i="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b="1" i="1" dirty="0">
                <a:solidFill>
                  <a:srgbClr val="FF0000"/>
                </a:solidFill>
                <a:latin typeface="Times New Roman" panose="02020603050405020304" pitchFamily="18" charset="0"/>
                <a:cs typeface="Times New Roman" panose="02020603050405020304" pitchFamily="18" charset="0"/>
              </a:rPr>
              <a:t>Cultural patterns are dynamic</a:t>
            </a:r>
            <a:r>
              <a:rPr lang="en-US" altLang="zh-CN" sz="2000" dirty="0">
                <a:latin typeface="Times New Roman" panose="02020603050405020304" pitchFamily="18" charset="0"/>
                <a:cs typeface="Times New Roman" panose="02020603050405020304" pitchFamily="18" charset="0"/>
              </a:rPr>
              <a:t>: values can evolve and produce societal change. The interconnected world created by globalization has enabled people in other nations to learn about different values and social structures.</a:t>
            </a:r>
          </a:p>
          <a:p>
            <a:pPr marL="342900" indent="-342900" algn="just">
              <a:buFont typeface="Arial" panose="020B0604020202020204" pitchFamily="34" charset="0"/>
              <a:buChar char="•"/>
            </a:pPr>
            <a:r>
              <a:rPr lang="en-US" altLang="zh-CN" sz="2000" b="1" i="1" dirty="0">
                <a:solidFill>
                  <a:srgbClr val="FF0000"/>
                </a:solidFill>
                <a:latin typeface="Times New Roman" panose="02020603050405020304" pitchFamily="18" charset="0"/>
                <a:cs typeface="Times New Roman" panose="02020603050405020304" pitchFamily="18" charset="0"/>
              </a:rPr>
              <a:t>Cultural patterns can be contradictory</a:t>
            </a:r>
            <a:r>
              <a:rPr lang="en-US" altLang="zh-CN" sz="2000" dirty="0">
                <a:latin typeface="Times New Roman" panose="02020603050405020304" pitchFamily="18" charset="0"/>
                <a:cs typeface="Times New Roman" panose="02020603050405020304" pitchFamily="18" charset="0"/>
              </a:rPr>
              <a:t>: in many instances, contradictory values within a culture can be found. </a:t>
            </a: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4.4 Choosing Cultural Patterns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P125</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163445"/>
            <a:ext cx="8357870" cy="446151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Scholars from various disciplines have compiled a variety of cultural pattern typologies. In almost every case the objective has been to discover characteristics that would help to identify and understand dissimilar cultural values. The remainder of </a:t>
            </a:r>
            <a:r>
              <a:rPr lang="en-US" altLang="zh-CN" sz="2400" dirty="0">
                <a:solidFill>
                  <a:srgbClr val="FF0000"/>
                </a:solidFill>
                <a:latin typeface="Times New Roman" panose="02020603050405020304" pitchFamily="18" charset="0"/>
                <a:cs typeface="Times New Roman" panose="02020603050405020304" pitchFamily="18" charset="0"/>
              </a:rPr>
              <a:t>this chapter presents</a:t>
            </a:r>
            <a:r>
              <a:rPr lang="en-US" altLang="zh-CN" sz="2400" dirty="0">
                <a:latin typeface="Times New Roman" panose="02020603050405020304" pitchFamily="18" charset="0"/>
                <a:cs typeface="Times New Roman" panose="02020603050405020304" pitchFamily="18" charset="0"/>
              </a:rPr>
              <a:t> a comprehensive examination of the following </a:t>
            </a:r>
            <a:r>
              <a:rPr lang="en-US" altLang="zh-CN" sz="2400" dirty="0">
                <a:solidFill>
                  <a:srgbClr val="FF0000"/>
                </a:solidFill>
                <a:latin typeface="Times New Roman" panose="02020603050405020304" pitchFamily="18" charset="0"/>
                <a:cs typeface="Times New Roman" panose="02020603050405020304" pitchFamily="18" charset="0"/>
              </a:rPr>
              <a:t>seven value taxonomies</a:t>
            </a:r>
            <a:r>
              <a:rPr lang="en-US" altLang="zh-CN"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Kohls' list of </a:t>
            </a:r>
            <a:r>
              <a:rPr lang="en-US" altLang="zh-CN" sz="2000" i="1" dirty="0">
                <a:latin typeface="Times New Roman" panose="02020603050405020304" pitchFamily="18" charset="0"/>
                <a:cs typeface="Times New Roman" panose="02020603050405020304" pitchFamily="18" charset="0"/>
              </a:rPr>
              <a:t>values Americans live by</a:t>
            </a: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The Kluckhohn and </a:t>
            </a:r>
            <a:r>
              <a:rPr lang="en-US" altLang="zh-CN" sz="2000" dirty="0" err="1">
                <a:latin typeface="Times New Roman" panose="02020603050405020304" pitchFamily="18" charset="0"/>
                <a:cs typeface="Times New Roman" panose="02020603050405020304" pitchFamily="18" charset="0"/>
              </a:rPr>
              <a:t>Strodtbeck</a:t>
            </a:r>
            <a:r>
              <a:rPr lang="en-US" altLang="zh-CN" sz="2000" dirty="0">
                <a:latin typeface="Times New Roman" panose="02020603050405020304" pitchFamily="18" charset="0"/>
                <a:cs typeface="Times New Roman" panose="02020603050405020304" pitchFamily="18" charset="0"/>
              </a:rPr>
              <a:t> classification of </a:t>
            </a:r>
            <a:r>
              <a:rPr lang="en-US" altLang="zh-CN" sz="2000" i="1" dirty="0">
                <a:latin typeface="Times New Roman" panose="02020603050405020304" pitchFamily="18" charset="0"/>
                <a:cs typeface="Times New Roman" panose="02020603050405020304" pitchFamily="18" charset="0"/>
              </a:rPr>
              <a:t>value orientations</a:t>
            </a: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Hall's categorization of </a:t>
            </a:r>
            <a:r>
              <a:rPr lang="en-US" altLang="zh-CN" sz="2000" i="1" dirty="0">
                <a:latin typeface="Times New Roman" panose="02020603050405020304" pitchFamily="18" charset="0"/>
                <a:cs typeface="Times New Roman" panose="02020603050405020304" pitchFamily="18" charset="0"/>
              </a:rPr>
              <a:t>high-context and low-</a:t>
            </a:r>
            <a:r>
              <a:rPr lang="en-US" altLang="zh-CN" sz="2000" i="1" dirty="0" err="1">
                <a:latin typeface="Times New Roman" panose="02020603050405020304" pitchFamily="18" charset="0"/>
                <a:cs typeface="Times New Roman" panose="02020603050405020304" pitchFamily="18" charset="0"/>
              </a:rPr>
              <a:t>contexte</a:t>
            </a:r>
            <a:r>
              <a:rPr lang="en-US" altLang="zh-CN" sz="2000" i="1" dirty="0">
                <a:latin typeface="Times New Roman" panose="02020603050405020304" pitchFamily="18" charset="0"/>
                <a:cs typeface="Times New Roman" panose="02020603050405020304" pitchFamily="18" charset="0"/>
              </a:rPr>
              <a:t> orientations</a:t>
            </a: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Hofstede's set of </a:t>
            </a:r>
            <a:r>
              <a:rPr lang="en-US" altLang="zh-CN" sz="2000" i="1" dirty="0">
                <a:latin typeface="Times New Roman" panose="02020603050405020304" pitchFamily="18" charset="0"/>
                <a:cs typeface="Times New Roman" panose="02020603050405020304" pitchFamily="18" charset="0"/>
              </a:rPr>
              <a:t>value dimensions</a:t>
            </a: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dirty="0" err="1">
                <a:latin typeface="Times New Roman" panose="02020603050405020304" pitchFamily="18" charset="0"/>
                <a:cs typeface="Times New Roman" panose="02020603050405020304" pitchFamily="18" charset="0"/>
              </a:rPr>
              <a:t>Minkov's</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cultural dimensions</a:t>
            </a: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Gelfand's research on </a:t>
            </a:r>
            <a:r>
              <a:rPr lang="en-US" altLang="zh-CN" sz="2000" i="1" dirty="0">
                <a:latin typeface="Times New Roman" panose="02020603050405020304" pitchFamily="18" charset="0"/>
                <a:cs typeface="Times New Roman" panose="02020603050405020304" pitchFamily="18" charset="0"/>
              </a:rPr>
              <a:t>tight and loose cultures</a:t>
            </a: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Ting-Toomey's explanation and application of </a:t>
            </a:r>
            <a:r>
              <a:rPr lang="en-US" altLang="zh-CN" sz="2000" i="1" dirty="0">
                <a:latin typeface="Times New Roman" panose="02020603050405020304" pitchFamily="18" charset="0"/>
                <a:cs typeface="Times New Roman" panose="02020603050405020304" pitchFamily="18" charset="0"/>
              </a:rPr>
              <a:t>face and facework</a:t>
            </a: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4.4 Choosing Cultural Patterns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P125</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507615"/>
            <a:ext cx="8357870" cy="3892861"/>
          </a:xfrm>
          <a:prstGeom prst="rect">
            <a:avLst/>
          </a:prstGeom>
          <a:noFill/>
        </p:spPr>
        <p:txBody>
          <a:bodyPr wrap="square" rtlCol="0">
            <a:spAutoFit/>
          </a:bodyPr>
          <a:lstStyle/>
          <a:p>
            <a:pPr algn="just">
              <a:lnSpc>
                <a:spcPct val="150000"/>
              </a:lnSpc>
            </a:pPr>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Two assumptions </a:t>
            </a:r>
            <a:r>
              <a:rPr lang="en-US" altLang="zh-CN" sz="2800" dirty="0">
                <a:latin typeface="Times New Roman" panose="02020603050405020304" pitchFamily="18" charset="0"/>
                <a:cs typeface="Times New Roman" panose="02020603050405020304" pitchFamily="18" charset="0"/>
              </a:rPr>
              <a:t>should become apparent when going through these different typologies:</a:t>
            </a:r>
          </a:p>
          <a:p>
            <a:pPr marL="342900" indent="-342900" algn="just">
              <a:lnSpc>
                <a:spcPct val="150000"/>
              </a:lnSpc>
              <a:buFont typeface="Arial" panose="020B0604020202020204" pitchFamily="34" charset="0"/>
              <a:buChar char="•"/>
            </a:pPr>
            <a:r>
              <a:rPr lang="en-US" altLang="zh-CN" sz="2800" dirty="0">
                <a:solidFill>
                  <a:srgbClr val="FF0000"/>
                </a:solidFill>
                <a:latin typeface="Times New Roman" panose="02020603050405020304" pitchFamily="18" charset="0"/>
                <a:cs typeface="Times New Roman" panose="02020603050405020304" pitchFamily="18" charset="0"/>
              </a:rPr>
              <a:t>First</a:t>
            </a:r>
            <a:r>
              <a:rPr lang="en-US" altLang="zh-CN" sz="2800" dirty="0">
                <a:latin typeface="Times New Roman" panose="02020603050405020304" pitchFamily="18" charset="0"/>
                <a:cs typeface="Times New Roman" panose="02020603050405020304" pitchFamily="18" charset="0"/>
              </a:rPr>
              <a:t>, values presented in cultural patterns are points lying along a continuum rather than polar opposites.</a:t>
            </a:r>
          </a:p>
          <a:p>
            <a:pPr marL="342900" indent="-342900" algn="just">
              <a:lnSpc>
                <a:spcPct val="150000"/>
              </a:lnSpc>
              <a:buFont typeface="Arial" panose="020B0604020202020204" pitchFamily="34" charset="0"/>
              <a:buChar char="•"/>
            </a:pPr>
            <a:r>
              <a:rPr lang="en-US" altLang="zh-CN" sz="2800" dirty="0">
                <a:solidFill>
                  <a:srgbClr val="FF0000"/>
                </a:solidFill>
                <a:latin typeface="Times New Roman" panose="02020603050405020304" pitchFamily="18" charset="0"/>
                <a:cs typeface="Times New Roman" panose="02020603050405020304" pitchFamily="18" charset="0"/>
              </a:rPr>
              <a:t>Second</a:t>
            </a:r>
            <a:r>
              <a:rPr lang="en-US" altLang="zh-CN" sz="2800" dirty="0">
                <a:latin typeface="Times New Roman" panose="02020603050405020304" pitchFamily="18" charset="0"/>
                <a:cs typeface="Times New Roman" panose="02020603050405020304" pitchFamily="18" charset="0"/>
              </a:rPr>
              <a:t>, there is a great deal of commonality and some duplication among the different cultural patterns.</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498475" y="1456690"/>
            <a:ext cx="829056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4.5 Applying Cultural Patterns</a:t>
            </a:r>
            <a:endParaRPr lang="en-US" altLang="zh-CN" sz="4000" b="1">
              <a:latin typeface="Times New Roman" panose="02020603050405020304" pitchFamily="18" charset="0"/>
              <a:cs typeface="Times New Roman" panose="02020603050405020304" pitchFamily="18" charset="0"/>
            </a:endParaRPr>
          </a:p>
        </p:txBody>
      </p:sp>
      <p:sp>
        <p:nvSpPr>
          <p:cNvPr id="2" name="文本框 1"/>
          <p:cNvSpPr txBox="1"/>
          <p:nvPr/>
        </p:nvSpPr>
        <p:spPr>
          <a:xfrm>
            <a:off x="392430" y="2701290"/>
            <a:ext cx="8357870" cy="645160"/>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Kohls' “the values Americans live by”</a:t>
            </a: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16205" y="1456690"/>
            <a:ext cx="8672830"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sym typeface="+mn-ea"/>
              </a:rPr>
              <a:t>Kohls' “the Values Americans Live by” </a:t>
            </a:r>
            <a:r>
              <a:rPr lang="en-US" altLang="zh-CN" sz="3200" b="1" dirty="0">
                <a:highlight>
                  <a:srgbClr val="FFFF00"/>
                </a:highlight>
                <a:latin typeface="Times New Roman" panose="02020603050405020304" pitchFamily="18" charset="0"/>
                <a:cs typeface="Times New Roman" panose="02020603050405020304" pitchFamily="18" charset="0"/>
                <a:sym typeface="+mn-ea"/>
              </a:rPr>
              <a:t>P126 </a:t>
            </a:r>
            <a:endParaRPr lang="en-US" altLang="zh-CN" sz="32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507615"/>
            <a:ext cx="8357870" cy="304609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Professor L. Robert Kohls spent much of his life working to improve cross-cultural understanding. After living in Korea, he returned to the United States and began conducting cultural workshops for the Peace Corps. He also spent time at the United States Information Agency (USIA) as Director of Training. </a:t>
            </a:r>
          </a:p>
          <a:p>
            <a:pPr algn="just"/>
            <a:r>
              <a:rPr lang="en-US" altLang="zh-CN" sz="2400" dirty="0">
                <a:latin typeface="Times New Roman" panose="02020603050405020304" pitchFamily="18" charset="0"/>
                <a:cs typeface="Times New Roman" panose="02020603050405020304" pitchFamily="18" charset="0"/>
              </a:rPr>
              <a:t>    Kohls </a:t>
            </a:r>
            <a:r>
              <a:rPr lang="en-US" altLang="zh-CN" sz="2400" dirty="0">
                <a:solidFill>
                  <a:srgbClr val="FF0000"/>
                </a:solidFill>
                <a:latin typeface="Times New Roman" panose="02020603050405020304" pitchFamily="18" charset="0"/>
                <a:cs typeface="Times New Roman" panose="02020603050405020304" pitchFamily="18" charset="0"/>
              </a:rPr>
              <a:t>authored </a:t>
            </a:r>
            <a:r>
              <a:rPr lang="en-US" altLang="zh-CN" sz="2400" i="1" dirty="0">
                <a:solidFill>
                  <a:srgbClr val="FF0000"/>
                </a:solidFill>
                <a:latin typeface="Times New Roman" panose="02020603050405020304" pitchFamily="18" charset="0"/>
                <a:cs typeface="Times New Roman" panose="02020603050405020304" pitchFamily="18" charset="0"/>
              </a:rPr>
              <a:t>The Values Americans Live By</a:t>
            </a:r>
            <a:r>
              <a:rPr lang="en-US" altLang="zh-CN" sz="2400" dirty="0">
                <a:latin typeface="Times New Roman" panose="02020603050405020304" pitchFamily="18" charset="0"/>
                <a:cs typeface="Times New Roman" panose="02020603050405020304" pitchFamily="18" charset="0"/>
              </a:rPr>
              <a:t>, a 1980s monograph intended to help expatriates adjust to living in the United States, and it remains widely available on the Internet.  </a:t>
            </a: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39052" y="1436736"/>
            <a:ext cx="9065895"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Kohls' “the Values Americans Live by” </a:t>
            </a:r>
            <a:r>
              <a:rPr lang="en-US" altLang="zh-CN" sz="3600" b="1" dirty="0">
                <a:highlight>
                  <a:srgbClr val="FFFF00"/>
                </a:highlight>
                <a:latin typeface="Times New Roman" panose="02020603050405020304" pitchFamily="18" charset="0"/>
                <a:cs typeface="Times New Roman" panose="02020603050405020304" pitchFamily="18" charset="0"/>
                <a:sym typeface="+mn-ea"/>
              </a:rPr>
              <a:t>P127 </a:t>
            </a:r>
            <a:endParaRPr lang="en-US" altLang="zh-CN" sz="36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141855"/>
            <a:ext cx="8357870" cy="119888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Although written nearly thirty years ago, the thirteen values Kohls ascribed to U.S. Americans continue to provide an accurate characterization of the dominant U.S. culture.</a:t>
            </a:r>
          </a:p>
        </p:txBody>
      </p:sp>
      <p:pic>
        <p:nvPicPr>
          <p:cNvPr id="6" name="图片 5" descr="XS38HSL87W$NMT%1_BEZ)V5"/>
          <p:cNvPicPr>
            <a:picLocks noChangeAspect="1"/>
          </p:cNvPicPr>
          <p:nvPr>
            <p:custDataLst>
              <p:tags r:id="rId1"/>
            </p:custDataLst>
          </p:nvPr>
        </p:nvPicPr>
        <p:blipFill>
          <a:blip r:embed="rId4"/>
          <a:stretch>
            <a:fillRect/>
          </a:stretch>
        </p:blipFill>
        <p:spPr>
          <a:xfrm>
            <a:off x="1467485" y="3340735"/>
            <a:ext cx="5970905" cy="3462655"/>
          </a:xfrm>
          <a:prstGeom prst="rect">
            <a:avLst/>
          </a:prstGeom>
        </p:spPr>
      </p:pic>
      <p:sp>
        <p:nvSpPr>
          <p:cNvPr id="7" name="矩形 6"/>
          <p:cNvSpPr/>
          <p:nvPr/>
        </p:nvSpPr>
        <p:spPr>
          <a:xfrm>
            <a:off x="1467485" y="3678554"/>
            <a:ext cx="2677795" cy="2787015"/>
          </a:xfrm>
          <a:prstGeom prst="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67640" y="814515"/>
            <a:ext cx="8290560" cy="132343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4.5.1 Personal Control over Nature </a:t>
            </a:r>
            <a:r>
              <a:rPr lang="en-US" altLang="zh-CN" sz="4000" b="1" dirty="0">
                <a:highlight>
                  <a:srgbClr val="FFFF00"/>
                </a:highlight>
                <a:latin typeface="Times New Roman" panose="02020603050405020304" pitchFamily="18" charset="0"/>
                <a:cs typeface="Times New Roman" panose="02020603050405020304" pitchFamily="18" charset="0"/>
                <a:sym typeface="+mn-ea"/>
              </a:rPr>
              <a:t>(not lectured)</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507615"/>
            <a:ext cx="8357870" cy="415417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Americans have traditionally approached the environment as something to be conquered, tamed, or harnessed for personal and societal benefit. The idea of exercising dominion over nature and bending the environment to one's own will underwrote the physical and political resolve required continually to push the American frontier westward.</a:t>
            </a:r>
          </a:p>
          <a:p>
            <a:pPr algn="just"/>
            <a:r>
              <a:rPr lang="en-US" altLang="zh-CN" sz="2400">
                <a:latin typeface="Times New Roman" panose="02020603050405020304" pitchFamily="18" charset="0"/>
                <a:cs typeface="Times New Roman" panose="02020603050405020304" pitchFamily="18" charset="0"/>
              </a:rPr>
              <a:t>    In the United States, the ability to control nature is considered normal and even right. This results in bold appoaches to overcome all obstacles and the belief that individuals should have control over their personal environment and the opportunity to achieve any goal.  </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4.5.2 Changes</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r>
              <a:rPr lang="en-US" altLang="zh-CN" sz="4000" b="1" dirty="0">
                <a:latin typeface="Times New Roman" panose="02020603050405020304" pitchFamily="18" charset="0"/>
                <a:cs typeface="Times New Roman" panose="02020603050405020304" pitchFamily="18" charset="0"/>
                <a:sym typeface="+mn-ea"/>
              </a:rPr>
              <a:t> </a:t>
            </a:r>
            <a:endParaRPr lang="en-US" altLang="zh-CN" sz="4000" b="1"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93065" y="2272665"/>
            <a:ext cx="8357870" cy="452310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Closely aligned with control of the environment is the value of change and progress. Since the country's inception, people have subscribed to forward-looking beliefs and attitudes that promote progress through modernization. Various aspects of this orientation are optimism, receptivity to change, emphasis on the future rather than the past or present, faith in an ability to control all phases of life, and confidence in the perceptual ability of the common person. </a:t>
            </a:r>
          </a:p>
          <a:p>
            <a:pPr algn="just"/>
            <a:r>
              <a:rPr lang="en-US" altLang="zh-CN" sz="2400">
                <a:latin typeface="Times New Roman" panose="02020603050405020304" pitchFamily="18" charset="0"/>
                <a:cs typeface="Times New Roman" panose="02020603050405020304" pitchFamily="18" charset="0"/>
              </a:rPr>
              <a:t>    This fundamental American belief in progress and a better future contrasts sharply with the fatalistic attitude that characterizes people from many other cultures, where there is a pronounced reverence for the past.</a:t>
            </a: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56690"/>
            <a:ext cx="9143999"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4.5.3 Time and Its Control</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4000" b="1"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661920"/>
            <a:ext cx="8357870" cy="304609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For U.S. Americans, time is a valuable commodity, something to be measured and used widely. Schedules, which are often divided into hourly, daily, weekly, monthly, and even yearly segments, dictate life in the United States. Deadlines and due dates are a constant reminder of when projects must be completed. In the United States, schedules are generally inflexible with meetings starting on time, moving through a set agenda, and ending promptly.</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 y="1463030"/>
            <a:ext cx="9095138"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4.5.4 Equality/Egalitarianism</a:t>
            </a:r>
            <a:r>
              <a:rPr kumimoji="0" lang="en-US" altLang="zh-CN" sz="36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3600" b="1"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654935"/>
            <a:ext cx="8357870" cy="341503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Equality is a most prized American value and is enshrined in the preamble to the United States Declaration of Independence, which states, “all men are created equal.” The concept is further preserved in the Constitution, which specifies, “No Title of Nobility shall be granted by the United States.” The value that pervades contemporary U.S. society can best be termed “equal opportunity.” All people should have the same opportunity to succeed in life, and the state, through laws and educational opportunities, is expected to guarantee that right.</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77779"/>
            <a:ext cx="9213802"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4.5.4 Equality/Egalitarianism </a:t>
            </a:r>
            <a:r>
              <a:rPr kumimoji="0" lang="en-US" altLang="zh-CN" sz="36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(not lectured)</a:t>
            </a:r>
            <a:endParaRPr lang="en-US" altLang="zh-CN" sz="3600" b="1"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393065" y="2654935"/>
            <a:ext cx="8357870" cy="267652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In the United States the value of equal opportunity translates into equality and informality across social relationships. For instance, most of the primary social relationships within a family tend to promote egalitarianism rather than hierarchy. Formality is generally not important. In secondary relationships, most friends and coworkers are also treated as equals, usually interacting on a first-name basis.</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0" y="1426175"/>
            <a:ext cx="9060238"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4.5.5 Individuality and Privacy</a:t>
            </a:r>
            <a:r>
              <a:rPr kumimoji="0" lang="en-US" altLang="zh-CN" sz="36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3600" b="1"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93065" y="2281555"/>
            <a:ext cx="8357870" cy="452310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Often referred to as “freedom” by U.S. Americans, individualism is perhaps the most revered U.S. cultural value and is a particularly salient social characteristic. Broadly speaking, individualism, as developed in the works of the seventeenth-century English philosopher John Locke, holds that each person is unique, special, completely different from all other individuals, and “the basic unit of nature.”</a:t>
            </a:r>
          </a:p>
          <a:p>
            <a:pPr algn="just"/>
            <a:r>
              <a:rPr lang="en-US" altLang="zh-CN" sz="2400">
                <a:latin typeface="Times New Roman" panose="02020603050405020304" pitchFamily="18" charset="0"/>
                <a:cs typeface="Times New Roman" panose="02020603050405020304" pitchFamily="18" charset="0"/>
              </a:rPr>
              <a:t>    Individualism commands so much influence among Americans that it gives rise to other U.S. values, such as personal initiative, self-reliance, and equal opportunity. Regardless of the context, whether societal, ethical, or sexual, among U.S. Americans, the individual occupies the pivotal position.</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41300" y="2420620"/>
            <a:ext cx="8661400" cy="415417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The importance U.S. Americans place on self-help and personal achievement is an outgrowth of the values of independence, equality, and individuality, which are exemplified in commonly heard expressions such as “be self-reliant,” “stand on your own two feet,” or “don't depend on others.” In the United States, your family name or the school attended will normally only help you to get an initial introduction or interview. Any subsequent gain must be earned through personal merit.</a:t>
            </a:r>
          </a:p>
          <a:p>
            <a:pPr algn="just"/>
            <a:r>
              <a:rPr lang="en-US" altLang="zh-CN" sz="2400">
                <a:latin typeface="Times New Roman" panose="02020603050405020304" pitchFamily="18" charset="0"/>
                <a:cs typeface="Times New Roman" panose="02020603050405020304" pitchFamily="18" charset="0"/>
              </a:rPr>
              <a:t>    Theoretically, the concept of equality underlying U.S. societal structure provides everyone the same opportunity for material and social improvement. One just has to work for it.</a:t>
            </a:r>
          </a:p>
        </p:txBody>
      </p:sp>
      <p:sp>
        <p:nvSpPr>
          <p:cNvPr id="2" name="文本框 1"/>
          <p:cNvSpPr txBox="1"/>
          <p:nvPr/>
        </p:nvSpPr>
        <p:spPr>
          <a:xfrm>
            <a:off x="498475" y="1456690"/>
            <a:ext cx="829056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4.5.6 Self-Help</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4000" b="1"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79787" y="1504975"/>
            <a:ext cx="9223787"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sym typeface="+mn-ea"/>
              </a:rPr>
              <a:t>4.5.7 Competition and Free Enterprise</a:t>
            </a:r>
            <a:r>
              <a:rPr kumimoji="0" lang="en-US" altLang="zh-CN" sz="32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3200" b="1"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241300" y="2420620"/>
            <a:ext cx="8661400" cy="378460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A positive attitude toward competition is an integral part of life in the United States and begins during childhood. Whether it is through games or being continually asked to answer questions in the classroom, a competitive nature is encouraged among American children. People are ranked, graded, classified, and evaluated so that everyone will know who is the best. The assumption is that individuals, left to their own means, can more ably and quickly achieve their desired goals. This idea is behind the frequent call to “let the market work.” Moreover, the system is considered “fair” because everyone purportedly has the same opportunity.</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4.5.8 Future Orientation </a:t>
            </a:r>
            <a:endParaRPr lang="en-US" altLang="zh-CN" sz="4000" b="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241300" y="2830830"/>
            <a:ext cx="8661400" cy="230695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In the United States, what lies ahead usually takes precedence over the past. What is going to happen holds the greatest attraction because, it seems, whatever we are doing is not quite as good as what we could otherwise be doing or will be doing in the future. Change, taking chances, a stress on youth, and optimism are all hallmarks of U.S. culture and reflect the value placed on the future.</a:t>
            </a:r>
          </a:p>
        </p:txBody>
      </p:sp>
      <p:pic>
        <p:nvPicPr>
          <p:cNvPr id="3" name="图片 2">
            <a:extLst>
              <a:ext uri="{FF2B5EF4-FFF2-40B4-BE49-F238E27FC236}">
                <a16:creationId xmlns:a16="http://schemas.microsoft.com/office/drawing/2014/main" id="{489F5F8B-3810-42E9-9EED-1E26BABBBFAA}"/>
              </a:ext>
            </a:extLst>
          </p:cNvPr>
          <p:cNvPicPr>
            <a:picLocks noChangeAspect="1"/>
          </p:cNvPicPr>
          <p:nvPr/>
        </p:nvPicPr>
        <p:blipFill>
          <a:blip r:embed="rId3"/>
          <a:stretch>
            <a:fillRect/>
          </a:stretch>
        </p:blipFill>
        <p:spPr>
          <a:xfrm>
            <a:off x="5475170" y="1353996"/>
            <a:ext cx="3548180" cy="1066892"/>
          </a:xfrm>
          <a:prstGeom prst="rect">
            <a:avLst/>
          </a:prstGeom>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84785" y="2108200"/>
            <a:ext cx="8661400" cy="489267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For most U.S. Americans, work represents a cluster of moral and affective conditions of great attractiveness, and voluntary idleness is often seen as severely threatening and damaging to society as a whole. Unlike cultures where physical labor is considered the fate of the less privileged, Americans place considerable value on the “dignity of human labor.”</a:t>
            </a:r>
          </a:p>
          <a:p>
            <a:pPr algn="just"/>
            <a:r>
              <a:rPr lang="en-US" altLang="zh-CN" sz="2400" dirty="0">
                <a:latin typeface="Times New Roman" panose="02020603050405020304" pitchFamily="18" charset="0"/>
                <a:cs typeface="Times New Roman" panose="02020603050405020304" pitchFamily="18" charset="0"/>
              </a:rPr>
              <a:t>    A major reward for this hard work, and an important aspect of life in the United States, is time away from the job. For U.S. citizens, time for leisure activities is something they have earned as a respite from the demands and stress of work. They often relax by engaging in some form of activity. Yet leisure time is generally seen as an opportunity to “relax” or “refresh” so that one can return to work with rededicated enthusiasm.</a:t>
            </a:r>
          </a:p>
        </p:txBody>
      </p:sp>
      <p:sp>
        <p:nvSpPr>
          <p:cNvPr id="2" name="文本框 1"/>
          <p:cNvSpPr txBox="1"/>
          <p:nvPr/>
        </p:nvSpPr>
        <p:spPr>
          <a:xfrm>
            <a:off x="0" y="1456690"/>
            <a:ext cx="9144000"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4.5.9 Action/Work Orientation</a:t>
            </a:r>
            <a:r>
              <a:rPr kumimoji="0" lang="en-US" altLang="zh-CN" sz="36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3600" b="1"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41300" y="2672080"/>
            <a:ext cx="8661400" cy="378460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The emphasis on equality and individuality has produced a pervasive sense of informality in the United States, which can be seen in people's dress, deportment, and communication. This informality is also evident in the widespread use of first names, even among recent acquaintances. Everyone, regardless of position, rank, wealth, or age, is considered equal, so there is no need for titles of distinction.</a:t>
            </a:r>
          </a:p>
          <a:p>
            <a:pPr algn="just"/>
            <a:r>
              <a:rPr lang="en-US" altLang="zh-CN" sz="2400">
                <a:latin typeface="Times New Roman" panose="02020603050405020304" pitchFamily="18" charset="0"/>
                <a:cs typeface="Times New Roman" panose="02020603050405020304" pitchFamily="18" charset="0"/>
              </a:rPr>
              <a:t>    The informality does not connote a lack of respect toward others. Rather, it conveys the feeling of individuality, equality, and outward friendliness inherent in the dominant U.S. culture.</a:t>
            </a:r>
          </a:p>
        </p:txBody>
      </p:sp>
      <p:sp>
        <p:nvSpPr>
          <p:cNvPr id="2" name="文本框 1"/>
          <p:cNvSpPr txBox="1"/>
          <p:nvPr/>
        </p:nvSpPr>
        <p:spPr>
          <a:xfrm>
            <a:off x="241300"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4.5.10 Informality</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4000" b="1"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0" y="1479158"/>
            <a:ext cx="9144000" cy="1077218"/>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sym typeface="+mn-ea"/>
              </a:rPr>
              <a:t>4.5.11 Directness, Openness, and Honesty</a:t>
            </a: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a:t>
            </a:r>
            <a:r>
              <a:rPr kumimoji="0" lang="en-US" altLang="zh-CN" sz="32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(not lectured)</a:t>
            </a:r>
            <a:endParaRPr lang="en-US" altLang="zh-CN" sz="3200" b="1" dirty="0">
              <a:latin typeface="Times New Roman" panose="02020603050405020304" pitchFamily="18" charset="0"/>
              <a:cs typeface="Times New Roman" panose="02020603050405020304" pitchFamily="18" charset="0"/>
              <a:sym typeface="+mn-ea"/>
            </a:endParaRPr>
          </a:p>
        </p:txBody>
      </p:sp>
      <p:sp>
        <p:nvSpPr>
          <p:cNvPr id="3" name="文本框 2"/>
          <p:cNvSpPr txBox="1"/>
          <p:nvPr/>
        </p:nvSpPr>
        <p:spPr>
          <a:xfrm>
            <a:off x="184785" y="2593975"/>
            <a:ext cx="8661400" cy="378460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The language style used by most U.S. Americans can be characterized as direct, frank, and explicit. Phrases such as “Just tell it like it is,” “Don't beat around the bush,” and “Give me the bottom line” are frequently heard. In these instances, the speaker is indicating a desire to quickly get to the heart of the matter. This illustrates the value placed on direct, open, and honest communication, which takes precedence over politeness and face-saving measures. U.S. Americans see no need to use elaborate courtesy protocols because everyone is equal, and honesty is a positive mark of one's character.</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48861" y="1341550"/>
            <a:ext cx="8548370" cy="1323439"/>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4.5.11 Directness, Openness, and Honesty</a:t>
            </a:r>
            <a:r>
              <a:rPr kumimoji="0" lang="en-US" altLang="zh-CN" sz="40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(not lectured)</a:t>
            </a:r>
            <a:endParaRPr lang="en-US" altLang="zh-CN" sz="3600" b="1" dirty="0">
              <a:latin typeface="Times New Roman" panose="02020603050405020304" pitchFamily="18" charset="0"/>
              <a:cs typeface="Times New Roman" panose="02020603050405020304" pitchFamily="18" charset="0"/>
              <a:sym typeface="+mn-ea"/>
            </a:endParaRPr>
          </a:p>
        </p:txBody>
      </p:sp>
      <p:sp>
        <p:nvSpPr>
          <p:cNvPr id="3" name="文本框 2"/>
          <p:cNvSpPr txBox="1"/>
          <p:nvPr/>
        </p:nvSpPr>
        <p:spPr>
          <a:xfrm>
            <a:off x="184785" y="2593975"/>
            <a:ext cx="8661400" cy="2676525"/>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U.S. Americans believe that conflicts are best settled by examining problems in a logical, forthright manner and that personal emotions should be set aside. Indeed, individuals using ambiguous, vague, or indirect communication run the risk of being seen as untrustworthy or duplicitous. A person's ability to openly, directly, and honestly state their position is of such importance that in the United States people attend “assertiveness training” programs.</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41300" y="2345690"/>
            <a:ext cx="8661400" cy="415417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Practicality and efficiency are also hallmarks of the dominant U.S. culture. It is easy to see that individuality, independence, and self-reliance are central considerations in the pragmatic attitude evinced by U.S. Americans. Because strong group ties do not play a major role in U.S. societal activities, there is no need to build interpersonal relations based on a system of mutual obligations. </a:t>
            </a:r>
          </a:p>
          <a:p>
            <a:pPr algn="just"/>
            <a:r>
              <a:rPr lang="en-US" altLang="zh-CN" sz="2400">
                <a:latin typeface="Times New Roman" panose="02020603050405020304" pitchFamily="18" charset="0"/>
                <a:cs typeface="Times New Roman" panose="02020603050405020304" pitchFamily="18" charset="0"/>
              </a:rPr>
              <a:t>    U.S. Americans also tend to be very rational or logical when working on problems. They place importance on expediency and impartiality when making a decision or a judgment. Reason, logic, and objectivity take precedence over emotionality, subjectivity, or sentimentality.</a:t>
            </a:r>
          </a:p>
        </p:txBody>
      </p:sp>
      <p:sp>
        <p:nvSpPr>
          <p:cNvPr id="2" name="文本框 1"/>
          <p:cNvSpPr txBox="1"/>
          <p:nvPr/>
        </p:nvSpPr>
        <p:spPr>
          <a:xfrm>
            <a:off x="241300" y="1475105"/>
            <a:ext cx="9077204"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sym typeface="+mn-ea"/>
              </a:rPr>
              <a:t>4.5.12 Practicality and Efficiency</a:t>
            </a:r>
            <a:r>
              <a:rPr kumimoji="0" lang="en-US" altLang="zh-CN" sz="32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3200" b="1" dirty="0">
              <a:latin typeface="Times New Roman" panose="02020603050405020304" pitchFamily="18" charset="0"/>
              <a:cs typeface="Times New Roman" panose="02020603050405020304" pitchFamily="18" charset="0"/>
              <a:sym typeface="+mn-ea"/>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1300" y="1475105"/>
            <a:ext cx="8548370" cy="707886"/>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4.5.13 Materialism</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 (not lectured)</a:t>
            </a:r>
            <a:endParaRPr lang="en-US" altLang="zh-CN" sz="3600" b="1" dirty="0">
              <a:latin typeface="Times New Roman" panose="02020603050405020304" pitchFamily="18" charset="0"/>
              <a:cs typeface="Times New Roman" panose="02020603050405020304" pitchFamily="18" charset="0"/>
              <a:sym typeface="+mn-ea"/>
            </a:endParaRPr>
          </a:p>
        </p:txBody>
      </p:sp>
      <p:sp>
        <p:nvSpPr>
          <p:cNvPr id="3" name="文本框 2"/>
          <p:cNvSpPr txBox="1"/>
          <p:nvPr/>
        </p:nvSpPr>
        <p:spPr>
          <a:xfrm>
            <a:off x="184785" y="2627630"/>
            <a:ext cx="8661400" cy="3415030"/>
          </a:xfrm>
          <a:prstGeom prst="rect">
            <a:avLst/>
          </a:prstGeom>
          <a:noFill/>
        </p:spPr>
        <p:txBody>
          <a:bodyPr wrap="square" rtlCol="0">
            <a:spAutoFit/>
          </a:bodyPr>
          <a:lstStyle/>
          <a:p>
            <a:pPr algn="just"/>
            <a:r>
              <a:rPr lang="en-US" altLang="zh-CN" sz="2400">
                <a:latin typeface="Times New Roman" panose="02020603050405020304" pitchFamily="18" charset="0"/>
                <a:cs typeface="Times New Roman" panose="02020603050405020304" pitchFamily="18" charset="0"/>
              </a:rPr>
              <a:t>    Acquiring material possessions is an integral part of life for most Americans. From their perspective, U.S. Americans consider their materialistic nature “natural and proper,” which Bender sees as a natural outgrowth of the nation's philosophy of equal opportunity for all. In other words, material well-being and easy access to quality products is not the preserve of an elite class.</a:t>
            </a:r>
          </a:p>
          <a:p>
            <a:pPr algn="just"/>
            <a:r>
              <a:rPr lang="en-US" altLang="zh-CN" sz="2400">
                <a:latin typeface="Times New Roman" panose="02020603050405020304" pitchFamily="18" charset="0"/>
                <a:cs typeface="Times New Roman" panose="02020603050405020304" pitchFamily="18" charset="0"/>
              </a:rPr>
              <a:t>    However, U.S. Americans have historically been willing to work hard to realize their dreams. Thus, acquisition of material possessions is considered just reward for hard work. </a:t>
            </a:r>
            <a:endParaRPr lang="zh-CN" altLang="en-US" sz="240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399947"/>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2664460"/>
            <a:ext cx="8661400" cy="2553335"/>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Kluckhohn and </a:t>
            </a:r>
            <a:r>
              <a:rPr lang="en-US" altLang="zh-CN" sz="3200" dirty="0" err="1">
                <a:latin typeface="Times New Roman" panose="02020603050405020304" pitchFamily="18" charset="0"/>
                <a:cs typeface="Times New Roman" panose="02020603050405020304" pitchFamily="18" charset="0"/>
              </a:rPr>
              <a:t>strodtbeck's</a:t>
            </a:r>
            <a:r>
              <a:rPr lang="en-US" altLang="zh-CN" sz="3200" dirty="0">
                <a:latin typeface="Times New Roman" panose="02020603050405020304" pitchFamily="18" charset="0"/>
                <a:cs typeface="Times New Roman" panose="02020603050405020304" pitchFamily="18" charset="0"/>
              </a:rPr>
              <a:t> value orientations</a:t>
            </a:r>
          </a:p>
          <a:p>
            <a:pPr marL="342900" indent="-342900" algn="just">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Hall's high-context and low-context orientations</a:t>
            </a:r>
          </a:p>
          <a:p>
            <a:pPr marL="342900" indent="-342900" algn="just">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Hofstede's value dimensions</a:t>
            </a:r>
          </a:p>
          <a:p>
            <a:pPr marL="342900" indent="-342900" algn="just">
              <a:buFont typeface="Arial" panose="020B0604020202020204" pitchFamily="34" charset="0"/>
              <a:buChar char="•"/>
            </a:pPr>
            <a:r>
              <a:rPr lang="en-US" altLang="zh-CN" sz="3200" dirty="0" err="1">
                <a:latin typeface="Times New Roman" panose="02020603050405020304" pitchFamily="18" charset="0"/>
                <a:cs typeface="Times New Roman" panose="02020603050405020304" pitchFamily="18" charset="0"/>
              </a:rPr>
              <a:t>Minkov's</a:t>
            </a:r>
            <a:r>
              <a:rPr lang="en-US" altLang="zh-CN" sz="3200" dirty="0">
                <a:latin typeface="Times New Roman" panose="02020603050405020304" pitchFamily="18" charset="0"/>
                <a:cs typeface="Times New Roman" panose="02020603050405020304" pitchFamily="18" charset="0"/>
              </a:rPr>
              <a:t> cultural dimensions</a:t>
            </a:r>
          </a:p>
          <a:p>
            <a:pPr marL="342900" indent="-342900" algn="just">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Tight and loose cultures</a:t>
            </a:r>
          </a:p>
        </p:txBody>
      </p:sp>
      <p:sp>
        <p:nvSpPr>
          <p:cNvPr id="2" name="文本框 1"/>
          <p:cNvSpPr txBox="1"/>
          <p:nvPr/>
        </p:nvSpPr>
        <p:spPr>
          <a:xfrm>
            <a:off x="-55841" y="1443246"/>
            <a:ext cx="9430186" cy="584775"/>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sym typeface="+mn-ea"/>
              </a:rPr>
              <a:t>4.6 Other Cultural Pattern Typologies </a:t>
            </a:r>
            <a:r>
              <a:rPr lang="en-US" altLang="zh-CN" sz="3200" b="1" dirty="0">
                <a:highlight>
                  <a:srgbClr val="FFFF00"/>
                </a:highlight>
                <a:latin typeface="Times New Roman" panose="02020603050405020304" pitchFamily="18" charset="0"/>
                <a:cs typeface="Times New Roman" panose="02020603050405020304" pitchFamily="18" charset="0"/>
                <a:sym typeface="+mn-ea"/>
              </a:rPr>
              <a:t>P134</a:t>
            </a:r>
            <a:endParaRPr lang="en-US" altLang="zh-CN" sz="3200" b="1"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0" y="1568450"/>
            <a:ext cx="9353550" cy="52197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sym typeface="+mn-ea"/>
              </a:rPr>
              <a:t>4.6.1 Kluckhohn and </a:t>
            </a:r>
            <a:r>
              <a:rPr lang="en-US" altLang="zh-CN" sz="2800" b="1" dirty="0" err="1">
                <a:latin typeface="Times New Roman" panose="02020603050405020304" pitchFamily="18" charset="0"/>
                <a:cs typeface="Times New Roman" panose="02020603050405020304" pitchFamily="18" charset="0"/>
                <a:sym typeface="+mn-ea"/>
              </a:rPr>
              <a:t>Strodtbeck's</a:t>
            </a:r>
            <a:r>
              <a:rPr lang="en-US" altLang="zh-CN" sz="2800" b="1" dirty="0">
                <a:latin typeface="Times New Roman" panose="02020603050405020304" pitchFamily="18" charset="0"/>
                <a:cs typeface="Times New Roman" panose="02020603050405020304" pitchFamily="18" charset="0"/>
                <a:sym typeface="+mn-ea"/>
              </a:rPr>
              <a:t> Value Orientations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P134</a:t>
            </a:r>
            <a:endParaRPr lang="en-US" altLang="zh-CN" sz="28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241300" y="2235835"/>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Kluckhohn and </a:t>
            </a:r>
            <a:r>
              <a:rPr lang="en-US" sz="2400" b="1" dirty="0" err="1">
                <a:latin typeface="Times New Roman" panose="02020603050405020304" pitchFamily="18" charset="0"/>
                <a:cs typeface="Times New Roman" panose="02020603050405020304" pitchFamily="18" charset="0"/>
              </a:rPr>
              <a:t>Strodtbeck</a:t>
            </a:r>
            <a:r>
              <a:rPr lang="en-US" sz="2400" dirty="0">
                <a:latin typeface="Times New Roman" panose="02020603050405020304" pitchFamily="18" charset="0"/>
                <a:cs typeface="Times New Roman" panose="02020603050405020304" pitchFamily="18" charset="0"/>
              </a:rPr>
              <a:t> based their research on the idea that every individual, regardless of culture, must deal with five universal questions, referred to as “</a:t>
            </a:r>
            <a:r>
              <a:rPr lang="en-US" sz="2400" dirty="0">
                <a:solidFill>
                  <a:srgbClr val="FF0000"/>
                </a:solidFill>
                <a:latin typeface="Times New Roman" panose="02020603050405020304" pitchFamily="18" charset="0"/>
                <a:cs typeface="Times New Roman" panose="02020603050405020304" pitchFamily="18" charset="0"/>
              </a:rPr>
              <a:t>value orientations</a:t>
            </a:r>
            <a:r>
              <a:rPr lang="en-US" sz="2400" dirty="0">
                <a:latin typeface="Times New Roman" panose="02020603050405020304" pitchFamily="18" charset="0"/>
                <a:cs typeface="Times New Roman" panose="02020603050405020304" pitchFamily="18" charset="0"/>
              </a:rPr>
              <a:t>.” These “orientations,” or patterns, inform members of a culture what is important and provide them guidance for living their lives. After extensive study, they concluded that all people turn to their culture for help in answering the </a:t>
            </a:r>
            <a:r>
              <a:rPr lang="en-US" sz="2400" dirty="0">
                <a:solidFill>
                  <a:srgbClr val="FF0000"/>
                </a:solidFill>
                <a:latin typeface="Times New Roman" panose="02020603050405020304" pitchFamily="18" charset="0"/>
                <a:cs typeface="Times New Roman" panose="02020603050405020304" pitchFamily="18" charset="0"/>
              </a:rPr>
              <a:t>same five basic questions</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dirty="0">
                <a:latin typeface="Times New Roman" panose="02020603050405020304" pitchFamily="18" charset="0"/>
                <a:ea typeface="宋体" panose="02010600030101010101" pitchFamily="2" charset="-122"/>
                <a:cs typeface="Times New Roman" panose="02020603050405020304" pitchFamily="18" charset="0"/>
              </a:rPr>
              <a:t>What is the character of human nature?</a:t>
            </a:r>
          </a:p>
          <a:p>
            <a:pPr marL="342900" indent="-342900" algn="just">
              <a:buFont typeface="Arial" panose="020B0604020202020204" pitchFamily="34" charset="0"/>
              <a:buChar char="•"/>
            </a:pPr>
            <a:r>
              <a:rPr lang="en-US" sz="2400" dirty="0">
                <a:latin typeface="Times New Roman" panose="02020603050405020304" pitchFamily="18" charset="0"/>
                <a:ea typeface="宋体" panose="02010600030101010101" pitchFamily="2" charset="-122"/>
                <a:cs typeface="Times New Roman" panose="02020603050405020304" pitchFamily="18" charset="0"/>
              </a:rPr>
              <a:t>What is the relation of humankind to nature?</a:t>
            </a:r>
          </a:p>
          <a:p>
            <a:pPr marL="342900" indent="-342900" algn="just">
              <a:buFont typeface="Arial" panose="020B0604020202020204" pitchFamily="34" charset="0"/>
              <a:buChar char="•"/>
            </a:pPr>
            <a:r>
              <a:rPr lang="en-US" sz="2400" dirty="0">
                <a:latin typeface="Times New Roman" panose="02020603050405020304" pitchFamily="18" charset="0"/>
                <a:ea typeface="宋体" panose="02010600030101010101" pitchFamily="2" charset="-122"/>
                <a:cs typeface="Times New Roman" panose="02020603050405020304" pitchFamily="18" charset="0"/>
              </a:rPr>
              <a:t>What is the orientation toward time?</a:t>
            </a:r>
          </a:p>
          <a:p>
            <a:pPr marL="342900" indent="-342900" algn="just">
              <a:buFont typeface="Arial" panose="020B0604020202020204" pitchFamily="34" charset="0"/>
              <a:buChar char="•"/>
            </a:pPr>
            <a:r>
              <a:rPr lang="en-US" sz="2400" dirty="0">
                <a:latin typeface="Times New Roman" panose="02020603050405020304" pitchFamily="18" charset="0"/>
                <a:ea typeface="宋体" panose="02010600030101010101" pitchFamily="2" charset="-122"/>
                <a:cs typeface="Times New Roman" panose="02020603050405020304" pitchFamily="18" charset="0"/>
              </a:rPr>
              <a:t>What is the value placed on activity?</a:t>
            </a:r>
          </a:p>
          <a:p>
            <a:pPr marL="342900" indent="-342900" algn="just">
              <a:buFont typeface="Arial" panose="020B0604020202020204" pitchFamily="34" charset="0"/>
              <a:buChar char="•"/>
            </a:pPr>
            <a:r>
              <a:rPr lang="en-US" sz="2400" dirty="0">
                <a:latin typeface="Times New Roman" panose="02020603050405020304" pitchFamily="18" charset="0"/>
                <a:ea typeface="宋体" panose="02010600030101010101" pitchFamily="2" charset="-122"/>
                <a:cs typeface="Times New Roman" panose="02020603050405020304" pitchFamily="18" charset="0"/>
              </a:rPr>
              <a:t>What is the relationship of people to each other?</a:t>
            </a: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pic>
        <p:nvPicPr>
          <p:cNvPr id="2" name="图片 1" descr="34PLTBJ1UFS$5ORZWT1[J16"/>
          <p:cNvPicPr>
            <a:picLocks noChangeAspect="1"/>
          </p:cNvPicPr>
          <p:nvPr/>
        </p:nvPicPr>
        <p:blipFill>
          <a:blip r:embed="rId3"/>
          <a:stretch>
            <a:fillRect/>
          </a:stretch>
        </p:blipFill>
        <p:spPr>
          <a:xfrm>
            <a:off x="457200" y="2602865"/>
            <a:ext cx="8229600" cy="2875915"/>
          </a:xfrm>
          <a:prstGeom prst="rect">
            <a:avLst/>
          </a:prstGeom>
        </p:spPr>
      </p:pic>
      <p:sp>
        <p:nvSpPr>
          <p:cNvPr id="3" name="文本框 2"/>
          <p:cNvSpPr txBox="1"/>
          <p:nvPr/>
        </p:nvSpPr>
        <p:spPr>
          <a:xfrm>
            <a:off x="0" y="1568450"/>
            <a:ext cx="9353550" cy="52197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sym typeface="+mn-ea"/>
              </a:rPr>
              <a:t>4.6.1 Kluckhohn and </a:t>
            </a:r>
            <a:r>
              <a:rPr lang="en-US" altLang="zh-CN" sz="2800" b="1" dirty="0" err="1">
                <a:latin typeface="Times New Roman" panose="02020603050405020304" pitchFamily="18" charset="0"/>
                <a:cs typeface="Times New Roman" panose="02020603050405020304" pitchFamily="18" charset="0"/>
                <a:sym typeface="+mn-ea"/>
              </a:rPr>
              <a:t>Strodtbeck's</a:t>
            </a:r>
            <a:r>
              <a:rPr lang="en-US" altLang="zh-CN" sz="2800" b="1" dirty="0">
                <a:latin typeface="Times New Roman" panose="02020603050405020304" pitchFamily="18" charset="0"/>
                <a:cs typeface="Times New Roman" panose="02020603050405020304" pitchFamily="18" charset="0"/>
                <a:sym typeface="+mn-ea"/>
              </a:rPr>
              <a:t> Value Orientations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P135</a:t>
            </a:r>
            <a:r>
              <a:rPr lang="en-US" altLang="zh-CN" sz="2800" b="1" dirty="0">
                <a:latin typeface="Times New Roman" panose="02020603050405020304" pitchFamily="18" charset="0"/>
                <a:cs typeface="Times New Roman" panose="02020603050405020304" pitchFamily="18" charset="0"/>
                <a:sym typeface="+mn-ea"/>
              </a:rPr>
              <a:t> </a:t>
            </a:r>
            <a:endParaRPr lang="en-US" altLang="zh-CN" sz="2800" b="1" dirty="0">
              <a:latin typeface="Times New Roman" panose="02020603050405020304" pitchFamily="18" charset="0"/>
              <a:cs typeface="Times New Roman" panose="02020603050405020304" pitchFamily="18" charset="0"/>
            </a:endParaRPr>
          </a:p>
        </p:txBody>
      </p:sp>
      <p:sp>
        <p:nvSpPr>
          <p:cNvPr id="6" name="矩形 5"/>
          <p:cNvSpPr/>
          <p:nvPr/>
        </p:nvSpPr>
        <p:spPr>
          <a:xfrm>
            <a:off x="550545" y="3314700"/>
            <a:ext cx="1784985" cy="1539240"/>
          </a:xfrm>
          <a:prstGeom prst="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4.6.1.1 Human Nature Orientation </a:t>
            </a:r>
            <a:r>
              <a:rPr lang="en-US" altLang="zh-CN" sz="3600" b="1" dirty="0">
                <a:highlight>
                  <a:srgbClr val="FFFF00"/>
                </a:highlight>
                <a:latin typeface="Times New Roman" panose="02020603050405020304" pitchFamily="18" charset="0"/>
                <a:cs typeface="Times New Roman" panose="02020603050405020304" pitchFamily="18" charset="0"/>
                <a:sym typeface="+mn-ea"/>
              </a:rPr>
              <a:t>P135</a:t>
            </a:r>
            <a:endParaRPr lang="en-US" altLang="zh-CN" sz="36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241300" y="2499995"/>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Nearly all judgments about human behavior, whether moral or legal, begin with this core question</a:t>
            </a:r>
            <a:r>
              <a:rPr lang="en-US" sz="2400" dirty="0">
                <a:solidFill>
                  <a:srgbClr val="FF0000"/>
                </a:solidFill>
                <a:latin typeface="Times New Roman" panose="02020603050405020304" pitchFamily="18" charset="0"/>
                <a:cs typeface="Times New Roman" panose="02020603050405020304" pitchFamily="18" charset="0"/>
              </a:rPr>
              <a:t>: What is the character of human nature?</a:t>
            </a:r>
            <a:r>
              <a:rPr lang="en-US" sz="2400" dirty="0">
                <a:latin typeface="Times New Roman" panose="02020603050405020304" pitchFamily="18" charset="0"/>
                <a:cs typeface="Times New Roman" panose="02020603050405020304" pitchFamily="18" charset="0"/>
              </a:rPr>
              <a:t> For centuries, religious leaders, philosophers, scholars, and others have pondered and debated questions concerning human nature, answers to which represent a powerful force in how one lives life. </a:t>
            </a:r>
          </a:p>
          <a:p>
            <a:pPr algn="just"/>
            <a:r>
              <a:rPr lang="en-US" sz="2400" dirty="0">
                <a:latin typeface="Times New Roman" panose="02020603050405020304" pitchFamily="18" charset="0"/>
                <a:cs typeface="Times New Roman" panose="02020603050405020304" pitchFamily="18" charset="0"/>
              </a:rPr>
              <a:t>    Although all people individually answer questions about human nature, there are also cultural explanations for why people act as they do. Discussions of </a:t>
            </a:r>
            <a:r>
              <a:rPr lang="en-US" sz="2400" dirty="0">
                <a:solidFill>
                  <a:srgbClr val="FF0000"/>
                </a:solidFill>
                <a:latin typeface="Times New Roman" panose="02020603050405020304" pitchFamily="18" charset="0"/>
                <a:cs typeface="Times New Roman" panose="02020603050405020304" pitchFamily="18" charset="0"/>
              </a:rPr>
              <a:t>human nature </a:t>
            </a:r>
            <a:r>
              <a:rPr lang="en-US" sz="2400" dirty="0">
                <a:latin typeface="Times New Roman" panose="02020603050405020304" pitchFamily="18" charset="0"/>
                <a:cs typeface="Times New Roman" panose="02020603050405020304" pitchFamily="18" charset="0"/>
              </a:rPr>
              <a:t>often deal with divisions of </a:t>
            </a:r>
            <a:r>
              <a:rPr lang="en-US" sz="2400" b="1" i="1" dirty="0">
                <a:solidFill>
                  <a:srgbClr val="FF0000"/>
                </a:solidFill>
                <a:latin typeface="Times New Roman" panose="02020603050405020304" pitchFamily="18" charset="0"/>
                <a:cs typeface="Times New Roman" panose="02020603050405020304" pitchFamily="18" charset="0"/>
              </a:rPr>
              <a:t>evil, good and evil, and good</a:t>
            </a:r>
            <a:r>
              <a:rPr 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2664460"/>
            <a:ext cx="8661400" cy="1753235"/>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Evil</a:t>
            </a:r>
          </a:p>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Good and evil</a:t>
            </a:r>
          </a:p>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Good</a:t>
            </a: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4.6.1.1 Human Nature Orientation</a:t>
            </a:r>
            <a:endParaRPr lang="en-US" altLang="zh-CN" sz="4000" b="1">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234569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Some cultures believe that people are intrinsically evil. </a:t>
            </a:r>
            <a:r>
              <a:rPr lang="en-US" altLang="zh-CN" sz="2400" dirty="0">
                <a:latin typeface="Times New Roman" panose="02020603050405020304" pitchFamily="18" charset="0"/>
                <a:cs typeface="Times New Roman" panose="02020603050405020304" pitchFamily="18" charset="0"/>
              </a:rPr>
              <a:t>Brought from Europe by the early Puritans, this view prevailed in the United States for many years. In the last century, however, </a:t>
            </a:r>
            <a:r>
              <a:rPr lang="en-US" altLang="zh-CN" sz="2400" dirty="0">
                <a:solidFill>
                  <a:srgbClr val="FF0000"/>
                </a:solidFill>
                <a:latin typeface="Times New Roman" panose="02020603050405020304" pitchFamily="18" charset="0"/>
                <a:cs typeface="Times New Roman" panose="02020603050405020304" pitchFamily="18" charset="0"/>
              </a:rPr>
              <a:t>Americans</a:t>
            </a:r>
            <a:r>
              <a:rPr lang="en-US" altLang="zh-CN" sz="2400" dirty="0">
                <a:latin typeface="Times New Roman" panose="02020603050405020304" pitchFamily="18" charset="0"/>
                <a:cs typeface="Times New Roman" panose="02020603050405020304" pitchFamily="18" charset="0"/>
              </a:rPr>
              <a:t> have come to consider themselves as </a:t>
            </a:r>
            <a:r>
              <a:rPr lang="en-US" altLang="zh-CN" sz="2400" dirty="0">
                <a:solidFill>
                  <a:srgbClr val="FF0000"/>
                </a:solidFill>
                <a:latin typeface="Times New Roman" panose="02020603050405020304" pitchFamily="18" charset="0"/>
                <a:cs typeface="Times New Roman" panose="02020603050405020304" pitchFamily="18" charset="0"/>
              </a:rPr>
              <a:t>a mixture of good and evil</a:t>
            </a:r>
            <a:r>
              <a:rPr lang="en-US" altLang="zh-CN" sz="2400" dirty="0">
                <a:latin typeface="Times New Roman" panose="02020603050405020304" pitchFamily="18" charset="0"/>
                <a:cs typeface="Times New Roman" panose="02020603050405020304" pitchFamily="18" charset="0"/>
              </a:rPr>
              <a:t>.</a:t>
            </a:r>
          </a:p>
          <a:p>
            <a:pPr algn="just"/>
            <a:r>
              <a:rPr lang="en-US" altLang="zh-CN" sz="2400" dirty="0">
                <a:latin typeface="Times New Roman" panose="02020603050405020304" pitchFamily="18" charset="0"/>
                <a:cs typeface="Times New Roman" panose="02020603050405020304" pitchFamily="18" charset="0"/>
              </a:rPr>
              <a:t>    A more restrictive view of human nature as good or evil is found in parts of the world where </a:t>
            </a:r>
            <a:r>
              <a:rPr lang="en-US" altLang="zh-CN" sz="2400" dirty="0">
                <a:solidFill>
                  <a:srgbClr val="FF0000"/>
                </a:solidFill>
                <a:latin typeface="Times New Roman" panose="02020603050405020304" pitchFamily="18" charset="0"/>
                <a:cs typeface="Times New Roman" panose="02020603050405020304" pitchFamily="18" charset="0"/>
              </a:rPr>
              <a:t>Islam</a:t>
            </a:r>
            <a:r>
              <a:rPr lang="en-US" altLang="zh-CN" sz="2400" dirty="0">
                <a:latin typeface="Times New Roman" panose="02020603050405020304" pitchFamily="18" charset="0"/>
                <a:cs typeface="Times New Roman" panose="02020603050405020304" pitchFamily="18" charset="0"/>
              </a:rPr>
              <a:t> is strong. There, you can find cultures that are imbued with the notion that </a:t>
            </a:r>
            <a:r>
              <a:rPr lang="en-US" altLang="zh-CN" sz="2400" dirty="0">
                <a:solidFill>
                  <a:srgbClr val="FF0000"/>
                </a:solidFill>
                <a:latin typeface="Times New Roman" panose="02020603050405020304" pitchFamily="18" charset="0"/>
                <a:cs typeface="Times New Roman" panose="02020603050405020304" pitchFamily="18" charset="0"/>
              </a:rPr>
              <a:t>people have a penchant for evil </a:t>
            </a:r>
            <a:r>
              <a:rPr lang="en-US" altLang="zh-CN" sz="2400" dirty="0">
                <a:latin typeface="Times New Roman" panose="02020603050405020304" pitchFamily="18" charset="0"/>
                <a:cs typeface="Times New Roman" panose="02020603050405020304" pitchFamily="18" charset="0"/>
              </a:rPr>
              <a:t>and therefore cannot be trusted to make a correct decision when left to their own resources. Hence, to help control the actions of their members, numerous social institutions, ranging from the religious to the political, are designed to monitor and manage behavior.</a:t>
            </a:r>
          </a:p>
        </p:txBody>
      </p:sp>
      <p:sp>
        <p:nvSpPr>
          <p:cNvPr id="2" name="文本框 1"/>
          <p:cNvSpPr txBox="1"/>
          <p:nvPr/>
        </p:nvSpPr>
        <p:spPr>
          <a:xfrm>
            <a:off x="241300"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4.6.1.1.1 Evil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P135</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1300"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4.6.1.1.2 Good and Evil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P135</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785" y="2910840"/>
            <a:ext cx="8661400" cy="267652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People with </a:t>
            </a:r>
            <a:r>
              <a:rPr lang="en-US" altLang="zh-CN" sz="2400" dirty="0">
                <a:solidFill>
                  <a:srgbClr val="FF0000"/>
                </a:solidFill>
                <a:latin typeface="Times New Roman" panose="02020603050405020304" pitchFamily="18" charset="0"/>
                <a:cs typeface="Times New Roman" panose="02020603050405020304" pitchFamily="18" charset="0"/>
              </a:rPr>
              <a:t>a Taoist worldview </a:t>
            </a:r>
            <a:r>
              <a:rPr lang="en-US" altLang="zh-CN" sz="2400" dirty="0">
                <a:latin typeface="Times New Roman" panose="02020603050405020304" pitchFamily="18" charset="0"/>
                <a:cs typeface="Times New Roman" panose="02020603050405020304" pitchFamily="18" charset="0"/>
              </a:rPr>
              <a:t>believe the universe is best seen from the perspective of </a:t>
            </a:r>
            <a:r>
              <a:rPr lang="en-US" altLang="zh-CN" sz="2400" i="1" dirty="0">
                <a:solidFill>
                  <a:srgbClr val="FF0000"/>
                </a:solidFill>
                <a:latin typeface="Times New Roman" panose="02020603050405020304" pitchFamily="18" charset="0"/>
                <a:cs typeface="Times New Roman" panose="02020603050405020304" pitchFamily="18" charset="0"/>
              </a:rPr>
              <a:t>yin</a:t>
            </a:r>
            <a:r>
              <a:rPr lang="en-US" altLang="zh-CN" sz="2400" dirty="0">
                <a:solidFill>
                  <a:srgbClr val="FF0000"/>
                </a:solidFill>
                <a:latin typeface="Times New Roman" panose="02020603050405020304" pitchFamily="18" charset="0"/>
                <a:cs typeface="Times New Roman" panose="02020603050405020304" pitchFamily="18" charset="0"/>
              </a:rPr>
              <a:t> and </a:t>
            </a:r>
            <a:r>
              <a:rPr lang="en-US" altLang="zh-CN" sz="2400" i="1" dirty="0">
                <a:solidFill>
                  <a:srgbClr val="FF0000"/>
                </a:solidFill>
                <a:latin typeface="Times New Roman" panose="02020603050405020304" pitchFamily="18" charset="0"/>
                <a:cs typeface="Times New Roman" panose="02020603050405020304" pitchFamily="18" charset="0"/>
              </a:rPr>
              <a:t>yang</a:t>
            </a:r>
            <a:r>
              <a:rPr lang="en-US" altLang="zh-CN" sz="2400" dirty="0">
                <a:latin typeface="Times New Roman" panose="02020603050405020304" pitchFamily="18" charset="0"/>
                <a:cs typeface="Times New Roman" panose="02020603050405020304" pitchFamily="18" charset="0"/>
              </a:rPr>
              <a:t>, an infinite system of opposing elements and forces in balanced, dynamic interaction. </a:t>
            </a:r>
            <a:r>
              <a:rPr lang="en-US" altLang="zh-CN" sz="2400" dirty="0">
                <a:solidFill>
                  <a:srgbClr val="FF0000"/>
                </a:solidFill>
                <a:latin typeface="Times New Roman" panose="02020603050405020304" pitchFamily="18" charset="0"/>
                <a:cs typeface="Times New Roman" panose="02020603050405020304" pitchFamily="18" charset="0"/>
              </a:rPr>
              <a:t>Two of the forces are good and evil</a:t>
            </a:r>
            <a:r>
              <a:rPr lang="en-US" altLang="zh-CN" sz="2400" dirty="0">
                <a:latin typeface="Times New Roman" panose="02020603050405020304" pitchFamily="18" charset="0"/>
                <a:cs typeface="Times New Roman" panose="02020603050405020304" pitchFamily="18" charset="0"/>
              </a:rPr>
              <a:t>, and since humanity is part of the universe, these forces are naturally present in humankind. </a:t>
            </a:r>
            <a:r>
              <a:rPr lang="en-US" altLang="zh-CN" sz="2400" dirty="0">
                <a:solidFill>
                  <a:srgbClr val="FF0000"/>
                </a:solidFill>
                <a:latin typeface="Times New Roman" panose="02020603050405020304" pitchFamily="18" charset="0"/>
                <a:cs typeface="Times New Roman" panose="02020603050405020304" pitchFamily="18" charset="0"/>
              </a:rPr>
              <a:t>This view of the good and evil nature of humanity proposes that evil cannot be eliminated because it is an integral part of the universe.</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184785" y="142617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4.6.1.1.3 Good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P136</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785" y="224536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Perhaps the strongest view of the innate goodness of human nature is found in the philosophies of </a:t>
            </a:r>
            <a:r>
              <a:rPr lang="en-US" altLang="zh-CN" sz="2400" dirty="0">
                <a:solidFill>
                  <a:srgbClr val="FF0000"/>
                </a:solidFill>
                <a:latin typeface="Times New Roman" panose="02020603050405020304" pitchFamily="18" charset="0"/>
                <a:cs typeface="Times New Roman" panose="02020603050405020304" pitchFamily="18" charset="0"/>
              </a:rPr>
              <a:t>Confucianism and Buddhism</a:t>
            </a:r>
            <a:r>
              <a:rPr lang="en-US" altLang="zh-CN" sz="2400" dirty="0">
                <a:latin typeface="Times New Roman" panose="02020603050405020304" pitchFamily="18" charset="0"/>
                <a:cs typeface="Times New Roman" panose="02020603050405020304" pitchFamily="18" charset="0"/>
              </a:rPr>
              <a:t>. According to the Lu Wang school of Confucianism, “Human nature is originally good.” Buddhism also maintains that you are born pure and are closest to what is called “loving-kindness” when you first enter this world. Hence, </a:t>
            </a:r>
            <a:r>
              <a:rPr lang="en-US" altLang="zh-CN" sz="2400" dirty="0">
                <a:solidFill>
                  <a:srgbClr val="FF0000"/>
                </a:solidFill>
                <a:latin typeface="Times New Roman" panose="02020603050405020304" pitchFamily="18" charset="0"/>
                <a:cs typeface="Times New Roman" panose="02020603050405020304" pitchFamily="18" charset="0"/>
              </a:rPr>
              <a:t>people are good, but their culture often makes them evil.</a:t>
            </a:r>
          </a:p>
          <a:p>
            <a:pPr algn="just"/>
            <a:r>
              <a:rPr lang="en-US" altLang="zh-CN" sz="2400" dirty="0">
                <a:latin typeface="Times New Roman" panose="02020603050405020304" pitchFamily="18" charset="0"/>
                <a:cs typeface="Times New Roman" panose="02020603050405020304" pitchFamily="18" charset="0"/>
              </a:rPr>
              <a:t>    Cutting across the arguments concerning human nature, whether it is good or evil, is the question of the essential rationality of human nature. </a:t>
            </a:r>
            <a:r>
              <a:rPr lang="en-US" altLang="zh-CN" sz="2400" dirty="0">
                <a:solidFill>
                  <a:srgbClr val="FF0000"/>
                </a:solidFill>
                <a:latin typeface="Times New Roman" panose="02020603050405020304" pitchFamily="18" charset="0"/>
                <a:cs typeface="Times New Roman" panose="02020603050405020304" pitchFamily="18" charset="0"/>
              </a:rPr>
              <a:t>Throughout history there has been tension between those who believe in fate or mystic powers and those who feel that thought and reason can solve any problem and discover any truth.</a:t>
            </a: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2664460"/>
            <a:ext cx="8661400" cy="248574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Humans subject to nature</a:t>
            </a:r>
          </a:p>
          <a:p>
            <a:pPr marL="342900" indent="-342900" algn="just">
              <a:lnSpc>
                <a:spcPct val="150000"/>
              </a:lnSpc>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Harmony with nature</a:t>
            </a:r>
          </a:p>
          <a:p>
            <a:pPr marL="342900" indent="-342900" algn="just">
              <a:lnSpc>
                <a:spcPct val="150000"/>
              </a:lnSpc>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Mastery of nature</a:t>
            </a:r>
          </a:p>
        </p:txBody>
      </p:sp>
      <p:sp>
        <p:nvSpPr>
          <p:cNvPr id="2" name="文本框 1"/>
          <p:cNvSpPr txBox="1"/>
          <p:nvPr/>
        </p:nvSpPr>
        <p:spPr>
          <a:xfrm>
            <a:off x="241300" y="144971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4.6.1.2 Person/Nature Orientation</a:t>
            </a:r>
            <a:endParaRPr lang="en-US" altLang="zh-CN" sz="4000" b="1"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4.6.1.2.1 Humans Subject to Nature </a:t>
            </a:r>
            <a:r>
              <a:rPr lang="en-US" altLang="zh-CN" sz="3600" b="1" dirty="0">
                <a:highlight>
                  <a:srgbClr val="FFFF00"/>
                </a:highlight>
                <a:latin typeface="Times New Roman" panose="02020603050405020304" pitchFamily="18" charset="0"/>
                <a:cs typeface="Times New Roman" panose="02020603050405020304" pitchFamily="18" charset="0"/>
                <a:sym typeface="+mn-ea"/>
              </a:rPr>
              <a:t>P136</a:t>
            </a:r>
            <a:endParaRPr lang="en-US" altLang="zh-CN" sz="36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150" y="2608158"/>
            <a:ext cx="8661400" cy="3108543"/>
          </a:xfrm>
          <a:prstGeom prst="rect">
            <a:avLst/>
          </a:prstGeom>
          <a:noFill/>
        </p:spPr>
        <p:txBody>
          <a:bodyPr wrap="square" rtlCol="0">
            <a:spAutoFit/>
          </a:bodyPr>
          <a:lstStyle/>
          <a:p>
            <a:pPr algn="just"/>
            <a:r>
              <a:rPr lang="en-US" altLang="zh-CN" sz="36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Cultures holding this orientation believe </a:t>
            </a:r>
            <a:r>
              <a:rPr lang="en-US" altLang="zh-CN" sz="3200" dirty="0">
                <a:solidFill>
                  <a:srgbClr val="FF0000"/>
                </a:solidFill>
                <a:latin typeface="Times New Roman" panose="02020603050405020304" pitchFamily="18" charset="0"/>
                <a:cs typeface="Times New Roman" panose="02020603050405020304" pitchFamily="18" charset="0"/>
              </a:rPr>
              <a:t>the most powerful forces of life are beyond human control</a:t>
            </a:r>
            <a:r>
              <a:rPr lang="en-US" altLang="zh-CN" sz="3200" dirty="0">
                <a:latin typeface="Times New Roman" panose="02020603050405020304" pitchFamily="18" charset="0"/>
                <a:cs typeface="Times New Roman" panose="02020603050405020304" pitchFamily="18" charset="0"/>
              </a:rPr>
              <a:t>. Whether the force is a god, fate, or magic, it cannot be overcome and must, therefore, be accepted. This perspective is found </a:t>
            </a:r>
            <a:r>
              <a:rPr lang="en-US" altLang="zh-CN" sz="3200" dirty="0">
                <a:solidFill>
                  <a:srgbClr val="FF0000"/>
                </a:solidFill>
                <a:latin typeface="Times New Roman" panose="02020603050405020304" pitchFamily="18" charset="0"/>
                <a:cs typeface="Times New Roman" panose="02020603050405020304" pitchFamily="18" charset="0"/>
              </a:rPr>
              <a:t>in India and parts of South America.</a:t>
            </a: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4.6.1.2.2 Harmony with Nature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P136</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150" y="2345690"/>
            <a:ext cx="8661400" cy="44012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The middle or cooperative view is widespread and often associated with East Asians</a:t>
            </a:r>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In Japan and Thailand</a:t>
            </a:r>
            <a:r>
              <a:rPr lang="en-US" altLang="zh-CN" sz="2800" dirty="0">
                <a:latin typeface="Times New Roman" panose="02020603050405020304" pitchFamily="18" charset="0"/>
                <a:cs typeface="Times New Roman" panose="02020603050405020304" pitchFamily="18" charset="0"/>
              </a:rPr>
              <a:t>, there is a perception that nature is part of life and not a hostile force waiting to be subdued. This orientation affirms that people should, in every way possible, live in harmony with nature. </a:t>
            </a:r>
            <a:r>
              <a:rPr lang="en-US" altLang="zh-CN" sz="2800" dirty="0">
                <a:solidFill>
                  <a:srgbClr val="FF0000"/>
                </a:solidFill>
                <a:latin typeface="Times New Roman" panose="02020603050405020304" pitchFamily="18" charset="0"/>
                <a:cs typeface="Times New Roman" panose="02020603050405020304" pitchFamily="18" charset="0"/>
              </a:rPr>
              <a:t>To cite another example</a:t>
            </a:r>
            <a:r>
              <a:rPr lang="en-US" altLang="zh-CN" sz="2800" dirty="0">
                <a:latin typeface="Times New Roman" panose="02020603050405020304" pitchFamily="18" charset="0"/>
                <a:cs typeface="Times New Roman" panose="02020603050405020304" pitchFamily="18" charset="0"/>
              </a:rPr>
              <a:t>, the desire to be part of nature and not control it has always been strong among </a:t>
            </a:r>
            <a:r>
              <a:rPr lang="en-US" altLang="zh-CN" sz="2800" dirty="0">
                <a:solidFill>
                  <a:srgbClr val="FF0000"/>
                </a:solidFill>
                <a:latin typeface="Times New Roman" panose="02020603050405020304" pitchFamily="18" charset="0"/>
                <a:cs typeface="Times New Roman" panose="02020603050405020304" pitchFamily="18" charset="0"/>
              </a:rPr>
              <a:t>American Indians</a:t>
            </a:r>
            <a:r>
              <a:rPr lang="en-US" altLang="zh-CN" sz="2800" dirty="0">
                <a:latin typeface="Times New Roman" panose="02020603050405020304" pitchFamily="18" charset="0"/>
                <a:cs typeface="Times New Roman" panose="02020603050405020304" pitchFamily="18" charset="0"/>
              </a:rPr>
              <a:t>. Even today, many tribes practice conservation of natural resources and protest the disruption of ancestral lands.</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4.6.1.2.3 Mastery of Nature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P137</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150" y="2692545"/>
            <a:ext cx="8661400" cy="3539430"/>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At the other end of the scale is </a:t>
            </a:r>
            <a:r>
              <a:rPr lang="en-US" altLang="zh-CN" sz="2800" dirty="0">
                <a:solidFill>
                  <a:srgbClr val="FF0000"/>
                </a:solidFill>
                <a:latin typeface="Times New Roman" panose="02020603050405020304" pitchFamily="18" charset="0"/>
                <a:cs typeface="Times New Roman" panose="02020603050405020304" pitchFamily="18" charset="0"/>
              </a:rPr>
              <a:t>the view </a:t>
            </a:r>
            <a:r>
              <a:rPr lang="en-US" altLang="zh-CN" sz="2800" dirty="0">
                <a:latin typeface="Times New Roman" panose="02020603050405020304" pitchFamily="18" charset="0"/>
                <a:cs typeface="Times New Roman" panose="02020603050405020304" pitchFamily="18" charset="0"/>
              </a:rPr>
              <a:t>that </a:t>
            </a:r>
            <a:r>
              <a:rPr lang="en-US" altLang="zh-CN" sz="2800" dirty="0">
                <a:solidFill>
                  <a:srgbClr val="FF0000"/>
                </a:solidFill>
                <a:latin typeface="Times New Roman" panose="02020603050405020304" pitchFamily="18" charset="0"/>
                <a:cs typeface="Times New Roman" panose="02020603050405020304" pitchFamily="18" charset="0"/>
              </a:rPr>
              <a:t>compels us to conquer and direct the forces of nature to our advantage</a:t>
            </a:r>
            <a:r>
              <a:rPr lang="en-US" altLang="zh-CN" sz="2800" dirty="0">
                <a:latin typeface="Times New Roman" panose="02020603050405020304" pitchFamily="18" charset="0"/>
                <a:cs typeface="Times New Roman" panose="02020603050405020304" pitchFamily="18" charset="0"/>
              </a:rPr>
              <a:t>. This orientation is characteristic of </a:t>
            </a:r>
            <a:r>
              <a:rPr lang="en-US" altLang="zh-CN" sz="2800" dirty="0">
                <a:solidFill>
                  <a:srgbClr val="FF0000"/>
                </a:solidFill>
                <a:latin typeface="Times New Roman" panose="02020603050405020304" pitchFamily="18" charset="0"/>
                <a:cs typeface="Times New Roman" panose="02020603050405020304" pitchFamily="18" charset="0"/>
              </a:rPr>
              <a:t>the Western approach</a:t>
            </a:r>
            <a:r>
              <a:rPr lang="en-US" altLang="zh-CN" sz="2800" dirty="0">
                <a:latin typeface="Times New Roman" panose="02020603050405020304" pitchFamily="18" charset="0"/>
                <a:cs typeface="Times New Roman" panose="02020603050405020304" pitchFamily="18" charset="0"/>
              </a:rPr>
              <a:t>, which has a long tradition of valuing technology, change, and science. Americans have historically believed that nature was something that could and had to be mastered. People with this orientation see a clear separation between humans and nature.</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2664460"/>
            <a:ext cx="8661400" cy="1753235"/>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Past orientation</a:t>
            </a:r>
          </a:p>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Present orientation</a:t>
            </a:r>
          </a:p>
          <a:p>
            <a:pPr marL="342900" indent="-3429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Future orientation</a:t>
            </a: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4.6.1.3 Time Orientation</a:t>
            </a:r>
            <a:endParaRPr lang="en-US" altLang="zh-CN" sz="4000" b="1">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4.6.1.3.1 Past Orientation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P138</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150" y="2701925"/>
            <a:ext cx="8661400" cy="3784600"/>
          </a:xfrm>
          <a:prstGeom prst="rect">
            <a:avLst/>
          </a:prstGeom>
          <a:noFill/>
        </p:spPr>
        <p:txBody>
          <a:bodyPr wrap="square" rtlCol="0">
            <a:spAutoFit/>
          </a:bodyPr>
          <a:lstStyle/>
          <a:p>
            <a:pPr algn="just"/>
            <a:r>
              <a:rPr lang="en-US" altLang="zh-CN" sz="2400" dirty="0">
                <a:solidFill>
                  <a:srgbClr val="FF0000"/>
                </a:solidFill>
                <a:latin typeface="Times New Roman" panose="02020603050405020304" pitchFamily="18" charset="0"/>
                <a:cs typeface="Times New Roman" panose="02020603050405020304" pitchFamily="18" charset="0"/>
              </a:rPr>
              <a:t>    In past-oriented cultures, history, established religions, and tradition are extremely important</a:t>
            </a:r>
            <a:r>
              <a:rPr lang="en-US" altLang="zh-CN" sz="2400" dirty="0">
                <a:latin typeface="Times New Roman" panose="02020603050405020304" pitchFamily="18" charset="0"/>
                <a:cs typeface="Times New Roman" panose="02020603050405020304" pitchFamily="18" charset="0"/>
              </a:rPr>
              <a:t>. There is an intense belief that contemporary perceptions of people and events, decision making, and determinations of truth should be guided by what happened in the past.</a:t>
            </a:r>
          </a:p>
          <a:p>
            <a:pPr algn="just"/>
            <a:r>
              <a:rPr lang="en-US" altLang="zh-CN" sz="2400" dirty="0">
                <a:latin typeface="Times New Roman" panose="02020603050405020304" pitchFamily="18" charset="0"/>
                <a:cs typeface="Times New Roman" panose="02020603050405020304" pitchFamily="18" charset="0"/>
              </a:rPr>
              <a:t>    Respect for the past is especially evident in </a:t>
            </a:r>
            <a:r>
              <a:rPr lang="en-US" altLang="zh-CN" sz="2400" dirty="0">
                <a:solidFill>
                  <a:srgbClr val="FF0000"/>
                </a:solidFill>
                <a:latin typeface="Times New Roman" panose="02020603050405020304" pitchFamily="18" charset="0"/>
                <a:cs typeface="Times New Roman" panose="02020603050405020304" pitchFamily="18" charset="0"/>
              </a:rPr>
              <a:t>most Asian nations </a:t>
            </a:r>
            <a:r>
              <a:rPr lang="en-US" altLang="zh-CN" sz="2400" dirty="0">
                <a:latin typeface="Times New Roman" panose="02020603050405020304" pitchFamily="18" charset="0"/>
                <a:cs typeface="Times New Roman" panose="02020603050405020304" pitchFamily="18" charset="0"/>
              </a:rPr>
              <a:t>because of their long and eventful histories. </a:t>
            </a:r>
            <a:r>
              <a:rPr lang="en-US" altLang="zh-CN" sz="2400" dirty="0">
                <a:solidFill>
                  <a:srgbClr val="FF0000"/>
                </a:solidFill>
                <a:latin typeface="Times New Roman" panose="02020603050405020304" pitchFamily="18" charset="0"/>
                <a:cs typeface="Times New Roman" panose="02020603050405020304" pitchFamily="18" charset="0"/>
              </a:rPr>
              <a:t>Great Britain </a:t>
            </a:r>
            <a:r>
              <a:rPr lang="en-US" altLang="zh-CN" sz="2400" dirty="0">
                <a:latin typeface="Times New Roman" panose="02020603050405020304" pitchFamily="18" charset="0"/>
                <a:cs typeface="Times New Roman" panose="02020603050405020304" pitchFamily="18" charset="0"/>
              </a:rPr>
              <a:t>remains devoted to tradition, including the maintenance of a monarchy, and continues to value its historical achievements. </a:t>
            </a:r>
            <a:r>
              <a:rPr lang="en-US" altLang="zh-CN" sz="2400" dirty="0">
                <a:solidFill>
                  <a:srgbClr val="FF0000"/>
                </a:solidFill>
                <a:latin typeface="Times New Roman" panose="02020603050405020304" pitchFamily="18" charset="0"/>
                <a:cs typeface="Times New Roman" panose="02020603050405020304" pitchFamily="18" charset="0"/>
              </a:rPr>
              <a:t>France</a:t>
            </a:r>
            <a:r>
              <a:rPr lang="en-US" altLang="zh-CN" sz="2400" dirty="0">
                <a:latin typeface="Times New Roman" panose="02020603050405020304" pitchFamily="18" charset="0"/>
                <a:cs typeface="Times New Roman" panose="02020603050405020304" pitchFamily="18" charset="0"/>
              </a:rPr>
              <a:t> is another culture that can be understood by exploring its view of the past.</a:t>
            </a: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4.6.1.3.2 Present Orientation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P138</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3" name="文本框 2"/>
          <p:cNvSpPr txBox="1"/>
          <p:nvPr/>
        </p:nvSpPr>
        <p:spPr>
          <a:xfrm>
            <a:off x="184150" y="2701925"/>
            <a:ext cx="8661400" cy="3539430"/>
          </a:xfrm>
          <a:prstGeom prst="rect">
            <a:avLst/>
          </a:prstGeom>
          <a:noFill/>
        </p:spPr>
        <p:txBody>
          <a:bodyPr wrap="square" rtlCol="0">
            <a:spAutoFit/>
          </a:bodyPr>
          <a:lstStyle/>
          <a:p>
            <a:pPr algn="just"/>
            <a:r>
              <a:rPr lang="en-US" altLang="zh-CN" sz="2800" dirty="0">
                <a:solidFill>
                  <a:srgbClr val="FF0000"/>
                </a:solidFill>
                <a:latin typeface="Times New Roman" panose="02020603050405020304" pitchFamily="18" charset="0"/>
                <a:cs typeface="Times New Roman" panose="02020603050405020304" pitchFamily="18" charset="0"/>
              </a:rPr>
              <a:t>    Present-oriented cultures hold that the here and now carries the most significance. </a:t>
            </a:r>
            <a:r>
              <a:rPr lang="en-US" altLang="zh-CN" sz="2800" dirty="0">
                <a:latin typeface="Times New Roman" panose="02020603050405020304" pitchFamily="18" charset="0"/>
                <a:cs typeface="Times New Roman" panose="02020603050405020304" pitchFamily="18" charset="0"/>
              </a:rPr>
              <a:t>The future is seen as ambiguous, capricious, and in a sense, beyond the control of the individual. Because the past is over and the future is unpredictable, </a:t>
            </a:r>
            <a:r>
              <a:rPr lang="en-US" altLang="zh-CN" sz="2800" dirty="0">
                <a:solidFill>
                  <a:srgbClr val="FF0000"/>
                </a:solidFill>
                <a:latin typeface="Times New Roman" panose="02020603050405020304" pitchFamily="18" charset="0"/>
                <a:cs typeface="Times New Roman" panose="02020603050405020304" pitchFamily="18" charset="0"/>
              </a:rPr>
              <a:t>present cultures</a:t>
            </a:r>
            <a:r>
              <a:rPr lang="en-US" altLang="zh-CN" sz="2800" dirty="0">
                <a:latin typeface="Times New Roman" panose="02020603050405020304" pitchFamily="18" charset="0"/>
                <a:cs typeface="Times New Roman" panose="02020603050405020304" pitchFamily="18" charset="0"/>
              </a:rPr>
              <a:t>, such as Filipinos and Latin Americans, </a:t>
            </a:r>
            <a:r>
              <a:rPr lang="en-US" altLang="zh-CN" sz="2800" dirty="0">
                <a:solidFill>
                  <a:srgbClr val="FF0000"/>
                </a:solidFill>
                <a:latin typeface="Times New Roman" panose="02020603050405020304" pitchFamily="18" charset="0"/>
                <a:cs typeface="Times New Roman" panose="02020603050405020304" pitchFamily="18" charset="0"/>
              </a:rPr>
              <a:t>enjoy living in the moment</a:t>
            </a:r>
            <a:r>
              <a:rPr lang="en-US" altLang="zh-CN" sz="2800" dirty="0">
                <a:latin typeface="Times New Roman" panose="02020603050405020304" pitchFamily="18" charset="0"/>
                <a:cs typeface="Times New Roman" panose="02020603050405020304" pitchFamily="18" charset="0"/>
              </a:rPr>
              <a:t>. These cultures tend to be more impulsive and spontaneous than others and often have a casual, relaxed lifestyle.</a:t>
            </a: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4.6.1.3.3 Future Orientation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P138</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150" y="2701925"/>
            <a:ext cx="8661400" cy="2677656"/>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Future-oriented cultures value what is yet to come, and the future is expected to be grander than the present or past. </a:t>
            </a:r>
            <a:r>
              <a:rPr lang="en-US" altLang="zh-CN" sz="2800" dirty="0">
                <a:latin typeface="Times New Roman" panose="02020603050405020304" pitchFamily="18" charset="0"/>
                <a:cs typeface="Times New Roman" panose="02020603050405020304" pitchFamily="18" charset="0"/>
              </a:rPr>
              <a:t>Change, taking chances, a stress on youth, and optimism are all hallmarks of cultures that hold this orientation. Most </a:t>
            </a:r>
            <a:r>
              <a:rPr lang="en-US" altLang="zh-CN" sz="2800" dirty="0">
                <a:solidFill>
                  <a:srgbClr val="FF0000"/>
                </a:solidFill>
                <a:latin typeface="Times New Roman" panose="02020603050405020304" pitchFamily="18" charset="0"/>
                <a:cs typeface="Times New Roman" panose="02020603050405020304" pitchFamily="18" charset="0"/>
              </a:rPr>
              <a:t>U.S. Americans</a:t>
            </a:r>
            <a:r>
              <a:rPr lang="en-US" altLang="zh-CN" sz="2800" dirty="0">
                <a:latin typeface="Times New Roman" panose="02020603050405020304" pitchFamily="18" charset="0"/>
                <a:cs typeface="Times New Roman" panose="02020603050405020304" pitchFamily="18" charset="0"/>
              </a:rPr>
              <a:t>, who are constantly thinking about what is ahead, hold this view toward the future.</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41300" y="2664460"/>
            <a:ext cx="8661400" cy="1753235"/>
          </a:xfrm>
          <a:prstGeom prst="rect">
            <a:avLst/>
          </a:prstGeom>
          <a:noFill/>
        </p:spPr>
        <p:txBody>
          <a:bodyPr wrap="square" rtlCol="0">
            <a:spAutoFit/>
          </a:bodyPr>
          <a:lstStyle/>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Being</a:t>
            </a:r>
          </a:p>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Being-in-becoming</a:t>
            </a:r>
          </a:p>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Doing</a:t>
            </a: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4.6.1.4 Activity Orientation</a:t>
            </a:r>
            <a:endParaRPr lang="en-US" altLang="zh-CN" sz="4000" b="1">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4.6.1.4.1 Being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P139</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150" y="2701925"/>
            <a:ext cx="8661400" cy="3108543"/>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A being orientation refers to spontaneous expression of the human personality</a:t>
            </a:r>
            <a:r>
              <a:rPr lang="en-US" altLang="zh-CN" sz="2800" dirty="0">
                <a:latin typeface="Times New Roman" panose="02020603050405020304" pitchFamily="18" charset="0"/>
                <a:cs typeface="Times New Roman" panose="02020603050405020304" pitchFamily="18" charset="0"/>
              </a:rPr>
              <a:t>. People in being-orientated cultures accept people, events, and ideas as flowing spontaneously. They stress release, indulgence of existing desires, and working for the moment. </a:t>
            </a:r>
            <a:r>
              <a:rPr lang="en-US" altLang="zh-CN" sz="2800" dirty="0">
                <a:solidFill>
                  <a:srgbClr val="FF0000"/>
                </a:solidFill>
                <a:latin typeface="Times New Roman" panose="02020603050405020304" pitchFamily="18" charset="0"/>
                <a:cs typeface="Times New Roman" panose="02020603050405020304" pitchFamily="18" charset="0"/>
              </a:rPr>
              <a:t>Most Latino cultures</a:t>
            </a:r>
            <a:r>
              <a:rPr lang="en-US" altLang="zh-CN" sz="2800" dirty="0">
                <a:latin typeface="Times New Roman" panose="02020603050405020304" pitchFamily="18" charset="0"/>
                <a:cs typeface="Times New Roman" panose="02020603050405020304" pitchFamily="18" charset="0"/>
              </a:rPr>
              <a:t> consider the activity they are engaged in as the one that matters the most. </a:t>
            </a: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4.6.1.4.2 Being-in-Becoming </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P139</a:t>
            </a:r>
            <a:r>
              <a:rPr lang="en-US" altLang="zh-CN" sz="4000" b="1" dirty="0">
                <a:latin typeface="Times New Roman" panose="02020603050405020304" pitchFamily="18" charset="0"/>
                <a:cs typeface="Times New Roman" panose="02020603050405020304" pitchFamily="18" charset="0"/>
                <a:sym typeface="+mn-ea"/>
              </a:rPr>
              <a:t> </a:t>
            </a:r>
            <a:endParaRPr lang="en-US" altLang="zh-CN" sz="4000" b="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127635" y="2083237"/>
            <a:ext cx="8661400" cy="4832092"/>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Being-in-becoming stresses the idea of development and growth. </a:t>
            </a:r>
            <a:r>
              <a:rPr lang="en-US" altLang="zh-CN" sz="2800" dirty="0">
                <a:latin typeface="Times New Roman" panose="02020603050405020304" pitchFamily="18" charset="0"/>
                <a:cs typeface="Times New Roman" panose="02020603050405020304" pitchFamily="18" charset="0"/>
              </a:rPr>
              <a:t>It emphasizes the kind of activity that contributes to the development and improvement of all aspects of the self as an integral whole.</a:t>
            </a:r>
          </a:p>
          <a:p>
            <a:pPr algn="just"/>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This usually correlates with cultures that value a spiritual life over a material one. </a:t>
            </a:r>
            <a:r>
              <a:rPr lang="en-US" altLang="zh-CN" sz="2800" dirty="0">
                <a:latin typeface="Times New Roman" panose="02020603050405020304" pitchFamily="18" charset="0"/>
                <a:cs typeface="Times New Roman" panose="02020603050405020304" pitchFamily="18" charset="0"/>
              </a:rPr>
              <a:t>For example, </a:t>
            </a:r>
            <a:r>
              <a:rPr lang="en-US" altLang="zh-CN" sz="2800" dirty="0">
                <a:solidFill>
                  <a:srgbClr val="FF0000"/>
                </a:solidFill>
                <a:latin typeface="Times New Roman" panose="02020603050405020304" pitchFamily="18" charset="0"/>
                <a:cs typeface="Times New Roman" panose="02020603050405020304" pitchFamily="18" charset="0"/>
              </a:rPr>
              <a:t>in both Hinduism and Buddhism</a:t>
            </a:r>
            <a:r>
              <a:rPr lang="en-US" altLang="zh-CN" sz="2800" dirty="0">
                <a:latin typeface="Times New Roman" panose="02020603050405020304" pitchFamily="18" charset="0"/>
                <a:cs typeface="Times New Roman" panose="02020603050405020304" pitchFamily="18" charset="0"/>
              </a:rPr>
              <a:t>, people spend time in meditation and contemplation in an attempt to purify and fully advance themselves</a:t>
            </a:r>
            <a:r>
              <a:rPr lang="en-US" altLang="zh-CN" sz="2800" dirty="0">
                <a:solidFill>
                  <a:srgbClr val="FF0000"/>
                </a:solidFill>
                <a:latin typeface="Times New Roman" panose="02020603050405020304" pitchFamily="18" charset="0"/>
                <a:cs typeface="Times New Roman" panose="02020603050405020304" pitchFamily="18" charset="0"/>
              </a:rPr>
              <a:t>. The New Age movement in the United States </a:t>
            </a:r>
            <a:r>
              <a:rPr lang="en-US" altLang="zh-CN" sz="2800" dirty="0">
                <a:latin typeface="Times New Roman" panose="02020603050405020304" pitchFamily="18" charset="0"/>
                <a:cs typeface="Times New Roman" panose="02020603050405020304" pitchFamily="18" charset="0"/>
              </a:rPr>
              <a:t>also stresses the need to develop the being-in-becoming approach to daily life.</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4.6.1.4.3 Doing </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P139-140</a:t>
            </a:r>
            <a:endParaRPr lang="en-US" altLang="zh-CN" sz="4000" b="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184150" y="2354187"/>
            <a:ext cx="8661400" cy="44012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The doing orientation describes activity in which accomplishments are measured by standards external to the individual. </a:t>
            </a:r>
            <a:r>
              <a:rPr lang="en-US" altLang="zh-CN" sz="2800" dirty="0">
                <a:latin typeface="Times New Roman" panose="02020603050405020304" pitchFamily="18" charset="0"/>
                <a:cs typeface="Times New Roman" panose="02020603050405020304" pitchFamily="18" charset="0"/>
              </a:rPr>
              <a:t>The key to this orientation is a value system that </a:t>
            </a:r>
            <a:r>
              <a:rPr lang="en-US" altLang="zh-CN" sz="2800" dirty="0">
                <a:solidFill>
                  <a:srgbClr val="FF0000"/>
                </a:solidFill>
                <a:latin typeface="Times New Roman" panose="02020603050405020304" pitchFamily="18" charset="0"/>
                <a:cs typeface="Times New Roman" panose="02020603050405020304" pitchFamily="18" charset="0"/>
              </a:rPr>
              <a:t>stresses action</a:t>
            </a:r>
            <a:r>
              <a:rPr lang="en-US" altLang="zh-CN" sz="2800" dirty="0">
                <a:latin typeface="Times New Roman" panose="02020603050405020304" pitchFamily="18" charset="0"/>
                <a:cs typeface="Times New Roman" panose="02020603050405020304" pitchFamily="18" charset="0"/>
              </a:rPr>
              <a:t>. It is the doing orientation that most characterizes </a:t>
            </a:r>
            <a:r>
              <a:rPr lang="en-US" altLang="zh-CN" sz="2800" dirty="0">
                <a:solidFill>
                  <a:srgbClr val="FF0000"/>
                </a:solidFill>
                <a:latin typeface="Times New Roman" panose="02020603050405020304" pitchFamily="18" charset="0"/>
                <a:cs typeface="Times New Roman" panose="02020603050405020304" pitchFamily="18" charset="0"/>
              </a:rPr>
              <a:t>the dominant American culture</a:t>
            </a:r>
            <a:r>
              <a:rPr lang="en-US" altLang="zh-CN" sz="2800" dirty="0">
                <a:latin typeface="Times New Roman" panose="02020603050405020304" pitchFamily="18" charset="0"/>
                <a:cs typeface="Times New Roman" panose="02020603050405020304" pitchFamily="18" charset="0"/>
              </a:rPr>
              <a:t>.</a:t>
            </a:r>
          </a:p>
          <a:p>
            <a:pPr algn="just"/>
            <a:r>
              <a:rPr lang="en-US" altLang="zh-CN" sz="2800" dirty="0">
                <a:latin typeface="Times New Roman" panose="02020603050405020304" pitchFamily="18" charset="0"/>
                <a:cs typeface="Times New Roman" panose="02020603050405020304" pitchFamily="18" charset="0"/>
              </a:rPr>
              <a:t>    A doing perspective affects many other cultural beliefs and values. Your definition of activity affects your perception of work, efficiency, change, time, and progress. Even the pace at which you live your life is related to where you fall on the being/doing scale.</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3178" y="1525136"/>
            <a:ext cx="9076055" cy="954107"/>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sym typeface="+mn-ea"/>
              </a:rPr>
              <a:t>4.6.2 Hall's High-Context and Low-Context Orientations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P140</a:t>
            </a:r>
          </a:p>
        </p:txBody>
      </p:sp>
      <p:sp>
        <p:nvSpPr>
          <p:cNvPr id="5" name="文本框 4"/>
          <p:cNvSpPr txBox="1"/>
          <p:nvPr/>
        </p:nvSpPr>
        <p:spPr>
          <a:xfrm>
            <a:off x="184150" y="2711450"/>
            <a:ext cx="8661400" cy="341503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E.T. Hall</a:t>
            </a:r>
            <a:r>
              <a:rPr lang="en-US" altLang="zh-CN" sz="2400" dirty="0">
                <a:latin typeface="Times New Roman" panose="02020603050405020304" pitchFamily="18" charset="0"/>
                <a:cs typeface="Times New Roman" panose="02020603050405020304" pitchFamily="18" charset="0"/>
              </a:rPr>
              <a:t>, an anthropologist, was one of the early pioneers in the study of intercultural communication. He categorizes cultures as </a:t>
            </a:r>
            <a:r>
              <a:rPr lang="en-US" altLang="zh-CN" sz="2400" b="1" i="1" dirty="0">
                <a:solidFill>
                  <a:srgbClr val="FF0000"/>
                </a:solidFill>
                <a:latin typeface="Times New Roman" panose="02020603050405020304" pitchFamily="18" charset="0"/>
                <a:cs typeface="Times New Roman" panose="02020603050405020304" pitchFamily="18" charset="0"/>
              </a:rPr>
              <a:t>high-context</a:t>
            </a:r>
            <a:r>
              <a:rPr lang="en-US" altLang="zh-CN" sz="2400" dirty="0">
                <a:latin typeface="Times New Roman" panose="02020603050405020304" pitchFamily="18" charset="0"/>
                <a:cs typeface="Times New Roman" panose="02020603050405020304" pitchFamily="18" charset="0"/>
              </a:rPr>
              <a:t> or </a:t>
            </a:r>
            <a:r>
              <a:rPr lang="en-US" altLang="zh-CN" sz="2400" b="1" i="1" dirty="0">
                <a:solidFill>
                  <a:srgbClr val="FF0000"/>
                </a:solidFill>
                <a:latin typeface="Times New Roman" panose="02020603050405020304" pitchFamily="18" charset="0"/>
                <a:cs typeface="Times New Roman" panose="02020603050405020304" pitchFamily="18" charset="0"/>
              </a:rPr>
              <a:t>low-context</a:t>
            </a:r>
            <a:r>
              <a:rPr lang="en-US" altLang="zh-CN" sz="2400" dirty="0">
                <a:latin typeface="Times New Roman" panose="02020603050405020304" pitchFamily="18" charset="0"/>
                <a:cs typeface="Times New Roman" panose="02020603050405020304" pitchFamily="18" charset="0"/>
              </a:rPr>
              <a:t>, depending on how much meaning is derived from the contextual environment rather than the actual words exchanged during communicative interactions.</a:t>
            </a:r>
          </a:p>
          <a:p>
            <a:pPr algn="just"/>
            <a:r>
              <a:rPr lang="en-US" altLang="zh-CN" sz="2400" dirty="0">
                <a:latin typeface="Times New Roman" panose="02020603050405020304" pitchFamily="18" charset="0"/>
                <a:cs typeface="Times New Roman" panose="02020603050405020304" pitchFamily="18" charset="0"/>
              </a:rPr>
              <a:t>    The assumption underlying Hall's classifications is that “one of the functions of culture is to provide a highly selective screen between man and the outside world. In its many forms, culture therefore designates what we pay attention to and what we ignore.”</a:t>
            </a:r>
          </a:p>
        </p:txBody>
      </p:sp>
      <p:sp>
        <p:nvSpPr>
          <p:cNvPr id="6" name="星形: 五角 5">
            <a:extLst>
              <a:ext uri="{FF2B5EF4-FFF2-40B4-BE49-F238E27FC236}">
                <a16:creationId xmlns:a16="http://schemas.microsoft.com/office/drawing/2014/main" id="{A996F7D7-7B32-4DCA-BC2F-CE491E01CE35}"/>
              </a:ext>
            </a:extLst>
          </p:cNvPr>
          <p:cNvSpPr/>
          <p:nvPr/>
        </p:nvSpPr>
        <p:spPr>
          <a:xfrm>
            <a:off x="5018731" y="63300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84150" y="1557318"/>
            <a:ext cx="9076055" cy="954107"/>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sym typeface="+mn-ea"/>
              </a:rPr>
              <a:t>4.6.2 Hall’s High-Context and Low-Context Orientations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P140 </a:t>
            </a:r>
          </a:p>
        </p:txBody>
      </p:sp>
      <p:sp>
        <p:nvSpPr>
          <p:cNvPr id="5" name="文本框 4"/>
          <p:cNvSpPr txBox="1"/>
          <p:nvPr/>
        </p:nvSpPr>
        <p:spPr>
          <a:xfrm>
            <a:off x="241300" y="2511425"/>
            <a:ext cx="8661400" cy="41541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Hall saw context as “the information that surrounds an event.” His work revealed that cultures were often characterized by </a:t>
            </a:r>
            <a:r>
              <a:rPr lang="en-US" altLang="zh-CN" sz="2400" b="1" i="1" dirty="0">
                <a:latin typeface="Times New Roman" panose="02020603050405020304" pitchFamily="18" charset="0"/>
                <a:cs typeface="Times New Roman" panose="02020603050405020304" pitchFamily="18" charset="0"/>
              </a:rPr>
              <a:t>high- or low-context</a:t>
            </a:r>
            <a:r>
              <a:rPr lang="en-US" altLang="zh-CN" sz="2400" dirty="0">
                <a:latin typeface="Times New Roman" panose="02020603050405020304" pitchFamily="18" charset="0"/>
                <a:cs typeface="Times New Roman" panose="02020603050405020304" pitchFamily="18" charset="0"/>
              </a:rPr>
              <a:t> communication, which he described in the following:</a:t>
            </a:r>
          </a:p>
          <a:p>
            <a:pPr marL="342900" indent="-342900" algn="just">
              <a:buFont typeface="Arial" panose="020B0604020202020204" pitchFamily="34" charset="0"/>
              <a:buChar char="•"/>
            </a:pPr>
            <a:r>
              <a:rPr lang="en-US" altLang="zh-CN" sz="2400" b="1" i="1" dirty="0">
                <a:solidFill>
                  <a:srgbClr val="FF0000"/>
                </a:solidFill>
                <a:latin typeface="Times New Roman" panose="02020603050405020304" pitchFamily="18" charset="0"/>
                <a:cs typeface="Times New Roman" panose="02020603050405020304" pitchFamily="18" charset="0"/>
              </a:rPr>
              <a:t>A high-context</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(HC) communication or message is one in which most of the information is already in the person, while </a:t>
            </a:r>
            <a:r>
              <a:rPr lang="en-US" altLang="zh-CN" sz="2400" dirty="0">
                <a:solidFill>
                  <a:srgbClr val="FF0000"/>
                </a:solidFill>
                <a:latin typeface="Times New Roman" panose="02020603050405020304" pitchFamily="18" charset="0"/>
                <a:cs typeface="Times New Roman" panose="02020603050405020304" pitchFamily="18" charset="0"/>
              </a:rPr>
              <a:t>very little is in the coded, explicitly transmitted part of the message</a:t>
            </a:r>
            <a:r>
              <a:rPr lang="en-US" altLang="zh-CN"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altLang="zh-CN" sz="2400" b="1" i="1" dirty="0">
                <a:solidFill>
                  <a:srgbClr val="FF0000"/>
                </a:solidFill>
                <a:latin typeface="Times New Roman" panose="02020603050405020304" pitchFamily="18" charset="0"/>
                <a:cs typeface="Times New Roman" panose="02020603050405020304" pitchFamily="18" charset="0"/>
              </a:rPr>
              <a:t>A low-context</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(LC) communication is just the opposite; i.e., </a:t>
            </a:r>
            <a:r>
              <a:rPr lang="en-US" altLang="zh-CN" sz="2400" dirty="0">
                <a:solidFill>
                  <a:srgbClr val="FF0000"/>
                </a:solidFill>
                <a:latin typeface="Times New Roman" panose="02020603050405020304" pitchFamily="18" charset="0"/>
                <a:cs typeface="Times New Roman" panose="02020603050405020304" pitchFamily="18" charset="0"/>
              </a:rPr>
              <a:t>the mass of the information is vested in the explicit code</a:t>
            </a:r>
            <a:r>
              <a:rPr lang="en-US" altLang="zh-CN"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pPr>
            <a:r>
              <a:rPr lang="en-US" altLang="zh-CN" sz="2400" dirty="0">
                <a:latin typeface="Times New Roman" panose="02020603050405020304" pitchFamily="18" charset="0"/>
                <a:cs typeface="Times New Roman" panose="02020603050405020304" pitchFamily="18" charset="0"/>
              </a:rPr>
              <a:t>    Although all cultures possess some characteristics of both high- and low-context variables, most can be ranked along a scale for this particular dimension.</a:t>
            </a:r>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84150" y="1602105"/>
            <a:ext cx="9076055" cy="521970"/>
          </a:xfrm>
          <a:prstGeom prst="rect">
            <a:avLst/>
          </a:prstGeom>
          <a:noFill/>
        </p:spPr>
        <p:txBody>
          <a:bodyPr wrap="square" rtlCol="0">
            <a:spAutoFit/>
          </a:bodyPr>
          <a:lstStyle/>
          <a:p>
            <a:r>
              <a:rPr lang="en-US" altLang="zh-CN" sz="2800" b="1">
                <a:latin typeface="Times New Roman" panose="02020603050405020304" pitchFamily="18" charset="0"/>
                <a:cs typeface="Times New Roman" panose="02020603050405020304" pitchFamily="18" charset="0"/>
                <a:sym typeface="+mn-ea"/>
              </a:rPr>
              <a:t>4.6.2 Hall's High-Context and Low-Context Orientations </a:t>
            </a:r>
          </a:p>
        </p:txBody>
      </p:sp>
      <p:pic>
        <p:nvPicPr>
          <p:cNvPr id="5" name="图片 4" descr="7BFY%1}D3{{57%(C4{11~GL"/>
          <p:cNvPicPr>
            <a:picLocks noChangeAspect="1"/>
          </p:cNvPicPr>
          <p:nvPr/>
        </p:nvPicPr>
        <p:blipFill>
          <a:blip r:embed="rId3"/>
          <a:stretch>
            <a:fillRect/>
          </a:stretch>
        </p:blipFill>
        <p:spPr>
          <a:xfrm>
            <a:off x="636246" y="2251089"/>
            <a:ext cx="3785235" cy="4516755"/>
          </a:xfrm>
          <a:prstGeom prst="rect">
            <a:avLst/>
          </a:prstGeom>
        </p:spPr>
      </p:pic>
      <p:sp>
        <p:nvSpPr>
          <p:cNvPr id="7" name="矩形 6">
            <a:extLst>
              <a:ext uri="{FF2B5EF4-FFF2-40B4-BE49-F238E27FC236}">
                <a16:creationId xmlns:a16="http://schemas.microsoft.com/office/drawing/2014/main" id="{BD285CB9-2072-4148-8FAC-19E03E3894C2}"/>
              </a:ext>
            </a:extLst>
          </p:cNvPr>
          <p:cNvSpPr/>
          <p:nvPr/>
        </p:nvSpPr>
        <p:spPr>
          <a:xfrm>
            <a:off x="4941949" y="2345690"/>
            <a:ext cx="4132250" cy="4203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CN" sz="2400" dirty="0">
                <a:solidFill>
                  <a:schemeClr val="tx1"/>
                </a:solidFill>
                <a:hlinkClick r:id="rId4" action="ppaction://hlinkfile"/>
              </a:rPr>
              <a:t>1.Video</a:t>
            </a:r>
            <a:r>
              <a:rPr lang="zh-CN" altLang="en-US" sz="2400" dirty="0">
                <a:solidFill>
                  <a:schemeClr val="tx1"/>
                </a:solidFill>
                <a:hlinkClick r:id="rId4" action="ppaction://hlinkfile"/>
              </a:rPr>
              <a:t>：</a:t>
            </a:r>
            <a:r>
              <a:rPr lang="en-US" altLang="zh-CN" sz="2400" dirty="0">
                <a:solidFill>
                  <a:schemeClr val="tx1"/>
                </a:solidFill>
                <a:hlinkClick r:id="rId4" action="ppaction://hlinkfile"/>
              </a:rPr>
              <a:t>What is the difference between a high-context and low-context culture?</a:t>
            </a:r>
            <a:endParaRPr lang="en-US" altLang="zh-CN" sz="2400" dirty="0">
              <a:solidFill>
                <a:schemeClr val="tx1"/>
              </a:solidFill>
            </a:endParaRPr>
          </a:p>
          <a:p>
            <a:pPr algn="just">
              <a:lnSpc>
                <a:spcPct val="150000"/>
              </a:lnSpc>
            </a:pPr>
            <a:r>
              <a:rPr lang="en-US" altLang="zh-CN" sz="2400" dirty="0">
                <a:solidFill>
                  <a:schemeClr val="tx1"/>
                </a:solidFill>
              </a:rPr>
              <a:t>2.</a:t>
            </a:r>
            <a:r>
              <a:rPr lang="en-US" altLang="zh-CN" sz="2400" dirty="0">
                <a:solidFill>
                  <a:schemeClr val="tx1"/>
                </a:solidFill>
                <a:hlinkClick r:id="rId5" action="ppaction://hlinkfile"/>
              </a:rPr>
              <a:t>Video: Low Context vs High Context Societies</a:t>
            </a:r>
            <a:endParaRPr lang="zh-CN" altLang="en-US" sz="2400" dirty="0">
              <a:solidFill>
                <a:schemeClr val="tx1"/>
              </a:solidFill>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4.6.2.1 High-Context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P141</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150" y="2565400"/>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In high-context cultures, most of the meaning exchanged during an encounter is often not communicated through words. </a:t>
            </a:r>
            <a:r>
              <a:rPr lang="en-US" altLang="zh-CN" sz="2400" dirty="0">
                <a:latin typeface="Times New Roman" panose="02020603050405020304" pitchFamily="18" charset="0"/>
                <a:cs typeface="Times New Roman" panose="02020603050405020304" pitchFamily="18" charset="0"/>
              </a:rPr>
              <a:t>High-context cultures normally possess a significant degree of similarity among the people. This leads to similar perceptions, experiences, and societal expectations, which produce well-defined social protocols.    </a:t>
            </a:r>
          </a:p>
          <a:p>
            <a:pPr algn="just"/>
            <a:r>
              <a:rPr lang="en-US" altLang="zh-CN" sz="2400" dirty="0">
                <a:latin typeface="Times New Roman" panose="02020603050405020304" pitchFamily="18" charset="0"/>
                <a:cs typeface="Times New Roman" panose="02020603050405020304" pitchFamily="18" charset="0"/>
              </a:rPr>
              <a:t>    Because high-context cultures are usually </a:t>
            </a:r>
            <a:r>
              <a:rPr lang="en-US" altLang="zh-CN" sz="2400" dirty="0">
                <a:solidFill>
                  <a:srgbClr val="FF0000"/>
                </a:solidFill>
                <a:latin typeface="Times New Roman" panose="02020603050405020304" pitchFamily="18" charset="0"/>
                <a:cs typeface="Times New Roman" panose="02020603050405020304" pitchFamily="18" charset="0"/>
              </a:rPr>
              <a:t>quite traditional</a:t>
            </a:r>
            <a:r>
              <a:rPr lang="en-US" altLang="zh-CN" sz="2400" dirty="0">
                <a:latin typeface="Times New Roman" panose="02020603050405020304" pitchFamily="18" charset="0"/>
                <a:cs typeface="Times New Roman" panose="02020603050405020304" pitchFamily="18" charset="0"/>
              </a:rPr>
              <a:t>, they </a:t>
            </a:r>
            <a:r>
              <a:rPr lang="en-US" altLang="zh-CN" sz="2400" dirty="0">
                <a:solidFill>
                  <a:srgbClr val="FF0000"/>
                </a:solidFill>
                <a:latin typeface="Times New Roman" panose="02020603050405020304" pitchFamily="18" charset="0"/>
                <a:cs typeface="Times New Roman" panose="02020603050405020304" pitchFamily="18" charset="0"/>
              </a:rPr>
              <a:t>change little </a:t>
            </a:r>
            <a:r>
              <a:rPr lang="en-US" altLang="zh-CN" sz="2400" dirty="0">
                <a:latin typeface="Times New Roman" panose="02020603050405020304" pitchFamily="18" charset="0"/>
                <a:cs typeface="Times New Roman" panose="02020603050405020304" pitchFamily="18" charset="0"/>
              </a:rPr>
              <a:t>over time and </a:t>
            </a:r>
            <a:r>
              <a:rPr lang="en-US" altLang="zh-CN" sz="2400" dirty="0">
                <a:solidFill>
                  <a:srgbClr val="FF0000"/>
                </a:solidFill>
                <a:latin typeface="Times New Roman" panose="02020603050405020304" pitchFamily="18" charset="0"/>
                <a:cs typeface="Times New Roman" panose="02020603050405020304" pitchFamily="18" charset="0"/>
              </a:rPr>
              <a:t>produce consistent responses to the social environment</a:t>
            </a:r>
            <a:r>
              <a:rPr lang="en-US" altLang="zh-CN" sz="2400" dirty="0">
                <a:latin typeface="Times New Roman" panose="02020603050405020304" pitchFamily="18" charset="0"/>
                <a:cs typeface="Times New Roman" panose="02020603050405020304" pitchFamily="18" charset="0"/>
              </a:rPr>
              <a:t>. Since the meaning is not necessarily contained in the words in high-context cultures, </a:t>
            </a:r>
            <a:r>
              <a:rPr lang="en-US" altLang="zh-CN" sz="2400" dirty="0">
                <a:solidFill>
                  <a:srgbClr val="FF0000"/>
                </a:solidFill>
                <a:latin typeface="Times New Roman" panose="02020603050405020304" pitchFamily="18" charset="0"/>
                <a:cs typeface="Times New Roman" panose="02020603050405020304" pitchFamily="18" charset="0"/>
              </a:rPr>
              <a:t>information is provided through inferences, gestures, and even in what is </a:t>
            </a:r>
            <a:r>
              <a:rPr lang="en-US" altLang="zh-CN" sz="2400" b="1" i="1" dirty="0">
                <a:solidFill>
                  <a:srgbClr val="FF0000"/>
                </a:solidFill>
                <a:latin typeface="Times New Roman" panose="02020603050405020304" pitchFamily="18" charset="0"/>
                <a:cs typeface="Times New Roman" panose="02020603050405020304" pitchFamily="18" charset="0"/>
              </a:rPr>
              <a:t>not</a:t>
            </a:r>
            <a:r>
              <a:rPr lang="en-US" altLang="zh-CN" sz="2400" dirty="0">
                <a:solidFill>
                  <a:srgbClr val="FF0000"/>
                </a:solidFill>
                <a:latin typeface="Times New Roman" panose="02020603050405020304" pitchFamily="18" charset="0"/>
                <a:cs typeface="Times New Roman" panose="02020603050405020304" pitchFamily="18" charset="0"/>
              </a:rPr>
              <a:t> said</a:t>
            </a:r>
            <a:r>
              <a:rPr lang="en-US" altLang="zh-CN" sz="2400"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4.6.2.1 High-Context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P140-141</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150" y="2476924"/>
            <a:ext cx="8661400" cy="3785652"/>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People of high-context cultures tend to be </a:t>
            </a:r>
            <a:r>
              <a:rPr lang="en-US" altLang="zh-CN" sz="2400" dirty="0">
                <a:solidFill>
                  <a:srgbClr val="FF0000"/>
                </a:solidFill>
                <a:latin typeface="Times New Roman" panose="02020603050405020304" pitchFamily="18" charset="0"/>
                <a:cs typeface="Times New Roman" panose="02020603050405020304" pitchFamily="18" charset="0"/>
              </a:rPr>
              <a:t>attuned to their surroundings</a:t>
            </a:r>
            <a:r>
              <a:rPr lang="en-US" altLang="zh-CN" sz="2400" dirty="0">
                <a:latin typeface="Times New Roman" panose="02020603050405020304" pitchFamily="18" charset="0"/>
                <a:cs typeface="Times New Roman" panose="02020603050405020304" pitchFamily="18" charset="0"/>
              </a:rPr>
              <a:t> and can easily express and interpret emotions </a:t>
            </a:r>
            <a:r>
              <a:rPr lang="en-US" altLang="zh-CN" sz="2400" dirty="0">
                <a:solidFill>
                  <a:srgbClr val="FF0000"/>
                </a:solidFill>
                <a:latin typeface="Times New Roman" panose="02020603050405020304" pitchFamily="18" charset="0"/>
                <a:cs typeface="Times New Roman" panose="02020603050405020304" pitchFamily="18" charset="0"/>
              </a:rPr>
              <a:t>nonverbally</a:t>
            </a:r>
            <a:r>
              <a:rPr lang="en-US" altLang="zh-CN" sz="2400" dirty="0">
                <a:latin typeface="Times New Roman" panose="02020603050405020304" pitchFamily="18" charset="0"/>
                <a:cs typeface="Times New Roman" panose="02020603050405020304" pitchFamily="18" charset="0"/>
              </a:rPr>
              <a:t>. Meaning in high-context cultures is also </a:t>
            </a:r>
            <a:r>
              <a:rPr lang="en-US" altLang="zh-CN" sz="2400" dirty="0">
                <a:solidFill>
                  <a:srgbClr val="FF0000"/>
                </a:solidFill>
                <a:latin typeface="Times New Roman" panose="02020603050405020304" pitchFamily="18" charset="0"/>
                <a:cs typeface="Times New Roman" panose="02020603050405020304" pitchFamily="18" charset="0"/>
              </a:rPr>
              <a:t>conveyed through status</a:t>
            </a:r>
            <a:r>
              <a:rPr lang="en-US" altLang="zh-CN" sz="2400" dirty="0">
                <a:latin typeface="Times New Roman" panose="02020603050405020304" pitchFamily="18" charset="0"/>
                <a:cs typeface="Times New Roman" panose="02020603050405020304" pitchFamily="18" charset="0"/>
              </a:rPr>
              <a:t> (age, sex, education, family background, title, and affiliations) </a:t>
            </a:r>
            <a:r>
              <a:rPr lang="en-US" altLang="zh-CN" sz="2400" dirty="0">
                <a:solidFill>
                  <a:srgbClr val="FF0000"/>
                </a:solidFill>
                <a:latin typeface="Times New Roman" panose="02020603050405020304" pitchFamily="18" charset="0"/>
                <a:cs typeface="Times New Roman" panose="02020603050405020304" pitchFamily="18" charset="0"/>
              </a:rPr>
              <a:t>and through an individual's informal friends and associates</a:t>
            </a:r>
            <a:r>
              <a:rPr lang="en-US" altLang="zh-CN" sz="2400" dirty="0">
                <a:latin typeface="Times New Roman" panose="02020603050405020304" pitchFamily="18" charset="0"/>
                <a:cs typeface="Times New Roman" panose="02020603050405020304" pitchFamily="18" charset="0"/>
              </a:rPr>
              <a:t>. Because of the subtle “messages” used by high-context cultures, members of these groups </a:t>
            </a:r>
            <a:r>
              <a:rPr lang="en-US" altLang="zh-CN" sz="2400" dirty="0">
                <a:solidFill>
                  <a:srgbClr val="FF0000"/>
                </a:solidFill>
                <a:latin typeface="Times New Roman" panose="02020603050405020304" pitchFamily="18" charset="0"/>
                <a:cs typeface="Times New Roman" panose="02020603050405020304" pitchFamily="18" charset="0"/>
              </a:rPr>
              <a:t>rely more on how something is said rather than what is said and are acutely aware of nonverbal cues</a:t>
            </a:r>
            <a:r>
              <a:rPr lang="en-US" altLang="zh-CN" sz="2400" dirty="0">
                <a:latin typeface="Times New Roman" panose="02020603050405020304" pitchFamily="18" charset="0"/>
                <a:cs typeface="Times New Roman" panose="02020603050405020304" pitchFamily="18" charset="0"/>
              </a:rPr>
              <a:t>.</a:t>
            </a:r>
          </a:p>
          <a:p>
            <a:pPr algn="just"/>
            <a:endParaRPr lang="en-US" altLang="zh-CN" sz="2400" dirty="0">
              <a:latin typeface="Times New Roman" panose="02020603050405020304" pitchFamily="18" charset="0"/>
              <a:cs typeface="Times New Roman" panose="02020603050405020304" pitchFamily="18" charset="0"/>
            </a:endParaRPr>
          </a:p>
          <a:p>
            <a:pPr algn="just"/>
            <a:r>
              <a:rPr lang="en-US" altLang="zh-CN" sz="2400" dirty="0">
                <a:latin typeface="Times New Roman" panose="02020603050405020304" pitchFamily="18" charset="0"/>
                <a:cs typeface="Times New Roman" panose="02020603050405020304" pitchFamily="18" charset="0"/>
              </a:rPr>
              <a:t>E.g. Northeast Asian cultures, a result of Confucian philosophy. </a:t>
            </a: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0665" y="1456690"/>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4.6.2.2 Low-Context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P142</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150" y="2565400"/>
            <a:ext cx="8661400" cy="341503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Low-context cultures typically have a high degree of diversity within the population and tend to compartmentalize interpersonal contacts. </a:t>
            </a:r>
            <a:r>
              <a:rPr lang="en-US" altLang="zh-CN" sz="2400" dirty="0">
                <a:solidFill>
                  <a:srgbClr val="FF0000"/>
                </a:solidFill>
                <a:latin typeface="Times New Roman" panose="02020603050405020304" pitchFamily="18" charset="0"/>
                <a:cs typeface="Times New Roman" panose="02020603050405020304" pitchFamily="18" charset="0"/>
              </a:rPr>
              <a:t>In low-context cultures the verbal message contains most of the information, and very little is conveyed through the context or the participant's nonverbal displays</a:t>
            </a:r>
            <a:r>
              <a:rPr lang="en-US" altLang="zh-CN" sz="2400" dirty="0">
                <a:latin typeface="Times New Roman" panose="02020603050405020304" pitchFamily="18" charset="0"/>
                <a:cs typeface="Times New Roman" panose="02020603050405020304" pitchFamily="18" charset="0"/>
              </a:rPr>
              <a:t>. </a:t>
            </a:r>
          </a:p>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This characteristic manifests itself in a host of ways. </a:t>
            </a:r>
            <a:r>
              <a:rPr lang="en-US" altLang="zh-CN" sz="2400" dirty="0">
                <a:latin typeface="Times New Roman" panose="02020603050405020304" pitchFamily="18" charset="0"/>
                <a:cs typeface="Times New Roman" panose="02020603050405020304" pitchFamily="18" charset="0"/>
              </a:rPr>
              <a:t>For example, the </a:t>
            </a:r>
            <a:r>
              <a:rPr lang="en-US" altLang="zh-CN" sz="2400" dirty="0">
                <a:solidFill>
                  <a:srgbClr val="FF0000"/>
                </a:solidFill>
                <a:latin typeface="Times New Roman" panose="02020603050405020304" pitchFamily="18" charset="0"/>
                <a:cs typeface="Times New Roman" panose="02020603050405020304" pitchFamily="18" charset="0"/>
              </a:rPr>
              <a:t>Asian</a:t>
            </a:r>
            <a:r>
              <a:rPr lang="en-US" altLang="zh-CN" sz="2400" dirty="0">
                <a:latin typeface="Times New Roman" panose="02020603050405020304" pitchFamily="18" charset="0"/>
                <a:cs typeface="Times New Roman" panose="02020603050405020304" pitchFamily="18" charset="0"/>
              </a:rPr>
              <a:t> mode of communication (high-context) is often vague, indirect, and implicit, whereas </a:t>
            </a:r>
            <a:r>
              <a:rPr lang="en-US" altLang="zh-CN" sz="2400" dirty="0">
                <a:solidFill>
                  <a:srgbClr val="FF0000"/>
                </a:solidFill>
                <a:latin typeface="Times New Roman" panose="02020603050405020304" pitchFamily="18" charset="0"/>
                <a:cs typeface="Times New Roman" panose="02020603050405020304" pitchFamily="18" charset="0"/>
              </a:rPr>
              <a:t>Western</a:t>
            </a:r>
            <a:r>
              <a:rPr lang="en-US" altLang="zh-CN" sz="2400" dirty="0">
                <a:latin typeface="Times New Roman" panose="02020603050405020304" pitchFamily="18" charset="0"/>
                <a:cs typeface="Times New Roman" panose="02020603050405020304" pitchFamily="18" charset="0"/>
              </a:rPr>
              <a:t> communication (low-context) tends to be direct and unambiguous. </a:t>
            </a: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130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4.6.3 Hofstede's Value Dimensions</a:t>
            </a:r>
            <a:endParaRPr lang="en-US" altLang="zh-CN" sz="4000" b="1">
              <a:latin typeface="Times New Roman" panose="02020603050405020304" pitchFamily="18" charset="0"/>
              <a:cs typeface="Times New Roman" panose="02020603050405020304" pitchFamily="18" charset="0"/>
            </a:endParaRPr>
          </a:p>
        </p:txBody>
      </p:sp>
      <p:sp>
        <p:nvSpPr>
          <p:cNvPr id="5" name="文本框 4"/>
          <p:cNvSpPr txBox="1"/>
          <p:nvPr/>
        </p:nvSpPr>
        <p:spPr>
          <a:xfrm>
            <a:off x="241300" y="2664460"/>
            <a:ext cx="8661400" cy="2861310"/>
          </a:xfrm>
          <a:prstGeom prst="rect">
            <a:avLst/>
          </a:prstGeom>
          <a:noFill/>
        </p:spPr>
        <p:txBody>
          <a:bodyPr wrap="square" rtlCol="0">
            <a:spAutoFit/>
          </a:bodyPr>
          <a:lstStyle/>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Individualism/collectivism</a:t>
            </a:r>
          </a:p>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Uncertainty avoidance</a:t>
            </a:r>
          </a:p>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Power distance</a:t>
            </a:r>
          </a:p>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Masculinity/femininity</a:t>
            </a:r>
          </a:p>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Long- and short-term orientation</a:t>
            </a:r>
          </a:p>
        </p:txBody>
      </p:sp>
      <p:sp>
        <p:nvSpPr>
          <p:cNvPr id="6" name="星形: 五角 5">
            <a:extLst>
              <a:ext uri="{FF2B5EF4-FFF2-40B4-BE49-F238E27FC236}">
                <a16:creationId xmlns:a16="http://schemas.microsoft.com/office/drawing/2014/main" id="{1281F5AC-8539-4810-8AF0-E50B71DCB423}"/>
              </a:ext>
            </a:extLst>
          </p:cNvPr>
          <p:cNvSpPr/>
          <p:nvPr/>
        </p:nvSpPr>
        <p:spPr>
          <a:xfrm>
            <a:off x="5018731" y="63300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1300" y="1466215"/>
            <a:ext cx="8979482"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4.6.3.1 Individualism/Collectivism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P143</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785" y="2172970"/>
            <a:ext cx="8661400" cy="464629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 subject of countless studies and research projects, individualism versus collectivism (individual orientation vs. group orientation), might well be considered one of the most fundamental concepts used to help understand and explain social life. The two values produce variations in family structures, how classroom activities are conducted, the way organizations manage work groups, and even how people conduct social relations.</a:t>
            </a:r>
          </a:p>
          <a:p>
            <a:pPr algn="just"/>
            <a:r>
              <a:rPr lang="en-US" altLang="zh-CN" sz="2400" dirty="0">
                <a:latin typeface="Times New Roman" panose="02020603050405020304" pitchFamily="18" charset="0"/>
                <a:cs typeface="Times New Roman" panose="02020603050405020304" pitchFamily="18" charset="0"/>
              </a:rPr>
              <a:t>    The </a:t>
            </a:r>
            <a:r>
              <a:rPr lang="en-US" altLang="zh-CN" sz="2400" b="1" i="1" dirty="0">
                <a:latin typeface="Times New Roman" panose="02020603050405020304" pitchFamily="18" charset="0"/>
                <a:cs typeface="Times New Roman" panose="02020603050405020304" pitchFamily="18" charset="0"/>
              </a:rPr>
              <a:t>individualism/collectivism continuum</a:t>
            </a:r>
            <a:r>
              <a:rPr lang="en-US" altLang="zh-CN" sz="2400" dirty="0">
                <a:latin typeface="Times New Roman" panose="02020603050405020304" pitchFamily="18" charset="0"/>
                <a:cs typeface="Times New Roman" panose="02020603050405020304" pitchFamily="18" charset="0"/>
              </a:rPr>
              <a:t> can be </a:t>
            </a:r>
            <a:r>
              <a:rPr lang="en-US" altLang="zh-CN" sz="2400" dirty="0">
                <a:solidFill>
                  <a:srgbClr val="FF0000"/>
                </a:solidFill>
                <a:latin typeface="Times New Roman" panose="02020603050405020304" pitchFamily="18" charset="0"/>
                <a:cs typeface="Times New Roman" panose="02020603050405020304" pitchFamily="18" charset="0"/>
              </a:rPr>
              <a:t>defined</a:t>
            </a:r>
            <a:r>
              <a:rPr lang="en-US" altLang="zh-CN" sz="2400" dirty="0">
                <a:latin typeface="Times New Roman" panose="02020603050405020304" pitchFamily="18" charset="0"/>
                <a:cs typeface="Times New Roman" panose="02020603050405020304" pitchFamily="18" charset="0"/>
              </a:rPr>
              <a:t> with the following:</a:t>
            </a:r>
          </a:p>
          <a:p>
            <a:pPr marL="342900" indent="-342900" algn="just">
              <a:buFont typeface="Arial" panose="020B0604020202020204" pitchFamily="34" charset="0"/>
              <a:buChar char="•"/>
            </a:pP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Collectivistic cultures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emphasize community, collaboration, shared interests, harmony, tradition, the public good, and maintaining face.</a:t>
            </a:r>
          </a:p>
          <a:p>
            <a:pPr marL="342900" indent="-342900" algn="just">
              <a:buFont typeface="Arial" panose="020B0604020202020204" pitchFamily="34" charset="0"/>
              <a:buChar char="•"/>
            </a:pP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Individualistic cultures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emphasize personal rights and responsibilities, privacy, voicing one's own opinion, freedom, innovation, and self-expression.</a:t>
            </a:r>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4130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4.6.3.1.1 Individualism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P143</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5" name="文本框 4"/>
          <p:cNvSpPr txBox="1"/>
          <p:nvPr/>
        </p:nvSpPr>
        <p:spPr>
          <a:xfrm>
            <a:off x="184785" y="2172970"/>
            <a:ext cx="8661400" cy="4365619"/>
          </a:xfrm>
          <a:prstGeom prst="rect">
            <a:avLst/>
          </a:prstGeom>
          <a:noFill/>
        </p:spPr>
        <p:txBody>
          <a:bodyPr wrap="square" rtlCol="0">
            <a:spAutoFit/>
          </a:bodyPr>
          <a:lstStyle/>
          <a:p>
            <a:pPr algn="just">
              <a:lnSpc>
                <a:spcPct val="130000"/>
              </a:lnSpc>
            </a:pPr>
            <a:r>
              <a:rPr lang="en-US" altLang="zh-CN" sz="2400" dirty="0">
                <a:latin typeface="Times New Roman" panose="02020603050405020304" pitchFamily="18" charset="0"/>
                <a:cs typeface="Times New Roman" panose="02020603050405020304" pitchFamily="18" charset="0"/>
              </a:rPr>
              <a:t>    The </a:t>
            </a:r>
            <a:r>
              <a:rPr lang="en-US" altLang="zh-CN" sz="2400" dirty="0">
                <a:solidFill>
                  <a:srgbClr val="FF0000"/>
                </a:solidFill>
                <a:latin typeface="Times New Roman" panose="02020603050405020304" pitchFamily="18" charset="0"/>
                <a:cs typeface="Times New Roman" panose="02020603050405020304" pitchFamily="18" charset="0"/>
              </a:rPr>
              <a:t>components</a:t>
            </a:r>
            <a:r>
              <a:rPr lang="en-US" altLang="zh-CN" sz="2400" dirty="0">
                <a:latin typeface="Times New Roman" panose="02020603050405020304" pitchFamily="18" charset="0"/>
                <a:cs typeface="Times New Roman" panose="02020603050405020304" pitchFamily="18" charset="0"/>
              </a:rPr>
              <a:t> of individualism are identified:</a:t>
            </a:r>
          </a:p>
          <a:p>
            <a:pPr marL="342900" indent="-342900" algn="just">
              <a:lnSpc>
                <a:spcPct val="130000"/>
              </a:lnSpc>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First</a:t>
            </a:r>
            <a:r>
              <a:rPr lang="en-US" altLang="zh-CN" sz="2400" dirty="0">
                <a:latin typeface="Times New Roman" panose="02020603050405020304" pitchFamily="18" charset="0"/>
                <a:cs typeface="Times New Roman" panose="02020603050405020304" pitchFamily="18" charset="0"/>
              </a:rPr>
              <a:t>, the individual is the single most important unit in any social setting.</a:t>
            </a:r>
          </a:p>
          <a:p>
            <a:pPr marL="342900" indent="-342900" algn="just">
              <a:lnSpc>
                <a:spcPct val="130000"/>
              </a:lnSpc>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Second</a:t>
            </a:r>
            <a:r>
              <a:rPr lang="en-US" altLang="zh-CN" sz="2400" dirty="0">
                <a:latin typeface="Times New Roman" panose="02020603050405020304" pitchFamily="18" charset="0"/>
                <a:cs typeface="Times New Roman" panose="02020603050405020304" pitchFamily="18" charset="0"/>
              </a:rPr>
              <a:t>, independence rather than interdependence is stressed.</a:t>
            </a:r>
          </a:p>
          <a:p>
            <a:pPr marL="342900" indent="-342900" algn="just">
              <a:lnSpc>
                <a:spcPct val="130000"/>
              </a:lnSpc>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Third</a:t>
            </a:r>
            <a:r>
              <a:rPr lang="en-US" altLang="zh-CN" sz="2400" dirty="0">
                <a:latin typeface="Times New Roman" panose="02020603050405020304" pitchFamily="18" charset="0"/>
                <a:cs typeface="Times New Roman" panose="02020603050405020304" pitchFamily="18" charset="0"/>
              </a:rPr>
              <a:t>, individual achievement is rewarded.</a:t>
            </a:r>
          </a:p>
          <a:p>
            <a:pPr marL="342900" indent="-342900" algn="just">
              <a:lnSpc>
                <a:spcPct val="130000"/>
              </a:lnSpc>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Lastly</a:t>
            </a:r>
            <a:r>
              <a:rPr lang="en-US" altLang="zh-CN" sz="2400" dirty="0">
                <a:latin typeface="Times New Roman" panose="02020603050405020304" pitchFamily="18" charset="0"/>
                <a:cs typeface="Times New Roman" panose="02020603050405020304" pitchFamily="18" charset="0"/>
              </a:rPr>
              <a:t>, the uniqueness of each individual is of paramount value.</a:t>
            </a:r>
          </a:p>
          <a:p>
            <a:pPr algn="just">
              <a:lnSpc>
                <a:spcPct val="130000"/>
              </a:lnSpc>
              <a:buFont typeface="Arial" panose="020B0604020202020204" pitchFamily="34" charset="0"/>
            </a:pPr>
            <a:r>
              <a:rPr lang="en-US" altLang="zh-CN" sz="2400" dirty="0">
                <a:latin typeface="Times New Roman" panose="02020603050405020304" pitchFamily="18" charset="0"/>
                <a:cs typeface="Times New Roman" panose="02020603050405020304" pitchFamily="18" charset="0"/>
              </a:rPr>
              <a:t>    A person's rights and privacy prevail over group considerations in an individualistic culture. Individualists are likely to belong to many groups but </a:t>
            </a:r>
            <a:r>
              <a:rPr lang="en-US" altLang="zh-CN" sz="2400" dirty="0">
                <a:solidFill>
                  <a:srgbClr val="FF0000"/>
                </a:solidFill>
                <a:latin typeface="Times New Roman" panose="02020603050405020304" pitchFamily="18" charset="0"/>
                <a:cs typeface="Times New Roman" panose="02020603050405020304" pitchFamily="18" charset="0"/>
              </a:rPr>
              <a:t>retain only weak ties</a:t>
            </a:r>
            <a:r>
              <a:rPr lang="en-US" altLang="zh-CN" sz="2400" dirty="0">
                <a:latin typeface="Times New Roman" panose="02020603050405020304" pitchFamily="18" charset="0"/>
                <a:cs typeface="Times New Roman" panose="02020603050405020304" pitchFamily="18" charset="0"/>
              </a:rPr>
              <a:t>, changing membership when desired.</a:t>
            </a: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pic>
        <p:nvPicPr>
          <p:cNvPr id="2" name="图片 1" descr="CQ]3B2NX%UCEKH_V7V%ZF6J"/>
          <p:cNvPicPr>
            <a:picLocks noChangeAspect="1"/>
          </p:cNvPicPr>
          <p:nvPr/>
        </p:nvPicPr>
        <p:blipFill>
          <a:blip r:embed="rId3"/>
          <a:stretch>
            <a:fillRect/>
          </a:stretch>
        </p:blipFill>
        <p:spPr>
          <a:xfrm>
            <a:off x="1814830" y="2228215"/>
            <a:ext cx="5512435" cy="4538980"/>
          </a:xfrm>
          <a:prstGeom prst="rect">
            <a:avLst/>
          </a:prstGeom>
        </p:spPr>
      </p:pic>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4.6.3.1.1 Individualism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P144</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87475DD1-09CA-4802-81D9-035EFFED331D}"/>
                  </a:ext>
                </a:extLst>
              </p14:cNvPr>
              <p14:cNvContentPartPr/>
              <p14:nvPr/>
            </p14:nvContentPartPr>
            <p14:xfrm>
              <a:off x="6316637" y="4271678"/>
              <a:ext cx="736920" cy="360"/>
            </p14:xfrm>
          </p:contentPart>
        </mc:Choice>
        <mc:Fallback xmlns="">
          <p:pic>
            <p:nvPicPr>
              <p:cNvPr id="3" name="墨迹 2">
                <a:extLst>
                  <a:ext uri="{FF2B5EF4-FFF2-40B4-BE49-F238E27FC236}">
                    <a16:creationId xmlns:a16="http://schemas.microsoft.com/office/drawing/2014/main" id="{87475DD1-09CA-4802-81D9-035EFFED331D}"/>
                  </a:ext>
                </a:extLst>
              </p:cNvPr>
              <p:cNvPicPr/>
              <p:nvPr/>
            </p:nvPicPr>
            <p:blipFill>
              <a:blip r:embed="rId5"/>
              <a:stretch>
                <a:fillRect/>
              </a:stretch>
            </p:blipFill>
            <p:spPr>
              <a:xfrm>
                <a:off x="6307997" y="4263038"/>
                <a:ext cx="754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9B9B53C1-5036-490C-B6EF-E47F65DD2DD6}"/>
                  </a:ext>
                </a:extLst>
              </p14:cNvPr>
              <p14:cNvContentPartPr/>
              <p14:nvPr/>
            </p14:nvContentPartPr>
            <p14:xfrm>
              <a:off x="2693957" y="3056318"/>
              <a:ext cx="741240" cy="19800"/>
            </p14:xfrm>
          </p:contentPart>
        </mc:Choice>
        <mc:Fallback xmlns="">
          <p:pic>
            <p:nvPicPr>
              <p:cNvPr id="6" name="墨迹 5">
                <a:extLst>
                  <a:ext uri="{FF2B5EF4-FFF2-40B4-BE49-F238E27FC236}">
                    <a16:creationId xmlns:a16="http://schemas.microsoft.com/office/drawing/2014/main" id="{9B9B53C1-5036-490C-B6EF-E47F65DD2DD6}"/>
                  </a:ext>
                </a:extLst>
              </p:cNvPr>
              <p:cNvPicPr/>
              <p:nvPr/>
            </p:nvPicPr>
            <p:blipFill>
              <a:blip r:embed="rId7"/>
              <a:stretch>
                <a:fillRect/>
              </a:stretch>
            </p:blipFill>
            <p:spPr>
              <a:xfrm>
                <a:off x="2684957" y="3047318"/>
                <a:ext cx="758880" cy="37440"/>
              </a:xfrm>
              <a:prstGeom prst="rect">
                <a:avLst/>
              </a:prstGeom>
            </p:spPr>
          </p:pic>
        </mc:Fallback>
      </mc:AlternateContent>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4.6.3.1.2 Collectivism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P144</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644891"/>
            <a:ext cx="8661400" cy="3908762"/>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The majority of the world's population lives in collectivistic societies where group interests take precedence over those of the individual. </a:t>
            </a:r>
            <a:r>
              <a:rPr lang="en-US" altLang="zh-CN" sz="2800" dirty="0">
                <a:latin typeface="Times New Roman" panose="02020603050405020304" pitchFamily="18" charset="0"/>
                <a:cs typeface="Times New Roman" panose="02020603050405020304" pitchFamily="18" charset="0"/>
              </a:rPr>
              <a:t>In collective cultures, interpersonal relationships form a rigid social framework that distinguishes between in-groups and out-groups. People rely on their in-groups (e.g., family, tribe, clan, organization) for support, and in exchange, they believe they owe loyalty to that group.</a:t>
            </a:r>
          </a:p>
          <a:p>
            <a:pPr algn="just"/>
            <a:r>
              <a:rPr lang="en-US" altLang="zh-CN" sz="2400"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4.6.3.1.2 Collectivism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P145</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345690"/>
            <a:ext cx="8661400" cy="452431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People in collective societies are often born into extended families, clans, or tribes that support and protect them in exchange for their allegiance. Collective cultures emphasize group membership, and the individual is emotionally, and in some cases, physically dependent on organizations and institutions. Organizations and the groups to which individuals belong also affect private life, and people generally acquiesce to group decisions, even if they are </a:t>
            </a:r>
            <a:r>
              <a:rPr lang="en-US" altLang="zh-CN" sz="2400" dirty="0" err="1">
                <a:latin typeface="Times New Roman" panose="02020603050405020304" pitchFamily="18" charset="0"/>
                <a:cs typeface="Times New Roman" panose="02020603050405020304" pitchFamily="18" charset="0"/>
              </a:rPr>
              <a:t>cou</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nter</a:t>
            </a:r>
            <a:r>
              <a:rPr lang="en-US" altLang="zh-CN" sz="2400" dirty="0">
                <a:latin typeface="Times New Roman" panose="02020603050405020304" pitchFamily="18" charset="0"/>
                <a:cs typeface="Times New Roman" panose="02020603050405020304" pitchFamily="18" charset="0"/>
              </a:rPr>
              <a:t> to personal desires.</a:t>
            </a:r>
          </a:p>
          <a:p>
            <a:pPr algn="just"/>
            <a:r>
              <a:rPr lang="en-US" altLang="zh-CN" sz="2400" dirty="0">
                <a:latin typeface="Times New Roman" panose="02020603050405020304" pitchFamily="18" charset="0"/>
                <a:cs typeface="Times New Roman" panose="02020603050405020304" pitchFamily="18" charset="0"/>
              </a:rPr>
              <a:t>    Collectivism is also </a:t>
            </a:r>
            <a:r>
              <a:rPr lang="en-US" altLang="zh-CN" sz="2400" dirty="0">
                <a:solidFill>
                  <a:srgbClr val="FF0000"/>
                </a:solidFill>
                <a:latin typeface="Times New Roman" panose="02020603050405020304" pitchFamily="18" charset="0"/>
                <a:cs typeface="Times New Roman" panose="02020603050405020304" pitchFamily="18" charset="0"/>
              </a:rPr>
              <a:t>contextual</a:t>
            </a:r>
            <a:r>
              <a:rPr lang="en-US" altLang="zh-CN" sz="2400" dirty="0">
                <a:latin typeface="Times New Roman" panose="02020603050405020304" pitchFamily="18" charset="0"/>
                <a:cs typeface="Times New Roman" panose="02020603050405020304" pitchFamily="18" charset="0"/>
              </a:rPr>
              <a:t>. In a learning environment, a collective classroom will stress harmony and cooperation, often through group activities, rather than individual competition.</a:t>
            </a:r>
          </a:p>
          <a:p>
            <a:pPr algn="just"/>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dirty="0" err="1">
                <a:solidFill>
                  <a:srgbClr val="FF0000"/>
                </a:solidFill>
                <a:latin typeface="Times New Roman" panose="02020603050405020304" pitchFamily="18" charset="0"/>
                <a:cs typeface="Times New Roman" panose="02020603050405020304" pitchFamily="18" charset="0"/>
              </a:rPr>
              <a:t>eg.the</a:t>
            </a:r>
            <a:r>
              <a:rPr lang="en-US" altLang="zh-CN" sz="2400" dirty="0">
                <a:solidFill>
                  <a:srgbClr val="FF0000"/>
                </a:solidFill>
                <a:latin typeface="Times New Roman" panose="02020603050405020304" pitchFamily="18" charset="0"/>
                <a:cs typeface="Times New Roman" panose="02020603050405020304" pitchFamily="18" charset="0"/>
              </a:rPr>
              <a:t> healthcare setting)</a:t>
            </a: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4.6.3.2 Uncertainty Avoidance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P145</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812415"/>
            <a:ext cx="8661400" cy="3046988"/>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The core of uncertainty avoidance is that the future is unknown. As used in Hofstede's research, uncertainty avoidance can be defined as “the extent to which the members of a culture feel threatened by ambiguous or unknown situations.” Cultures vary in their ability to tolerate ambiguity and unpredictability.</a:t>
            </a:r>
          </a:p>
          <a:p>
            <a:pPr algn="just"/>
            <a:r>
              <a:rPr lang="en-US" altLang="zh-CN" sz="2400"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4.6.3.2 Uncertainty Avoidance</a:t>
            </a:r>
            <a:endParaRPr lang="en-US" altLang="zh-CN" sz="4000" b="1">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664460"/>
            <a:ext cx="8661400" cy="1198880"/>
          </a:xfrm>
          <a:prstGeom prst="rect">
            <a:avLst/>
          </a:prstGeom>
          <a:noFill/>
        </p:spPr>
        <p:txBody>
          <a:bodyPr wrap="square" rtlCol="0">
            <a:spAutoFit/>
          </a:bodyPr>
          <a:lstStyle/>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High uncertainty avoidance</a:t>
            </a:r>
          </a:p>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Low uncertainty avoidance</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38391" y="1351245"/>
            <a:ext cx="9182391" cy="120032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4.6.3.2.1 High Uncertainty Avoidance </a:t>
            </a:r>
            <a:r>
              <a:rPr lang="en-US" altLang="zh-CN" sz="3200" b="1" dirty="0">
                <a:highlight>
                  <a:srgbClr val="FFFF00"/>
                </a:highlight>
                <a:latin typeface="Times New Roman" panose="02020603050405020304" pitchFamily="18" charset="0"/>
                <a:cs typeface="Times New Roman" panose="02020603050405020304" pitchFamily="18" charset="0"/>
                <a:sym typeface="+mn-ea"/>
              </a:rPr>
              <a:t>P145</a:t>
            </a:r>
            <a:endParaRPr lang="en-US" altLang="zh-CN" sz="32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42062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High uncertainty avoidance cultures </a:t>
            </a:r>
            <a:r>
              <a:rPr lang="en-US" altLang="zh-CN" sz="2400" dirty="0">
                <a:solidFill>
                  <a:srgbClr val="FF0000"/>
                </a:solidFill>
                <a:latin typeface="Times New Roman" panose="02020603050405020304" pitchFamily="18" charset="0"/>
                <a:cs typeface="Times New Roman" panose="02020603050405020304" pitchFamily="18" charset="0"/>
              </a:rPr>
              <a:t>attempt to reduce unpredictability and ambiguity </a:t>
            </a:r>
            <a:r>
              <a:rPr lang="en-US" altLang="zh-CN" sz="2400" dirty="0">
                <a:latin typeface="Times New Roman" panose="02020603050405020304" pitchFamily="18" charset="0"/>
                <a:cs typeface="Times New Roman" panose="02020603050405020304" pitchFamily="18" charset="0"/>
              </a:rPr>
              <a:t>through intolerance of deviant ideas and behaviors, emphasizing consensus, resisting change, and adhering to traditional social protocols. </a:t>
            </a:r>
            <a:r>
              <a:rPr lang="en-US" altLang="zh-CN" sz="2400" dirty="0">
                <a:solidFill>
                  <a:srgbClr val="FF0000"/>
                </a:solidFill>
                <a:latin typeface="Times New Roman" panose="02020603050405020304" pitchFamily="18" charset="0"/>
                <a:cs typeface="Times New Roman" panose="02020603050405020304" pitchFamily="18" charset="0"/>
              </a:rPr>
              <a:t>Relatively high levels of anxiety and stress often characterize these cultures</a:t>
            </a:r>
            <a:r>
              <a:rPr lang="en-US" altLang="zh-CN" sz="2400" dirty="0">
                <a:latin typeface="Times New Roman" panose="02020603050405020304" pitchFamily="18" charset="0"/>
                <a:cs typeface="Times New Roman" panose="02020603050405020304" pitchFamily="18" charset="0"/>
              </a:rPr>
              <a:t>. </a:t>
            </a:r>
          </a:p>
          <a:p>
            <a:pPr algn="just"/>
            <a:r>
              <a:rPr lang="en-US" altLang="zh-CN" sz="2400" dirty="0">
                <a:latin typeface="Times New Roman" panose="02020603050405020304" pitchFamily="18" charset="0"/>
                <a:cs typeface="Times New Roman" panose="02020603050405020304" pitchFamily="18" charset="0"/>
              </a:rPr>
              <a:t>    People with this orientation believe that life carries the potential for continual hazards, and to avoid or mitigate these dangers, there is a compelling need for laws, written rules, regulations, planning, rituals, ceremonies, and established societal, behavioral, and communication conventions, all of which add structure to life. Social expectations are clearly established and consistent. (</a:t>
            </a:r>
            <a:r>
              <a:rPr lang="en-US" altLang="zh-CN" sz="2400" dirty="0">
                <a:solidFill>
                  <a:srgbClr val="FF0000"/>
                </a:solidFill>
                <a:latin typeface="Times New Roman" panose="02020603050405020304" pitchFamily="18" charset="0"/>
                <a:cs typeface="Times New Roman" panose="02020603050405020304" pitchFamily="18" charset="0"/>
              </a:rPr>
              <a:t>Japan</a:t>
            </a:r>
            <a:r>
              <a:rPr lang="en-US" altLang="zh-CN" sz="2400" dirty="0">
                <a:latin typeface="Times New Roman" panose="02020603050405020304" pitchFamily="18" charset="0"/>
                <a:cs typeface="Times New Roman" panose="02020603050405020304" pitchFamily="18" charset="0"/>
              </a:rPr>
              <a:t>)</a:t>
            </a:r>
          </a:p>
          <a:p>
            <a:pPr algn="just"/>
            <a:r>
              <a:rPr lang="en-US" altLang="zh-CN" sz="2400"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 y="1440420"/>
            <a:ext cx="8997417" cy="132343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4.6.3.2.1 High Uncertainty Avoidance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P146</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pic>
        <p:nvPicPr>
          <p:cNvPr id="2" name="图片 1" descr="I6DN)M8}4W}SX8DS~8P6@[N"/>
          <p:cNvPicPr>
            <a:picLocks noChangeAspect="1"/>
          </p:cNvPicPr>
          <p:nvPr/>
        </p:nvPicPr>
        <p:blipFill>
          <a:blip r:embed="rId3"/>
          <a:stretch>
            <a:fillRect/>
          </a:stretch>
        </p:blipFill>
        <p:spPr>
          <a:xfrm>
            <a:off x="1844675" y="2345690"/>
            <a:ext cx="5453380" cy="439039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1B21507A-6405-413E-B1B0-42637471FC70}"/>
                  </a:ext>
                </a:extLst>
              </p14:cNvPr>
              <p14:cNvContentPartPr/>
              <p14:nvPr/>
            </p14:nvContentPartPr>
            <p14:xfrm>
              <a:off x="4473797" y="4243598"/>
              <a:ext cx="794160" cy="360"/>
            </p14:xfrm>
          </p:contentPart>
        </mc:Choice>
        <mc:Fallback xmlns="">
          <p:pic>
            <p:nvPicPr>
              <p:cNvPr id="3" name="墨迹 2">
                <a:extLst>
                  <a:ext uri="{FF2B5EF4-FFF2-40B4-BE49-F238E27FC236}">
                    <a16:creationId xmlns:a16="http://schemas.microsoft.com/office/drawing/2014/main" id="{1B21507A-6405-413E-B1B0-42637471FC70}"/>
                  </a:ext>
                </a:extLst>
              </p:cNvPr>
              <p:cNvPicPr/>
              <p:nvPr/>
            </p:nvPicPr>
            <p:blipFill>
              <a:blip r:embed="rId5"/>
              <a:stretch>
                <a:fillRect/>
              </a:stretch>
            </p:blipFill>
            <p:spPr>
              <a:xfrm>
                <a:off x="4465157" y="4234958"/>
                <a:ext cx="811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285C656-536B-41FF-AA31-1C6F9BDDEB0C}"/>
                  </a:ext>
                </a:extLst>
              </p14:cNvPr>
              <p14:cNvContentPartPr/>
              <p14:nvPr/>
            </p14:nvContentPartPr>
            <p14:xfrm>
              <a:off x="6267677" y="4061798"/>
              <a:ext cx="712800" cy="7920"/>
            </p14:xfrm>
          </p:contentPart>
        </mc:Choice>
        <mc:Fallback xmlns="">
          <p:pic>
            <p:nvPicPr>
              <p:cNvPr id="6" name="墨迹 5">
                <a:extLst>
                  <a:ext uri="{FF2B5EF4-FFF2-40B4-BE49-F238E27FC236}">
                    <a16:creationId xmlns:a16="http://schemas.microsoft.com/office/drawing/2014/main" id="{6285C656-536B-41FF-AA31-1C6F9BDDEB0C}"/>
                  </a:ext>
                </a:extLst>
              </p:cNvPr>
              <p:cNvPicPr/>
              <p:nvPr/>
            </p:nvPicPr>
            <p:blipFill>
              <a:blip r:embed="rId7"/>
              <a:stretch>
                <a:fillRect/>
              </a:stretch>
            </p:blipFill>
            <p:spPr>
              <a:xfrm>
                <a:off x="6259037" y="4052798"/>
                <a:ext cx="7304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5A599D34-399E-4308-8ED5-5C0D2805A3E5}"/>
                  </a:ext>
                </a:extLst>
              </p14:cNvPr>
              <p14:cNvContentPartPr/>
              <p14:nvPr/>
            </p14:nvContentPartPr>
            <p14:xfrm>
              <a:off x="2651837" y="4075478"/>
              <a:ext cx="355680" cy="7560"/>
            </p14:xfrm>
          </p:contentPart>
        </mc:Choice>
        <mc:Fallback xmlns="">
          <p:pic>
            <p:nvPicPr>
              <p:cNvPr id="8" name="墨迹 7">
                <a:extLst>
                  <a:ext uri="{FF2B5EF4-FFF2-40B4-BE49-F238E27FC236}">
                    <a16:creationId xmlns:a16="http://schemas.microsoft.com/office/drawing/2014/main" id="{5A599D34-399E-4308-8ED5-5C0D2805A3E5}"/>
                  </a:ext>
                </a:extLst>
              </p:cNvPr>
              <p:cNvPicPr/>
              <p:nvPr/>
            </p:nvPicPr>
            <p:blipFill>
              <a:blip r:embed="rId9"/>
              <a:stretch>
                <a:fillRect/>
              </a:stretch>
            </p:blipFill>
            <p:spPr>
              <a:xfrm>
                <a:off x="2643197" y="4066838"/>
                <a:ext cx="3733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墨迹 8">
                <a:extLst>
                  <a:ext uri="{FF2B5EF4-FFF2-40B4-BE49-F238E27FC236}">
                    <a16:creationId xmlns:a16="http://schemas.microsoft.com/office/drawing/2014/main" id="{A34D8F4B-F339-44AF-B4C5-DB068FE8DC50}"/>
                  </a:ext>
                </a:extLst>
              </p14:cNvPr>
              <p14:cNvContentPartPr/>
              <p14:nvPr/>
            </p14:nvContentPartPr>
            <p14:xfrm>
              <a:off x="8333717" y="1772558"/>
              <a:ext cx="360" cy="360"/>
            </p14:xfrm>
          </p:contentPart>
        </mc:Choice>
        <mc:Fallback xmlns="">
          <p:pic>
            <p:nvPicPr>
              <p:cNvPr id="9" name="墨迹 8">
                <a:extLst>
                  <a:ext uri="{FF2B5EF4-FFF2-40B4-BE49-F238E27FC236}">
                    <a16:creationId xmlns:a16="http://schemas.microsoft.com/office/drawing/2014/main" id="{A34D8F4B-F339-44AF-B4C5-DB068FE8DC50}"/>
                  </a:ext>
                </a:extLst>
              </p:cNvPr>
              <p:cNvPicPr/>
              <p:nvPr/>
            </p:nvPicPr>
            <p:blipFill>
              <a:blip r:embed="rId11"/>
              <a:stretch>
                <a:fillRect/>
              </a:stretch>
            </p:blipFill>
            <p:spPr>
              <a:xfrm>
                <a:off x="8325077" y="176391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墨迹 9">
                <a:extLst>
                  <a:ext uri="{FF2B5EF4-FFF2-40B4-BE49-F238E27FC236}">
                    <a16:creationId xmlns:a16="http://schemas.microsoft.com/office/drawing/2014/main" id="{A10D6B6F-194D-4BBD-B81D-7BBFEFBFC131}"/>
                  </a:ext>
                </a:extLst>
              </p14:cNvPr>
              <p14:cNvContentPartPr/>
              <p14:nvPr/>
            </p14:nvContentPartPr>
            <p14:xfrm>
              <a:off x="6009557" y="1577078"/>
              <a:ext cx="360" cy="1440"/>
            </p14:xfrm>
          </p:contentPart>
        </mc:Choice>
        <mc:Fallback xmlns="">
          <p:pic>
            <p:nvPicPr>
              <p:cNvPr id="10" name="墨迹 9">
                <a:extLst>
                  <a:ext uri="{FF2B5EF4-FFF2-40B4-BE49-F238E27FC236}">
                    <a16:creationId xmlns:a16="http://schemas.microsoft.com/office/drawing/2014/main" id="{A10D6B6F-194D-4BBD-B81D-7BBFEFBFC131}"/>
                  </a:ext>
                </a:extLst>
              </p:cNvPr>
              <p:cNvPicPr/>
              <p:nvPr/>
            </p:nvPicPr>
            <p:blipFill>
              <a:blip r:embed="rId13"/>
              <a:stretch>
                <a:fillRect/>
              </a:stretch>
            </p:blipFill>
            <p:spPr>
              <a:xfrm>
                <a:off x="6000917" y="1568438"/>
                <a:ext cx="180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墨迹 10">
                <a:extLst>
                  <a:ext uri="{FF2B5EF4-FFF2-40B4-BE49-F238E27FC236}">
                    <a16:creationId xmlns:a16="http://schemas.microsoft.com/office/drawing/2014/main" id="{4028A029-5B0A-4963-A678-F013C6889473}"/>
                  </a:ext>
                </a:extLst>
              </p14:cNvPr>
              <p14:cNvContentPartPr/>
              <p14:nvPr/>
            </p14:nvContentPartPr>
            <p14:xfrm>
              <a:off x="5584037" y="1807478"/>
              <a:ext cx="360" cy="360"/>
            </p14:xfrm>
          </p:contentPart>
        </mc:Choice>
        <mc:Fallback xmlns="">
          <p:pic>
            <p:nvPicPr>
              <p:cNvPr id="11" name="墨迹 10">
                <a:extLst>
                  <a:ext uri="{FF2B5EF4-FFF2-40B4-BE49-F238E27FC236}">
                    <a16:creationId xmlns:a16="http://schemas.microsoft.com/office/drawing/2014/main" id="{4028A029-5B0A-4963-A678-F013C6889473}"/>
                  </a:ext>
                </a:extLst>
              </p:cNvPr>
              <p:cNvPicPr/>
              <p:nvPr/>
            </p:nvPicPr>
            <p:blipFill>
              <a:blip r:embed="rId11"/>
              <a:stretch>
                <a:fillRect/>
              </a:stretch>
            </p:blipFill>
            <p:spPr>
              <a:xfrm>
                <a:off x="5575037" y="179883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墨迹 11">
                <a:extLst>
                  <a:ext uri="{FF2B5EF4-FFF2-40B4-BE49-F238E27FC236}">
                    <a16:creationId xmlns:a16="http://schemas.microsoft.com/office/drawing/2014/main" id="{D29AF047-BCE5-4D01-8F62-C616AD3C69B4}"/>
                  </a:ext>
                </a:extLst>
              </p14:cNvPr>
              <p14:cNvContentPartPr/>
              <p14:nvPr/>
            </p14:nvContentPartPr>
            <p14:xfrm>
              <a:off x="4460837" y="1793798"/>
              <a:ext cx="48240" cy="360"/>
            </p14:xfrm>
          </p:contentPart>
        </mc:Choice>
        <mc:Fallback xmlns="">
          <p:pic>
            <p:nvPicPr>
              <p:cNvPr id="12" name="墨迹 11">
                <a:extLst>
                  <a:ext uri="{FF2B5EF4-FFF2-40B4-BE49-F238E27FC236}">
                    <a16:creationId xmlns:a16="http://schemas.microsoft.com/office/drawing/2014/main" id="{D29AF047-BCE5-4D01-8F62-C616AD3C69B4}"/>
                  </a:ext>
                </a:extLst>
              </p:cNvPr>
              <p:cNvPicPr/>
              <p:nvPr/>
            </p:nvPicPr>
            <p:blipFill>
              <a:blip r:embed="rId16"/>
              <a:stretch>
                <a:fillRect/>
              </a:stretch>
            </p:blipFill>
            <p:spPr>
              <a:xfrm>
                <a:off x="4452197" y="1784798"/>
                <a:ext cx="65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墨迹 12">
                <a:extLst>
                  <a:ext uri="{FF2B5EF4-FFF2-40B4-BE49-F238E27FC236}">
                    <a16:creationId xmlns:a16="http://schemas.microsoft.com/office/drawing/2014/main" id="{90BA8AB5-04F4-4526-9356-5C031E4B4CC2}"/>
                  </a:ext>
                </a:extLst>
              </p14:cNvPr>
              <p14:cNvContentPartPr/>
              <p14:nvPr/>
            </p14:nvContentPartPr>
            <p14:xfrm>
              <a:off x="-723523" y="1716758"/>
              <a:ext cx="25920" cy="360"/>
            </p14:xfrm>
          </p:contentPart>
        </mc:Choice>
        <mc:Fallback xmlns="">
          <p:pic>
            <p:nvPicPr>
              <p:cNvPr id="13" name="墨迹 12">
                <a:extLst>
                  <a:ext uri="{FF2B5EF4-FFF2-40B4-BE49-F238E27FC236}">
                    <a16:creationId xmlns:a16="http://schemas.microsoft.com/office/drawing/2014/main" id="{90BA8AB5-04F4-4526-9356-5C031E4B4CC2}"/>
                  </a:ext>
                </a:extLst>
              </p:cNvPr>
              <p:cNvPicPr/>
              <p:nvPr/>
            </p:nvPicPr>
            <p:blipFill>
              <a:blip r:embed="rId18"/>
              <a:stretch>
                <a:fillRect/>
              </a:stretch>
            </p:blipFill>
            <p:spPr>
              <a:xfrm>
                <a:off x="-732523" y="1708118"/>
                <a:ext cx="43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6" name="墨迹 25">
                <a:extLst>
                  <a:ext uri="{FF2B5EF4-FFF2-40B4-BE49-F238E27FC236}">
                    <a16:creationId xmlns:a16="http://schemas.microsoft.com/office/drawing/2014/main" id="{6E01EBB2-8C9B-4C6F-B73C-79C5D5594301}"/>
                  </a:ext>
                </a:extLst>
              </p14:cNvPr>
              <p14:cNvContentPartPr/>
              <p14:nvPr/>
            </p14:nvContentPartPr>
            <p14:xfrm>
              <a:off x="-1075243" y="1570238"/>
              <a:ext cx="360" cy="360"/>
            </p14:xfrm>
          </p:contentPart>
        </mc:Choice>
        <mc:Fallback xmlns="">
          <p:pic>
            <p:nvPicPr>
              <p:cNvPr id="26" name="墨迹 25">
                <a:extLst>
                  <a:ext uri="{FF2B5EF4-FFF2-40B4-BE49-F238E27FC236}">
                    <a16:creationId xmlns:a16="http://schemas.microsoft.com/office/drawing/2014/main" id="{6E01EBB2-8C9B-4C6F-B73C-79C5D5594301}"/>
                  </a:ext>
                </a:extLst>
              </p:cNvPr>
              <p:cNvPicPr/>
              <p:nvPr/>
            </p:nvPicPr>
            <p:blipFill>
              <a:blip r:embed="rId20"/>
              <a:stretch>
                <a:fillRect/>
              </a:stretch>
            </p:blipFill>
            <p:spPr>
              <a:xfrm>
                <a:off x="-1084243" y="1561238"/>
                <a:ext cx="18000" cy="18000"/>
              </a:xfrm>
              <a:prstGeom prst="rect">
                <a:avLst/>
              </a:prstGeom>
            </p:spPr>
          </p:pic>
        </mc:Fallback>
      </mc:AlternateContent>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80621" y="1344010"/>
            <a:ext cx="9303972"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4.6.3.2.2 Low Uncertainty Avoidance </a:t>
            </a:r>
            <a:r>
              <a:rPr lang="en-US" altLang="zh-CN" sz="3200" b="1" dirty="0">
                <a:highlight>
                  <a:srgbClr val="FFFF00"/>
                </a:highlight>
                <a:latin typeface="Times New Roman" panose="02020603050405020304" pitchFamily="18" charset="0"/>
                <a:cs typeface="Times New Roman" panose="02020603050405020304" pitchFamily="18" charset="0"/>
                <a:sym typeface="+mn-ea"/>
              </a:rPr>
              <a:t>P146</a:t>
            </a:r>
            <a:endParaRPr lang="en-US" altLang="zh-CN" sz="32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420620"/>
            <a:ext cx="8661400" cy="41541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Low uncertainty avoidance cultures more easily accept the uncertainty inherent in life, tend to be tolerant of the unusual, and are not as threatened by different ideas and people. </a:t>
            </a:r>
            <a:r>
              <a:rPr lang="en-US" altLang="zh-CN" sz="2400" dirty="0">
                <a:latin typeface="Times New Roman" panose="02020603050405020304" pitchFamily="18" charset="0"/>
                <a:cs typeface="Times New Roman" panose="02020603050405020304" pitchFamily="18" charset="0"/>
              </a:rPr>
              <a:t>They prize initiative, dislike the structure associated with hierarchy, are willing to take risks, are flexible, think that there should be as few rules as possible, and depend not so much on experts as on themselves. </a:t>
            </a:r>
            <a:r>
              <a:rPr lang="en-US" altLang="zh-CN" sz="2400" dirty="0">
                <a:solidFill>
                  <a:srgbClr val="FF0000"/>
                </a:solidFill>
                <a:latin typeface="Times New Roman" panose="02020603050405020304" pitchFamily="18" charset="0"/>
                <a:cs typeface="Times New Roman" panose="02020603050405020304" pitchFamily="18" charset="0"/>
              </a:rPr>
              <a:t>As a whole, members of low uncertainty avoidance cultures are much less constrained by social protocol.</a:t>
            </a:r>
          </a:p>
          <a:p>
            <a:pPr algn="just"/>
            <a:r>
              <a:rPr lang="en-US" altLang="zh-CN" sz="2400" dirty="0">
                <a:latin typeface="Times New Roman" panose="02020603050405020304" pitchFamily="18" charset="0"/>
                <a:cs typeface="Times New Roman" panose="02020603050405020304" pitchFamily="18" charset="0"/>
              </a:rPr>
              <a:t>    As with other value dimensions, there are differences in the degree to which uncertainty avoidance influences communication and activities in varied contexts.    </a:t>
            </a: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4.6.3.3 Power Distance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P147</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420620"/>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Power distance classifies cultures along a continuum of </a:t>
            </a:r>
            <a:r>
              <a:rPr lang="en-US" altLang="zh-CN" sz="2400" b="1" i="1" dirty="0">
                <a:solidFill>
                  <a:srgbClr val="FF0000"/>
                </a:solidFill>
                <a:latin typeface="Times New Roman" panose="02020603050405020304" pitchFamily="18" charset="0"/>
                <a:cs typeface="Times New Roman" panose="02020603050405020304" pitchFamily="18" charset="0"/>
              </a:rPr>
              <a:t>high and low power distance</a:t>
            </a:r>
            <a:r>
              <a:rPr lang="en-US" altLang="zh-CN" sz="2400" dirty="0">
                <a:latin typeface="Times New Roman" panose="02020603050405020304" pitchFamily="18" charset="0"/>
                <a:cs typeface="Times New Roman" panose="02020603050405020304" pitchFamily="18" charset="0"/>
              </a:rPr>
              <a:t>. Power distance is </a:t>
            </a:r>
            <a:r>
              <a:rPr lang="en-US" altLang="zh-CN" sz="2400" dirty="0">
                <a:solidFill>
                  <a:srgbClr val="FF0000"/>
                </a:solidFill>
                <a:latin typeface="Times New Roman" panose="02020603050405020304" pitchFamily="18" charset="0"/>
                <a:cs typeface="Times New Roman" panose="02020603050405020304" pitchFamily="18" charset="0"/>
              </a:rPr>
              <a:t>concerned with </a:t>
            </a:r>
            <a:r>
              <a:rPr lang="en-US" altLang="zh-CN" sz="2400" dirty="0">
                <a:latin typeface="Times New Roman" panose="02020603050405020304" pitchFamily="18" charset="0"/>
                <a:cs typeface="Times New Roman" panose="02020603050405020304" pitchFamily="18" charset="0"/>
              </a:rPr>
              <a:t>how societies manage the fact that people are unequal. The concept is </a:t>
            </a:r>
            <a:r>
              <a:rPr lang="en-US" altLang="zh-CN" sz="2400" dirty="0">
                <a:solidFill>
                  <a:srgbClr val="FF0000"/>
                </a:solidFill>
                <a:latin typeface="Times New Roman" panose="02020603050405020304" pitchFamily="18" charset="0"/>
                <a:cs typeface="Times New Roman" panose="02020603050405020304" pitchFamily="18" charset="0"/>
              </a:rPr>
              <a:t>defined as </a:t>
            </a:r>
            <a:r>
              <a:rPr lang="en-US" altLang="zh-CN" sz="2400" dirty="0">
                <a:latin typeface="Times New Roman" panose="02020603050405020304" pitchFamily="18" charset="0"/>
                <a:cs typeface="Times New Roman" panose="02020603050405020304" pitchFamily="18" charset="0"/>
              </a:rPr>
              <a:t>“the extent in which the less powerful members of institutions and organizations within a country expect and accept that power is distributed unequally.” The </a:t>
            </a:r>
            <a:r>
              <a:rPr lang="en-US" altLang="zh-CN" sz="2400" dirty="0">
                <a:solidFill>
                  <a:srgbClr val="FF0000"/>
                </a:solidFill>
                <a:latin typeface="Times New Roman" panose="02020603050405020304" pitchFamily="18" charset="0"/>
                <a:cs typeface="Times New Roman" panose="02020603050405020304" pitchFamily="18" charset="0"/>
              </a:rPr>
              <a:t>premise</a:t>
            </a:r>
            <a:r>
              <a:rPr lang="en-US" altLang="zh-CN" sz="2400" dirty="0">
                <a:latin typeface="Times New Roman" panose="02020603050405020304" pitchFamily="18" charset="0"/>
                <a:cs typeface="Times New Roman" panose="02020603050405020304" pitchFamily="18" charset="0"/>
              </a:rPr>
              <a:t> of the dimension deals with the extent to which a society accepts that power in relationships, institutions, and organizations is distributed equally or unequally.</a:t>
            </a:r>
          </a:p>
          <a:p>
            <a:pPr algn="just"/>
            <a:r>
              <a:rPr lang="en-US" altLang="zh-CN" sz="2400" dirty="0">
                <a:latin typeface="Times New Roman" panose="02020603050405020304" pitchFamily="18" charset="0"/>
                <a:cs typeface="Times New Roman" panose="02020603050405020304" pitchFamily="18" charset="0"/>
              </a:rPr>
              <a:t>    Although all cultures have tendencies toward both high and low power distance relationships, one orientation seems to dominate.</a:t>
            </a:r>
          </a:p>
        </p:txBody>
      </p:sp>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4.6.3.3 Power Distance</a:t>
            </a:r>
            <a:endParaRPr lang="en-US" altLang="zh-CN" sz="4000" b="1">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664460"/>
            <a:ext cx="8661400" cy="1198880"/>
          </a:xfrm>
          <a:prstGeom prst="rect">
            <a:avLst/>
          </a:prstGeom>
          <a:noFill/>
        </p:spPr>
        <p:txBody>
          <a:bodyPr wrap="square" rtlCol="0">
            <a:spAutoFit/>
          </a:bodyPr>
          <a:lstStyle/>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High power distance</a:t>
            </a:r>
          </a:p>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Low power distance</a:t>
            </a:r>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66215"/>
            <a:ext cx="8845550"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4.6.3.3.1 High Power Distance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P146-147</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25679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Individuals from high power distance cultures accept power as part of society. </a:t>
            </a:r>
            <a:r>
              <a:rPr lang="en-US" altLang="zh-CN" sz="2400" dirty="0">
                <a:latin typeface="Times New Roman" panose="02020603050405020304" pitchFamily="18" charset="0"/>
                <a:cs typeface="Times New Roman" panose="02020603050405020304" pitchFamily="18" charset="0"/>
              </a:rPr>
              <a:t>As such, superiors consider their subordinates to be different from themselves and vice versa. People in high power distance countries believe that power and authority are facts of life. </a:t>
            </a:r>
            <a:r>
              <a:rPr lang="en-US" altLang="zh-CN" sz="2400" dirty="0">
                <a:solidFill>
                  <a:srgbClr val="FF0000"/>
                </a:solidFill>
                <a:latin typeface="Times New Roman" panose="02020603050405020304" pitchFamily="18" charset="0"/>
                <a:cs typeface="Times New Roman" panose="02020603050405020304" pitchFamily="18" charset="0"/>
              </a:rPr>
              <a:t>Both consciously and unconsciously, these cultures teach their members that people are not equal in this world and that everybody has a rightful place</a:t>
            </a:r>
            <a:r>
              <a:rPr lang="en-US" altLang="zh-CN" sz="2400" dirty="0">
                <a:latin typeface="Times New Roman" panose="02020603050405020304" pitchFamily="18" charset="0"/>
                <a:cs typeface="Times New Roman" panose="02020603050405020304" pitchFamily="18" charset="0"/>
              </a:rPr>
              <a:t>, which is clearly marked by countless societal hierarchies, often based on factors such as family name, education, age, profession, or organizational position. </a:t>
            </a:r>
          </a:p>
          <a:p>
            <a:pPr algn="just"/>
            <a:r>
              <a:rPr lang="en-US" altLang="zh-CN" sz="2400" dirty="0">
                <a:latin typeface="Times New Roman" panose="02020603050405020304" pitchFamily="18" charset="0"/>
                <a:cs typeface="Times New Roman" panose="02020603050405020304" pitchFamily="18" charset="0"/>
              </a:rPr>
              <a:t>    Organizations in high power distance cultures commonly have a strong centralization of power, a recognition and use of rank and status, and adherence to established lines of authority.</a:t>
            </a: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48193"/>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4.6.3.3.1 High Power Distance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P147</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pic>
        <p:nvPicPr>
          <p:cNvPr id="2" name="图片 1" descr="C0E{H(%`3SBP[GMKPB1@@9T"/>
          <p:cNvPicPr>
            <a:picLocks noChangeAspect="1"/>
          </p:cNvPicPr>
          <p:nvPr/>
        </p:nvPicPr>
        <p:blipFill>
          <a:blip r:embed="rId3"/>
          <a:stretch>
            <a:fillRect/>
          </a:stretch>
        </p:blipFill>
        <p:spPr>
          <a:xfrm>
            <a:off x="1785620" y="2251710"/>
            <a:ext cx="5570855" cy="4547870"/>
          </a:xfrm>
          <a:prstGeom prst="rect">
            <a:avLst/>
          </a:prstGeom>
        </p:spPr>
      </p:pic>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4.6.3.3.2 Low Power Distance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P148</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256790"/>
            <a:ext cx="8661400" cy="4523105"/>
          </a:xfrm>
          <a:prstGeom prst="rect">
            <a:avLst/>
          </a:prstGeom>
          <a:noFill/>
        </p:spPr>
        <p:txBody>
          <a:bodyPr wrap="square" rtlCol="0">
            <a:spAutoFit/>
          </a:bodyPr>
          <a:lstStyle/>
          <a:p>
            <a:pPr algn="just"/>
            <a:r>
              <a:rPr lang="en-US" altLang="zh-CN" sz="2400" dirty="0">
                <a:solidFill>
                  <a:srgbClr val="FF0000"/>
                </a:solidFill>
                <a:latin typeface="Times New Roman" panose="02020603050405020304" pitchFamily="18" charset="0"/>
                <a:cs typeface="Times New Roman" panose="02020603050405020304" pitchFamily="18" charset="0"/>
              </a:rPr>
              <a:t>    Low power distance countries hold that inequality in society should be minimized. </a:t>
            </a:r>
            <a:r>
              <a:rPr lang="en-US" altLang="zh-CN" sz="2400" dirty="0">
                <a:latin typeface="Times New Roman" panose="02020603050405020304" pitchFamily="18" charset="0"/>
                <a:cs typeface="Times New Roman" panose="02020603050405020304" pitchFamily="18" charset="0"/>
              </a:rPr>
              <a:t>Cultures considered to be low power distance are </a:t>
            </a:r>
            <a:r>
              <a:rPr lang="en-US" altLang="zh-CN" sz="2400" dirty="0">
                <a:solidFill>
                  <a:srgbClr val="FF0000"/>
                </a:solidFill>
                <a:latin typeface="Times New Roman" panose="02020603050405020304" pitchFamily="18" charset="0"/>
                <a:cs typeface="Times New Roman" panose="02020603050405020304" pitchFamily="18" charset="0"/>
              </a:rPr>
              <a:t>characterized by </a:t>
            </a:r>
            <a:r>
              <a:rPr lang="en-US" altLang="zh-CN" sz="2400" dirty="0">
                <a:latin typeface="Times New Roman" panose="02020603050405020304" pitchFamily="18" charset="0"/>
                <a:cs typeface="Times New Roman" panose="02020603050405020304" pitchFamily="18" charset="0"/>
              </a:rPr>
              <a:t>numerous laws, regulations, and rules that tend to minimize power differentials between people.</a:t>
            </a:r>
          </a:p>
          <a:p>
            <a:pPr algn="just"/>
            <a:r>
              <a:rPr lang="en-US" altLang="zh-CN" sz="2400" dirty="0">
                <a:latin typeface="Times New Roman" panose="02020603050405020304" pitchFamily="18" charset="0"/>
                <a:cs typeface="Times New Roman" panose="02020603050405020304" pitchFamily="18" charset="0"/>
              </a:rPr>
              <a:t>    Subordinates and superiors consider and </a:t>
            </a:r>
            <a:r>
              <a:rPr lang="en-US" altLang="zh-CN" sz="2400" dirty="0">
                <a:solidFill>
                  <a:srgbClr val="FF0000"/>
                </a:solidFill>
                <a:latin typeface="Times New Roman" panose="02020603050405020304" pitchFamily="18" charset="0"/>
                <a:cs typeface="Times New Roman" panose="02020603050405020304" pitchFamily="18" charset="0"/>
              </a:rPr>
              <a:t>treat each other as equals</a:t>
            </a:r>
            <a:r>
              <a:rPr lang="en-US" altLang="zh-CN" sz="2400" dirty="0">
                <a:latin typeface="Times New Roman" panose="02020603050405020304" pitchFamily="18" charset="0"/>
                <a:cs typeface="Times New Roman" panose="02020603050405020304" pitchFamily="18" charset="0"/>
              </a:rPr>
              <a:t>, and the use of titles is deemphasized. People in power, be they supervisors, managers, or government officials, often interact with their constituents and try to look less powerful than they really are.</a:t>
            </a:r>
          </a:p>
          <a:p>
            <a:pPr algn="just"/>
            <a:r>
              <a:rPr lang="en-US" altLang="zh-CN" sz="2400" dirty="0">
                <a:latin typeface="Times New Roman" panose="02020603050405020304" pitchFamily="18" charset="0"/>
                <a:cs typeface="Times New Roman" panose="02020603050405020304" pitchFamily="18" charset="0"/>
              </a:rPr>
              <a:t>    In high power distance societies, the emphasis is on </a:t>
            </a:r>
            <a:r>
              <a:rPr lang="en-US" altLang="zh-CN" sz="2400" dirty="0">
                <a:solidFill>
                  <a:srgbClr val="FF0000"/>
                </a:solidFill>
                <a:latin typeface="Times New Roman" panose="02020603050405020304" pitchFamily="18" charset="0"/>
                <a:cs typeface="Times New Roman" panose="02020603050405020304" pitchFamily="18" charset="0"/>
              </a:rPr>
              <a:t>the personal “wisdom” of the instructor</a:t>
            </a:r>
            <a:r>
              <a:rPr lang="en-US" altLang="zh-CN" sz="2400" dirty="0">
                <a:latin typeface="Times New Roman" panose="02020603050405020304" pitchFamily="18" charset="0"/>
                <a:cs typeface="Times New Roman" panose="02020603050405020304" pitchFamily="18" charset="0"/>
              </a:rPr>
              <a:t>, whereas in low power distance societies, the focus is on </a:t>
            </a:r>
            <a:r>
              <a:rPr lang="en-US" altLang="zh-CN" sz="2400" dirty="0">
                <a:solidFill>
                  <a:srgbClr val="FF0000"/>
                </a:solidFill>
                <a:latin typeface="Times New Roman" panose="02020603050405020304" pitchFamily="18" charset="0"/>
                <a:cs typeface="Times New Roman" panose="02020603050405020304" pitchFamily="18" charset="0"/>
              </a:rPr>
              <a:t>discerning the impersonal “truth</a:t>
            </a:r>
            <a:r>
              <a:rPr lang="en-US" altLang="zh-CN" sz="2400" dirty="0">
                <a:latin typeface="Times New Roman" panose="02020603050405020304" pitchFamily="18" charset="0"/>
                <a:cs typeface="Times New Roman" panose="02020603050405020304" pitchFamily="18" charset="0"/>
              </a:rPr>
              <a:t>,” which can be obtained by any competent person.</a:t>
            </a: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4.6.3.4 Masculinity/Femininity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P148</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812415"/>
            <a:ext cx="8661400" cy="2616101"/>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The words “masculinity” and “femininity” are used to </a:t>
            </a:r>
            <a:r>
              <a:rPr lang="en-US" altLang="zh-CN" sz="2800" dirty="0">
                <a:solidFill>
                  <a:srgbClr val="FF0000"/>
                </a:solidFill>
                <a:latin typeface="Times New Roman" panose="02020603050405020304" pitchFamily="18" charset="0"/>
                <a:cs typeface="Times New Roman" panose="02020603050405020304" pitchFamily="18" charset="0"/>
              </a:rPr>
              <a:t>refer to </a:t>
            </a:r>
            <a:r>
              <a:rPr lang="en-US" altLang="zh-CN" sz="2800" dirty="0">
                <a:latin typeface="Times New Roman" panose="02020603050405020304" pitchFamily="18" charset="0"/>
                <a:cs typeface="Times New Roman" panose="02020603050405020304" pitchFamily="18" charset="0"/>
              </a:rPr>
              <a:t>the degree to which masculine or feminine traits are valued and revealed. Many masculine and feminine behaviors are learned and mediated by cultural norms and traditions.</a:t>
            </a:r>
          </a:p>
          <a:p>
            <a:pPr algn="just"/>
            <a:r>
              <a:rPr lang="en-US" altLang="zh-CN" sz="2400"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4.6.3.4 Masculinity/Femininity</a:t>
            </a:r>
            <a:endParaRPr lang="en-US" altLang="zh-CN" sz="4000" b="1">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664460"/>
            <a:ext cx="8661400" cy="1198880"/>
          </a:xfrm>
          <a:prstGeom prst="rect">
            <a:avLst/>
          </a:prstGeom>
          <a:noFill/>
        </p:spPr>
        <p:txBody>
          <a:bodyPr wrap="square" rtlCol="0">
            <a:spAutoFit/>
          </a:bodyPr>
          <a:lstStyle/>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Masculinity</a:t>
            </a:r>
          </a:p>
          <a:p>
            <a:pPr marL="571500" indent="-571500" algn="just">
              <a:buFont typeface="Arial" panose="020B0604020202020204" pitchFamily="34" charset="0"/>
              <a:buChar char="•"/>
            </a:pPr>
            <a:r>
              <a:rPr lang="en-US" altLang="zh-CN" sz="3600" dirty="0">
                <a:latin typeface="Times New Roman" panose="02020603050405020304" pitchFamily="18" charset="0"/>
                <a:cs typeface="Times New Roman" panose="02020603050405020304" pitchFamily="18" charset="0"/>
              </a:rPr>
              <a:t>Femininity</a:t>
            </a: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4.6.3.4.1 Masculinity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P148-149</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1300" y="242062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Masculinity is the extent to which the dominant values in a society are male oriented. </a:t>
            </a:r>
            <a:r>
              <a:rPr lang="en-US" altLang="zh-CN" sz="2400" dirty="0">
                <a:latin typeface="Times New Roman" panose="02020603050405020304" pitchFamily="18" charset="0"/>
                <a:cs typeface="Times New Roman" panose="02020603050405020304" pitchFamily="18" charset="0"/>
              </a:rPr>
              <a:t>In a masculine-oriented culture, </a:t>
            </a:r>
            <a:r>
              <a:rPr lang="en-US" altLang="zh-CN" sz="2400" dirty="0">
                <a:solidFill>
                  <a:srgbClr val="FF0000"/>
                </a:solidFill>
                <a:latin typeface="Times New Roman" panose="02020603050405020304" pitchFamily="18" charset="0"/>
                <a:cs typeface="Times New Roman" panose="02020603050405020304" pitchFamily="18" charset="0"/>
              </a:rPr>
              <a:t>emotional gender roles</a:t>
            </a:r>
            <a:r>
              <a:rPr lang="en-US" altLang="zh-CN" sz="2400" dirty="0">
                <a:latin typeface="Times New Roman" panose="02020603050405020304" pitchFamily="18" charset="0"/>
                <a:cs typeface="Times New Roman" panose="02020603050405020304" pitchFamily="18" charset="0"/>
              </a:rPr>
              <a:t> are clearly distinct: </a:t>
            </a:r>
            <a:r>
              <a:rPr lang="en-US" altLang="zh-CN" sz="2400" dirty="0">
                <a:solidFill>
                  <a:srgbClr val="FF0000"/>
                </a:solidFill>
                <a:latin typeface="Times New Roman" panose="02020603050405020304" pitchFamily="18" charset="0"/>
                <a:cs typeface="Times New Roman" panose="02020603050405020304" pitchFamily="18" charset="0"/>
              </a:rPr>
              <a:t>men</a:t>
            </a:r>
            <a:r>
              <a:rPr lang="en-US" altLang="zh-CN" sz="2400" dirty="0">
                <a:latin typeface="Times New Roman" panose="02020603050405020304" pitchFamily="18" charset="0"/>
                <a:cs typeface="Times New Roman" panose="02020603050405020304" pitchFamily="18" charset="0"/>
              </a:rPr>
              <a:t> are supposed to be assertive, tough, and focused on material success, whereas </a:t>
            </a:r>
            <a:r>
              <a:rPr lang="en-US" altLang="zh-CN" sz="2400" dirty="0">
                <a:solidFill>
                  <a:srgbClr val="FF0000"/>
                </a:solidFill>
                <a:latin typeface="Times New Roman" panose="02020603050405020304" pitchFamily="18" charset="0"/>
                <a:cs typeface="Times New Roman" panose="02020603050405020304" pitchFamily="18" charset="0"/>
              </a:rPr>
              <a:t>women</a:t>
            </a:r>
            <a:r>
              <a:rPr lang="en-US" altLang="zh-CN" sz="2400" dirty="0">
                <a:latin typeface="Times New Roman" panose="02020603050405020304" pitchFamily="18" charset="0"/>
                <a:cs typeface="Times New Roman" panose="02020603050405020304" pitchFamily="18" charset="0"/>
              </a:rPr>
              <a:t> are supposed to be more modest, tender, and concerned with the quality of life. Gender roles are highly defined and promote achievement in the workplace. Assertiveness and the acquisition of money and things (materialism) are emphasized and often take precedence over interpersonal relationships. </a:t>
            </a:r>
          </a:p>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United States </a:t>
            </a:r>
            <a:r>
              <a:rPr lang="en-US" altLang="zh-CN" sz="2400" dirty="0">
                <a:latin typeface="Times New Roman" panose="02020603050405020304" pitchFamily="18" charset="0"/>
                <a:cs typeface="Times New Roman" panose="02020603050405020304" pitchFamily="18" charset="0"/>
              </a:rPr>
              <a:t>offers an example of the influence of strong gender roles in a masculine-based culture.</a:t>
            </a:r>
          </a:p>
          <a:p>
            <a:pPr algn="just"/>
            <a:r>
              <a:rPr lang="en-US" altLang="zh-CN" sz="2400"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033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4.6.3.4.1 Masculinity</a:t>
            </a:r>
            <a:endParaRPr lang="en-US" altLang="zh-CN" sz="4000" b="1">
              <a:latin typeface="Times New Roman" panose="02020603050405020304" pitchFamily="18" charset="0"/>
              <a:cs typeface="Times New Roman" panose="02020603050405020304" pitchFamily="18" charset="0"/>
            </a:endParaRPr>
          </a:p>
        </p:txBody>
      </p:sp>
      <p:pic>
        <p:nvPicPr>
          <p:cNvPr id="2" name="图片 1" descr="A$5`D}H5Y5{DPRN]6RC3OIQ"/>
          <p:cNvPicPr>
            <a:picLocks noChangeAspect="1"/>
          </p:cNvPicPr>
          <p:nvPr/>
        </p:nvPicPr>
        <p:blipFill>
          <a:blip r:embed="rId3"/>
          <a:stretch>
            <a:fillRect/>
          </a:stretch>
        </p:blipFill>
        <p:spPr>
          <a:xfrm>
            <a:off x="1727835" y="2199005"/>
            <a:ext cx="5686425" cy="4658995"/>
          </a:xfrm>
          <a:prstGeom prst="rect">
            <a:avLst/>
          </a:prstGeom>
        </p:spPr>
      </p:pic>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4.6.3.4.2 Femininity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P149</a:t>
            </a:r>
            <a:endParaRPr lang="en-US" altLang="zh-CN" sz="4000" b="1" dirty="0">
              <a:highlight>
                <a:srgbClr val="FFFF00"/>
              </a:highlight>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584450"/>
            <a:ext cx="8661400" cy="304609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Cultures that value femininity as a trait </a:t>
            </a:r>
            <a:r>
              <a:rPr lang="en-US" altLang="zh-CN" sz="2400" dirty="0">
                <a:solidFill>
                  <a:srgbClr val="FF0000"/>
                </a:solidFill>
                <a:latin typeface="Times New Roman" panose="02020603050405020304" pitchFamily="18" charset="0"/>
                <a:cs typeface="Times New Roman" panose="02020603050405020304" pitchFamily="18" charset="0"/>
              </a:rPr>
              <a:t>stress nurturing behaviors</a:t>
            </a:r>
            <a:r>
              <a:rPr lang="en-US" altLang="zh-CN" sz="2400" dirty="0">
                <a:latin typeface="Times New Roman" panose="02020603050405020304" pitchFamily="18" charset="0"/>
                <a:cs typeface="Times New Roman" panose="02020603050405020304" pitchFamily="18" charset="0"/>
              </a:rPr>
              <a:t>. A society is called feminine when </a:t>
            </a:r>
            <a:r>
              <a:rPr lang="en-US" altLang="zh-CN" sz="2400" dirty="0">
                <a:solidFill>
                  <a:srgbClr val="FF0000"/>
                </a:solidFill>
                <a:latin typeface="Times New Roman" panose="02020603050405020304" pitchFamily="18" charset="0"/>
                <a:cs typeface="Times New Roman" panose="02020603050405020304" pitchFamily="18" charset="0"/>
              </a:rPr>
              <a:t>emotional gender roles overlap</a:t>
            </a:r>
            <a:r>
              <a:rPr lang="en-US" altLang="zh-CN" sz="2400" dirty="0">
                <a:latin typeface="Times New Roman" panose="02020603050405020304" pitchFamily="18" charset="0"/>
                <a:cs typeface="Times New Roman" panose="02020603050405020304" pitchFamily="18" charset="0"/>
              </a:rPr>
              <a:t>: Both men and women are supposed to be modest, tender, and concerned with the quality of life. </a:t>
            </a:r>
            <a:r>
              <a:rPr lang="en-US" altLang="zh-CN" sz="2400" dirty="0">
                <a:solidFill>
                  <a:srgbClr val="FF0000"/>
                </a:solidFill>
                <a:latin typeface="Times New Roman" panose="02020603050405020304" pitchFamily="18" charset="0"/>
                <a:cs typeface="Times New Roman" panose="02020603050405020304" pitchFamily="18" charset="0"/>
              </a:rPr>
              <a:t>A feminine worldview maintains </a:t>
            </a:r>
            <a:r>
              <a:rPr lang="en-US" altLang="zh-CN" sz="2400" dirty="0">
                <a:latin typeface="Times New Roman" panose="02020603050405020304" pitchFamily="18" charset="0"/>
                <a:cs typeface="Times New Roman" panose="02020603050405020304" pitchFamily="18" charset="0"/>
              </a:rPr>
              <a:t>that men need not be assertive and that they can assume nurturing roles. It </a:t>
            </a:r>
            <a:r>
              <a:rPr lang="en-US" altLang="zh-CN" sz="2400" dirty="0">
                <a:solidFill>
                  <a:srgbClr val="FF0000"/>
                </a:solidFill>
                <a:latin typeface="Times New Roman" panose="02020603050405020304" pitchFamily="18" charset="0"/>
                <a:cs typeface="Times New Roman" panose="02020603050405020304" pitchFamily="18" charset="0"/>
              </a:rPr>
              <a:t>also promotes </a:t>
            </a:r>
            <a:r>
              <a:rPr lang="en-US" altLang="zh-CN" sz="2400" dirty="0">
                <a:latin typeface="Times New Roman" panose="02020603050405020304" pitchFamily="18" charset="0"/>
                <a:cs typeface="Times New Roman" panose="02020603050405020304" pitchFamily="18" charset="0"/>
              </a:rPr>
              <a:t>sexual equality and holds that people and the environment are important. Interdependence and androgynous behavior are the ideals, and people sympathize with the less fortunate.     </a:t>
            </a:r>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40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4.6.3.4.2 Femininity </a:t>
            </a:r>
            <a:r>
              <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sym typeface="+mn-ea"/>
              </a:rPr>
              <a:t>P150</a:t>
            </a:r>
            <a:endParaRPr kumimoji="0" lang="en-US" altLang="zh-CN" sz="4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endParaRPr>
          </a:p>
        </p:txBody>
      </p:sp>
      <p:sp>
        <p:nvSpPr>
          <p:cNvPr id="2" name="文本框 1"/>
          <p:cNvSpPr txBox="1"/>
          <p:nvPr/>
        </p:nvSpPr>
        <p:spPr>
          <a:xfrm>
            <a:off x="240665" y="2584450"/>
            <a:ext cx="8661400" cy="3046988"/>
          </a:xfrm>
          <a:prstGeom prst="rect">
            <a:avLst/>
          </a:prstGeom>
          <a:noFill/>
        </p:spPr>
        <p:txBody>
          <a:bodyPr wrap="square" rtlCol="0">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lang="en-US" altLang="zh-CN" sz="2400" dirty="0">
                <a:solidFill>
                  <a:srgbClr val="000000"/>
                </a:solidFill>
                <a:latin typeface="Times New Roman" panose="02020603050405020304" pitchFamily="18" charset="0"/>
                <a:cs typeface="Times New Roman" panose="02020603050405020304" pitchFamily="18" charset="0"/>
              </a:rPr>
              <a:t>    The</a:t>
            </a:r>
            <a:r>
              <a:rPr lang="zh-CN" altLang="en-US" sz="2400" dirty="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impact</a:t>
            </a:r>
            <a:r>
              <a:rPr lang="zh-CN" altLang="en-US" sz="2400" dirty="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of</a:t>
            </a:r>
            <a:r>
              <a:rPr lang="zh-CN" altLang="en-US" sz="2400" dirty="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masculinity/femininity on a culture can also be observed in the “</a:t>
            </a:r>
            <a:r>
              <a:rPr lang="en-US" altLang="zh-CN" sz="2400" dirty="0">
                <a:solidFill>
                  <a:srgbClr val="FF0000"/>
                </a:solidFill>
                <a:latin typeface="Times New Roman" panose="02020603050405020304" pitchFamily="18" charset="0"/>
                <a:cs typeface="Times New Roman" panose="02020603050405020304" pitchFamily="18" charset="0"/>
              </a:rPr>
              <a:t>gender gap</a:t>
            </a:r>
            <a:r>
              <a:rPr lang="en-US" altLang="zh-CN" sz="2400" dirty="0">
                <a:solidFill>
                  <a:srgbClr val="000000"/>
                </a:solidFill>
                <a:latin typeface="Times New Roman" panose="02020603050405020304" pitchFamily="18" charset="0"/>
                <a:cs typeface="Times New Roman" panose="02020603050405020304" pitchFamily="18" charset="0"/>
              </a:rPr>
              <a:t>” survey. To determine the gender gap in countries, the World Economic Forum conducts a yearly survey to measure these four categories: (1) economic participation and opportunity, (2) educational attainment, (3) health and survival, and (4) political empowerment. The rankings in the political empowerment category of the 2013 report generally parallel Hofstede’s findings.</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4147336"/>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97330"/>
            <a:ext cx="9060238" cy="1200329"/>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4.6.3.5 Long- and Short-Term Orientation </a:t>
            </a:r>
            <a:r>
              <a:rPr lang="en-US" altLang="zh-CN" sz="3600" b="1" dirty="0">
                <a:highlight>
                  <a:srgbClr val="FFFF00"/>
                </a:highlight>
                <a:latin typeface="Times New Roman" panose="02020603050405020304" pitchFamily="18" charset="0"/>
                <a:cs typeface="Times New Roman" panose="02020603050405020304" pitchFamily="18" charset="0"/>
                <a:sym typeface="+mn-ea"/>
              </a:rPr>
              <a:t>P150</a:t>
            </a:r>
          </a:p>
        </p:txBody>
      </p:sp>
      <p:sp>
        <p:nvSpPr>
          <p:cNvPr id="2" name="文本框 1"/>
          <p:cNvSpPr txBox="1"/>
          <p:nvPr/>
        </p:nvSpPr>
        <p:spPr>
          <a:xfrm>
            <a:off x="240665" y="2584450"/>
            <a:ext cx="8661400" cy="3970318"/>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800" b="1" i="1" dirty="0">
                <a:latin typeface="Times New Roman" panose="02020603050405020304" pitchFamily="18" charset="0"/>
                <a:cs typeface="Times New Roman" panose="02020603050405020304" pitchFamily="18" charset="0"/>
              </a:rPr>
              <a:t>Long-term orientation</a:t>
            </a:r>
            <a:r>
              <a:rPr lang="en-US" altLang="zh-CN" sz="2800" dirty="0">
                <a:latin typeface="Times New Roman" panose="02020603050405020304" pitchFamily="18" charset="0"/>
                <a:cs typeface="Times New Roman" panose="02020603050405020304" pitchFamily="18" charset="0"/>
              </a:rPr>
              <a:t> stands for the fostering of virtues oriented toward future rewards——in particular, perseverance and thrift.</a:t>
            </a:r>
          </a:p>
          <a:p>
            <a:pPr marL="342900" indent="-342900" algn="just">
              <a:buFont typeface="Arial" panose="020B0604020202020204" pitchFamily="34" charset="0"/>
              <a:buChar char="•"/>
            </a:pPr>
            <a:r>
              <a:rPr lang="en-US" altLang="zh-CN" sz="2800" b="1" i="1" dirty="0">
                <a:latin typeface="Times New Roman" panose="02020603050405020304" pitchFamily="18" charset="0"/>
                <a:cs typeface="Times New Roman" panose="02020603050405020304" pitchFamily="18" charset="0"/>
              </a:rPr>
              <a:t>Short-term orientation </a:t>
            </a:r>
            <a:r>
              <a:rPr lang="en-US" altLang="zh-CN" sz="2800" dirty="0">
                <a:latin typeface="Times New Roman" panose="02020603050405020304" pitchFamily="18" charset="0"/>
                <a:cs typeface="Times New Roman" panose="02020603050405020304" pitchFamily="18" charset="0"/>
              </a:rPr>
              <a:t>stands for the fostering of virtues related to the past and present——in particular, respect for tradition, preservation of “face,” and fulfilling social obligations. </a:t>
            </a:r>
          </a:p>
          <a:p>
            <a:pPr algn="just"/>
            <a:r>
              <a:rPr lang="en-US" altLang="zh-CN" sz="2800" dirty="0">
                <a:latin typeface="Times New Roman" panose="02020603050405020304" pitchFamily="18" charset="0"/>
                <a:cs typeface="Times New Roman" panose="02020603050405020304" pitchFamily="18" charset="0"/>
              </a:rPr>
              <a:t>Video watching: </a:t>
            </a:r>
            <a:r>
              <a:rPr lang="en-US" altLang="zh-CN" sz="2800" dirty="0">
                <a:latin typeface="Times New Roman" panose="02020603050405020304" pitchFamily="18" charset="0"/>
                <a:cs typeface="Times New Roman" panose="02020603050405020304" pitchFamily="18" charset="0"/>
                <a:hlinkClick r:id="rId3" action="ppaction://hlinkfile"/>
              </a:rPr>
              <a:t>short-term orientation vs long-term orientation  </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4.6.4 Minkov's Cultural Dimensions</a:t>
            </a:r>
          </a:p>
        </p:txBody>
      </p:sp>
      <p:sp>
        <p:nvSpPr>
          <p:cNvPr id="2" name="文本框 1"/>
          <p:cNvSpPr txBox="1"/>
          <p:nvPr/>
        </p:nvSpPr>
        <p:spPr>
          <a:xfrm>
            <a:off x="241300" y="2664460"/>
            <a:ext cx="8661400" cy="1753235"/>
          </a:xfrm>
          <a:prstGeom prst="rect">
            <a:avLst/>
          </a:prstGeom>
          <a:noFill/>
        </p:spPr>
        <p:txBody>
          <a:bodyPr wrap="square" rtlCol="0">
            <a:spAutoFit/>
          </a:bodyPr>
          <a:lstStyle/>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Industry versus indulgence</a:t>
            </a:r>
          </a:p>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Monumentalism versus flexumility</a:t>
            </a:r>
          </a:p>
          <a:p>
            <a:pPr marL="571500" indent="-571500" algn="just">
              <a:buFont typeface="Arial" panose="020B0604020202020204" pitchFamily="34" charset="0"/>
              <a:buChar char="•"/>
            </a:pPr>
            <a:r>
              <a:rPr lang="en-US" altLang="zh-CN" sz="3600">
                <a:latin typeface="Times New Roman" panose="02020603050405020304" pitchFamily="18" charset="0"/>
                <a:cs typeface="Times New Roman" panose="02020603050405020304" pitchFamily="18" charset="0"/>
              </a:rPr>
              <a:t>Exclusionism versus univeralism</a:t>
            </a:r>
          </a:p>
        </p:txBody>
      </p:sp>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40665" y="1466215"/>
            <a:ext cx="8770038"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4.6.4.1 Industry Versus Indulgence </a:t>
            </a:r>
            <a:r>
              <a:rPr lang="en-US" altLang="zh-CN" sz="3200" b="1" dirty="0">
                <a:highlight>
                  <a:srgbClr val="FFFF00"/>
                </a:highlight>
                <a:latin typeface="Times New Roman" panose="02020603050405020304" pitchFamily="18" charset="0"/>
                <a:cs typeface="Times New Roman" panose="02020603050405020304" pitchFamily="18" charset="0"/>
                <a:sym typeface="+mn-ea"/>
              </a:rPr>
              <a:t>P151</a:t>
            </a:r>
          </a:p>
        </p:txBody>
      </p:sp>
      <p:sp>
        <p:nvSpPr>
          <p:cNvPr id="2" name="文本框 1"/>
          <p:cNvSpPr txBox="1"/>
          <p:nvPr/>
        </p:nvSpPr>
        <p:spPr>
          <a:xfrm>
            <a:off x="240665" y="2584450"/>
            <a:ext cx="8661400" cy="353943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This dimension considers how work and leisure are prioritized differently in national cultures.</a:t>
            </a:r>
            <a:r>
              <a:rPr lang="en-US" altLang="zh-CN" sz="2800" dirty="0">
                <a:latin typeface="Times New Roman" panose="02020603050405020304" pitchFamily="18" charset="0"/>
                <a:cs typeface="Times New Roman" panose="02020603050405020304" pitchFamily="18" charset="0"/>
              </a:rPr>
              <a:t> Most </a:t>
            </a:r>
            <a:r>
              <a:rPr lang="en-US" altLang="zh-CN" sz="2800" dirty="0">
                <a:solidFill>
                  <a:srgbClr val="FF0000"/>
                </a:solidFill>
                <a:latin typeface="Times New Roman" panose="02020603050405020304" pitchFamily="18" charset="0"/>
                <a:cs typeface="Times New Roman" panose="02020603050405020304" pitchFamily="18" charset="0"/>
              </a:rPr>
              <a:t>underdeveloped nations </a:t>
            </a:r>
            <a:r>
              <a:rPr lang="en-US" altLang="zh-CN" sz="2800" dirty="0">
                <a:latin typeface="Times New Roman" panose="02020603050405020304" pitchFamily="18" charset="0"/>
                <a:cs typeface="Times New Roman" panose="02020603050405020304" pitchFamily="18" charset="0"/>
              </a:rPr>
              <a:t>place a high priority on </a:t>
            </a:r>
            <a:r>
              <a:rPr lang="en-US" altLang="zh-CN" sz="2800" dirty="0">
                <a:solidFill>
                  <a:srgbClr val="FF0000"/>
                </a:solidFill>
                <a:latin typeface="Times New Roman" panose="02020603050405020304" pitchFamily="18" charset="0"/>
                <a:cs typeface="Times New Roman" panose="02020603050405020304" pitchFamily="18" charset="0"/>
              </a:rPr>
              <a:t>industriousness</a:t>
            </a:r>
            <a:r>
              <a:rPr lang="en-US" altLang="zh-CN" sz="2800" dirty="0">
                <a:latin typeface="Times New Roman" panose="02020603050405020304" pitchFamily="18" charset="0"/>
                <a:cs typeface="Times New Roman" panose="02020603050405020304" pitchFamily="18" charset="0"/>
              </a:rPr>
              <a:t>, or hard work, while those countries with a </a:t>
            </a:r>
            <a:r>
              <a:rPr lang="en-US" altLang="zh-CN" sz="2800" dirty="0">
                <a:solidFill>
                  <a:srgbClr val="FF0000"/>
                </a:solidFill>
                <a:latin typeface="Times New Roman" panose="02020603050405020304" pitchFamily="18" charset="0"/>
                <a:cs typeface="Times New Roman" panose="02020603050405020304" pitchFamily="18" charset="0"/>
              </a:rPr>
              <a:t>developed economy </a:t>
            </a:r>
            <a:r>
              <a:rPr lang="en-US" altLang="zh-CN" sz="2800" dirty="0">
                <a:latin typeface="Times New Roman" panose="02020603050405020304" pitchFamily="18" charset="0"/>
                <a:cs typeface="Times New Roman" panose="02020603050405020304" pitchFamily="18" charset="0"/>
              </a:rPr>
              <a:t>tilt more toward </a:t>
            </a:r>
            <a:r>
              <a:rPr lang="en-US" altLang="zh-CN" sz="2800" dirty="0">
                <a:solidFill>
                  <a:srgbClr val="FF0000"/>
                </a:solidFill>
                <a:latin typeface="Times New Roman" panose="02020603050405020304" pitchFamily="18" charset="0"/>
                <a:cs typeface="Times New Roman" panose="02020603050405020304" pitchFamily="18" charset="0"/>
              </a:rPr>
              <a:t>leisure</a:t>
            </a:r>
            <a:r>
              <a:rPr lang="en-US" altLang="zh-CN" sz="2800" dirty="0">
                <a:latin typeface="Times New Roman" panose="02020603050405020304" pitchFamily="18" charset="0"/>
                <a:cs typeface="Times New Roman" panose="02020603050405020304" pitchFamily="18" charset="0"/>
              </a:rPr>
              <a:t>. This indicates that as a nation's economy improves and people gain more wealth and social security, they begin to value enjoyment of life over work.     </a:t>
            </a:r>
          </a:p>
        </p:txBody>
      </p:sp>
    </p:spTree>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4.6.4.1 Industry Versus Indulgence</a:t>
            </a:r>
          </a:p>
        </p:txBody>
      </p:sp>
      <p:pic>
        <p:nvPicPr>
          <p:cNvPr id="2" name="图片 1" descr="L1H0FJL34L}K9STHF~JGDA9"/>
          <p:cNvPicPr>
            <a:picLocks noChangeAspect="1"/>
          </p:cNvPicPr>
          <p:nvPr/>
        </p:nvPicPr>
        <p:blipFill>
          <a:blip r:embed="rId3"/>
          <a:stretch>
            <a:fillRect/>
          </a:stretch>
        </p:blipFill>
        <p:spPr>
          <a:xfrm>
            <a:off x="1486535" y="2263140"/>
            <a:ext cx="6169660" cy="4503420"/>
          </a:xfrm>
          <a:prstGeom prst="rect">
            <a:avLst/>
          </a:prstGeom>
        </p:spPr>
      </p:pic>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120032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4.6.4.1 Industry Versus Indulgence </a:t>
            </a:r>
            <a:r>
              <a:rPr lang="en-US" altLang="zh-CN" sz="3200" b="1" dirty="0">
                <a:highlight>
                  <a:srgbClr val="FFFF00"/>
                </a:highlight>
                <a:latin typeface="Times New Roman" panose="02020603050405020304" pitchFamily="18" charset="0"/>
                <a:cs typeface="Times New Roman" panose="02020603050405020304" pitchFamily="18" charset="0"/>
                <a:sym typeface="+mn-ea"/>
              </a:rPr>
              <a:t>P151-152</a:t>
            </a:r>
          </a:p>
        </p:txBody>
      </p:sp>
      <p:sp>
        <p:nvSpPr>
          <p:cNvPr id="2" name="文本框 1"/>
          <p:cNvSpPr txBox="1"/>
          <p:nvPr/>
        </p:nvSpPr>
        <p:spPr>
          <a:xfrm>
            <a:off x="297180" y="2584450"/>
            <a:ext cx="8661400" cy="304609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Members of an industrious culture</a:t>
            </a:r>
            <a:r>
              <a:rPr lang="en-US" altLang="zh-CN" sz="2400" dirty="0">
                <a:latin typeface="Times New Roman" panose="02020603050405020304" pitchFamily="18" charset="0"/>
                <a:cs typeface="Times New Roman" panose="02020603050405020304" pitchFamily="18" charset="0"/>
              </a:rPr>
              <a:t> would feel they had less opportunity to enjoy themselves, would consider thrift to be important, and would feel that </a:t>
            </a:r>
            <a:r>
              <a:rPr lang="en-US" altLang="zh-CN" sz="2400" dirty="0">
                <a:solidFill>
                  <a:srgbClr val="FF0000"/>
                </a:solidFill>
                <a:latin typeface="Times New Roman" panose="02020603050405020304" pitchFamily="18" charset="0"/>
                <a:cs typeface="Times New Roman" panose="02020603050405020304" pitchFamily="18" charset="0"/>
              </a:rPr>
              <a:t>social order and discipline were more important than individual freedoms</a:t>
            </a:r>
            <a:r>
              <a:rPr lang="en-US" altLang="zh-CN" sz="2400" dirty="0">
                <a:latin typeface="Times New Roman" panose="02020603050405020304" pitchFamily="18" charset="0"/>
                <a:cs typeface="Times New Roman" panose="02020603050405020304" pitchFamily="18" charset="0"/>
              </a:rPr>
              <a:t>.</a:t>
            </a:r>
          </a:p>
          <a:p>
            <a:pPr algn="just"/>
            <a:r>
              <a:rPr lang="en-US" altLang="zh-CN" sz="2400" dirty="0">
                <a:latin typeface="Times New Roman" panose="02020603050405020304" pitchFamily="18" charset="0"/>
                <a:cs typeface="Times New Roman" panose="02020603050405020304" pitchFamily="18" charset="0"/>
              </a:rPr>
              <a:t>    In contrast, </a:t>
            </a:r>
            <a:r>
              <a:rPr lang="en-US" altLang="zh-CN" sz="2400" dirty="0">
                <a:solidFill>
                  <a:srgbClr val="FF0000"/>
                </a:solidFill>
                <a:latin typeface="Times New Roman" panose="02020603050405020304" pitchFamily="18" charset="0"/>
                <a:cs typeface="Times New Roman" panose="02020603050405020304" pitchFamily="18" charset="0"/>
              </a:rPr>
              <a:t>in an indulgent society</a:t>
            </a:r>
            <a:r>
              <a:rPr lang="en-US" altLang="zh-CN" sz="2400" dirty="0">
                <a:latin typeface="Times New Roman" panose="02020603050405020304" pitchFamily="18" charset="0"/>
                <a:cs typeface="Times New Roman" panose="02020603050405020304" pitchFamily="18" charset="0"/>
              </a:rPr>
              <a:t>, people would place a priority on their </a:t>
            </a:r>
            <a:r>
              <a:rPr lang="en-US" altLang="zh-CN" sz="2400" dirty="0">
                <a:solidFill>
                  <a:srgbClr val="FF0000"/>
                </a:solidFill>
                <a:latin typeface="Times New Roman" panose="02020603050405020304" pitchFamily="18" charset="0"/>
                <a:cs typeface="Times New Roman" panose="02020603050405020304" pitchFamily="18" charset="0"/>
              </a:rPr>
              <a:t>sense of freedom and personal enjoyment </a:t>
            </a:r>
            <a:r>
              <a:rPr lang="en-US" altLang="zh-CN" sz="2400" dirty="0">
                <a:latin typeface="Times New Roman" panose="02020603050405020304" pitchFamily="18" charset="0"/>
                <a:cs typeface="Times New Roman" panose="02020603050405020304" pitchFamily="18" charset="0"/>
              </a:rPr>
              <a:t>through leisure time and interaction with friends. Consumption and spending would take precedence over fiscal restraint.    </a:t>
            </a:r>
          </a:p>
        </p:txBody>
      </p:sp>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73815" y="1466215"/>
            <a:ext cx="8930582"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4.6.4.1 Industry Versus Indulgence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P152</a:t>
            </a:r>
          </a:p>
        </p:txBody>
      </p:sp>
      <p:pic>
        <p:nvPicPr>
          <p:cNvPr id="2" name="图片 1" descr="0[9L16TL8}EH(5}P}8)M78O"/>
          <p:cNvPicPr>
            <a:picLocks noChangeAspect="1"/>
          </p:cNvPicPr>
          <p:nvPr/>
        </p:nvPicPr>
        <p:blipFill>
          <a:blip r:embed="rId3"/>
          <a:stretch>
            <a:fillRect/>
          </a:stretch>
        </p:blipFill>
        <p:spPr>
          <a:xfrm>
            <a:off x="275590" y="2345690"/>
            <a:ext cx="8591550" cy="4271010"/>
          </a:xfrm>
          <a:prstGeom prst="rect">
            <a:avLst/>
          </a:prstGeom>
        </p:spPr>
      </p:pic>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80795" y="1497330"/>
            <a:ext cx="8548370" cy="1200329"/>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4.6.4.2 Monumentalism Versus </a:t>
            </a:r>
            <a:r>
              <a:rPr lang="en-US" altLang="zh-CN" sz="3600" b="1" dirty="0" err="1">
                <a:latin typeface="Times New Roman" panose="02020603050405020304" pitchFamily="18" charset="0"/>
                <a:cs typeface="Times New Roman" panose="02020603050405020304" pitchFamily="18" charset="0"/>
                <a:sym typeface="+mn-ea"/>
              </a:rPr>
              <a:t>Flexumility</a:t>
            </a:r>
            <a:r>
              <a:rPr lang="en-US" altLang="zh-CN" sz="3600" b="1" dirty="0">
                <a:latin typeface="Times New Roman" panose="02020603050405020304" pitchFamily="18" charset="0"/>
                <a:cs typeface="Times New Roman" panose="02020603050405020304" pitchFamily="18" charset="0"/>
                <a:sym typeface="+mn-ea"/>
              </a:rPr>
              <a:t> </a:t>
            </a:r>
            <a:r>
              <a:rPr lang="en-US" altLang="zh-CN" sz="3600" b="1" dirty="0">
                <a:highlight>
                  <a:srgbClr val="FFFF00"/>
                </a:highlight>
                <a:latin typeface="Times New Roman" panose="02020603050405020304" pitchFamily="18" charset="0"/>
                <a:cs typeface="Times New Roman" panose="02020603050405020304" pitchFamily="18" charset="0"/>
                <a:sym typeface="+mn-ea"/>
              </a:rPr>
              <a:t>P152</a:t>
            </a:r>
          </a:p>
        </p:txBody>
      </p:sp>
      <p:sp>
        <p:nvSpPr>
          <p:cNvPr id="2" name="文本框 1"/>
          <p:cNvSpPr txBox="1"/>
          <p:nvPr/>
        </p:nvSpPr>
        <p:spPr>
          <a:xfrm>
            <a:off x="240665" y="2584450"/>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Minkov</a:t>
            </a:r>
            <a:r>
              <a:rPr lang="en-US" altLang="zh-CN" sz="2400" dirty="0">
                <a:latin typeface="Times New Roman" panose="02020603050405020304" pitchFamily="18" charset="0"/>
                <a:cs typeface="Times New Roman" panose="02020603050405020304" pitchFamily="18" charset="0"/>
              </a:rPr>
              <a:t> likened “</a:t>
            </a:r>
            <a:r>
              <a:rPr lang="en-US" altLang="zh-CN" sz="2400" b="1" i="1" dirty="0">
                <a:latin typeface="Times New Roman" panose="02020603050405020304" pitchFamily="18" charset="0"/>
                <a:cs typeface="Times New Roman" panose="02020603050405020304" pitchFamily="18" charset="0"/>
              </a:rPr>
              <a:t>monumentalism</a:t>
            </a:r>
            <a:r>
              <a:rPr lang="en-US" altLang="zh-CN" sz="2400" dirty="0">
                <a:latin typeface="Times New Roman" panose="02020603050405020304" pitchFamily="18" charset="0"/>
                <a:cs typeface="Times New Roman" panose="02020603050405020304" pitchFamily="18" charset="0"/>
              </a:rPr>
              <a:t>” to </a:t>
            </a:r>
            <a:r>
              <a:rPr lang="en-US" altLang="zh-CN" sz="2400" i="1" dirty="0">
                <a:latin typeface="Times New Roman" panose="02020603050405020304" pitchFamily="18" charset="0"/>
                <a:cs typeface="Times New Roman" panose="02020603050405020304" pitchFamily="18" charset="0"/>
              </a:rPr>
              <a:t>monuments or statues</a:t>
            </a:r>
            <a:r>
              <a:rPr lang="en-US" altLang="zh-CN" sz="2400" dirty="0">
                <a:latin typeface="Times New Roman" panose="02020603050405020304" pitchFamily="18" charset="0"/>
                <a:cs typeface="Times New Roman" panose="02020603050405020304" pitchFamily="18" charset="0"/>
              </a:rPr>
              <a:t>, which are created to reflect pride in a person, event, or thing, and once erected, are relatively unchangeable. Thus, </a:t>
            </a:r>
            <a:r>
              <a:rPr lang="en-US" altLang="zh-CN" sz="2400" b="1" i="1" dirty="0">
                <a:solidFill>
                  <a:srgbClr val="FF0000"/>
                </a:solidFill>
                <a:latin typeface="Times New Roman" panose="02020603050405020304" pitchFamily="18" charset="0"/>
                <a:cs typeface="Times New Roman" panose="02020603050405020304" pitchFamily="18" charset="0"/>
              </a:rPr>
              <a:t>monumentalism</a:t>
            </a:r>
            <a:r>
              <a:rPr lang="en-US" altLang="zh-CN" sz="2400" dirty="0">
                <a:solidFill>
                  <a:srgbClr val="FF0000"/>
                </a:solidFill>
                <a:latin typeface="Times New Roman" panose="02020603050405020304" pitchFamily="18" charset="0"/>
                <a:cs typeface="Times New Roman" panose="02020603050405020304" pitchFamily="18" charset="0"/>
              </a:rPr>
              <a:t> describes cultures that exhibit individuals with a high level of self-pride</a:t>
            </a:r>
            <a:r>
              <a:rPr lang="en-US" altLang="zh-CN" sz="2400" dirty="0">
                <a:latin typeface="Times New Roman" panose="02020603050405020304" pitchFamily="18" charset="0"/>
                <a:cs typeface="Times New Roman" panose="02020603050405020304" pitchFamily="18" charset="0"/>
              </a:rPr>
              <a:t> along with “unchangeable identities, strong values, unshakable beliefs, and avoidance of personal duality and inconsistency.” </a:t>
            </a:r>
          </a:p>
          <a:p>
            <a:pPr algn="just"/>
            <a:r>
              <a:rPr lang="en-US" altLang="zh-CN" sz="2400"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Flexumility</a:t>
            </a:r>
            <a:r>
              <a:rPr lang="en-US" altLang="zh-CN" sz="2400" dirty="0">
                <a:latin typeface="Times New Roman" panose="02020603050405020304" pitchFamily="18" charset="0"/>
                <a:cs typeface="Times New Roman" panose="02020603050405020304" pitchFamily="18" charset="0"/>
              </a:rPr>
              <a:t>,” a combination of the words “</a:t>
            </a:r>
            <a:r>
              <a:rPr lang="en-US" altLang="zh-CN" sz="2400" i="1" dirty="0">
                <a:latin typeface="Times New Roman" panose="02020603050405020304" pitchFamily="18" charset="0"/>
                <a:cs typeface="Times New Roman" panose="02020603050405020304" pitchFamily="18" charset="0"/>
              </a:rPr>
              <a:t>self-flexibility</a:t>
            </a:r>
            <a:r>
              <a:rPr lang="en-US" altLang="zh-CN" sz="2400" dirty="0">
                <a:latin typeface="Times New Roman" panose="02020603050405020304" pitchFamily="18" charset="0"/>
                <a:cs typeface="Times New Roman" panose="02020603050405020304" pitchFamily="18" charset="0"/>
              </a:rPr>
              <a:t>” and “</a:t>
            </a:r>
            <a:r>
              <a:rPr lang="en-US" altLang="zh-CN" sz="2400" i="1" dirty="0">
                <a:latin typeface="Times New Roman" panose="02020603050405020304" pitchFamily="18" charset="0"/>
                <a:cs typeface="Times New Roman" panose="02020603050405020304" pitchFamily="18" charset="0"/>
              </a:rPr>
              <a:t>humility</a:t>
            </a:r>
            <a:r>
              <a:rPr lang="en-US" altLang="zh-CN" sz="2400" dirty="0">
                <a:latin typeface="Times New Roman" panose="02020603050405020304" pitchFamily="18" charset="0"/>
                <a:cs typeface="Times New Roman" panose="02020603050405020304" pitchFamily="18" charset="0"/>
              </a:rPr>
              <a:t>,” is the polar opposite of monumentalism and </a:t>
            </a:r>
            <a:r>
              <a:rPr lang="en-US" altLang="zh-CN" sz="2400" dirty="0">
                <a:solidFill>
                  <a:srgbClr val="FF0000"/>
                </a:solidFill>
                <a:latin typeface="Times New Roman" panose="02020603050405020304" pitchFamily="18" charset="0"/>
                <a:cs typeface="Times New Roman" panose="02020603050405020304" pitchFamily="18" charset="0"/>
              </a:rPr>
              <a:t>characterizes those cultures that typically exercise humility and situational flexibility, and that easily adapt to changing conditions</a:t>
            </a:r>
            <a:r>
              <a:rPr lang="en-US" altLang="zh-CN" sz="2400" dirty="0">
                <a:latin typeface="Times New Roman" panose="02020603050405020304" pitchFamily="18" charset="0"/>
                <a:cs typeface="Times New Roman" panose="02020603050405020304" pitchFamily="18" charset="0"/>
              </a:rPr>
              <a:t>.</a:t>
            </a:r>
          </a:p>
        </p:txBody>
      </p:sp>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645160"/>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sym typeface="+mn-ea"/>
              </a:rPr>
              <a:t>4.6.4.2 Monumentalism Versus Flexumility</a:t>
            </a:r>
          </a:p>
        </p:txBody>
      </p:sp>
      <p:pic>
        <p:nvPicPr>
          <p:cNvPr id="2" name="图片 1" descr="@746FESIF73%`)_H9KYQ%1D"/>
          <p:cNvPicPr>
            <a:picLocks noChangeAspect="1"/>
          </p:cNvPicPr>
          <p:nvPr/>
        </p:nvPicPr>
        <p:blipFill>
          <a:blip r:embed="rId3"/>
          <a:stretch>
            <a:fillRect/>
          </a:stretch>
        </p:blipFill>
        <p:spPr>
          <a:xfrm>
            <a:off x="1094105" y="2214880"/>
            <a:ext cx="6953885" cy="4577080"/>
          </a:xfrm>
          <a:prstGeom prst="rect">
            <a:avLst/>
          </a:prstGeom>
        </p:spPr>
      </p:pic>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645160"/>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sym typeface="+mn-ea"/>
              </a:rPr>
              <a:t>4.6.4.2 Monumentalism Versus Flexumility</a:t>
            </a:r>
          </a:p>
        </p:txBody>
      </p:sp>
      <p:pic>
        <p:nvPicPr>
          <p:cNvPr id="2" name="图片 1" descr="ALW0CGT6VSNZQ2`W5~QBA`K"/>
          <p:cNvPicPr>
            <a:picLocks noChangeAspect="1"/>
          </p:cNvPicPr>
          <p:nvPr/>
        </p:nvPicPr>
        <p:blipFill>
          <a:blip r:embed="rId3"/>
          <a:stretch>
            <a:fillRect/>
          </a:stretch>
        </p:blipFill>
        <p:spPr>
          <a:xfrm>
            <a:off x="1293495" y="2275205"/>
            <a:ext cx="6557645" cy="4582795"/>
          </a:xfrm>
          <a:prstGeom prst="rect">
            <a:avLst/>
          </a:prstGeom>
        </p:spPr>
      </p:pic>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79515"/>
            <a:ext cx="9144000"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4.6.4.3 Exclusionism Versus Universalism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P154</a:t>
            </a:r>
          </a:p>
        </p:txBody>
      </p:sp>
      <p:sp>
        <p:nvSpPr>
          <p:cNvPr id="2" name="文本框 1"/>
          <p:cNvSpPr txBox="1"/>
          <p:nvPr/>
        </p:nvSpPr>
        <p:spPr>
          <a:xfrm>
            <a:off x="241300" y="229235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In the case of this dimension, </a:t>
            </a:r>
            <a:r>
              <a:rPr lang="en-US" altLang="zh-CN" sz="2400" dirty="0" err="1">
                <a:solidFill>
                  <a:srgbClr val="FF0000"/>
                </a:solidFill>
                <a:latin typeface="Times New Roman" panose="02020603050405020304" pitchFamily="18" charset="0"/>
                <a:cs typeface="Times New Roman" panose="02020603050405020304" pitchFamily="18" charset="0"/>
              </a:rPr>
              <a:t>Minkov</a:t>
            </a:r>
            <a:r>
              <a:rPr lang="en-US" altLang="zh-CN" sz="2400" dirty="0">
                <a:solidFill>
                  <a:srgbClr val="FF0000"/>
                </a:solidFill>
                <a:latin typeface="Times New Roman" panose="02020603050405020304" pitchFamily="18" charset="0"/>
                <a:cs typeface="Times New Roman" panose="02020603050405020304" pitchFamily="18" charset="0"/>
              </a:rPr>
              <a:t> is concerning on the role that national wealth, or level of economic development, plays in determining cultural differences in how people treat each other</a:t>
            </a:r>
            <a:r>
              <a:rPr lang="en-US" altLang="zh-CN" sz="2400" dirty="0">
                <a:latin typeface="Times New Roman" panose="02020603050405020304" pitchFamily="18" charset="0"/>
                <a:cs typeface="Times New Roman" panose="02020603050405020304" pitchFamily="18" charset="0"/>
              </a:rPr>
              <a:t>. </a:t>
            </a:r>
          </a:p>
          <a:p>
            <a:pPr algn="just"/>
            <a:r>
              <a:rPr lang="en-US" altLang="zh-CN" sz="2400"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Exclusionism</a:t>
            </a:r>
            <a:r>
              <a:rPr lang="en-US" altLang="zh-CN" sz="2400" dirty="0">
                <a:latin typeface="Times New Roman" panose="02020603050405020304" pitchFamily="18" charset="0"/>
                <a:cs typeface="Times New Roman" panose="02020603050405020304" pitchFamily="18" charset="0"/>
              </a:rPr>
              <a:t> refers to those national cultures where the type of interaction between people is strongly influenced by group membership, and in </a:t>
            </a:r>
            <a:r>
              <a:rPr lang="en-US" altLang="zh-CN" sz="2400" b="1" i="1" dirty="0">
                <a:latin typeface="Times New Roman" panose="02020603050405020304" pitchFamily="18" charset="0"/>
                <a:cs typeface="Times New Roman" panose="02020603050405020304" pitchFamily="18" charset="0"/>
              </a:rPr>
              <a:t>universalistic</a:t>
            </a:r>
            <a:r>
              <a:rPr lang="en-US" altLang="zh-CN" sz="2400" dirty="0">
                <a:latin typeface="Times New Roman" panose="02020603050405020304" pitchFamily="18" charset="0"/>
                <a:cs typeface="Times New Roman" panose="02020603050405020304" pitchFamily="18" charset="0"/>
              </a:rPr>
              <a:t> national cultures, relationships are individualistically based. </a:t>
            </a:r>
            <a:r>
              <a:rPr lang="en-US" altLang="zh-CN" sz="2400" dirty="0">
                <a:solidFill>
                  <a:srgbClr val="FF0000"/>
                </a:solidFill>
                <a:latin typeface="Times New Roman" panose="02020603050405020304" pitchFamily="18" charset="0"/>
                <a:cs typeface="Times New Roman" panose="02020603050405020304" pitchFamily="18" charset="0"/>
              </a:rPr>
              <a:t>(collectivism vs individualism)</a:t>
            </a:r>
          </a:p>
          <a:p>
            <a:pPr algn="just"/>
            <a:r>
              <a:rPr lang="en-US" altLang="zh-CN" sz="2400" dirty="0">
                <a:latin typeface="Times New Roman" panose="02020603050405020304" pitchFamily="18" charset="0"/>
                <a:cs typeface="Times New Roman" panose="02020603050405020304" pitchFamily="18" charset="0"/>
              </a:rPr>
              <a:t>    In </a:t>
            </a:r>
            <a:r>
              <a:rPr lang="en-US" altLang="zh-CN" sz="2400" b="1" i="1" dirty="0">
                <a:latin typeface="Times New Roman" panose="02020603050405020304" pitchFamily="18" charset="0"/>
                <a:cs typeface="Times New Roman" panose="02020603050405020304" pitchFamily="18" charset="0"/>
              </a:rPr>
              <a:t>exclusionist</a:t>
            </a:r>
            <a:r>
              <a:rPr lang="en-US" altLang="zh-CN" sz="2400" dirty="0">
                <a:latin typeface="Times New Roman" panose="02020603050405020304" pitchFamily="18" charset="0"/>
                <a:cs typeface="Times New Roman" panose="02020603050405020304" pitchFamily="18" charset="0"/>
              </a:rPr>
              <a:t> cultures, people develop strong in-group ties and rely on those ties to both receive and grant favors, preferential treatment, and assistance when needed. Conversely, members of </a:t>
            </a:r>
            <a:r>
              <a:rPr lang="en-US" altLang="zh-CN" sz="2400" b="1" i="1" dirty="0">
                <a:latin typeface="Times New Roman" panose="02020603050405020304" pitchFamily="18" charset="0"/>
                <a:cs typeface="Times New Roman" panose="02020603050405020304" pitchFamily="18" charset="0"/>
              </a:rPr>
              <a:t>universalistic</a:t>
            </a:r>
            <a:r>
              <a:rPr lang="en-US" altLang="zh-CN" sz="2400" dirty="0">
                <a:latin typeface="Times New Roman" panose="02020603050405020304" pitchFamily="18" charset="0"/>
                <a:cs typeface="Times New Roman" panose="02020603050405020304" pitchFamily="18" charset="0"/>
              </a:rPr>
              <a:t> cultures tend to treat everyone the same regardless of group affiliation.</a:t>
            </a:r>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1479877"/>
            <a:ext cx="9144000"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4.6.4.3 Exclusionism Versus Universalism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P154</a:t>
            </a:r>
          </a:p>
        </p:txBody>
      </p:sp>
      <p:pic>
        <p:nvPicPr>
          <p:cNvPr id="2" name="图片 1" descr="0)KAS8EWX}`(T{KC9HR[2OO"/>
          <p:cNvPicPr>
            <a:picLocks noChangeAspect="1"/>
          </p:cNvPicPr>
          <p:nvPr/>
        </p:nvPicPr>
        <p:blipFill>
          <a:blip r:embed="rId3"/>
          <a:stretch>
            <a:fillRect/>
          </a:stretch>
        </p:blipFill>
        <p:spPr>
          <a:xfrm>
            <a:off x="179070" y="2251090"/>
            <a:ext cx="8785860" cy="4465955"/>
          </a:xfrm>
          <a:prstGeom prst="rect">
            <a:avLst/>
          </a:prstGeom>
        </p:spPr>
      </p:pic>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 y="1497330"/>
            <a:ext cx="9367365"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4.6.4.3 Exclusionism Versus Universalism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P154</a:t>
            </a:r>
          </a:p>
        </p:txBody>
      </p:sp>
      <p:sp>
        <p:nvSpPr>
          <p:cNvPr id="2" name="文本框 1"/>
          <p:cNvSpPr txBox="1"/>
          <p:nvPr/>
        </p:nvSpPr>
        <p:spPr>
          <a:xfrm>
            <a:off x="240665" y="2584450"/>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b="1" i="1" dirty="0">
                <a:solidFill>
                  <a:srgbClr val="FF0000"/>
                </a:solidFill>
                <a:latin typeface="Times New Roman" panose="02020603050405020304" pitchFamily="18" charset="0"/>
                <a:cs typeface="Times New Roman" panose="02020603050405020304" pitchFamily="18" charset="0"/>
              </a:rPr>
              <a:t>Economically underdeveloped nations</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have a strong preference for </a:t>
            </a:r>
            <a:r>
              <a:rPr lang="en-US" altLang="zh-CN" sz="2400" i="1" dirty="0">
                <a:latin typeface="Times New Roman" panose="02020603050405020304" pitchFamily="18" charset="0"/>
                <a:cs typeface="Times New Roman" panose="02020603050405020304" pitchFamily="18" charset="0"/>
              </a:rPr>
              <a:t>exclusionism</a:t>
            </a:r>
            <a:r>
              <a:rPr lang="en-US" altLang="zh-CN" sz="2400" dirty="0">
                <a:latin typeface="Times New Roman" panose="02020603050405020304" pitchFamily="18" charset="0"/>
                <a:cs typeface="Times New Roman" panose="02020603050405020304" pitchFamily="18" charset="0"/>
              </a:rPr>
              <a:t>, whereas </a:t>
            </a:r>
            <a:r>
              <a:rPr lang="en-US" altLang="zh-CN" sz="2400" b="1" i="1" dirty="0">
                <a:solidFill>
                  <a:srgbClr val="FF0000"/>
                </a:solidFill>
                <a:latin typeface="Times New Roman" panose="02020603050405020304" pitchFamily="18" charset="0"/>
                <a:cs typeface="Times New Roman" panose="02020603050405020304" pitchFamily="18" charset="0"/>
              </a:rPr>
              <a:t>developed nations</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scale toward the </a:t>
            </a:r>
            <a:r>
              <a:rPr lang="en-US" altLang="zh-CN" sz="2400" i="1" dirty="0">
                <a:latin typeface="Times New Roman" panose="02020603050405020304" pitchFamily="18" charset="0"/>
                <a:cs typeface="Times New Roman" panose="02020603050405020304" pitchFamily="18" charset="0"/>
              </a:rPr>
              <a:t>universalism</a:t>
            </a:r>
            <a:r>
              <a:rPr lang="en-US" altLang="zh-CN" sz="2400" dirty="0">
                <a:latin typeface="Times New Roman" panose="02020603050405020304" pitchFamily="18" charset="0"/>
                <a:cs typeface="Times New Roman" panose="02020603050405020304" pitchFamily="18" charset="0"/>
              </a:rPr>
              <a:t> pole. This separation </a:t>
            </a:r>
            <a:r>
              <a:rPr lang="en-US" altLang="zh-CN" sz="2400" dirty="0">
                <a:solidFill>
                  <a:srgbClr val="FF0000"/>
                </a:solidFill>
                <a:latin typeface="Times New Roman" panose="02020603050405020304" pitchFamily="18" charset="0"/>
                <a:cs typeface="Times New Roman" panose="02020603050405020304" pitchFamily="18" charset="0"/>
              </a:rPr>
              <a:t>can be explained by </a:t>
            </a:r>
            <a:r>
              <a:rPr lang="en-US" altLang="zh-CN" sz="2400" dirty="0">
                <a:latin typeface="Times New Roman" panose="02020603050405020304" pitchFamily="18" charset="0"/>
                <a:cs typeface="Times New Roman" panose="02020603050405020304" pitchFamily="18" charset="0"/>
              </a:rPr>
              <a:t>the lack of personal wealth and limited availability of social support systems in developing economies, which results in people having to rely on relations with other people for assistance. Generosity toward strangers, or out-group members, is a seldom-affordable luxury. However, in wealthy nations people generally have greater personal income, and social support programs are more prevalent, which facilitates self-reliance and reduces the need for help from others.  </a:t>
            </a: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645160"/>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sym typeface="+mn-ea"/>
              </a:rPr>
              <a:t>4.6.4.3 Exclusionism Versus Universalism</a:t>
            </a:r>
          </a:p>
        </p:txBody>
      </p:sp>
      <p:pic>
        <p:nvPicPr>
          <p:cNvPr id="2" name="图片 1" descr="@ZKFN`CTF]8)R}5V5%IH_X5"/>
          <p:cNvPicPr>
            <a:picLocks noChangeAspect="1"/>
          </p:cNvPicPr>
          <p:nvPr/>
        </p:nvPicPr>
        <p:blipFill>
          <a:blip r:embed="rId3"/>
          <a:stretch>
            <a:fillRect/>
          </a:stretch>
        </p:blipFill>
        <p:spPr>
          <a:xfrm>
            <a:off x="426085" y="2268855"/>
            <a:ext cx="8291830" cy="4589145"/>
          </a:xfrm>
          <a:prstGeom prst="rect">
            <a:avLst/>
          </a:prstGeom>
        </p:spPr>
      </p:pic>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4.6.5 Tight and Loose Cultures </a:t>
            </a:r>
            <a:r>
              <a:rPr lang="en-US" altLang="zh-CN" sz="2800" b="1" dirty="0">
                <a:highlight>
                  <a:srgbClr val="FFFF00"/>
                </a:highlight>
                <a:latin typeface="Times New Roman" panose="02020603050405020304" pitchFamily="18" charset="0"/>
                <a:cs typeface="Times New Roman" panose="02020603050405020304" pitchFamily="18" charset="0"/>
                <a:sym typeface="+mn-ea"/>
              </a:rPr>
              <a:t>P154-155</a:t>
            </a:r>
          </a:p>
        </p:txBody>
      </p:sp>
      <p:sp>
        <p:nvSpPr>
          <p:cNvPr id="2" name="文本框 1"/>
          <p:cNvSpPr txBox="1"/>
          <p:nvPr/>
        </p:nvSpPr>
        <p:spPr>
          <a:xfrm>
            <a:off x="297180" y="2584450"/>
            <a:ext cx="8661400" cy="3539430"/>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800" b="1" i="1" dirty="0">
                <a:latin typeface="Times New Roman" panose="02020603050405020304" pitchFamily="18" charset="0"/>
                <a:cs typeface="Times New Roman" panose="02020603050405020304" pitchFamily="18" charset="0"/>
              </a:rPr>
              <a:t>Loose</a:t>
            </a:r>
            <a:r>
              <a:rPr lang="en-US" altLang="zh-CN" sz="2800" dirty="0">
                <a:latin typeface="Times New Roman" panose="02020603050405020304" pitchFamily="18" charset="0"/>
                <a:cs typeface="Times New Roman" panose="02020603050405020304" pitchFamily="18" charset="0"/>
              </a:rPr>
              <a:t> cultures are characterized by relatively </a:t>
            </a:r>
            <a:r>
              <a:rPr lang="en-US" altLang="zh-CN" sz="2800" dirty="0">
                <a:solidFill>
                  <a:srgbClr val="FF0000"/>
                </a:solidFill>
                <a:latin typeface="Times New Roman" panose="02020603050405020304" pitchFamily="18" charset="0"/>
                <a:cs typeface="Times New Roman" panose="02020603050405020304" pitchFamily="18" charset="0"/>
              </a:rPr>
              <a:t>weak societal norms and considerable tolerance</a:t>
            </a:r>
            <a:r>
              <a:rPr lang="en-US" altLang="zh-CN" sz="2800" dirty="0">
                <a:latin typeface="Times New Roman" panose="02020603050405020304" pitchFamily="18" charset="0"/>
                <a:cs typeface="Times New Roman" panose="02020603050405020304" pitchFamily="18" charset="0"/>
              </a:rPr>
              <a:t> for deviance from those expectations.</a:t>
            </a:r>
          </a:p>
          <a:p>
            <a:pPr marL="342900" indent="-342900" algn="just">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Cultures classified as </a:t>
            </a:r>
            <a:r>
              <a:rPr lang="en-US" altLang="zh-CN" sz="2800" b="1" i="1" dirty="0">
                <a:latin typeface="Times New Roman" panose="02020603050405020304" pitchFamily="18" charset="0"/>
                <a:cs typeface="Times New Roman" panose="02020603050405020304" pitchFamily="18" charset="0"/>
              </a:rPr>
              <a:t>tight</a:t>
            </a:r>
            <a:r>
              <a:rPr lang="en-US" altLang="zh-CN" sz="2800" dirty="0">
                <a:latin typeface="Times New Roman" panose="02020603050405020304" pitchFamily="18" charset="0"/>
                <a:cs typeface="Times New Roman" panose="02020603050405020304" pitchFamily="18" charset="0"/>
              </a:rPr>
              <a:t> will exhibit </a:t>
            </a:r>
            <a:r>
              <a:rPr lang="en-US" altLang="zh-CN" sz="2800" dirty="0">
                <a:solidFill>
                  <a:srgbClr val="FF0000"/>
                </a:solidFill>
                <a:latin typeface="Times New Roman" panose="02020603050405020304" pitchFamily="18" charset="0"/>
                <a:cs typeface="Times New Roman" panose="02020603050405020304" pitchFamily="18" charset="0"/>
              </a:rPr>
              <a:t>strong established societal norms and a low level of tolerance </a:t>
            </a:r>
            <a:r>
              <a:rPr lang="en-US" altLang="zh-CN" sz="2800" dirty="0">
                <a:latin typeface="Times New Roman" panose="02020603050405020304" pitchFamily="18" charset="0"/>
                <a:cs typeface="Times New Roman" panose="02020603050405020304" pitchFamily="18" charset="0"/>
              </a:rPr>
              <a:t>for deviances from accepted behaviors. </a:t>
            </a:r>
            <a:r>
              <a:rPr lang="en-US" altLang="zh-CN" sz="2800" b="1" i="1" dirty="0">
                <a:latin typeface="Times New Roman" panose="02020603050405020304" pitchFamily="18" charset="0"/>
                <a:cs typeface="Times New Roman" panose="02020603050405020304" pitchFamily="18" charset="0"/>
              </a:rPr>
              <a:t>Tight</a:t>
            </a:r>
            <a:r>
              <a:rPr lang="en-US" altLang="zh-CN" sz="2800" dirty="0">
                <a:latin typeface="Times New Roman" panose="02020603050405020304" pitchFamily="18" charset="0"/>
                <a:cs typeface="Times New Roman" panose="02020603050405020304" pitchFamily="18" charset="0"/>
              </a:rPr>
              <a:t> cultures have a well-defined set of societal protocols that govern social interaction between individuals.</a:t>
            </a:r>
          </a:p>
        </p:txBody>
      </p:sp>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sym typeface="+mn-ea"/>
              </a:rPr>
              <a:t>4.6.5 Tight and Loose Cultures</a:t>
            </a:r>
          </a:p>
        </p:txBody>
      </p:sp>
      <p:pic>
        <p:nvPicPr>
          <p:cNvPr id="2" name="图片 1" descr="H2]5HCEB`C380`RKRBGL4N7"/>
          <p:cNvPicPr>
            <a:picLocks noChangeAspect="1"/>
          </p:cNvPicPr>
          <p:nvPr/>
        </p:nvPicPr>
        <p:blipFill>
          <a:blip r:embed="rId3"/>
          <a:stretch>
            <a:fillRect/>
          </a:stretch>
        </p:blipFill>
        <p:spPr>
          <a:xfrm>
            <a:off x="561340" y="2256790"/>
            <a:ext cx="8019415" cy="4601210"/>
          </a:xfrm>
          <a:prstGeom prst="rect">
            <a:avLst/>
          </a:prstGeom>
        </p:spPr>
      </p:pic>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4.7 Face and Facework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P156</a:t>
            </a:r>
          </a:p>
        </p:txBody>
      </p:sp>
      <p:sp>
        <p:nvSpPr>
          <p:cNvPr id="2" name="文本框 1"/>
          <p:cNvSpPr txBox="1"/>
          <p:nvPr/>
        </p:nvSpPr>
        <p:spPr>
          <a:xfrm>
            <a:off x="241300" y="2292350"/>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 term “</a:t>
            </a:r>
            <a:r>
              <a:rPr lang="en-US" altLang="zh-CN" sz="2400" b="1" i="1" dirty="0">
                <a:latin typeface="Times New Roman" panose="02020603050405020304" pitchFamily="18" charset="0"/>
                <a:cs typeface="Times New Roman" panose="02020603050405020304" pitchFamily="18" charset="0"/>
              </a:rPr>
              <a:t>face</a:t>
            </a:r>
            <a:r>
              <a:rPr lang="en-US" altLang="zh-CN" sz="2400" dirty="0">
                <a:latin typeface="Times New Roman" panose="02020603050405020304" pitchFamily="18" charset="0"/>
                <a:cs typeface="Times New Roman" panose="02020603050405020304" pitchFamily="18" charset="0"/>
              </a:rPr>
              <a:t>” is commonly used as a metaphor to designate the self-image a person projects to other people. In other words, your “face” is your public identity, how you are perceived by others. And because face is how others see you, it is acquired, maintained, and lost through social interactions, primarily communication. This process is referred to as </a:t>
            </a:r>
            <a:r>
              <a:rPr lang="en-US" altLang="zh-CN" sz="2400" b="1" i="1" dirty="0">
                <a:latin typeface="Times New Roman" panose="02020603050405020304" pitchFamily="18" charset="0"/>
                <a:cs typeface="Times New Roman" panose="02020603050405020304" pitchFamily="18" charset="0"/>
              </a:rPr>
              <a:t>facework</a:t>
            </a:r>
            <a:r>
              <a:rPr lang="en-US" altLang="zh-CN" sz="2400" dirty="0">
                <a:latin typeface="Times New Roman" panose="02020603050405020304" pitchFamily="18" charset="0"/>
                <a:cs typeface="Times New Roman" panose="02020603050405020304" pitchFamily="18" charset="0"/>
              </a:rPr>
              <a:t>,  which is defined as “a set of coordinated practices in which communicators build, maintain, protect, or threaten personal dignity, honor, and respect.” Facework consists of those actions you engage in to acquire or maintain face for yourself or give face to someone else. </a:t>
            </a:r>
          </a:p>
        </p:txBody>
      </p:sp>
      <p:sp>
        <p:nvSpPr>
          <p:cNvPr id="6" name="星形: 五角 5">
            <a:extLst>
              <a:ext uri="{FF2B5EF4-FFF2-40B4-BE49-F238E27FC236}">
                <a16:creationId xmlns:a16="http://schemas.microsoft.com/office/drawing/2014/main" id="{D2BCDDD0-42B4-4717-8966-EAA0005B102D}"/>
              </a:ext>
            </a:extLst>
          </p:cNvPr>
          <p:cNvSpPr/>
          <p:nvPr/>
        </p:nvSpPr>
        <p:spPr>
          <a:xfrm>
            <a:off x="5018731" y="63300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180"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4.7 Face and Facework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P157</a:t>
            </a:r>
          </a:p>
        </p:txBody>
      </p:sp>
      <p:sp>
        <p:nvSpPr>
          <p:cNvPr id="2" name="文本框 1"/>
          <p:cNvSpPr txBox="1"/>
          <p:nvPr/>
        </p:nvSpPr>
        <p:spPr>
          <a:xfrm>
            <a:off x="241300" y="229235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People from all cultures strive to maintain and negotiate face in all communication situations. Face and facework, however, are influenced by cultural values and vary across cultures.</a:t>
            </a:r>
          </a:p>
          <a:p>
            <a:pPr algn="just"/>
            <a:r>
              <a:rPr lang="en-US" altLang="zh-CN" sz="2400" dirty="0">
                <a:latin typeface="Times New Roman" panose="02020603050405020304" pitchFamily="18" charset="0"/>
                <a:cs typeface="Times New Roman" panose="02020603050405020304" pitchFamily="18" charset="0"/>
              </a:rPr>
              <a:t>    In </a:t>
            </a:r>
            <a:r>
              <a:rPr lang="en-US" altLang="zh-CN" sz="2400" b="1" i="1" dirty="0">
                <a:latin typeface="Times New Roman" panose="02020603050405020304" pitchFamily="18" charset="0"/>
                <a:cs typeface="Times New Roman" panose="02020603050405020304" pitchFamily="18" charset="0"/>
              </a:rPr>
              <a:t>individualisti</a:t>
            </a:r>
            <a:r>
              <a:rPr lang="en-US" altLang="zh-CN" sz="2400" dirty="0">
                <a:latin typeface="Times New Roman" panose="02020603050405020304" pitchFamily="18" charset="0"/>
                <a:cs typeface="Times New Roman" panose="02020603050405020304" pitchFamily="18" charset="0"/>
              </a:rPr>
              <a:t>c cultures, a person's face is usually derived from his or her own self-effort and is normally independent of others. Accordingly, people from individualistic societies are usually more concerned with maintaining their own face.</a:t>
            </a:r>
          </a:p>
          <a:p>
            <a:pPr algn="just"/>
            <a:r>
              <a:rPr lang="en-US" altLang="zh-CN" sz="2400" dirty="0">
                <a:latin typeface="Times New Roman" panose="02020603050405020304" pitchFamily="18" charset="0"/>
                <a:cs typeface="Times New Roman" panose="02020603050405020304" pitchFamily="18" charset="0"/>
              </a:rPr>
              <a:t>    In </a:t>
            </a:r>
            <a:r>
              <a:rPr lang="en-US" altLang="zh-CN" sz="2400" b="1" i="1" dirty="0">
                <a:latin typeface="Times New Roman" panose="02020603050405020304" pitchFamily="18" charset="0"/>
                <a:cs typeface="Times New Roman" panose="02020603050405020304" pitchFamily="18" charset="0"/>
              </a:rPr>
              <a:t>collectivistic</a:t>
            </a:r>
            <a:r>
              <a:rPr lang="en-US" altLang="zh-CN" sz="2400" dirty="0">
                <a:latin typeface="Times New Roman" panose="02020603050405020304" pitchFamily="18" charset="0"/>
                <a:cs typeface="Times New Roman" panose="02020603050405020304" pitchFamily="18" charset="0"/>
              </a:rPr>
              <a:t> cultures, however, there is much greater concern for others' face. This is because group membership is normally the primary source of identity and status. Considerable value is placed on establishing and sustaining stable, harmonious relationships with in-group members. </a:t>
            </a:r>
          </a:p>
        </p:txBody>
      </p: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815" y="1431314"/>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4.7 Face and Facework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P157</a:t>
            </a:r>
          </a:p>
        </p:txBody>
      </p:sp>
      <p:sp>
        <p:nvSpPr>
          <p:cNvPr id="2" name="文本框 1"/>
          <p:cNvSpPr txBox="1"/>
          <p:nvPr/>
        </p:nvSpPr>
        <p:spPr>
          <a:xfrm>
            <a:off x="241300" y="2292350"/>
            <a:ext cx="8661400" cy="41541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Varying attitudes as to what represents face, how facework is conducted, and the objective of facework have a very noticeable impact on how cultures view and approach conflict. According to </a:t>
            </a:r>
            <a:r>
              <a:rPr lang="en-US" altLang="zh-CN" sz="2400" b="1" dirty="0">
                <a:solidFill>
                  <a:srgbClr val="FF0000"/>
                </a:solidFill>
                <a:latin typeface="Times New Roman" panose="02020603050405020304" pitchFamily="18" charset="0"/>
                <a:cs typeface="Times New Roman" panose="02020603050405020304" pitchFamily="18" charset="0"/>
              </a:rPr>
              <a:t>Ting-Toomey's Face Negotiation theory</a:t>
            </a:r>
            <a:r>
              <a:rPr lang="en-US" altLang="zh-CN" sz="2400" dirty="0">
                <a:latin typeface="Times New Roman" panose="02020603050405020304" pitchFamily="18" charset="0"/>
                <a:cs typeface="Times New Roman" panose="02020603050405020304" pitchFamily="18" charset="0"/>
              </a:rPr>
              <a:t>, during a conflict situation, </a:t>
            </a:r>
            <a:r>
              <a:rPr lang="en-US" altLang="zh-CN" sz="2400" dirty="0">
                <a:solidFill>
                  <a:srgbClr val="FF0000"/>
                </a:solidFill>
                <a:latin typeface="Times New Roman" panose="02020603050405020304" pitchFamily="18" charset="0"/>
                <a:cs typeface="Times New Roman" panose="02020603050405020304" pitchFamily="18" charset="0"/>
              </a:rPr>
              <a:t>three different face concerns </a:t>
            </a:r>
            <a:r>
              <a:rPr lang="en-US" altLang="zh-CN" sz="2400" dirty="0">
                <a:latin typeface="Times New Roman" panose="02020603050405020304" pitchFamily="18" charset="0"/>
                <a:cs typeface="Times New Roman" panose="02020603050405020304" pitchFamily="18" charset="0"/>
              </a:rPr>
              <a:t>can come into play.</a:t>
            </a:r>
          </a:p>
          <a:p>
            <a:pPr marL="342900" indent="-342900" algn="jus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self-face</a:t>
            </a:r>
            <a:r>
              <a:rPr lang="en-US" altLang="zh-CN" sz="2400" dirty="0">
                <a:latin typeface="Times New Roman" panose="02020603050405020304" pitchFamily="18" charset="0"/>
                <a:cs typeface="Times New Roman" panose="02020603050405020304" pitchFamily="18" charset="0"/>
              </a:rPr>
              <a:t>,” where the individual is concerned about his/her own face;</a:t>
            </a:r>
          </a:p>
          <a:p>
            <a:pPr marL="342900" indent="-342900" algn="jus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other-face</a:t>
            </a:r>
            <a:r>
              <a:rPr lang="en-US" altLang="zh-CN" sz="2400" dirty="0">
                <a:latin typeface="Times New Roman" panose="02020603050405020304" pitchFamily="18" charset="0"/>
                <a:cs typeface="Times New Roman" panose="02020603050405020304" pitchFamily="18" charset="0"/>
              </a:rPr>
              <a:t>,” which focuses on the other person's face;</a:t>
            </a:r>
          </a:p>
          <a:p>
            <a:pPr marL="342900" indent="-342900" algn="jus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mutual-face</a:t>
            </a:r>
            <a:r>
              <a:rPr lang="en-US" altLang="zh-CN" sz="2400" dirty="0">
                <a:latin typeface="Times New Roman" panose="02020603050405020304" pitchFamily="18" charset="0"/>
                <a:cs typeface="Times New Roman" panose="02020603050405020304" pitchFamily="18" charset="0"/>
              </a:rPr>
              <a:t>,” which encompasses both parties in the conflict.</a:t>
            </a:r>
          </a:p>
          <a:p>
            <a:pPr algn="just">
              <a:buFont typeface="Arial" panose="020B0604020202020204" pitchFamily="34" charset="0"/>
            </a:pPr>
            <a:r>
              <a:rPr lang="en-US" altLang="zh-CN" sz="2400" dirty="0">
                <a:latin typeface="Times New Roman" panose="02020603050405020304" pitchFamily="18" charset="0"/>
                <a:cs typeface="Times New Roman" panose="02020603050405020304" pitchFamily="18" charset="0"/>
              </a:rPr>
              <a:t>These three face concerns vary in importance depending on one's cultural orientation.</a:t>
            </a:r>
          </a:p>
        </p:txBody>
      </p:sp>
    </p:spTree>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815"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4.7 Face and Facework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P157</a:t>
            </a:r>
          </a:p>
        </p:txBody>
      </p:sp>
      <p:sp>
        <p:nvSpPr>
          <p:cNvPr id="2" name="文本框 1"/>
          <p:cNvSpPr txBox="1"/>
          <p:nvPr/>
        </p:nvSpPr>
        <p:spPr>
          <a:xfrm>
            <a:off x="241300" y="2661920"/>
            <a:ext cx="8661400" cy="304609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different values </a:t>
            </a:r>
            <a:r>
              <a:rPr lang="en-US" altLang="zh-CN" sz="2400" dirty="0">
                <a:latin typeface="Times New Roman" panose="02020603050405020304" pitchFamily="18" charset="0"/>
                <a:cs typeface="Times New Roman" panose="02020603050405020304" pitchFamily="18" charset="0"/>
              </a:rPr>
              <a:t>placed on face, what constitutes face, and how it is managed </a:t>
            </a:r>
            <a:r>
              <a:rPr lang="en-US" altLang="zh-CN" sz="2400" dirty="0">
                <a:solidFill>
                  <a:srgbClr val="FF0000"/>
                </a:solidFill>
                <a:latin typeface="Times New Roman" panose="02020603050405020304" pitchFamily="18" charset="0"/>
                <a:cs typeface="Times New Roman" panose="02020603050405020304" pitchFamily="18" charset="0"/>
              </a:rPr>
              <a:t>have a very noticeable influence on facework</a:t>
            </a:r>
            <a:r>
              <a:rPr lang="en-US" altLang="zh-CN" sz="2400" dirty="0">
                <a:latin typeface="Times New Roman" panose="02020603050405020304" pitchFamily="18" charset="0"/>
                <a:cs typeface="Times New Roman" panose="02020603050405020304" pitchFamily="18" charset="0"/>
              </a:rPr>
              <a:t>. When confronted with the potential for conflict, </a:t>
            </a:r>
            <a:r>
              <a:rPr lang="en-US" altLang="zh-CN" sz="2400" b="1" i="1" dirty="0">
                <a:solidFill>
                  <a:srgbClr val="FF0000"/>
                </a:solidFill>
                <a:latin typeface="Times New Roman" panose="02020603050405020304" pitchFamily="18" charset="0"/>
                <a:cs typeface="Times New Roman" panose="02020603050405020304" pitchFamily="18" charset="0"/>
              </a:rPr>
              <a:t>collectivists</a:t>
            </a:r>
            <a:r>
              <a:rPr lang="en-US" altLang="zh-CN" sz="2400" dirty="0">
                <a:latin typeface="Times New Roman" panose="02020603050405020304" pitchFamily="18" charset="0"/>
                <a:cs typeface="Times New Roman" panose="02020603050405020304" pitchFamily="18" charset="0"/>
              </a:rPr>
              <a:t> will be more inclined toward avoidance and obligating measures. This is a result of concern for both mutual face and others' face and how one's actions may affect others. </a:t>
            </a:r>
            <a:r>
              <a:rPr lang="en-US" altLang="zh-CN" sz="2400" b="1" i="1" dirty="0">
                <a:solidFill>
                  <a:srgbClr val="FF0000"/>
                </a:solidFill>
                <a:latin typeface="Times New Roman" panose="02020603050405020304" pitchFamily="18" charset="0"/>
                <a:cs typeface="Times New Roman" panose="02020603050405020304" pitchFamily="18" charset="0"/>
              </a:rPr>
              <a:t>Individualists</a:t>
            </a:r>
            <a:r>
              <a:rPr lang="en-US" altLang="zh-CN" sz="2400" dirty="0">
                <a:latin typeface="Times New Roman" panose="02020603050405020304" pitchFamily="18" charset="0"/>
                <a:cs typeface="Times New Roman" panose="02020603050405020304" pitchFamily="18" charset="0"/>
              </a:rPr>
              <a:t>, however, are concerned primarily with self-face and tend to favor confrontational and solution-oriented approaches to resolve conflicts. </a:t>
            </a:r>
          </a:p>
        </p:txBody>
      </p:sp>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815" y="1466215"/>
            <a:ext cx="85483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4.7 Face and Facework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P158</a:t>
            </a:r>
          </a:p>
        </p:txBody>
      </p:sp>
      <p:sp>
        <p:nvSpPr>
          <p:cNvPr id="2" name="文本框 1"/>
          <p:cNvSpPr txBox="1"/>
          <p:nvPr/>
        </p:nvSpPr>
        <p:spPr>
          <a:xfrm>
            <a:off x="241300" y="2334895"/>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These contrasting attitudes toward conflict give rise to quite </a:t>
            </a:r>
            <a:r>
              <a:rPr lang="en-US" altLang="zh-CN" sz="2400" dirty="0">
                <a:solidFill>
                  <a:srgbClr val="FF0000"/>
                </a:solidFill>
                <a:latin typeface="Times New Roman" panose="02020603050405020304" pitchFamily="18" charset="0"/>
                <a:cs typeface="Times New Roman" panose="02020603050405020304" pitchFamily="18" charset="0"/>
              </a:rPr>
              <a:t>different culturally based communication styles</a:t>
            </a:r>
            <a:r>
              <a:rPr lang="en-US" altLang="zh-CN" sz="2400" dirty="0">
                <a:latin typeface="Times New Roman" panose="02020603050405020304" pitchFamily="18" charset="0"/>
                <a:cs typeface="Times New Roman" panose="02020603050405020304" pitchFamily="18" charset="0"/>
              </a:rPr>
              <a:t>. During intercultural communication events, the divergent styles can result in confusion, misinterpretation, or even animosity between the participants.</a:t>
            </a:r>
          </a:p>
          <a:p>
            <a:pPr algn="just"/>
            <a:r>
              <a:rPr lang="en-US" altLang="zh-CN" sz="2400" dirty="0">
                <a:latin typeface="Times New Roman" panose="02020603050405020304" pitchFamily="18" charset="0"/>
                <a:cs typeface="Times New Roman" panose="02020603050405020304" pitchFamily="18" charset="0"/>
              </a:rPr>
              <a:t>    Adherence to an </a:t>
            </a:r>
            <a:r>
              <a:rPr lang="en-US" altLang="zh-CN" sz="2400" dirty="0">
                <a:solidFill>
                  <a:srgbClr val="FF0000"/>
                </a:solidFill>
                <a:latin typeface="Times New Roman" panose="02020603050405020304" pitchFamily="18" charset="0"/>
                <a:cs typeface="Times New Roman" panose="02020603050405020304" pitchFamily="18" charset="0"/>
              </a:rPr>
              <a:t>indirect communication style </a:t>
            </a:r>
            <a:r>
              <a:rPr lang="en-US" altLang="zh-CN" sz="2400" dirty="0">
                <a:latin typeface="Times New Roman" panose="02020603050405020304" pitchFamily="18" charset="0"/>
                <a:cs typeface="Times New Roman" panose="02020603050405020304" pitchFamily="18" charset="0"/>
              </a:rPr>
              <a:t>to sustain amicable relations, as used in </a:t>
            </a:r>
            <a:r>
              <a:rPr lang="en-US" altLang="zh-CN" sz="2400" b="1" i="1" dirty="0">
                <a:latin typeface="Times New Roman" panose="02020603050405020304" pitchFamily="18" charset="0"/>
                <a:cs typeface="Times New Roman" panose="02020603050405020304" pitchFamily="18" charset="0"/>
              </a:rPr>
              <a:t>high-context</a:t>
            </a:r>
            <a:r>
              <a:rPr lang="en-US" altLang="zh-CN" sz="2400" dirty="0">
                <a:latin typeface="Times New Roman" panose="02020603050405020304" pitchFamily="18" charset="0"/>
                <a:cs typeface="Times New Roman" panose="02020603050405020304" pitchFamily="18" charset="0"/>
              </a:rPr>
              <a:t> cultures, can actually produce the opposite effect among </a:t>
            </a:r>
            <a:r>
              <a:rPr lang="en-US" altLang="zh-CN" sz="2400" b="1" i="1" dirty="0">
                <a:latin typeface="Times New Roman" panose="02020603050405020304" pitchFamily="18" charset="0"/>
                <a:cs typeface="Times New Roman" panose="02020603050405020304" pitchFamily="18" charset="0"/>
              </a:rPr>
              <a:t>individualistic</a:t>
            </a:r>
            <a:r>
              <a:rPr lang="en-US" altLang="zh-CN" sz="2400" dirty="0">
                <a:latin typeface="Times New Roman" panose="02020603050405020304" pitchFamily="18" charset="0"/>
                <a:cs typeface="Times New Roman" panose="02020603050405020304" pitchFamily="18" charset="0"/>
              </a:rPr>
              <a:t> participants, who may well view the indirectness as duplicity.</a:t>
            </a:r>
          </a:p>
          <a:p>
            <a:pPr algn="just"/>
            <a:r>
              <a:rPr lang="en-US" altLang="zh-CN" sz="2400" dirty="0">
                <a:latin typeface="Times New Roman" panose="02020603050405020304" pitchFamily="18" charset="0"/>
                <a:cs typeface="Times New Roman" panose="02020603050405020304" pitchFamily="18" charset="0"/>
              </a:rPr>
              <a:t>    Conversely, the use of </a:t>
            </a:r>
            <a:r>
              <a:rPr lang="en-US" altLang="zh-CN" sz="2400" dirty="0">
                <a:solidFill>
                  <a:srgbClr val="FF0000"/>
                </a:solidFill>
                <a:latin typeface="Times New Roman" panose="02020603050405020304" pitchFamily="18" charset="0"/>
                <a:cs typeface="Times New Roman" panose="02020603050405020304" pitchFamily="18" charset="0"/>
              </a:rPr>
              <a:t>open, direct, forthright communication</a:t>
            </a:r>
            <a:r>
              <a:rPr lang="en-US" altLang="zh-CN" sz="2400" dirty="0">
                <a:latin typeface="Times New Roman" panose="02020603050405020304" pitchFamily="18" charset="0"/>
                <a:cs typeface="Times New Roman" panose="02020603050405020304" pitchFamily="18" charset="0"/>
              </a:rPr>
              <a:t>, common in </a:t>
            </a:r>
            <a:r>
              <a:rPr lang="en-US" altLang="zh-CN" sz="2400" b="1" i="1" dirty="0">
                <a:latin typeface="Times New Roman" panose="02020603050405020304" pitchFamily="18" charset="0"/>
                <a:cs typeface="Times New Roman" panose="02020603050405020304" pitchFamily="18" charset="0"/>
              </a:rPr>
              <a:t>low-context</a:t>
            </a:r>
            <a:r>
              <a:rPr lang="en-US" altLang="zh-CN" sz="2400" dirty="0">
                <a:latin typeface="Times New Roman" panose="02020603050405020304" pitchFamily="18" charset="0"/>
                <a:cs typeface="Times New Roman" panose="02020603050405020304" pitchFamily="18" charset="0"/>
              </a:rPr>
              <a:t> cultures, can be perceived as rude and inconsiderate by </a:t>
            </a:r>
            <a:r>
              <a:rPr lang="en-US" altLang="zh-CN" sz="2400" b="1" i="1" dirty="0">
                <a:latin typeface="Times New Roman" panose="02020603050405020304" pitchFamily="18" charset="0"/>
                <a:cs typeface="Times New Roman" panose="02020603050405020304" pitchFamily="18" charset="0"/>
              </a:rPr>
              <a:t>collectivistic</a:t>
            </a:r>
            <a:r>
              <a:rPr lang="en-US" altLang="zh-CN" sz="2400" dirty="0">
                <a:latin typeface="Times New Roman" panose="02020603050405020304" pitchFamily="18" charset="0"/>
                <a:cs typeface="Times New Roman" panose="02020603050405020304" pitchFamily="18" charset="0"/>
              </a:rPr>
              <a:t> participants, who will likely consider the interaction as face threatening.</a:t>
            </a:r>
          </a:p>
        </p:txBody>
      </p:sp>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815" y="1475105"/>
            <a:ext cx="8548370" cy="645160"/>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sym typeface="+mn-ea"/>
              </a:rPr>
              <a:t>4.8 Cultural Patterns and Communication</a:t>
            </a:r>
          </a:p>
        </p:txBody>
      </p:sp>
      <p:pic>
        <p:nvPicPr>
          <p:cNvPr id="2" name="图片 1" descr="BH0%`KBITZ_RO`L}4~6GW`U"/>
          <p:cNvPicPr>
            <a:picLocks noChangeAspect="1"/>
          </p:cNvPicPr>
          <p:nvPr/>
        </p:nvPicPr>
        <p:blipFill>
          <a:blip r:embed="rId3"/>
          <a:stretch>
            <a:fillRect/>
          </a:stretch>
        </p:blipFill>
        <p:spPr>
          <a:xfrm>
            <a:off x="1319530" y="2192655"/>
            <a:ext cx="6504940" cy="4593590"/>
          </a:xfrm>
          <a:prstGeom prst="rect">
            <a:avLst/>
          </a:prstGeom>
        </p:spPr>
      </p:pic>
      <p:sp>
        <p:nvSpPr>
          <p:cNvPr id="6" name="星形: 五角 5">
            <a:extLst>
              <a:ext uri="{FF2B5EF4-FFF2-40B4-BE49-F238E27FC236}">
                <a16:creationId xmlns:a16="http://schemas.microsoft.com/office/drawing/2014/main" id="{3130D423-E1BD-4C53-92D1-2782F710C94B}"/>
              </a:ext>
            </a:extLst>
          </p:cNvPr>
          <p:cNvSpPr/>
          <p:nvPr/>
        </p:nvSpPr>
        <p:spPr>
          <a:xfrm>
            <a:off x="635195" y="315328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815" y="1475105"/>
            <a:ext cx="8548370" cy="645160"/>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sym typeface="+mn-ea"/>
              </a:rPr>
              <a:t>4.8 Cultural Patterns and Communication</a:t>
            </a:r>
          </a:p>
        </p:txBody>
      </p:sp>
      <p:pic>
        <p:nvPicPr>
          <p:cNvPr id="2" name="图片 1" descr="5M%B`W}CX~}SUQO1W2D~7YE"/>
          <p:cNvPicPr>
            <a:picLocks noChangeAspect="1"/>
          </p:cNvPicPr>
          <p:nvPr/>
        </p:nvPicPr>
        <p:blipFill>
          <a:blip r:embed="rId3"/>
          <a:stretch>
            <a:fillRect/>
          </a:stretch>
        </p:blipFill>
        <p:spPr>
          <a:xfrm>
            <a:off x="1397000" y="2216785"/>
            <a:ext cx="6350635" cy="4568825"/>
          </a:xfrm>
          <a:prstGeom prst="rect">
            <a:avLst/>
          </a:prstGeom>
        </p:spPr>
      </p:pic>
      <p:sp>
        <p:nvSpPr>
          <p:cNvPr id="6" name="星形: 五角 5">
            <a:extLst>
              <a:ext uri="{FF2B5EF4-FFF2-40B4-BE49-F238E27FC236}">
                <a16:creationId xmlns:a16="http://schemas.microsoft.com/office/drawing/2014/main" id="{D27B738D-D577-441A-A543-194F6370455C}"/>
              </a:ext>
            </a:extLst>
          </p:cNvPr>
          <p:cNvSpPr/>
          <p:nvPr/>
        </p:nvSpPr>
        <p:spPr>
          <a:xfrm>
            <a:off x="661035" y="315328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97815" y="1475105"/>
            <a:ext cx="8548370" cy="645160"/>
          </a:xfrm>
          <a:prstGeom prst="rect">
            <a:avLst/>
          </a:prstGeom>
          <a:noFill/>
        </p:spPr>
        <p:txBody>
          <a:bodyPr wrap="square" rtlCol="0">
            <a:spAutoFit/>
          </a:bodyPr>
          <a:lstStyle/>
          <a:p>
            <a:r>
              <a:rPr lang="en-US" altLang="zh-CN" sz="3600" b="1">
                <a:latin typeface="Times New Roman" panose="02020603050405020304" pitchFamily="18" charset="0"/>
                <a:cs typeface="Times New Roman" panose="02020603050405020304" pitchFamily="18" charset="0"/>
                <a:sym typeface="+mn-ea"/>
              </a:rPr>
              <a:t>4.9 Developing Cultural Value Awareness</a:t>
            </a:r>
          </a:p>
        </p:txBody>
      </p:sp>
      <p:sp>
        <p:nvSpPr>
          <p:cNvPr id="2" name="文本框 1"/>
          <p:cNvSpPr txBox="1"/>
          <p:nvPr/>
        </p:nvSpPr>
        <p:spPr>
          <a:xfrm>
            <a:off x="241300" y="2661920"/>
            <a:ext cx="8661400" cy="3108543"/>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You may not agree with one's values, but knowing why he or she thinks or acts a certain way can </a:t>
            </a:r>
            <a:r>
              <a:rPr lang="en-US" altLang="zh-CN" sz="2800" dirty="0">
                <a:solidFill>
                  <a:srgbClr val="FF0000"/>
                </a:solidFill>
                <a:latin typeface="Times New Roman" panose="02020603050405020304" pitchFamily="18" charset="0"/>
                <a:cs typeface="Times New Roman" panose="02020603050405020304" pitchFamily="18" charset="0"/>
              </a:rPr>
              <a:t>reduce or even eliminate potential intercultural communication discord</a:t>
            </a:r>
            <a:r>
              <a:rPr lang="en-US" altLang="zh-CN" sz="2800" dirty="0">
                <a:latin typeface="Times New Roman" panose="02020603050405020304" pitchFamily="18" charset="0"/>
                <a:cs typeface="Times New Roman" panose="02020603050405020304" pitchFamily="18" charset="0"/>
              </a:rPr>
              <a:t>. Therefore, when confronted with confounding cultural differences, you are urged to </a:t>
            </a:r>
            <a:r>
              <a:rPr lang="en-US" altLang="zh-CN" sz="2800" dirty="0">
                <a:solidFill>
                  <a:srgbClr val="FF0000"/>
                </a:solidFill>
                <a:latin typeface="Times New Roman" panose="02020603050405020304" pitchFamily="18" charset="0"/>
                <a:cs typeface="Times New Roman" panose="02020603050405020304" pitchFamily="18" charset="0"/>
              </a:rPr>
              <a:t>examine the cause behind those differences, the motivating cultural value, rather than simply assuming it is a wrong way of thinking or acting</a:t>
            </a:r>
            <a:r>
              <a:rPr lang="en-US" altLang="zh-CN" sz="2800" dirty="0">
                <a:latin typeface="Times New Roman" panose="02020603050405020304" pitchFamily="18" charset="0"/>
                <a:cs typeface="Times New Roman" panose="02020603050405020304" pitchFamily="18" charset="0"/>
              </a:rPr>
              <a:t>.</a:t>
            </a:r>
          </a:p>
        </p:txBody>
      </p:sp>
    </p:spTree>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626" y="3687417"/>
            <a:ext cx="8229600" cy="4525963"/>
          </a:xfrm>
        </p:spPr>
        <p:txBody>
          <a:bodyPr/>
          <a:lstStyle/>
          <a:p>
            <a:pPr marL="0" indent="0" algn="ctr">
              <a:spcBef>
                <a:spcPct val="0"/>
              </a:spcBef>
              <a:buNone/>
            </a:pPr>
            <a:r>
              <a:rPr lang="en-US" altLang="zh-CN" sz="5400" dirty="0">
                <a:solidFill>
                  <a:schemeClr val="tx2"/>
                </a:solidFill>
                <a:latin typeface="Times New Roman" panose="02020603050405020304" pitchFamily="18" charset="0"/>
                <a:ea typeface="+mj-ea"/>
                <a:cs typeface="Times New Roman" panose="02020603050405020304" pitchFamily="18" charset="0"/>
              </a:rPr>
              <a:t>Thanks for watching</a:t>
            </a:r>
            <a:endParaRPr lang="zh-CN" altLang="en-US" sz="5400"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045307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185,&quot;width&quot;:15840}"/>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自定义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0000"/>
      </a:hlink>
      <a:folHlink>
        <a:srgbClr val="0070C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TotalTime>
  <Words>8227</Words>
  <Application>Microsoft Office PowerPoint</Application>
  <PresentationFormat>全屏显示(4:3)</PresentationFormat>
  <Paragraphs>525</Paragraphs>
  <Slides>104</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104</vt:i4>
      </vt:variant>
    </vt:vector>
  </HeadingPairs>
  <TitlesOfParts>
    <vt:vector size="111" baseType="lpstr">
      <vt:lpstr>等线</vt:lpstr>
      <vt:lpstr>庞门正道标题体</vt:lpstr>
      <vt:lpstr>微软雅黑</vt:lpstr>
      <vt:lpstr>Arial</vt:lpstr>
      <vt:lpstr>Times New Roman</vt:lpstr>
      <vt:lpstr>默认设计模板</vt:lpstr>
      <vt:lpstr>1_默认设计模板</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三角形</dc:title>
  <dc:creator>第一PPT</dc:creator>
  <cp:keywords>三角形</cp:keywords>
  <cp:lastModifiedBy>Kong Hillary</cp:lastModifiedBy>
  <cp:revision>211</cp:revision>
  <dcterms:created xsi:type="dcterms:W3CDTF">2020-05-16T17:38:00Z</dcterms:created>
  <dcterms:modified xsi:type="dcterms:W3CDTF">2022-04-09T02:54:58Z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