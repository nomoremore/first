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4" r:id="rId1"/>
  </p:sldMasterIdLst>
  <p:notesMasterIdLst>
    <p:notesMasterId r:id="rId60"/>
  </p:notesMasterIdLst>
  <p:sldIdLst>
    <p:sldId id="11534" r:id="rId2"/>
    <p:sldId id="11535" r:id="rId3"/>
    <p:sldId id="11600" r:id="rId4"/>
    <p:sldId id="11547" r:id="rId5"/>
    <p:sldId id="11596" r:id="rId6"/>
    <p:sldId id="11598" r:id="rId7"/>
    <p:sldId id="11538" r:id="rId8"/>
    <p:sldId id="11599" r:id="rId9"/>
    <p:sldId id="11539" r:id="rId10"/>
    <p:sldId id="11540" r:id="rId11"/>
    <p:sldId id="11541" r:id="rId12"/>
    <p:sldId id="11542" r:id="rId13"/>
    <p:sldId id="11543" r:id="rId14"/>
    <p:sldId id="11544" r:id="rId15"/>
    <p:sldId id="11553" r:id="rId16"/>
    <p:sldId id="11554" r:id="rId17"/>
    <p:sldId id="11555" r:id="rId18"/>
    <p:sldId id="11546" r:id="rId19"/>
    <p:sldId id="11562" r:id="rId20"/>
    <p:sldId id="11561" r:id="rId21"/>
    <p:sldId id="11552" r:id="rId22"/>
    <p:sldId id="11571" r:id="rId23"/>
    <p:sldId id="11563" r:id="rId24"/>
    <p:sldId id="11572" r:id="rId25"/>
    <p:sldId id="11574" r:id="rId26"/>
    <p:sldId id="11573" r:id="rId27"/>
    <p:sldId id="11564" r:id="rId28"/>
    <p:sldId id="11565" r:id="rId29"/>
    <p:sldId id="11566" r:id="rId30"/>
    <p:sldId id="11567" r:id="rId31"/>
    <p:sldId id="11580" r:id="rId32"/>
    <p:sldId id="11568" r:id="rId33"/>
    <p:sldId id="11575" r:id="rId34"/>
    <p:sldId id="11569" r:id="rId35"/>
    <p:sldId id="11570" r:id="rId36"/>
    <p:sldId id="11577" r:id="rId37"/>
    <p:sldId id="11589" r:id="rId38"/>
    <p:sldId id="11582" r:id="rId39"/>
    <p:sldId id="11583" r:id="rId40"/>
    <p:sldId id="11584" r:id="rId41"/>
    <p:sldId id="11585" r:id="rId42"/>
    <p:sldId id="11603" r:id="rId43"/>
    <p:sldId id="11605" r:id="rId44"/>
    <p:sldId id="11606" r:id="rId45"/>
    <p:sldId id="11604" r:id="rId46"/>
    <p:sldId id="11602" r:id="rId47"/>
    <p:sldId id="11586" r:id="rId48"/>
    <p:sldId id="11588" r:id="rId49"/>
    <p:sldId id="11592" r:id="rId50"/>
    <p:sldId id="11593" r:id="rId51"/>
    <p:sldId id="11579" r:id="rId52"/>
    <p:sldId id="11590" r:id="rId53"/>
    <p:sldId id="11591" r:id="rId54"/>
    <p:sldId id="11607" r:id="rId55"/>
    <p:sldId id="11578" r:id="rId56"/>
    <p:sldId id="11550" r:id="rId57"/>
    <p:sldId id="11595" r:id="rId58"/>
    <p:sldId id="11601" r:id="rId5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7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5" autoAdjust="0"/>
    <p:restoredTop sz="95317"/>
  </p:normalViewPr>
  <p:slideViewPr>
    <p:cSldViewPr snapToGrid="0" showGuides="1">
      <p:cViewPr varScale="1">
        <p:scale>
          <a:sx n="91" d="100"/>
          <a:sy n="91" d="100"/>
        </p:scale>
        <p:origin x="1076" y="48"/>
      </p:cViewPr>
      <p:guideLst>
        <p:guide orient="horz" pos="1978"/>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2022/4/13</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92669772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19029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3065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4944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70422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71491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324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89763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7418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53427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286376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03205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506426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32339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517643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3.xml"/><Relationship Id="rId7" Type="http://schemas.openxmlformats.org/officeDocument/2006/relationships/slide" Target="slide5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21.xml"/><Relationship Id="rId4" Type="http://schemas.openxmlformats.org/officeDocument/2006/relationships/slide" Target="slide19.xml"/><Relationship Id="rId9" Type="http://schemas.openxmlformats.org/officeDocument/2006/relationships/slide" Target="slide58.xml"/></Relationships>
</file>

<file path=ppt/slides/_rels/slide3.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1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 Target="slide23.xml"/><Relationship Id="rId7" Type="http://schemas.openxmlformats.org/officeDocument/2006/relationships/slide" Target="slide30.xml"/><Relationship Id="rId12" Type="http://schemas.openxmlformats.org/officeDocument/2006/relationships/image" Target="../media/image2.png"/><Relationship Id="rId2" Type="http://schemas.openxmlformats.org/officeDocument/2006/relationships/slide" Target="slide21.xml"/><Relationship Id="rId1" Type="http://schemas.openxmlformats.org/officeDocument/2006/relationships/slideLayout" Target="../slideLayouts/slideLayout2.xml"/><Relationship Id="rId6" Type="http://schemas.openxmlformats.org/officeDocument/2006/relationships/slide" Target="slide29.xml"/><Relationship Id="rId11" Type="http://schemas.openxmlformats.org/officeDocument/2006/relationships/slide" Target="slide2.xml"/><Relationship Id="rId5" Type="http://schemas.openxmlformats.org/officeDocument/2006/relationships/slide" Target="slide28.xml"/><Relationship Id="rId10" Type="http://schemas.openxmlformats.org/officeDocument/2006/relationships/slide" Target="slide35.xml"/><Relationship Id="rId4" Type="http://schemas.openxmlformats.org/officeDocument/2006/relationships/slide" Target="slide27.xml"/><Relationship Id="rId9" Type="http://schemas.openxmlformats.org/officeDocument/2006/relationships/slide" Target="slide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slide" Target="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slide" Target="slide38.xml"/><Relationship Id="rId1" Type="http://schemas.openxmlformats.org/officeDocument/2006/relationships/slideLayout" Target="../slideLayouts/slideLayout2.xml"/><Relationship Id="rId5" Type="http://schemas.openxmlformats.org/officeDocument/2006/relationships/slide" Target="slide48.xml"/><Relationship Id="rId4" Type="http://schemas.openxmlformats.org/officeDocument/2006/relationships/slide" Target="slide47.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7747" y="3594308"/>
            <a:ext cx="8229600" cy="1143000"/>
          </a:xfrm>
        </p:spPr>
        <p:txBody>
          <a:bodyPr/>
          <a:lstStyle/>
          <a:p>
            <a:pPr>
              <a:lnSpc>
                <a:spcPct val="125000"/>
              </a:lnSpc>
            </a:pPr>
            <a:r>
              <a:rPr lang="en-US" altLang="zh-CN" dirty="0">
                <a:latin typeface="Times New Roman" panose="02020603050405020304" pitchFamily="18" charset="0"/>
                <a:cs typeface="Times New Roman" panose="02020603050405020304" pitchFamily="18" charset="0"/>
              </a:rPr>
              <a:t>Chapter 5</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Culture and Identity:</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 Situating the Individual</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797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7444" y="463481"/>
            <a:ext cx="8229600" cy="1143000"/>
          </a:xfrm>
        </p:spPr>
        <p:txBody>
          <a:bodyPr/>
          <a:lstStyle/>
          <a:p>
            <a:r>
              <a:rPr lang="en-US" altLang="zh-CN" sz="4800" dirty="0">
                <a:latin typeface="Times New Roman" panose="02020603050405020304" pitchFamily="18" charset="0"/>
                <a:cs typeface="Times New Roman" panose="02020603050405020304" pitchFamily="18" charset="0"/>
              </a:rPr>
              <a:t>Contents</a:t>
            </a:r>
            <a:endParaRPr lang="zh-CN" altLang="en-US" sz="48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86408" y="2445026"/>
            <a:ext cx="8229600" cy="4525963"/>
          </a:xfrm>
        </p:spPr>
        <p:txBody>
          <a:bodyPr/>
          <a:lstStyle/>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3" action="ppaction://hlinksldjump"/>
              </a:rPr>
              <a:t>Identity: Defining the Concept </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4" action="ppaction://hlinksldjump"/>
              </a:rPr>
              <a:t>The Influence of Identity</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5" action="ppaction://hlinksldjump"/>
              </a:rPr>
              <a:t>Examining Social Identities</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6" action="ppaction://hlinksldjump"/>
              </a:rPr>
              <a:t>Identity Acquisition and Development</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7" action="ppaction://hlinksldjump"/>
              </a:rPr>
              <a:t>Establishing and Enacting Cultural Identity</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8" action="ppaction://hlinksldjump"/>
              </a:rPr>
              <a:t>Globalization and Cultural Identity</a:t>
            </a:r>
            <a:endParaRPr lang="en-US" altLang="zh-CN" sz="28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9" action="ppaction://hlinksldjump"/>
              </a:rPr>
              <a:t>Competency and Identity in Intercultural Interactions</a:t>
            </a:r>
            <a:endParaRPr lang="en-US" altLang="zh-C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62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90340"/>
            <a:ext cx="8229600" cy="1143000"/>
          </a:xfrm>
        </p:spPr>
        <p:txBody>
          <a:bodyPr/>
          <a:lstStyle/>
          <a:p>
            <a:r>
              <a:rPr lang="en-US" altLang="zh-CN" dirty="0">
                <a:latin typeface="Times New Roman" panose="02020603050405020304" pitchFamily="18" charset="0"/>
                <a:cs typeface="Times New Roman" panose="02020603050405020304" pitchFamily="18" charset="0"/>
              </a:rPr>
              <a:t>5.1 Identity: Defining the Concept </a:t>
            </a:r>
            <a:endParaRPr lang="zh-CN" altLang="en-US" dirty="0"/>
          </a:p>
        </p:txBody>
      </p:sp>
      <p:sp>
        <p:nvSpPr>
          <p:cNvPr id="3" name="内容占位符 2"/>
          <p:cNvSpPr>
            <a:spLocks noGrp="1"/>
          </p:cNvSpPr>
          <p:nvPr>
            <p:ph idx="1"/>
          </p:nvPr>
        </p:nvSpPr>
        <p:spPr>
          <a:xfrm>
            <a:off x="576469" y="2494722"/>
            <a:ext cx="8229600"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2" action="ppaction://hlinksldjump"/>
              </a:rPr>
              <a:t>Scholars’ definition of identity</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3" action="ppaction://hlinksldjump"/>
              </a:rPr>
              <a:t>Categories of identity</a:t>
            </a: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4" name="星形: 五角 3">
            <a:extLst>
              <a:ext uri="{FF2B5EF4-FFF2-40B4-BE49-F238E27FC236}">
                <a16:creationId xmlns:a16="http://schemas.microsoft.com/office/drawing/2014/main" id="{CEC32D4F-15C5-4993-8CBA-5D117383FFB5}"/>
              </a:ext>
            </a:extLst>
          </p:cNvPr>
          <p:cNvSpPr/>
          <p:nvPr/>
        </p:nvSpPr>
        <p:spPr>
          <a:xfrm>
            <a:off x="5380238" y="214624"/>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42926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8157" y="495424"/>
            <a:ext cx="9449533" cy="1143000"/>
          </a:xfrm>
        </p:spPr>
        <p:txBody>
          <a:bodyPr/>
          <a:lstStyle/>
          <a:p>
            <a:r>
              <a:rPr lang="en-US" altLang="zh-CN" dirty="0">
                <a:latin typeface="Times New Roman" panose="02020603050405020304" pitchFamily="18" charset="0"/>
                <a:cs typeface="Times New Roman" panose="02020603050405020304" pitchFamily="18" charset="0"/>
              </a:rPr>
              <a:t>Scholars’ definition of identity </a:t>
            </a:r>
            <a:r>
              <a:rPr lang="en-US" altLang="zh-CN" dirty="0">
                <a:highlight>
                  <a:srgbClr val="FFFF00"/>
                </a:highlight>
                <a:latin typeface="Times New Roman" panose="02020603050405020304" pitchFamily="18" charset="0"/>
                <a:cs typeface="Times New Roman" panose="02020603050405020304" pitchFamily="18" charset="0"/>
              </a:rPr>
              <a:t>P168</a:t>
            </a:r>
            <a:endParaRPr lang="zh-CN" altLang="en-US"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24651" y="2641896"/>
            <a:ext cx="8229600" cy="3095790"/>
          </a:xfrm>
        </p:spPr>
        <p:txBody>
          <a:bodyPr/>
          <a:lstStyle/>
          <a:p>
            <a:pPr algn="just">
              <a:lnSpc>
                <a:spcPct val="125000"/>
              </a:lnSpc>
              <a:spcBef>
                <a:spcPts val="0"/>
              </a:spcBef>
            </a:pPr>
            <a:r>
              <a:rPr lang="en-US" altLang="zh-CN" dirty="0">
                <a:latin typeface="Times New Roman" panose="02020603050405020304" pitchFamily="18" charset="0"/>
                <a:cs typeface="Times New Roman" panose="02020603050405020304" pitchFamily="18" charset="0"/>
              </a:rPr>
              <a:t>Identity is an abstract, complex, dynamic, and socially constructed concept. As a result, identity is not easily defined, and scholars have provided a rich variety of descriptions.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51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6712" y="2212768"/>
            <a:ext cx="8229600" cy="4525963"/>
          </a:xfrm>
        </p:spPr>
        <p:txBody>
          <a:bodyPr/>
          <a:lstStyle/>
          <a:p>
            <a:r>
              <a:rPr lang="en-US" altLang="zh-CN" sz="2400" dirty="0">
                <a:solidFill>
                  <a:srgbClr val="FF0000"/>
                </a:solidFill>
                <a:latin typeface="Times New Roman" panose="02020603050405020304" pitchFamily="18" charset="0"/>
                <a:cs typeface="Times New Roman" panose="02020603050405020304" pitchFamily="18" charset="0"/>
              </a:rPr>
              <a:t>Tracy</a:t>
            </a:r>
            <a:r>
              <a:rPr lang="en-US" altLang="zh-CN" sz="2400" dirty="0">
                <a:latin typeface="Times New Roman" panose="02020603050405020304" pitchFamily="18" charset="0"/>
                <a:cs typeface="Times New Roman" panose="02020603050405020304" pitchFamily="18" charset="0"/>
              </a:rPr>
              <a:t> finds identity to be both </a:t>
            </a:r>
            <a:r>
              <a:rPr lang="en-US" altLang="zh-CN" sz="2400" dirty="0">
                <a:solidFill>
                  <a:srgbClr val="FF0000"/>
                </a:solidFill>
                <a:latin typeface="Times New Roman" panose="02020603050405020304" pitchFamily="18" charset="0"/>
                <a:cs typeface="Times New Roman" panose="02020603050405020304" pitchFamily="18" charset="0"/>
              </a:rPr>
              <a:t>inclusive and contradictory</a:t>
            </a:r>
            <a:r>
              <a:rPr lang="en-US" altLang="zh-CN" sz="2400" dirty="0">
                <a:latin typeface="Times New Roman" panose="02020603050405020304" pitchFamily="18" charset="0"/>
                <a:cs typeface="Times New Roman" panose="02020603050405020304" pitchFamily="18" charset="0"/>
              </a:rPr>
              <a:t>: Identities, then, are best thought of as stable features of persons that exist prior to any particular situation and as dynamic and situated accomplishments, enacted through talk, changing from one occasion to the next. Similarly, identities are social categories and are personal and unique. </a:t>
            </a:r>
          </a:p>
          <a:p>
            <a:r>
              <a:rPr lang="en-US" altLang="zh-CN" sz="2400" dirty="0">
                <a:solidFill>
                  <a:srgbClr val="FF0000"/>
                </a:solidFill>
                <a:latin typeface="Times New Roman" panose="02020603050405020304" pitchFamily="18" charset="0"/>
                <a:cs typeface="Times New Roman" panose="02020603050405020304" pitchFamily="18" charset="0"/>
              </a:rPr>
              <a:t>Ting-Toomey</a:t>
            </a:r>
            <a:r>
              <a:rPr lang="en-US" altLang="zh-CN" sz="2400" dirty="0">
                <a:latin typeface="Times New Roman" panose="02020603050405020304" pitchFamily="18" charset="0"/>
                <a:cs typeface="Times New Roman" panose="02020603050405020304" pitchFamily="18" charset="0"/>
              </a:rPr>
              <a:t> echoes this inclusive nature when she considers identity to be </a:t>
            </a:r>
            <a:r>
              <a:rPr lang="en-US" altLang="zh-CN" sz="2400" dirty="0">
                <a:solidFill>
                  <a:srgbClr val="FF0000"/>
                </a:solidFill>
                <a:latin typeface="Times New Roman" panose="02020603050405020304" pitchFamily="18" charset="0"/>
                <a:cs typeface="Times New Roman" panose="02020603050405020304" pitchFamily="18" charset="0"/>
              </a:rPr>
              <a:t>the reflective self-conception or self-image </a:t>
            </a:r>
            <a:r>
              <a:rPr lang="en-US" altLang="zh-CN" sz="2400" dirty="0">
                <a:latin typeface="Times New Roman" panose="02020603050405020304" pitchFamily="18" charset="0"/>
                <a:cs typeface="Times New Roman" panose="02020603050405020304" pitchFamily="18" charset="0"/>
              </a:rPr>
              <a:t>that we derive from our family, gender, cultural, ethnic and individual socialization processes. </a:t>
            </a:r>
            <a:r>
              <a:rPr lang="en-US" altLang="zh-CN" sz="2400" dirty="0">
                <a:solidFill>
                  <a:srgbClr val="FF0000"/>
                </a:solidFill>
                <a:latin typeface="Times New Roman" panose="02020603050405020304" pitchFamily="18" charset="0"/>
                <a:cs typeface="Times New Roman" panose="02020603050405020304" pitchFamily="18" charset="0"/>
              </a:rPr>
              <a:t>Identity basically refers to the reflective views of ourselves and other perceptions of our self-images</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a:p>
            <a:endParaRPr lang="zh-CN" altLang="en-US" dirty="0"/>
          </a:p>
        </p:txBody>
      </p:sp>
      <p:sp>
        <p:nvSpPr>
          <p:cNvPr id="4" name="标题 1"/>
          <p:cNvSpPr txBox="1">
            <a:spLocks/>
          </p:cNvSpPr>
          <p:nvPr/>
        </p:nvSpPr>
        <p:spPr>
          <a:xfrm>
            <a:off x="-117070" y="530324"/>
            <a:ext cx="9072605"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Scholars’ definition of identity </a:t>
            </a:r>
            <a:r>
              <a:rPr lang="en-US" altLang="zh-CN" dirty="0">
                <a:highlight>
                  <a:srgbClr val="FFFF00"/>
                </a:highlight>
                <a:latin typeface="Times New Roman" panose="02020603050405020304" pitchFamily="18" charset="0"/>
                <a:cs typeface="Times New Roman" panose="02020603050405020304" pitchFamily="18" charset="0"/>
              </a:rPr>
              <a:t>P168</a:t>
            </a:r>
            <a:endParaRPr lang="zh-CN" altLang="en-US"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9566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470" y="2464904"/>
            <a:ext cx="8229600" cy="4525963"/>
          </a:xfrm>
        </p:spPr>
        <p:txBody>
          <a:bodyPr/>
          <a:lstStyle/>
          <a:p>
            <a:r>
              <a:rPr lang="en-US" altLang="zh-CN" dirty="0">
                <a:solidFill>
                  <a:srgbClr val="FF0000"/>
                </a:solidFill>
                <a:latin typeface="Times New Roman" panose="02020603050405020304" pitchFamily="18" charset="0"/>
                <a:cs typeface="Times New Roman" panose="02020603050405020304" pitchFamily="18" charset="0"/>
              </a:rPr>
              <a:t>Fong</a:t>
            </a:r>
            <a:r>
              <a:rPr lang="en-US" altLang="zh-CN" dirty="0">
                <a:latin typeface="Times New Roman" panose="02020603050405020304" pitchFamily="18" charset="0"/>
                <a:cs typeface="Times New Roman" panose="02020603050405020304" pitchFamily="18" charset="0"/>
              </a:rPr>
              <a:t> defines cultural identity as the identification of communications of a shared system of symbolic verbal and nonverbal behavior that are meaningful to group members who have a sense of belonging and who share traditions, heritage, language, and similar norms of appropriate behavior. Cultural identity is a social construction.</a:t>
            </a:r>
            <a:endParaRPr lang="zh-CN" altLang="en-US"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11829" y="572205"/>
            <a:ext cx="9458107"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Scholars’ definition of cultural identity </a:t>
            </a:r>
            <a:r>
              <a:rPr lang="en-US" altLang="zh-CN" sz="3600" dirty="0">
                <a:highlight>
                  <a:srgbClr val="FFFF00"/>
                </a:highlight>
                <a:latin typeface="Times New Roman" panose="02020603050405020304" pitchFamily="18" charset="0"/>
                <a:cs typeface="Times New Roman" panose="02020603050405020304" pitchFamily="18" charset="0"/>
              </a:rPr>
              <a:t>P168</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981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7383" y="2504661"/>
            <a:ext cx="8229600" cy="4525963"/>
          </a:xfrm>
        </p:spPr>
        <p:txBody>
          <a:bodyPr/>
          <a:lstStyle/>
          <a:p>
            <a:r>
              <a:rPr lang="en-US" altLang="zh-CN" sz="2400" dirty="0">
                <a:solidFill>
                  <a:srgbClr val="FF0000"/>
                </a:solidFill>
                <a:latin typeface="Times New Roman" panose="02020603050405020304" pitchFamily="18" charset="0"/>
                <a:cs typeface="Times New Roman" panose="02020603050405020304" pitchFamily="18" charset="0"/>
              </a:rPr>
              <a:t>Ting-Toomey and Chung’s </a:t>
            </a:r>
            <a:r>
              <a:rPr lang="en-US" altLang="zh-CN" sz="2400" dirty="0">
                <a:latin typeface="Times New Roman" panose="02020603050405020304" pitchFamily="18" charset="0"/>
                <a:cs typeface="Times New Roman" panose="02020603050405020304" pitchFamily="18" charset="0"/>
              </a:rPr>
              <a:t>definition: Cultural identity is the emotional significance that we attach to our sense of belonging or affiliation with the larger culture. </a:t>
            </a:r>
          </a:p>
          <a:p>
            <a:r>
              <a:rPr lang="en-US" altLang="zh-CN" sz="2400" dirty="0" err="1">
                <a:solidFill>
                  <a:srgbClr val="FF0000"/>
                </a:solidFill>
                <a:latin typeface="Times New Roman" panose="02020603050405020304" pitchFamily="18" charset="0"/>
                <a:cs typeface="Times New Roman" panose="02020603050405020304" pitchFamily="18" charset="0"/>
              </a:rPr>
              <a:t>Klyukanov</a:t>
            </a:r>
            <a:r>
              <a:rPr lang="en-US" altLang="zh-CN" sz="2400" dirty="0">
                <a:latin typeface="Times New Roman" panose="02020603050405020304" pitchFamily="18" charset="0"/>
                <a:cs typeface="Times New Roman" panose="02020603050405020304" pitchFamily="18" charset="0"/>
              </a:rPr>
              <a:t> sees cultural identity as membership in a group in which all people share the same symbolic meanings. </a:t>
            </a:r>
          </a:p>
          <a:p>
            <a:r>
              <a:rPr lang="en-US" altLang="zh-CN" sz="2400" dirty="0" err="1">
                <a:solidFill>
                  <a:srgbClr val="FF0000"/>
                </a:solidFill>
                <a:latin typeface="Times New Roman" panose="02020603050405020304" pitchFamily="18" charset="0"/>
                <a:cs typeface="Times New Roman" panose="02020603050405020304" pitchFamily="18" charset="0"/>
              </a:rPr>
              <a:t>Dervin</a:t>
            </a:r>
            <a:r>
              <a:rPr lang="en-US" altLang="zh-CN" sz="2400" dirty="0">
                <a:latin typeface="Times New Roman" panose="02020603050405020304" pitchFamily="18" charset="0"/>
                <a:cs typeface="Times New Roman" panose="02020603050405020304" pitchFamily="18" charset="0"/>
              </a:rPr>
              <a:t> defines cultural identity as what we construct whenever we are in contact with other human beings regardless of the fact that they are from the same environment or not. </a:t>
            </a:r>
            <a:endParaRPr lang="zh-CN" altLang="en-US" sz="2400" dirty="0">
              <a:latin typeface="Times New Roman" panose="02020603050405020304" pitchFamily="18" charset="0"/>
              <a:cs typeface="Times New Roman" panose="02020603050405020304" pitchFamily="18" charset="0"/>
            </a:endParaRPr>
          </a:p>
        </p:txBody>
      </p:sp>
      <p:sp>
        <p:nvSpPr>
          <p:cNvPr id="5" name="标题 1"/>
          <p:cNvSpPr txBox="1">
            <a:spLocks/>
          </p:cNvSpPr>
          <p:nvPr/>
        </p:nvSpPr>
        <p:spPr>
          <a:xfrm>
            <a:off x="127236" y="502405"/>
            <a:ext cx="884924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Scholars’ definition of cultural identity </a:t>
            </a:r>
            <a:r>
              <a:rPr lang="en-US" altLang="zh-CN" sz="3600" dirty="0">
                <a:highlight>
                  <a:srgbClr val="FFFF00"/>
                </a:highlight>
                <a:latin typeface="Times New Roman" panose="02020603050405020304" pitchFamily="18" charset="0"/>
                <a:cs typeface="Times New Roman" panose="02020603050405020304" pitchFamily="18" charset="0"/>
              </a:rPr>
              <a:t>P168</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45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94721"/>
            <a:ext cx="8229600" cy="4525963"/>
          </a:xfrm>
        </p:spPr>
        <p:txBody>
          <a:bodyPr/>
          <a:lstStyle/>
          <a:p>
            <a:r>
              <a:rPr lang="en-US" altLang="zh-CN" sz="2800" dirty="0">
                <a:latin typeface="Times New Roman" panose="02020603050405020304" pitchFamily="18" charset="0"/>
                <a:cs typeface="Times New Roman" panose="02020603050405020304" pitchFamily="18" charset="0"/>
              </a:rPr>
              <a:t>This series of definitions is trying to demonstrate that due to identity’s complexity and abstractness, it is difficult to construct a single, concise definition of identity that will be agreed on by everyone across the various academic disciplines.</a:t>
            </a:r>
          </a:p>
          <a:p>
            <a:r>
              <a:rPr lang="en-US" altLang="zh-CN" sz="2800" dirty="0">
                <a:latin typeface="Times New Roman" panose="02020603050405020304" pitchFamily="18" charset="0"/>
                <a:cs typeface="Times New Roman" panose="02020603050405020304" pitchFamily="18" charset="0"/>
              </a:rPr>
              <a:t>Regardless of the definition or term used, it is important to recognize that identities are </a:t>
            </a:r>
            <a:r>
              <a:rPr lang="en-US" altLang="zh-CN" sz="2800" b="1" dirty="0">
                <a:latin typeface="Times New Roman" panose="02020603050405020304" pitchFamily="18" charset="0"/>
                <a:cs typeface="Times New Roman" panose="02020603050405020304" pitchFamily="18" charset="0"/>
              </a:rPr>
              <a:t>dynamic</a:t>
            </a:r>
            <a:r>
              <a:rPr lang="en-US" altLang="zh-CN" sz="2800" dirty="0">
                <a:latin typeface="Times New Roman" panose="02020603050405020304" pitchFamily="18" charset="0"/>
                <a:cs typeface="Times New Roman" panose="02020603050405020304" pitchFamily="18" charset="0"/>
              </a:rPr>
              <a:t> and </a:t>
            </a:r>
            <a:r>
              <a:rPr lang="en-US" altLang="zh-CN" sz="2800" b="1" dirty="0">
                <a:latin typeface="Times New Roman" panose="02020603050405020304" pitchFamily="18" charset="0"/>
                <a:cs typeface="Times New Roman" panose="02020603050405020304" pitchFamily="18" charset="0"/>
              </a:rPr>
              <a:t>multiple</a:t>
            </a:r>
            <a:r>
              <a:rPr lang="en-US" altLang="zh-CN"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0" y="558245"/>
            <a:ext cx="9016763"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Scholars’ definition of identity </a:t>
            </a:r>
            <a:r>
              <a:rPr lang="en-US" altLang="zh-CN" dirty="0">
                <a:highlight>
                  <a:srgbClr val="FFFF00"/>
                </a:highlight>
                <a:latin typeface="Times New Roman" panose="02020603050405020304" pitchFamily="18" charset="0"/>
                <a:cs typeface="Times New Roman" panose="02020603050405020304" pitchFamily="18" charset="0"/>
              </a:rPr>
              <a:t>P168</a:t>
            </a:r>
            <a:endParaRPr lang="zh-CN" altLang="en-US" dirty="0">
              <a:highlight>
                <a:srgbClr val="FFFF00"/>
              </a:highlight>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4178603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sz="4000" dirty="0">
                <a:latin typeface="Times New Roman" panose="02020603050405020304" pitchFamily="18" charset="0"/>
                <a:cs typeface="Times New Roman" panose="02020603050405020304" pitchFamily="18" charset="0"/>
              </a:rPr>
              <a:t>Categories of identity</a:t>
            </a:r>
            <a:endParaRPr lang="zh-CN" altLang="en-US" sz="40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2584174"/>
            <a:ext cx="8229600" cy="4525963"/>
          </a:xfrm>
        </p:spPr>
        <p:txBody>
          <a:bodyPr/>
          <a:lstStyle/>
          <a:p>
            <a:r>
              <a:rPr lang="en-US" altLang="zh-CN" dirty="0">
                <a:latin typeface="Times New Roman" panose="02020603050405020304" pitchFamily="18" charset="0"/>
                <a:cs typeface="Times New Roman" panose="02020603050405020304" pitchFamily="18" charset="0"/>
                <a:hlinkClick r:id="rId2" action="ppaction://hlinksldjump"/>
              </a:rPr>
              <a:t>Turner’s three identity categories</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hlinkClick r:id="rId3" action="ppaction://hlinksldjump"/>
              </a:rPr>
              <a:t>Hall’s three identity categories</a:t>
            </a:r>
            <a:endParaRPr lang="zh-CN" altLang="en-US" dirty="0">
              <a:latin typeface="Times New Roman" panose="02020603050405020304" pitchFamily="18" charset="0"/>
              <a:cs typeface="Times New Roman" panose="02020603050405020304" pitchFamily="18" charset="0"/>
            </a:endParaRPr>
          </a:p>
        </p:txBody>
      </p:sp>
      <p:pic>
        <p:nvPicPr>
          <p:cNvPr id="4" name="图片 3">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3747182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195" y="478389"/>
            <a:ext cx="9140890" cy="1143000"/>
          </a:xfrm>
        </p:spPr>
        <p:txBody>
          <a:bodyPr/>
          <a:lstStyle/>
          <a:p>
            <a:r>
              <a:rPr lang="en-US" altLang="zh-CN" sz="4000" dirty="0">
                <a:latin typeface="Times New Roman" panose="02020603050405020304" pitchFamily="18" charset="0"/>
                <a:cs typeface="Times New Roman" panose="02020603050405020304" pitchFamily="18" charset="0"/>
              </a:rPr>
              <a:t>Turner’s three identity categories </a:t>
            </a:r>
            <a:r>
              <a:rPr lang="en-US" altLang="zh-CN" sz="4000" dirty="0">
                <a:highlight>
                  <a:srgbClr val="FFFF00"/>
                </a:highlight>
                <a:latin typeface="Times New Roman" panose="02020603050405020304" pitchFamily="18" charset="0"/>
                <a:cs typeface="Times New Roman" panose="02020603050405020304" pitchFamily="18" charset="0"/>
              </a:rPr>
              <a:t>P169</a:t>
            </a:r>
            <a:endParaRPr lang="zh-CN" altLang="en-US" sz="40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387626" y="2351915"/>
            <a:ext cx="8229600"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rPr>
              <a:t>Human identity</a:t>
            </a:r>
          </a:p>
          <a:p>
            <a:pPr>
              <a:lnSpc>
                <a:spcPct val="125000"/>
              </a:lnSpc>
              <a:spcBef>
                <a:spcPts val="0"/>
              </a:spcBef>
            </a:pPr>
            <a:r>
              <a:rPr lang="en-US" altLang="zh-CN" dirty="0">
                <a:latin typeface="Times New Roman" panose="02020603050405020304" pitchFamily="18" charset="0"/>
                <a:cs typeface="Times New Roman" panose="02020603050405020304" pitchFamily="18" charset="0"/>
              </a:rPr>
              <a:t>Social identity</a:t>
            </a:r>
          </a:p>
          <a:p>
            <a:pPr>
              <a:lnSpc>
                <a:spcPct val="125000"/>
              </a:lnSpc>
              <a:spcBef>
                <a:spcPts val="0"/>
              </a:spcBef>
            </a:pPr>
            <a:r>
              <a:rPr lang="en-US" altLang="zh-CN" dirty="0">
                <a:latin typeface="Times New Roman" panose="02020603050405020304" pitchFamily="18" charset="0"/>
                <a:cs typeface="Times New Roman" panose="02020603050405020304" pitchFamily="18" charset="0"/>
              </a:rPr>
              <a:t>Personal identity</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107" y="4515930"/>
            <a:ext cx="4319543" cy="1059922"/>
          </a:xfrm>
          <a:prstGeom prst="rect">
            <a:avLst/>
          </a:prstGeom>
        </p:spPr>
      </p:pic>
    </p:spTree>
    <p:extLst>
      <p:ext uri="{BB962C8B-B14F-4D97-AF65-F5344CB8AC3E}">
        <p14:creationId xmlns:p14="http://schemas.microsoft.com/office/powerpoint/2010/main" val="2994310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3421"/>
            <a:ext cx="8229600" cy="1143000"/>
          </a:xfrm>
        </p:spPr>
        <p:txBody>
          <a:bodyPr/>
          <a:lstStyle/>
          <a:p>
            <a:r>
              <a:rPr lang="en-US" altLang="zh-CN" dirty="0">
                <a:latin typeface="Times New Roman" panose="02020603050405020304" pitchFamily="18" charset="0"/>
                <a:cs typeface="Times New Roman" panose="02020603050405020304" pitchFamily="18" charset="0"/>
              </a:rPr>
              <a:t>Human identity </a:t>
            </a:r>
            <a:r>
              <a:rPr lang="en-US" altLang="zh-CN" dirty="0">
                <a:highlight>
                  <a:srgbClr val="FFFF00"/>
                </a:highlight>
                <a:latin typeface="Times New Roman" panose="02020603050405020304" pitchFamily="18" charset="0"/>
                <a:cs typeface="Times New Roman" panose="02020603050405020304" pitchFamily="18" charset="0"/>
              </a:rPr>
              <a:t>P169</a:t>
            </a:r>
            <a:endParaRPr lang="zh-CN" altLang="en-US" dirty="0">
              <a:highlight>
                <a:srgbClr val="FFFF00"/>
              </a:highlight>
            </a:endParaRPr>
          </a:p>
        </p:txBody>
      </p:sp>
      <p:sp>
        <p:nvSpPr>
          <p:cNvPr id="3" name="内容占位符 2"/>
          <p:cNvSpPr>
            <a:spLocks noGrp="1"/>
          </p:cNvSpPr>
          <p:nvPr>
            <p:ph idx="1"/>
          </p:nvPr>
        </p:nvSpPr>
        <p:spPr>
          <a:xfrm>
            <a:off x="337931" y="2594113"/>
            <a:ext cx="8229600" cy="4525963"/>
          </a:xfrm>
        </p:spPr>
        <p:txBody>
          <a:bodyPr/>
          <a:lstStyle/>
          <a:p>
            <a:pPr marL="324000" indent="-324000">
              <a:lnSpc>
                <a:spcPct val="125000"/>
              </a:lnSpc>
              <a:spcBef>
                <a:spcPts val="0"/>
              </a:spcBef>
            </a:pPr>
            <a:r>
              <a:rPr lang="en-US" altLang="zh-CN" b="1" dirty="0">
                <a:latin typeface="Times New Roman" panose="02020603050405020304" pitchFamily="18" charset="0"/>
                <a:cs typeface="Times New Roman" panose="02020603050405020304" pitchFamily="18" charset="0"/>
              </a:rPr>
              <a:t>Human identities </a:t>
            </a:r>
            <a:r>
              <a:rPr lang="en-US" altLang="zh-CN" dirty="0">
                <a:latin typeface="Times New Roman" panose="02020603050405020304" pitchFamily="18" charset="0"/>
                <a:cs typeface="Times New Roman" panose="02020603050405020304" pitchFamily="18" charset="0"/>
              </a:rPr>
              <a:t>are those perceptions of self that link you to the whole of humanity and separate you from other life forms. </a:t>
            </a:r>
          </a:p>
          <a:p>
            <a:endParaRPr lang="zh-CN" altLang="en-US" dirty="0"/>
          </a:p>
        </p:txBody>
      </p:sp>
    </p:spTree>
    <p:extLst>
      <p:ext uri="{BB962C8B-B14F-4D97-AF65-F5344CB8AC3E}">
        <p14:creationId xmlns:p14="http://schemas.microsoft.com/office/powerpoint/2010/main" val="19078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017" y="433664"/>
            <a:ext cx="8229600" cy="1143000"/>
          </a:xfrm>
        </p:spPr>
        <p:txBody>
          <a:bodyPr/>
          <a:lstStyle/>
          <a:p>
            <a:r>
              <a:rPr lang="en-US" altLang="zh-CN" dirty="0">
                <a:latin typeface="Times New Roman" panose="02020603050405020304" pitchFamily="18" charset="0"/>
                <a:cs typeface="Times New Roman" panose="02020603050405020304" pitchFamily="18" charset="0"/>
              </a:rPr>
              <a:t>Social identity </a:t>
            </a:r>
            <a:r>
              <a:rPr lang="en-US" altLang="zh-CN" dirty="0">
                <a:highlight>
                  <a:srgbClr val="FFFF00"/>
                </a:highlight>
                <a:latin typeface="Times New Roman" panose="02020603050405020304" pitchFamily="18" charset="0"/>
                <a:cs typeface="Times New Roman" panose="02020603050405020304" pitchFamily="18" charset="0"/>
              </a:rPr>
              <a:t>P169</a:t>
            </a:r>
            <a:endParaRPr lang="zh-CN" altLang="en-US" dirty="0">
              <a:highlight>
                <a:srgbClr val="FFFF00"/>
              </a:highlight>
            </a:endParaRPr>
          </a:p>
        </p:txBody>
      </p:sp>
      <p:sp>
        <p:nvSpPr>
          <p:cNvPr id="3" name="内容占位符 2"/>
          <p:cNvSpPr>
            <a:spLocks noGrp="1"/>
          </p:cNvSpPr>
          <p:nvPr>
            <p:ph idx="1"/>
          </p:nvPr>
        </p:nvSpPr>
        <p:spPr>
          <a:xfrm>
            <a:off x="387626" y="2564295"/>
            <a:ext cx="8229600" cy="4525963"/>
          </a:xfrm>
        </p:spPr>
        <p:txBody>
          <a:bodyPr/>
          <a:lstStyle/>
          <a:p>
            <a:pPr>
              <a:lnSpc>
                <a:spcPct val="125000"/>
              </a:lnSpc>
              <a:spcBef>
                <a:spcPts val="0"/>
              </a:spcBef>
            </a:pPr>
            <a:r>
              <a:rPr lang="en-US" altLang="zh-CN" b="1" dirty="0">
                <a:latin typeface="Times New Roman" panose="02020603050405020304" pitchFamily="18" charset="0"/>
                <a:cs typeface="Times New Roman" panose="02020603050405020304" pitchFamily="18" charset="0"/>
              </a:rPr>
              <a:t>Social identities </a:t>
            </a:r>
            <a:r>
              <a:rPr lang="en-US" altLang="zh-CN" dirty="0">
                <a:latin typeface="Times New Roman" panose="02020603050405020304" pitchFamily="18" charset="0"/>
                <a:cs typeface="Times New Roman" panose="02020603050405020304" pitchFamily="18" charset="0"/>
              </a:rPr>
              <a:t>are a result of being a member of some social groups and nonmember of others (i.e., the in-group/out-group dichotomy). </a:t>
            </a:r>
          </a:p>
          <a:p>
            <a:endParaRPr lang="zh-CN" altLang="en-US" dirty="0"/>
          </a:p>
        </p:txBody>
      </p:sp>
    </p:spTree>
    <p:extLst>
      <p:ext uri="{BB962C8B-B14F-4D97-AF65-F5344CB8AC3E}">
        <p14:creationId xmlns:p14="http://schemas.microsoft.com/office/powerpoint/2010/main" val="3467769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7687" y="423724"/>
            <a:ext cx="8229600" cy="1143000"/>
          </a:xfrm>
        </p:spPr>
        <p:txBody>
          <a:bodyPr/>
          <a:lstStyle/>
          <a:p>
            <a:r>
              <a:rPr lang="en-US" altLang="zh-CN" dirty="0">
                <a:latin typeface="Times New Roman" panose="02020603050405020304" pitchFamily="18" charset="0"/>
                <a:cs typeface="Times New Roman" panose="02020603050405020304" pitchFamily="18" charset="0"/>
              </a:rPr>
              <a:t>Personal identity </a:t>
            </a:r>
            <a:r>
              <a:rPr lang="en-US" altLang="zh-CN" dirty="0">
                <a:highlight>
                  <a:srgbClr val="FFFF00"/>
                </a:highlight>
                <a:latin typeface="Times New Roman" panose="02020603050405020304" pitchFamily="18" charset="0"/>
                <a:cs typeface="Times New Roman" panose="02020603050405020304" pitchFamily="18" charset="0"/>
              </a:rPr>
              <a:t>P169</a:t>
            </a:r>
            <a:endParaRPr lang="zh-CN" altLang="en-US" dirty="0">
              <a:highlight>
                <a:srgbClr val="FFFF00"/>
              </a:highlight>
            </a:endParaRPr>
          </a:p>
        </p:txBody>
      </p:sp>
      <p:sp>
        <p:nvSpPr>
          <p:cNvPr id="3" name="内容占位符 2"/>
          <p:cNvSpPr>
            <a:spLocks noGrp="1"/>
          </p:cNvSpPr>
          <p:nvPr>
            <p:ph idx="1"/>
          </p:nvPr>
        </p:nvSpPr>
        <p:spPr>
          <a:xfrm>
            <a:off x="377687" y="2594113"/>
            <a:ext cx="8229600" cy="4525963"/>
          </a:xfrm>
        </p:spPr>
        <p:txBody>
          <a:bodyPr/>
          <a:lstStyle/>
          <a:p>
            <a:pPr marL="324000" indent="-324000">
              <a:lnSpc>
                <a:spcPct val="125000"/>
              </a:lnSpc>
              <a:spcBef>
                <a:spcPts val="0"/>
              </a:spcBef>
            </a:pPr>
            <a:r>
              <a:rPr lang="en-US" altLang="zh-CN" b="1" dirty="0">
                <a:latin typeface="Times New Roman" panose="02020603050405020304" pitchFamily="18" charset="0"/>
                <a:cs typeface="Times New Roman" panose="02020603050405020304" pitchFamily="18" charset="0"/>
              </a:rPr>
              <a:t>Personal identity </a:t>
            </a:r>
            <a:r>
              <a:rPr lang="en-US" altLang="zh-CN" dirty="0">
                <a:latin typeface="Times New Roman" panose="02020603050405020304" pitchFamily="18" charset="0"/>
                <a:cs typeface="Times New Roman" panose="02020603050405020304" pitchFamily="18" charset="0"/>
              </a:rPr>
              <a:t>is what sets you apart from other in-group members and marks you as special or unique. </a:t>
            </a:r>
            <a:endParaRPr lang="zh-CN" altLang="en-US"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2259849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046" y="453004"/>
            <a:ext cx="8229600" cy="1143000"/>
          </a:xfrm>
        </p:spPr>
        <p:txBody>
          <a:bodyPr/>
          <a:lstStyle/>
          <a:p>
            <a:r>
              <a:rPr lang="en-US" altLang="zh-CN" dirty="0">
                <a:latin typeface="Times New Roman" panose="02020603050405020304" pitchFamily="18" charset="0"/>
                <a:cs typeface="Times New Roman" panose="02020603050405020304" pitchFamily="18" charset="0"/>
              </a:rPr>
              <a:t>Hall’s three identity categories</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665922" y="2386986"/>
            <a:ext cx="8229600"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rPr>
              <a:t>Personal identity</a:t>
            </a:r>
          </a:p>
          <a:p>
            <a:pPr>
              <a:lnSpc>
                <a:spcPct val="125000"/>
              </a:lnSpc>
              <a:spcBef>
                <a:spcPts val="0"/>
              </a:spcBef>
            </a:pPr>
            <a:r>
              <a:rPr lang="en-US" altLang="zh-CN" dirty="0">
                <a:latin typeface="Times New Roman" panose="02020603050405020304" pitchFamily="18" charset="0"/>
                <a:cs typeface="Times New Roman" panose="02020603050405020304" pitchFamily="18" charset="0"/>
              </a:rPr>
              <a:t>Relational identity</a:t>
            </a:r>
          </a:p>
          <a:p>
            <a:pPr>
              <a:lnSpc>
                <a:spcPct val="125000"/>
              </a:lnSpc>
              <a:spcBef>
                <a:spcPts val="0"/>
              </a:spcBef>
            </a:pPr>
            <a:r>
              <a:rPr lang="en-US" altLang="zh-CN" dirty="0">
                <a:latin typeface="Times New Roman" panose="02020603050405020304" pitchFamily="18" charset="0"/>
                <a:cs typeface="Times New Roman" panose="02020603050405020304" pitchFamily="18" charset="0"/>
              </a:rPr>
              <a:t>Communal identity</a:t>
            </a:r>
          </a:p>
          <a:p>
            <a:endParaRPr lang="zh-CN" altLang="en-US"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922" y="4649967"/>
            <a:ext cx="4130646" cy="1104789"/>
          </a:xfrm>
          <a:prstGeom prst="rect">
            <a:avLst/>
          </a:prstGeom>
        </p:spPr>
      </p:pic>
    </p:spTree>
    <p:extLst>
      <p:ext uri="{BB962C8B-B14F-4D97-AF65-F5344CB8AC3E}">
        <p14:creationId xmlns:p14="http://schemas.microsoft.com/office/powerpoint/2010/main" val="800521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63482"/>
            <a:ext cx="8229600" cy="1143000"/>
          </a:xfrm>
        </p:spPr>
        <p:txBody>
          <a:bodyPr/>
          <a:lstStyle/>
          <a:p>
            <a:r>
              <a:rPr lang="en-US" altLang="zh-CN" dirty="0">
                <a:latin typeface="Times New Roman" panose="02020603050405020304" pitchFamily="18" charset="0"/>
                <a:cs typeface="Times New Roman" panose="02020603050405020304" pitchFamily="18" charset="0"/>
              </a:rPr>
              <a:t>Personal identity </a:t>
            </a:r>
            <a:r>
              <a:rPr lang="en-US" altLang="zh-CN" dirty="0">
                <a:highlight>
                  <a:srgbClr val="FFFF00"/>
                </a:highlight>
                <a:latin typeface="Times New Roman" panose="02020603050405020304" pitchFamily="18" charset="0"/>
                <a:cs typeface="Times New Roman" panose="02020603050405020304" pitchFamily="18" charset="0"/>
              </a:rPr>
              <a:t>P170</a:t>
            </a:r>
            <a:endParaRPr lang="zh-CN" altLang="en-US" dirty="0">
              <a:highlight>
                <a:srgbClr val="FFFF00"/>
              </a:highlight>
            </a:endParaRPr>
          </a:p>
        </p:txBody>
      </p:sp>
      <p:sp>
        <p:nvSpPr>
          <p:cNvPr id="3" name="内容占位符 2"/>
          <p:cNvSpPr>
            <a:spLocks noGrp="1"/>
          </p:cNvSpPr>
          <p:nvPr>
            <p:ph idx="1"/>
          </p:nvPr>
        </p:nvSpPr>
        <p:spPr>
          <a:xfrm>
            <a:off x="457200" y="2653748"/>
            <a:ext cx="8229600" cy="4525963"/>
          </a:xfrm>
        </p:spPr>
        <p:txBody>
          <a:bodyPr/>
          <a:lstStyle/>
          <a:p>
            <a:pPr>
              <a:lnSpc>
                <a:spcPct val="125000"/>
              </a:lnSpc>
              <a:spcBef>
                <a:spcPts val="0"/>
              </a:spcBef>
            </a:pPr>
            <a:r>
              <a:rPr lang="en-US" altLang="zh-CN" b="1" dirty="0">
                <a:latin typeface="Times New Roman" panose="02020603050405020304" pitchFamily="18" charset="0"/>
                <a:cs typeface="Times New Roman" panose="02020603050405020304" pitchFamily="18" charset="0"/>
              </a:rPr>
              <a:t>Personal identities </a:t>
            </a:r>
            <a:r>
              <a:rPr lang="en-US" altLang="zh-CN" dirty="0">
                <a:latin typeface="Times New Roman" panose="02020603050405020304" pitchFamily="18" charset="0"/>
                <a:cs typeface="Times New Roman" panose="02020603050405020304" pitchFamily="18" charset="0"/>
              </a:rPr>
              <a:t>are those that set you apart from other people and make you distinct. </a:t>
            </a:r>
          </a:p>
          <a:p>
            <a:endParaRPr lang="zh-CN" altLang="en-US" dirty="0"/>
          </a:p>
        </p:txBody>
      </p:sp>
    </p:spTree>
    <p:extLst>
      <p:ext uri="{BB962C8B-B14F-4D97-AF65-F5344CB8AC3E}">
        <p14:creationId xmlns:p14="http://schemas.microsoft.com/office/powerpoint/2010/main" val="314120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93299"/>
            <a:ext cx="8229600" cy="1143000"/>
          </a:xfrm>
        </p:spPr>
        <p:txBody>
          <a:bodyPr/>
          <a:lstStyle/>
          <a:p>
            <a:r>
              <a:rPr lang="en-US" altLang="zh-CN" dirty="0">
                <a:latin typeface="Times New Roman" panose="02020603050405020304" pitchFamily="18" charset="0"/>
                <a:cs typeface="Times New Roman" panose="02020603050405020304" pitchFamily="18" charset="0"/>
              </a:rPr>
              <a:t>Relational identity </a:t>
            </a:r>
            <a:r>
              <a:rPr lang="en-US" altLang="zh-CN" dirty="0">
                <a:highlight>
                  <a:srgbClr val="FFFF00"/>
                </a:highlight>
                <a:latin typeface="Times New Roman" panose="02020603050405020304" pitchFamily="18" charset="0"/>
                <a:cs typeface="Times New Roman" panose="02020603050405020304" pitchFamily="18" charset="0"/>
              </a:rPr>
              <a:t>P170</a:t>
            </a:r>
            <a:endParaRPr lang="zh-CN" altLang="en-US" dirty="0">
              <a:highlight>
                <a:srgbClr val="FFFF00"/>
              </a:highlight>
            </a:endParaRPr>
          </a:p>
        </p:txBody>
      </p:sp>
      <p:sp>
        <p:nvSpPr>
          <p:cNvPr id="3" name="内容占位符 2"/>
          <p:cNvSpPr>
            <a:spLocks noGrp="1"/>
          </p:cNvSpPr>
          <p:nvPr>
            <p:ph idx="1"/>
          </p:nvPr>
        </p:nvSpPr>
        <p:spPr>
          <a:xfrm>
            <a:off x="457200" y="2643809"/>
            <a:ext cx="8865704" cy="4525963"/>
          </a:xfrm>
        </p:spPr>
        <p:txBody>
          <a:bodyPr/>
          <a:lstStyle/>
          <a:p>
            <a:pPr>
              <a:lnSpc>
                <a:spcPct val="125000"/>
              </a:lnSpc>
              <a:spcBef>
                <a:spcPts val="0"/>
              </a:spcBef>
            </a:pPr>
            <a:r>
              <a:rPr lang="en-US" altLang="zh-CN" b="1" dirty="0">
                <a:latin typeface="Times New Roman" panose="02020603050405020304" pitchFamily="18" charset="0"/>
                <a:cs typeface="Times New Roman" panose="02020603050405020304" pitchFamily="18" charset="0"/>
              </a:rPr>
              <a:t>Relational identities </a:t>
            </a:r>
            <a:r>
              <a:rPr lang="en-US" altLang="zh-CN" dirty="0">
                <a:latin typeface="Times New Roman" panose="02020603050405020304" pitchFamily="18" charset="0"/>
                <a:cs typeface="Times New Roman" panose="02020603050405020304" pitchFamily="18" charset="0"/>
              </a:rPr>
              <a:t>are a product of your relationships with other people, such as husband/wife, teacher/student, and supervisor/employee. </a:t>
            </a:r>
          </a:p>
          <a:p>
            <a:endParaRPr lang="zh-CN" altLang="en-US" dirty="0"/>
          </a:p>
        </p:txBody>
      </p:sp>
    </p:spTree>
    <p:extLst>
      <p:ext uri="{BB962C8B-B14F-4D97-AF65-F5344CB8AC3E}">
        <p14:creationId xmlns:p14="http://schemas.microsoft.com/office/powerpoint/2010/main" val="1108780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33664"/>
            <a:ext cx="8229600" cy="1143000"/>
          </a:xfrm>
        </p:spPr>
        <p:txBody>
          <a:bodyPr/>
          <a:lstStyle/>
          <a:p>
            <a:r>
              <a:rPr lang="en-US" altLang="zh-CN" dirty="0">
                <a:latin typeface="Times New Roman" panose="02020603050405020304" pitchFamily="18" charset="0"/>
                <a:cs typeface="Times New Roman" panose="02020603050405020304" pitchFamily="18" charset="0"/>
              </a:rPr>
              <a:t>Communal identity </a:t>
            </a:r>
            <a:r>
              <a:rPr lang="en-US" altLang="zh-CN" dirty="0">
                <a:highlight>
                  <a:srgbClr val="FFFF00"/>
                </a:highlight>
                <a:latin typeface="Times New Roman" panose="02020603050405020304" pitchFamily="18" charset="0"/>
                <a:cs typeface="Times New Roman" panose="02020603050405020304" pitchFamily="18" charset="0"/>
              </a:rPr>
              <a:t>P170</a:t>
            </a:r>
            <a:endParaRPr lang="zh-CN" altLang="en-US" dirty="0">
              <a:highlight>
                <a:srgbClr val="FFFF00"/>
              </a:highlight>
            </a:endParaRPr>
          </a:p>
        </p:txBody>
      </p:sp>
      <p:sp>
        <p:nvSpPr>
          <p:cNvPr id="3" name="内容占位符 2"/>
          <p:cNvSpPr>
            <a:spLocks noGrp="1"/>
          </p:cNvSpPr>
          <p:nvPr>
            <p:ph idx="1"/>
          </p:nvPr>
        </p:nvSpPr>
        <p:spPr>
          <a:xfrm>
            <a:off x="457200" y="2653748"/>
            <a:ext cx="8229600" cy="4525963"/>
          </a:xfrm>
        </p:spPr>
        <p:txBody>
          <a:bodyPr/>
          <a:lstStyle/>
          <a:p>
            <a:pPr>
              <a:lnSpc>
                <a:spcPct val="125000"/>
              </a:lnSpc>
              <a:spcBef>
                <a:spcPts val="0"/>
              </a:spcBef>
            </a:pPr>
            <a:r>
              <a:rPr lang="en-US" altLang="zh-CN" b="1" dirty="0">
                <a:latin typeface="Times New Roman" panose="02020603050405020304" pitchFamily="18" charset="0"/>
                <a:cs typeface="Times New Roman" panose="02020603050405020304" pitchFamily="18" charset="0"/>
              </a:rPr>
              <a:t>Communal identities </a:t>
            </a:r>
            <a:r>
              <a:rPr lang="en-US" altLang="zh-CN" dirty="0">
                <a:latin typeface="Times New Roman" panose="02020603050405020304" pitchFamily="18" charset="0"/>
                <a:cs typeface="Times New Roman" panose="02020603050405020304" pitchFamily="18" charset="0"/>
              </a:rPr>
              <a:t>are typically associated with large-scale social communities, such as nationality, ethnicity, gender, or religious or political affiliation. </a:t>
            </a:r>
            <a:endParaRPr lang="zh-CN" altLang="en-US" dirty="0">
              <a:latin typeface="Times New Roman" panose="02020603050405020304" pitchFamily="18" charset="0"/>
              <a:cs typeface="Times New Roman" panose="02020603050405020304" pitchFamily="18" charset="0"/>
            </a:endParaRPr>
          </a:p>
          <a:p>
            <a:endParaRPr lang="zh-CN" altLang="en-US" dirty="0"/>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7450" y="5915784"/>
            <a:ext cx="1017104" cy="1017104"/>
          </a:xfrm>
          <a:prstGeom prst="rect">
            <a:avLst/>
          </a:prstGeom>
        </p:spPr>
      </p:pic>
    </p:spTree>
    <p:extLst>
      <p:ext uri="{BB962C8B-B14F-4D97-AF65-F5344CB8AC3E}">
        <p14:creationId xmlns:p14="http://schemas.microsoft.com/office/powerpoint/2010/main" val="1548177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5.2 The Influence of Identity </a:t>
            </a:r>
            <a:r>
              <a:rPr lang="en-US" altLang="zh-CN" dirty="0">
                <a:highlight>
                  <a:srgbClr val="FFFF00"/>
                </a:highlight>
                <a:latin typeface="Times New Roman" panose="02020603050405020304" pitchFamily="18" charset="0"/>
                <a:cs typeface="Times New Roman" panose="02020603050405020304" pitchFamily="18" charset="0"/>
              </a:rPr>
              <a:t>P171</a:t>
            </a:r>
            <a:endParaRPr lang="zh-CN" altLang="en-US" dirty="0">
              <a:highlight>
                <a:srgbClr val="FFFF00"/>
              </a:highlight>
            </a:endParaRPr>
          </a:p>
        </p:txBody>
      </p:sp>
      <p:sp>
        <p:nvSpPr>
          <p:cNvPr id="3" name="内容占位符 2"/>
          <p:cNvSpPr>
            <a:spLocks noGrp="1"/>
          </p:cNvSpPr>
          <p:nvPr>
            <p:ph idx="1"/>
          </p:nvPr>
        </p:nvSpPr>
        <p:spPr>
          <a:xfrm>
            <a:off x="457200" y="2171354"/>
            <a:ext cx="8229600" cy="4525963"/>
          </a:xfrm>
        </p:spPr>
        <p:txBody>
          <a:bodyPr/>
          <a:lstStyle/>
          <a:p>
            <a:pPr algn="just">
              <a:lnSpc>
                <a:spcPct val="125000"/>
              </a:lnSpc>
              <a:spcBef>
                <a:spcPts val="0"/>
              </a:spcBef>
            </a:pPr>
            <a:r>
              <a:rPr lang="en-US" altLang="zh-CN" sz="2400" dirty="0">
                <a:latin typeface="Times New Roman" panose="02020603050405020304" pitchFamily="18" charset="0"/>
                <a:cs typeface="Times New Roman" panose="02020603050405020304" pitchFamily="18" charset="0"/>
              </a:rPr>
              <a:t>As people struggle to adapt to the new technology-driven social order, </a:t>
            </a:r>
            <a:r>
              <a:rPr lang="en-US" altLang="zh-CN" sz="2400" dirty="0">
                <a:solidFill>
                  <a:srgbClr val="FF0000"/>
                </a:solidFill>
                <a:latin typeface="Times New Roman" panose="02020603050405020304" pitchFamily="18" charset="0"/>
                <a:cs typeface="Times New Roman" panose="02020603050405020304" pitchFamily="18" charset="0"/>
              </a:rPr>
              <a:t>the push of globalization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FF0000"/>
                </a:solidFill>
                <a:latin typeface="Times New Roman" panose="02020603050405020304" pitchFamily="18" charset="0"/>
                <a:cs typeface="Times New Roman" panose="02020603050405020304" pitchFamily="18" charset="0"/>
              </a:rPr>
              <a:t>pull of traditional norms</a:t>
            </a:r>
            <a:r>
              <a:rPr lang="en-US" altLang="zh-CN" sz="2400" dirty="0">
                <a:latin typeface="Times New Roman" panose="02020603050405020304" pitchFamily="18" charset="0"/>
                <a:cs typeface="Times New Roman" panose="02020603050405020304" pitchFamily="18" charset="0"/>
              </a:rPr>
              <a:t> are becoming considerations in how they live their lives and with whom they interact.</a:t>
            </a:r>
          </a:p>
          <a:p>
            <a:pPr algn="just">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study of identity in intercultural communication tends to </a:t>
            </a:r>
            <a:r>
              <a:rPr lang="en-US" altLang="zh-CN" sz="2400" dirty="0">
                <a:solidFill>
                  <a:srgbClr val="FF0000"/>
                </a:solidFill>
                <a:latin typeface="Times New Roman" panose="02020603050405020304" pitchFamily="18" charset="0"/>
                <a:cs typeface="Times New Roman" panose="02020603050405020304" pitchFamily="18" charset="0"/>
              </a:rPr>
              <a:t>focus on </a:t>
            </a:r>
            <a:r>
              <a:rPr lang="en-US" altLang="zh-CN" sz="2400" dirty="0">
                <a:latin typeface="Times New Roman" panose="02020603050405020304" pitchFamily="18" charset="0"/>
                <a:cs typeface="Times New Roman" panose="02020603050405020304" pitchFamily="18" charset="0"/>
              </a:rPr>
              <a:t>how identity influences and guides expectations about one’s own and others’ social roles and provides guidelines for communicating with others.</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2014453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18707"/>
            <a:ext cx="8229600" cy="1143000"/>
          </a:xfrm>
        </p:spPr>
        <p:txBody>
          <a:bodyPr/>
          <a:lstStyle/>
          <a:p>
            <a:r>
              <a:rPr lang="en-US" altLang="zh-CN" dirty="0">
                <a:latin typeface="Times New Roman" panose="02020603050405020304" pitchFamily="18" charset="0"/>
                <a:cs typeface="Times New Roman" panose="02020603050405020304" pitchFamily="18" charset="0"/>
              </a:rPr>
              <a:t>5.3 Examining Social Identities </a:t>
            </a:r>
            <a:r>
              <a:rPr lang="en-US" altLang="zh-CN" dirty="0">
                <a:highlight>
                  <a:srgbClr val="FFFF00"/>
                </a:highlight>
                <a:latin typeface="Times New Roman" panose="02020603050405020304" pitchFamily="18" charset="0"/>
                <a:cs typeface="Times New Roman" panose="02020603050405020304" pitchFamily="18" charset="0"/>
              </a:rPr>
              <a:t>P171-172</a:t>
            </a:r>
            <a:endParaRPr lang="zh-CN" altLang="en-US" dirty="0">
              <a:highlight>
                <a:srgbClr val="FFFF00"/>
              </a:highlight>
            </a:endParaRPr>
          </a:p>
        </p:txBody>
      </p:sp>
      <p:sp>
        <p:nvSpPr>
          <p:cNvPr id="3" name="内容占位符 2"/>
          <p:cNvSpPr>
            <a:spLocks noGrp="1"/>
          </p:cNvSpPr>
          <p:nvPr>
            <p:ph idx="1"/>
          </p:nvPr>
        </p:nvSpPr>
        <p:spPr>
          <a:xfrm>
            <a:off x="377687" y="2445026"/>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It is important to recognize </a:t>
            </a:r>
            <a:r>
              <a:rPr lang="en-US" altLang="zh-CN" sz="2400" dirty="0">
                <a:solidFill>
                  <a:srgbClr val="FF0000"/>
                </a:solidFill>
                <a:latin typeface="Times New Roman" panose="02020603050405020304" pitchFamily="18" charset="0"/>
                <a:cs typeface="Times New Roman" panose="02020603050405020304" pitchFamily="18" charset="0"/>
              </a:rPr>
              <a:t>that your identity is actually a product of multiple identities</a:t>
            </a:r>
            <a:r>
              <a:rPr lang="en-US" altLang="zh-CN" sz="2400" dirty="0">
                <a:latin typeface="Times New Roman" panose="02020603050405020304" pitchFamily="18" charset="0"/>
                <a:cs typeface="Times New Roman" panose="02020603050405020304" pitchFamily="18" charset="0"/>
              </a:rPr>
              <a:t>, sometimes acting in concert and at other times acting singularly. The salience of any identity generally varies according to the </a:t>
            </a:r>
            <a:r>
              <a:rPr lang="en-US" altLang="zh-CN" sz="2400" dirty="0">
                <a:solidFill>
                  <a:srgbClr val="FF0000"/>
                </a:solidFill>
                <a:latin typeface="Times New Roman" panose="02020603050405020304" pitchFamily="18" charset="0"/>
                <a:cs typeface="Times New Roman" panose="02020603050405020304" pitchFamily="18" charset="0"/>
              </a:rPr>
              <a:t>social context</a:t>
            </a:r>
            <a:r>
              <a:rPr lang="en-US" altLang="zh-CN" sz="2400" dirty="0">
                <a:latin typeface="Times New Roman" panose="02020603050405020304" pitchFamily="18" charset="0"/>
                <a:cs typeface="Times New Roman" panose="02020603050405020304" pitchFamily="18" charset="0"/>
              </a:rPr>
              <a:t>. As situations vary, you usually choose to emphasize one or more of your identities. However, regardless of the identity or </a:t>
            </a:r>
            <a:r>
              <a:rPr lang="en-US" altLang="zh-CN" sz="2400" dirty="0">
                <a:solidFill>
                  <a:srgbClr val="FF0000"/>
                </a:solidFill>
                <a:latin typeface="Times New Roman" panose="02020603050405020304" pitchFamily="18" charset="0"/>
                <a:cs typeface="Times New Roman" panose="02020603050405020304" pitchFamily="18" charset="0"/>
              </a:rPr>
              <a:t>identities </a:t>
            </a:r>
            <a:r>
              <a:rPr lang="en-US" altLang="zh-CN" sz="2400" dirty="0">
                <a:latin typeface="Times New Roman" panose="02020603050405020304" pitchFamily="18" charset="0"/>
                <a:cs typeface="Times New Roman" panose="02020603050405020304" pitchFamily="18" charset="0"/>
              </a:rPr>
              <a:t>being exhibited, all </a:t>
            </a:r>
            <a:r>
              <a:rPr lang="en-US" altLang="zh-CN" sz="2400" dirty="0">
                <a:solidFill>
                  <a:srgbClr val="FF0000"/>
                </a:solidFill>
                <a:latin typeface="Times New Roman" panose="02020603050405020304" pitchFamily="18" charset="0"/>
                <a:cs typeface="Times New Roman" panose="02020603050405020304" pitchFamily="18" charset="0"/>
              </a:rPr>
              <a:t>are influenced to various degrees by culture</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083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7261" y="503238"/>
            <a:ext cx="8229600" cy="1143000"/>
          </a:xfrm>
        </p:spPr>
        <p:txBody>
          <a:bodyPr/>
          <a:lstStyle/>
          <a:p>
            <a:r>
              <a:rPr lang="en-US" altLang="zh-CN" dirty="0">
                <a:latin typeface="Times New Roman" panose="02020603050405020304" pitchFamily="18" charset="0"/>
                <a:cs typeface="Times New Roman" panose="02020603050405020304" pitchFamily="18" charset="0"/>
              </a:rPr>
              <a:t>Different identities</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26774" y="2415209"/>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2" action="ppaction://hlinksldjump"/>
              </a:rPr>
              <a:t>Racial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3" action="ppaction://hlinksldjump"/>
              </a:rPr>
              <a:t>Gender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4" action="ppaction://hlinksldjump"/>
              </a:rPr>
              <a:t>Ethnic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5" action="ppaction://hlinksldjump"/>
              </a:rPr>
              <a:t>National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6" action="ppaction://hlinksldjump"/>
              </a:rPr>
              <a:t>Regional Identity</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7" action="ppaction://hlinksldjump"/>
              </a:rPr>
              <a:t>Organizational Identity</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8" action="ppaction://hlinksldjump"/>
              </a:rPr>
              <a:t>Personal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9" action="ppaction://hlinksldjump"/>
              </a:rPr>
              <a:t>Cyber identity and Fantasy Identity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10" action="ppaction://hlinksldjump"/>
              </a:rPr>
              <a:t>Other Identities </a:t>
            </a:r>
            <a:endParaRPr lang="en-US" altLang="zh-CN" sz="2400" dirty="0">
              <a:latin typeface="Times New Roman" panose="02020603050405020304" pitchFamily="18" charset="0"/>
              <a:cs typeface="Times New Roman" panose="02020603050405020304" pitchFamily="18" charset="0"/>
            </a:endParaRPr>
          </a:p>
          <a:p>
            <a:endParaRPr lang="zh-CN" altLang="en-US" dirty="0"/>
          </a:p>
        </p:txBody>
      </p:sp>
      <p:pic>
        <p:nvPicPr>
          <p:cNvPr id="4" name="图片 3">
            <a:hlinkClick r:id="rId11" action="ppaction://hlinksldjump"/>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4070295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93298"/>
            <a:ext cx="8229600" cy="1143000"/>
          </a:xfrm>
        </p:spPr>
        <p:txBody>
          <a:bodyPr/>
          <a:lstStyle/>
          <a:p>
            <a:r>
              <a:rPr lang="en-US" altLang="zh-CN" dirty="0">
                <a:latin typeface="Times New Roman" panose="02020603050405020304" pitchFamily="18" charset="0"/>
                <a:cs typeface="Times New Roman" panose="02020603050405020304" pitchFamily="18" charset="0"/>
              </a:rPr>
              <a:t>5.3.1 Racial Identity </a:t>
            </a:r>
            <a:r>
              <a:rPr lang="en-US" altLang="zh-CN" dirty="0">
                <a:highlight>
                  <a:srgbClr val="FFFF00"/>
                </a:highlight>
                <a:latin typeface="Times New Roman" panose="02020603050405020304" pitchFamily="18" charset="0"/>
                <a:cs typeface="Times New Roman" panose="02020603050405020304" pitchFamily="18" charset="0"/>
              </a:rPr>
              <a:t>P172 </a:t>
            </a:r>
            <a:endParaRPr lang="zh-CN" altLang="en-US" dirty="0">
              <a:highlight>
                <a:srgbClr val="FFFF00"/>
              </a:highlight>
            </a:endParaRPr>
          </a:p>
        </p:txBody>
      </p:sp>
      <p:sp>
        <p:nvSpPr>
          <p:cNvPr id="3" name="内容占位符 2"/>
          <p:cNvSpPr>
            <a:spLocks noGrp="1"/>
          </p:cNvSpPr>
          <p:nvPr>
            <p:ph idx="1"/>
          </p:nvPr>
        </p:nvSpPr>
        <p:spPr>
          <a:xfrm>
            <a:off x="367747" y="2425148"/>
            <a:ext cx="8229600" cy="4525963"/>
          </a:xfrm>
        </p:spPr>
        <p:txBody>
          <a:bodyPr/>
          <a:lstStyle/>
          <a:p>
            <a:pPr>
              <a:lnSpc>
                <a:spcPct val="125000"/>
              </a:lnSpc>
              <a:spcBef>
                <a:spcPts val="0"/>
              </a:spcBef>
            </a:pPr>
            <a:r>
              <a:rPr lang="en-US" altLang="zh-CN" sz="2400" b="1" dirty="0">
                <a:latin typeface="Times New Roman" panose="02020603050405020304" pitchFamily="18" charset="0"/>
                <a:cs typeface="Times New Roman" panose="02020603050405020304" pitchFamily="18" charset="0"/>
              </a:rPr>
              <a:t>Race</a:t>
            </a:r>
            <a:r>
              <a:rPr lang="en-US" altLang="zh-CN" sz="2400" dirty="0">
                <a:latin typeface="Times New Roman" panose="02020603050405020304" pitchFamily="18" charset="0"/>
                <a:cs typeface="Times New Roman" panose="02020603050405020304" pitchFamily="18" charset="0"/>
              </a:rPr>
              <a:t> is a social construct arising from historical attempts to categorize people into different groups. The concept grew out of efforts by eighteenth-century European anthropologists to place people into hierarchically ranked categories based largely on their outward appearance. In retrospect, it is easy to see how those early endeavors were influenced by feelings of prejudice and ethnocentrism grounded in a strong sense of Western superiority.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4311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45026"/>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Today</a:t>
            </a:r>
            <a:r>
              <a:rPr lang="en-US" altLang="zh-CN" sz="2400" dirty="0">
                <a:latin typeface="Times New Roman" panose="02020603050405020304" pitchFamily="18" charset="0"/>
                <a:cs typeface="Times New Roman" panose="02020603050405020304" pitchFamily="18" charset="0"/>
              </a:rPr>
              <a:t>, racial classifications and identity are usually </a:t>
            </a:r>
            <a:r>
              <a:rPr lang="en-US" altLang="zh-CN" sz="2400" dirty="0">
                <a:solidFill>
                  <a:srgbClr val="FF0000"/>
                </a:solidFill>
                <a:latin typeface="Times New Roman" panose="02020603050405020304" pitchFamily="18" charset="0"/>
                <a:cs typeface="Times New Roman" panose="02020603050405020304" pitchFamily="18" charset="0"/>
              </a:rPr>
              <a:t>associated with</a:t>
            </a:r>
            <a:r>
              <a:rPr lang="en-US" altLang="zh-CN" sz="2400" dirty="0">
                <a:latin typeface="Times New Roman" panose="02020603050405020304" pitchFamily="18" charset="0"/>
                <a:cs typeface="Times New Roman" panose="02020603050405020304" pitchFamily="18" charset="0"/>
              </a:rPr>
              <a:t> a person’s external physical traits principally skin color but also physiognomy and hair texture.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Modern science, however, has discovered very little genetic variation among human beings, </a:t>
            </a:r>
            <a:r>
              <a:rPr lang="en-US" altLang="zh-CN" sz="2400" dirty="0">
                <a:solidFill>
                  <a:srgbClr val="FF0000"/>
                </a:solidFill>
                <a:latin typeface="Times New Roman" panose="02020603050405020304" pitchFamily="18" charset="0"/>
                <a:cs typeface="Times New Roman" panose="02020603050405020304" pitchFamily="18" charset="0"/>
              </a:rPr>
              <a:t>which erodes the belief that race can be used to categorize people</a:t>
            </a:r>
            <a:r>
              <a:rPr lang="en-US" altLang="zh-CN" sz="2400" dirty="0">
                <a:latin typeface="Times New Roman" panose="02020603050405020304" pitchFamily="18" charset="0"/>
                <a:cs typeface="Times New Roman" panose="02020603050405020304" pitchFamily="18" charset="0"/>
              </a:rPr>
              <a:t>. The concept is further discredited by centuries of genetic intermixing.</a:t>
            </a:r>
            <a:endParaRPr lang="zh-CN" altLang="en-US"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It is </a:t>
            </a:r>
            <a:r>
              <a:rPr lang="en-US" altLang="zh-CN" sz="2400" dirty="0">
                <a:solidFill>
                  <a:srgbClr val="FF0000"/>
                </a:solidFill>
                <a:latin typeface="Times New Roman" panose="02020603050405020304" pitchFamily="18" charset="0"/>
                <a:cs typeface="Times New Roman" panose="02020603050405020304" pitchFamily="18" charset="0"/>
              </a:rPr>
              <a:t>better to use the term ethnic group instead of race </a:t>
            </a:r>
            <a:r>
              <a:rPr lang="en-US" altLang="zh-CN" sz="2400" dirty="0">
                <a:latin typeface="Times New Roman" panose="02020603050405020304" pitchFamily="18" charset="0"/>
                <a:cs typeface="Times New Roman" panose="02020603050405020304" pitchFamily="18" charset="0"/>
              </a:rPr>
              <a:t>to describe any such social group.</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93298"/>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5.3.1 Racial Identity </a:t>
            </a:r>
            <a:r>
              <a:rPr lang="en-US" altLang="zh-CN" dirty="0">
                <a:highlight>
                  <a:srgbClr val="FFFF00"/>
                </a:highlight>
                <a:latin typeface="Times New Roman" panose="02020603050405020304" pitchFamily="18" charset="0"/>
                <a:cs typeface="Times New Roman" panose="02020603050405020304" pitchFamily="18" charset="0"/>
              </a:rPr>
              <a:t>P172</a:t>
            </a:r>
            <a:r>
              <a:rPr lang="en-US" altLang="zh-CN" dirty="0">
                <a:latin typeface="Times New Roman" panose="02020603050405020304" pitchFamily="18" charset="0"/>
                <a:cs typeface="Times New Roman" panose="02020603050405020304" pitchFamily="18" charset="0"/>
              </a:rPr>
              <a:t> </a:t>
            </a:r>
            <a:endParaRPr lang="zh-CN" altLang="en-US" dirty="0"/>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3962629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5.3.2 Gender Identity </a:t>
            </a:r>
            <a:r>
              <a:rPr lang="en-US" altLang="zh-CN" dirty="0">
                <a:highlight>
                  <a:srgbClr val="FFFF00"/>
                </a:highlight>
                <a:latin typeface="Times New Roman" panose="02020603050405020304" pitchFamily="18" charset="0"/>
                <a:cs typeface="Times New Roman" panose="02020603050405020304" pitchFamily="18" charset="0"/>
              </a:rPr>
              <a:t>P172</a:t>
            </a:r>
            <a:endParaRPr lang="zh-CN" altLang="en-US" dirty="0">
              <a:highlight>
                <a:srgbClr val="FFFF00"/>
              </a:highlight>
            </a:endParaRPr>
          </a:p>
        </p:txBody>
      </p:sp>
      <p:sp>
        <p:nvSpPr>
          <p:cNvPr id="3" name="内容占位符 2"/>
          <p:cNvSpPr>
            <a:spLocks noGrp="1"/>
          </p:cNvSpPr>
          <p:nvPr>
            <p:ph idx="1"/>
          </p:nvPr>
        </p:nvSpPr>
        <p:spPr>
          <a:xfrm>
            <a:off x="457200" y="2464905"/>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Gender identity is quite </a:t>
            </a:r>
            <a:r>
              <a:rPr lang="en-US" altLang="zh-CN" sz="2400" dirty="0">
                <a:solidFill>
                  <a:srgbClr val="FF0000"/>
                </a:solidFill>
                <a:latin typeface="Times New Roman" panose="02020603050405020304" pitchFamily="18" charset="0"/>
                <a:cs typeface="Times New Roman" panose="02020603050405020304" pitchFamily="18" charset="0"/>
              </a:rPr>
              <a:t>different from </a:t>
            </a:r>
            <a:r>
              <a:rPr lang="en-US" altLang="zh-CN" sz="2400" dirty="0">
                <a:latin typeface="Times New Roman" panose="02020603050405020304" pitchFamily="18" charset="0"/>
                <a:cs typeface="Times New Roman" panose="02020603050405020304" pitchFamily="18" charset="0"/>
              </a:rPr>
              <a:t>biological sex or sexual identity, which is derived from an individual’s anatomy at birth</a:t>
            </a:r>
            <a:r>
              <a:rPr lang="en-US" altLang="zh-CN" sz="2400" b="1" dirty="0">
                <a:latin typeface="Times New Roman" panose="02020603050405020304" pitchFamily="18" charset="0"/>
                <a:cs typeface="Times New Roman" panose="02020603050405020304" pitchFamily="18" charset="0"/>
              </a:rPr>
              <a:t>. </a:t>
            </a:r>
          </a:p>
          <a:p>
            <a:pPr>
              <a:lnSpc>
                <a:spcPct val="125000"/>
              </a:lnSpc>
              <a:spcBef>
                <a:spcPts val="0"/>
              </a:spcBef>
            </a:pPr>
            <a:r>
              <a:rPr lang="en-US" altLang="zh-CN" sz="2400" b="1" dirty="0">
                <a:latin typeface="Times New Roman" panose="02020603050405020304" pitchFamily="18" charset="0"/>
                <a:cs typeface="Times New Roman" panose="02020603050405020304" pitchFamily="18" charset="0"/>
              </a:rPr>
              <a:t>Gender </a:t>
            </a:r>
            <a:r>
              <a:rPr lang="en-US" altLang="zh-CN" sz="2400" dirty="0">
                <a:latin typeface="Times New Roman" panose="02020603050405020304" pitchFamily="18" charset="0"/>
                <a:cs typeface="Times New Roman" panose="02020603050405020304" pitchFamily="18" charset="0"/>
              </a:rPr>
              <a:t>is a socially constructed concept that refers to how a particular culture differentiates masculine and feminine social roles.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658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15209"/>
            <a:ext cx="8229600"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What constitutes displays of gender identity varies across cultures and is constantly changing.</a:t>
            </a: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5.3.2 Gender Identity </a:t>
            </a:r>
            <a:r>
              <a:rPr lang="en-US" altLang="zh-CN" dirty="0">
                <a:highlight>
                  <a:srgbClr val="FFFF00"/>
                </a:highlight>
                <a:latin typeface="Times New Roman" panose="02020603050405020304" pitchFamily="18" charset="0"/>
                <a:cs typeface="Times New Roman" panose="02020603050405020304" pitchFamily="18" charset="0"/>
              </a:rPr>
              <a:t>P173 </a:t>
            </a:r>
            <a:endParaRPr lang="zh-CN" altLang="en-US" dirty="0">
              <a:highlight>
                <a:srgbClr val="FFFF00"/>
              </a:highlight>
            </a:endParaRP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2009" t="4955" r="2009" b="4955"/>
          <a:stretch/>
        </p:blipFill>
        <p:spPr>
          <a:xfrm>
            <a:off x="213194" y="3776869"/>
            <a:ext cx="3830472" cy="2442365"/>
          </a:xfrm>
          <a:prstGeom prst="rect">
            <a:avLst/>
          </a:prstGeom>
        </p:spPr>
      </p:pic>
      <p:sp>
        <p:nvSpPr>
          <p:cNvPr id="6" name="右箭头 5"/>
          <p:cNvSpPr/>
          <p:nvPr/>
        </p:nvSpPr>
        <p:spPr>
          <a:xfrm>
            <a:off x="4122255" y="4823666"/>
            <a:ext cx="899490" cy="3478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3185" y="3775969"/>
            <a:ext cx="3663066" cy="2443265"/>
          </a:xfrm>
          <a:prstGeom prst="rect">
            <a:avLst/>
          </a:prstGeom>
        </p:spPr>
      </p:pic>
      <p:sp>
        <p:nvSpPr>
          <p:cNvPr id="8" name="文本框 7"/>
          <p:cNvSpPr txBox="1"/>
          <p:nvPr/>
        </p:nvSpPr>
        <p:spPr>
          <a:xfrm>
            <a:off x="1123122" y="6341165"/>
            <a:ext cx="256429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Hairstyle in 1960s</a:t>
            </a:r>
            <a:endParaRPr lang="zh-CN" altLang="en-US" dirty="0">
              <a:latin typeface="Times New Roman" panose="02020603050405020304" pitchFamily="18" charset="0"/>
              <a:cs typeface="Times New Roman" panose="02020603050405020304" pitchFamily="18" charset="0"/>
            </a:endParaRPr>
          </a:p>
        </p:txBody>
      </p:sp>
      <p:sp>
        <p:nvSpPr>
          <p:cNvPr id="9" name="矩形 8"/>
          <p:cNvSpPr/>
          <p:nvPr/>
        </p:nvSpPr>
        <p:spPr>
          <a:xfrm>
            <a:off x="6005999" y="6341165"/>
            <a:ext cx="1877437" cy="369332"/>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Hairstyle in 2010s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9969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809" y="2386748"/>
            <a:ext cx="8229600"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A culture’s gender norms can also influence career decisions.</a:t>
            </a:r>
          </a:p>
          <a:p>
            <a:endParaRPr lang="zh-CN" altLang="en-US" dirty="0"/>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5.3.2 Gender Identity </a:t>
            </a:r>
            <a:r>
              <a:rPr lang="en-US" altLang="zh-CN" dirty="0">
                <a:highlight>
                  <a:srgbClr val="FFFF00"/>
                </a:highlight>
                <a:latin typeface="Times New Roman" panose="02020603050405020304" pitchFamily="18" charset="0"/>
                <a:cs typeface="Times New Roman" panose="02020603050405020304" pitchFamily="18" charset="0"/>
              </a:rPr>
              <a:t>P173 </a:t>
            </a:r>
            <a:endParaRPr lang="zh-CN" altLang="en-US" dirty="0">
              <a:highlight>
                <a:srgbClr val="FFFF00"/>
              </a:highlight>
            </a:endParaRPr>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11571"/>
          <a:stretch/>
        </p:blipFill>
        <p:spPr>
          <a:xfrm>
            <a:off x="1672259" y="3729528"/>
            <a:ext cx="2217668" cy="2536145"/>
          </a:xfrm>
          <a:prstGeom prst="rect">
            <a:avLst/>
          </a:prstGeom>
        </p:spPr>
      </p:pic>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l="29307" r="24684"/>
          <a:stretch/>
        </p:blipFill>
        <p:spPr>
          <a:xfrm>
            <a:off x="5204377" y="3722498"/>
            <a:ext cx="2217668" cy="2543175"/>
          </a:xfrm>
          <a:prstGeom prst="rect">
            <a:avLst/>
          </a:prstGeom>
        </p:spPr>
      </p:pic>
      <p:sp>
        <p:nvSpPr>
          <p:cNvPr id="7" name="右箭头 6"/>
          <p:cNvSpPr/>
          <p:nvPr/>
        </p:nvSpPr>
        <p:spPr>
          <a:xfrm>
            <a:off x="4122255" y="4649730"/>
            <a:ext cx="899490" cy="3478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59338" y="6389137"/>
            <a:ext cx="4762707"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the figure of male nurse has been risen</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09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05270"/>
            <a:ext cx="8229600" cy="4525963"/>
          </a:xfrm>
        </p:spPr>
        <p:txBody>
          <a:bodyPr/>
          <a:lstStyle/>
          <a:p>
            <a:pPr lvl="0">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In contrast to the rigid, binary classifications of either male or female traditionally used in the United States, many European nations, and the Middle East, there are a few cultures that offer </a:t>
            </a:r>
            <a:r>
              <a:rPr lang="en-US" altLang="zh-CN" sz="2800" dirty="0">
                <a:solidFill>
                  <a:srgbClr val="FF0000"/>
                </a:solidFill>
                <a:latin typeface="Times New Roman" panose="02020603050405020304" pitchFamily="18" charset="0"/>
                <a:cs typeface="Times New Roman" panose="02020603050405020304" pitchFamily="18" charset="0"/>
              </a:rPr>
              <a:t>a socially acceptable middle ground for transgender individuals</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en-US" sz="28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altLang="zh-CN" dirty="0"/>
          </a:p>
        </p:txBody>
      </p:sp>
      <p:sp>
        <p:nvSpPr>
          <p:cNvPr id="5"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5.3.2 Gender Identity </a:t>
            </a:r>
            <a:r>
              <a:rPr lang="en-US" altLang="zh-CN" dirty="0">
                <a:highlight>
                  <a:srgbClr val="FFFF00"/>
                </a:highlight>
                <a:latin typeface="Times New Roman" panose="02020603050405020304" pitchFamily="18" charset="0"/>
                <a:cs typeface="Times New Roman" panose="02020603050405020304" pitchFamily="18" charset="0"/>
              </a:rPr>
              <a:t>P173 </a:t>
            </a:r>
            <a:endParaRPr lang="zh-CN" altLang="en-US" dirty="0">
              <a:highlight>
                <a:srgbClr val="FFFF00"/>
              </a:highlight>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151082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5.3.3 Ethnic Identity </a:t>
            </a:r>
            <a:r>
              <a:rPr lang="en-US" altLang="zh-CN" dirty="0">
                <a:highlight>
                  <a:srgbClr val="FFFF00"/>
                </a:highlight>
                <a:latin typeface="Times New Roman" panose="02020603050405020304" pitchFamily="18" charset="0"/>
                <a:cs typeface="Times New Roman" panose="02020603050405020304" pitchFamily="18" charset="0"/>
              </a:rPr>
              <a:t>P174 </a:t>
            </a:r>
            <a:endParaRPr lang="zh-CN" altLang="en-US" dirty="0">
              <a:highlight>
                <a:srgbClr val="FFFF00"/>
              </a:highlight>
            </a:endParaRPr>
          </a:p>
        </p:txBody>
      </p:sp>
      <p:sp>
        <p:nvSpPr>
          <p:cNvPr id="3" name="内容占位符 2"/>
          <p:cNvSpPr>
            <a:spLocks noGrp="1"/>
          </p:cNvSpPr>
          <p:nvPr>
            <p:ph idx="1"/>
          </p:nvPr>
        </p:nvSpPr>
        <p:spPr>
          <a:xfrm>
            <a:off x="457200" y="2351915"/>
            <a:ext cx="8229600" cy="4525963"/>
          </a:xfrm>
        </p:spPr>
        <p:txBody>
          <a:bodyPr/>
          <a:lstStyle/>
          <a:p>
            <a:pPr>
              <a:lnSpc>
                <a:spcPct val="125000"/>
              </a:lnSpc>
              <a:spcBef>
                <a:spcPts val="0"/>
              </a:spcBef>
            </a:pPr>
            <a:r>
              <a:rPr lang="en-US" altLang="zh-CN" sz="2400" b="1" dirty="0">
                <a:solidFill>
                  <a:srgbClr val="000000"/>
                </a:solidFill>
                <a:latin typeface="Times New Roman" panose="02020603050405020304" pitchFamily="18" charset="0"/>
                <a:cs typeface="Times New Roman" panose="02020603050405020304" pitchFamily="18" charset="0"/>
              </a:rPr>
              <a:t>Ethnic identity</a:t>
            </a:r>
            <a:r>
              <a:rPr lang="en-US" altLang="zh-CN" sz="2400" dirty="0">
                <a:solidFill>
                  <a:srgbClr val="000000"/>
                </a:solidFill>
                <a:latin typeface="Times New Roman" panose="02020603050405020304" pitchFamily="18" charset="0"/>
                <a:cs typeface="Times New Roman" panose="02020603050405020304" pitchFamily="18" charset="0"/>
              </a:rPr>
              <a:t>, or ethnicity, is </a:t>
            </a:r>
            <a:r>
              <a:rPr lang="en-US" altLang="zh-CN" sz="2400" dirty="0">
                <a:solidFill>
                  <a:srgbClr val="FF0000"/>
                </a:solidFill>
                <a:latin typeface="Times New Roman" panose="02020603050405020304" pitchFamily="18" charset="0"/>
                <a:cs typeface="Times New Roman" panose="02020603050405020304" pitchFamily="18" charset="0"/>
              </a:rPr>
              <a:t>derived from </a:t>
            </a:r>
            <a:r>
              <a:rPr lang="en-US" altLang="zh-CN" sz="2400" dirty="0">
                <a:solidFill>
                  <a:srgbClr val="000000"/>
                </a:solidFill>
                <a:latin typeface="Times New Roman" panose="02020603050405020304" pitchFamily="18" charset="0"/>
                <a:cs typeface="Times New Roman" panose="02020603050405020304" pitchFamily="18" charset="0"/>
              </a:rPr>
              <a:t>a sense of shared heritage, history, traditions, values, similar behaviors, geographical area of origin, and language.</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Most people consider </a:t>
            </a:r>
            <a:r>
              <a:rPr lang="en-US" altLang="zh-CN" sz="2400" dirty="0">
                <a:solidFill>
                  <a:srgbClr val="000000"/>
                </a:solidFill>
                <a:latin typeface="Times New Roman" panose="02020603050405020304" pitchFamily="18" charset="0"/>
                <a:cs typeface="Times New Roman" panose="02020603050405020304" pitchFamily="18" charset="0"/>
              </a:rPr>
              <a:t>their ethnic identity to come from the nation-state where they or their forefathers were born. </a:t>
            </a:r>
            <a:r>
              <a:rPr lang="en-US" altLang="zh-CN" sz="2400" dirty="0">
                <a:solidFill>
                  <a:srgbClr val="FF0000"/>
                </a:solidFill>
                <a:latin typeface="Times New Roman" panose="02020603050405020304" pitchFamily="18" charset="0"/>
                <a:cs typeface="Times New Roman" panose="02020603050405020304" pitchFamily="18" charset="0"/>
              </a:rPr>
              <a:t>However</a:t>
            </a:r>
            <a:r>
              <a:rPr lang="en-US" altLang="zh-CN" sz="2400" dirty="0">
                <a:solidFill>
                  <a:srgbClr val="000000"/>
                </a:solidFill>
                <a:latin typeface="Times New Roman" panose="02020603050405020304" pitchFamily="18" charset="0"/>
                <a:cs typeface="Times New Roman" panose="02020603050405020304" pitchFamily="18" charset="0"/>
              </a:rPr>
              <a:t>, some people’s ethnic identity is derived from a cultural grouping that transcends national borders and is grounded in common cultural beliefs, practices, and a shared language.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513130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3421"/>
            <a:ext cx="8229600" cy="1143000"/>
          </a:xfrm>
        </p:spPr>
        <p:txBody>
          <a:bodyPr/>
          <a:lstStyle/>
          <a:p>
            <a:r>
              <a:rPr lang="en-US" altLang="zh-CN" dirty="0">
                <a:latin typeface="Times New Roman" panose="02020603050405020304" pitchFamily="18" charset="0"/>
                <a:cs typeface="Times New Roman" panose="02020603050405020304" pitchFamily="18" charset="0"/>
              </a:rPr>
              <a:t>5.3.4 National </a:t>
            </a:r>
            <a:r>
              <a:rPr lang="en-US" altLang="zh-CN" dirty="0">
                <a:highlight>
                  <a:srgbClr val="FFFF00"/>
                </a:highlight>
                <a:latin typeface="Times New Roman" panose="02020603050405020304" pitchFamily="18" charset="0"/>
                <a:cs typeface="Times New Roman" panose="02020603050405020304" pitchFamily="18" charset="0"/>
              </a:rPr>
              <a:t>Identity P175</a:t>
            </a:r>
            <a:endParaRPr lang="zh-CN" altLang="en-US" dirty="0">
              <a:highlight>
                <a:srgbClr val="FFFF00"/>
              </a:highlight>
            </a:endParaRPr>
          </a:p>
        </p:txBody>
      </p:sp>
      <p:sp>
        <p:nvSpPr>
          <p:cNvPr id="3" name="内容占位符 2"/>
          <p:cNvSpPr>
            <a:spLocks noGrp="1"/>
          </p:cNvSpPr>
          <p:nvPr>
            <p:ph idx="1"/>
          </p:nvPr>
        </p:nvSpPr>
        <p:spPr>
          <a:xfrm>
            <a:off x="457200" y="2445027"/>
            <a:ext cx="8229600"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The majority of people associate their national identity with the nation where they were born. However, </a:t>
            </a:r>
            <a:r>
              <a:rPr lang="en-US" altLang="zh-CN" sz="2400" b="1" dirty="0">
                <a:solidFill>
                  <a:srgbClr val="000000"/>
                </a:solidFill>
                <a:latin typeface="Times New Roman" panose="02020603050405020304" pitchFamily="18" charset="0"/>
                <a:cs typeface="Times New Roman" panose="02020603050405020304" pitchFamily="18" charset="0"/>
              </a:rPr>
              <a:t>national identity </a:t>
            </a:r>
            <a:r>
              <a:rPr lang="en-US" altLang="zh-CN" sz="2400" dirty="0">
                <a:solidFill>
                  <a:srgbClr val="000000"/>
                </a:solidFill>
                <a:latin typeface="Times New Roman" panose="02020603050405020304" pitchFamily="18" charset="0"/>
                <a:cs typeface="Times New Roman" panose="02020603050405020304" pitchFamily="18" charset="0"/>
              </a:rPr>
              <a:t>can also be acquired through immigration and naturalization. People who take citizenship in a country other than their birthplace may eventually adopt some or all aspects of a new national identity, depending on the strength of their attachment to their new homeland. This attachment can be influenced by where the individual resides.</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1575786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3603"/>
            <a:ext cx="8229600" cy="1143000"/>
          </a:xfrm>
        </p:spPr>
        <p:txBody>
          <a:bodyPr/>
          <a:lstStyle/>
          <a:p>
            <a:r>
              <a:rPr lang="en-US" altLang="zh-CN" dirty="0">
                <a:latin typeface="Times New Roman" panose="02020603050405020304" pitchFamily="18" charset="0"/>
                <a:cs typeface="Times New Roman" panose="02020603050405020304" pitchFamily="18" charset="0"/>
              </a:rPr>
              <a:t>5.3.5 Regional Identity </a:t>
            </a:r>
            <a:r>
              <a:rPr lang="en-US" altLang="zh-CN" dirty="0">
                <a:highlight>
                  <a:srgbClr val="FFFF00"/>
                </a:highlight>
                <a:latin typeface="Times New Roman" panose="02020603050405020304" pitchFamily="18" charset="0"/>
                <a:cs typeface="Times New Roman" panose="02020603050405020304" pitchFamily="18" charset="0"/>
              </a:rPr>
              <a:t>P175</a:t>
            </a:r>
            <a:endParaRPr lang="zh-CN" altLang="en-US" dirty="0">
              <a:highlight>
                <a:srgbClr val="FFFF00"/>
              </a:highlight>
            </a:endParaRPr>
          </a:p>
        </p:txBody>
      </p:sp>
      <p:sp>
        <p:nvSpPr>
          <p:cNvPr id="3" name="内容占位符 2"/>
          <p:cNvSpPr>
            <a:spLocks noGrp="1"/>
          </p:cNvSpPr>
          <p:nvPr>
            <p:ph idx="1"/>
          </p:nvPr>
        </p:nvSpPr>
        <p:spPr>
          <a:xfrm>
            <a:off x="457200" y="2435087"/>
            <a:ext cx="8229600"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Every country can be divided into a number of different geographical regions, that are often characterized by varying cultural traits. These cultural contrasts may be manifested through ethnicity, language, accent, dialect, customs, food, dress, or different historical and political legacies. Residents in these areas often use one or more of those characteristics to exhibit their regional identity.</a:t>
            </a:r>
          </a:p>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Identity is </a:t>
            </a:r>
            <a:r>
              <a:rPr lang="en-US" altLang="zh-CN" sz="2400" dirty="0">
                <a:solidFill>
                  <a:srgbClr val="FF0000"/>
                </a:solidFill>
                <a:latin typeface="Times New Roman" panose="02020603050405020304" pitchFamily="18" charset="0"/>
                <a:cs typeface="Times New Roman" panose="02020603050405020304" pitchFamily="18" charset="0"/>
              </a:rPr>
              <a:t>dynamic</a:t>
            </a:r>
            <a:r>
              <a:rPr lang="en-US" altLang="zh-CN" sz="2400" dirty="0">
                <a:solidFill>
                  <a:srgbClr val="000000"/>
                </a:solidFill>
                <a:latin typeface="Times New Roman" panose="02020603050405020304" pitchFamily="18" charset="0"/>
                <a:cs typeface="Times New Roman" panose="02020603050405020304" pitchFamily="18" charset="0"/>
              </a:rPr>
              <a:t> and can change contextually over time.</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2726392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5.3.6 Organizational Identity </a:t>
            </a:r>
            <a:r>
              <a:rPr lang="en-US" altLang="zh-CN" dirty="0">
                <a:solidFill>
                  <a:schemeClr val="tx1"/>
                </a:solidFill>
                <a:highlight>
                  <a:srgbClr val="FFFF00"/>
                </a:highlight>
                <a:latin typeface="Times New Roman" panose="02020603050405020304" pitchFamily="18" charset="0"/>
                <a:cs typeface="Times New Roman" panose="02020603050405020304" pitchFamily="18" charset="0"/>
              </a:rPr>
              <a:t>P177</a:t>
            </a:r>
            <a:endParaRPr lang="zh-CN" altLang="en-US" dirty="0">
              <a:solidFill>
                <a:schemeClr val="tx1"/>
              </a:solidFill>
              <a:highlight>
                <a:srgbClr val="FFFF00"/>
              </a:highlight>
            </a:endParaRPr>
          </a:p>
        </p:txBody>
      </p:sp>
      <p:sp>
        <p:nvSpPr>
          <p:cNvPr id="3" name="内容占位符 2"/>
          <p:cNvSpPr>
            <a:spLocks noGrp="1"/>
          </p:cNvSpPr>
          <p:nvPr>
            <p:ph idx="1"/>
          </p:nvPr>
        </p:nvSpPr>
        <p:spPr>
          <a:xfrm>
            <a:off x="457200" y="2474843"/>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A person’s organizational affiliations can be an important source of identity in some cultures. This is especially true in collectivistic cultures but much less so in individualistic cultures. </a:t>
            </a:r>
            <a:endParaRPr lang="zh-CN" alt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763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815" y="2251872"/>
            <a:ext cx="3890755" cy="2334453"/>
          </a:xfrm>
        </p:spPr>
      </p:pic>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5.3.6 Organizational Identity</a:t>
            </a:r>
            <a:endParaRPr lang="zh-CN" altLang="en-US"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36715" y="2251872"/>
            <a:ext cx="3890755" cy="2334453"/>
          </a:xfrm>
          <a:prstGeom prst="rect">
            <a:avLst/>
          </a:prstGeom>
        </p:spPr>
      </p:pic>
      <p:sp>
        <p:nvSpPr>
          <p:cNvPr id="6" name="矩形 5"/>
          <p:cNvSpPr/>
          <p:nvPr/>
        </p:nvSpPr>
        <p:spPr>
          <a:xfrm>
            <a:off x="1502910" y="3322687"/>
            <a:ext cx="1175736" cy="180364"/>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117865" y="2322602"/>
            <a:ext cx="876651" cy="26185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p:nvPr/>
        </p:nvCxnSpPr>
        <p:spPr>
          <a:xfrm flipV="1">
            <a:off x="2760250" y="3389970"/>
            <a:ext cx="1382751" cy="1486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4690572" y="2438400"/>
            <a:ext cx="346143" cy="713678"/>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133011" y="3228204"/>
            <a:ext cx="873967" cy="369332"/>
          </a:xfrm>
          <a:prstGeom prst="rect">
            <a:avLst/>
          </a:prstGeom>
          <a:noFill/>
          <a:ln w="38100">
            <a:solidFill>
              <a:srgbClr val="92D050"/>
            </a:solidFill>
          </a:ln>
        </p:spPr>
        <p:txBody>
          <a:bodyPr wrap="square" rtlCol="0">
            <a:spAutoFit/>
          </a:bodyPr>
          <a:lstStyle/>
          <a:p>
            <a:pPr algn="ctr"/>
            <a:r>
              <a:rPr lang="en-US" altLang="zh-CN" dirty="0"/>
              <a:t>name</a:t>
            </a:r>
            <a:endParaRPr lang="zh-CN" altLang="en-US" dirty="0"/>
          </a:p>
        </p:txBody>
      </p:sp>
      <p:sp>
        <p:nvSpPr>
          <p:cNvPr id="13" name="矩形 12"/>
          <p:cNvSpPr/>
          <p:nvPr/>
        </p:nvSpPr>
        <p:spPr>
          <a:xfrm>
            <a:off x="489118" y="2438399"/>
            <a:ext cx="3044283" cy="88428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226999" y="2322602"/>
            <a:ext cx="572429" cy="60645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a:off x="3228601" y="3389970"/>
            <a:ext cx="1079567" cy="123065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5664132" y="2794940"/>
            <a:ext cx="2533130" cy="186168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333733" y="4690919"/>
            <a:ext cx="1256371" cy="369332"/>
          </a:xfrm>
          <a:prstGeom prst="rect">
            <a:avLst/>
          </a:prstGeom>
          <a:noFill/>
          <a:ln w="28575">
            <a:solidFill>
              <a:srgbClr val="C00000"/>
            </a:solidFill>
          </a:ln>
        </p:spPr>
        <p:txBody>
          <a:bodyPr wrap="square" rtlCol="0">
            <a:spAutoFit/>
          </a:bodyPr>
          <a:lstStyle/>
          <a:p>
            <a:r>
              <a:rPr lang="en-US" altLang="zh-CN" dirty="0"/>
              <a:t>company</a:t>
            </a:r>
            <a:endParaRPr lang="zh-CN" altLang="en-US" dirty="0"/>
          </a:p>
        </p:txBody>
      </p:sp>
      <p:sp>
        <p:nvSpPr>
          <p:cNvPr id="20" name="文本框 19"/>
          <p:cNvSpPr txBox="1"/>
          <p:nvPr/>
        </p:nvSpPr>
        <p:spPr>
          <a:xfrm>
            <a:off x="774267" y="4961162"/>
            <a:ext cx="7738946" cy="1595117"/>
          </a:xfrm>
          <a:prstGeom prst="rect">
            <a:avLst/>
          </a:prstGeom>
          <a:noFill/>
        </p:spPr>
        <p:txBody>
          <a:bodyPr wrap="square" rtlCol="0">
            <a:spAutoFit/>
          </a:bodyPr>
          <a:lstStyle/>
          <a:p>
            <a:pPr>
              <a:lnSpc>
                <a:spcPct val="125000"/>
              </a:lnSpc>
            </a:pPr>
            <a:r>
              <a:rPr lang="en-US" altLang="zh-CN" sz="2000" dirty="0">
                <a:solidFill>
                  <a:srgbClr val="FF0000"/>
                </a:solidFill>
                <a:latin typeface="Times New Roman" panose="02020603050405020304" pitchFamily="18" charset="0"/>
                <a:ea typeface="+mn-ea"/>
                <a:cs typeface="Times New Roman" panose="02020603050405020304" pitchFamily="18" charset="0"/>
              </a:rPr>
              <a:t>On Japanese business cards </a:t>
            </a:r>
            <a:r>
              <a:rPr lang="en-US" altLang="zh-CN" sz="2000" dirty="0">
                <a:solidFill>
                  <a:srgbClr val="000000"/>
                </a:solidFill>
                <a:latin typeface="Times New Roman" panose="02020603050405020304" pitchFamily="18" charset="0"/>
                <a:ea typeface="+mn-ea"/>
                <a:cs typeface="Times New Roman" panose="02020603050405020304" pitchFamily="18" charset="0"/>
              </a:rPr>
              <a:t>the company name is placed above his or her name in large letters. </a:t>
            </a:r>
            <a:r>
              <a:rPr lang="en-US" altLang="zh-CN" sz="2000" dirty="0">
                <a:solidFill>
                  <a:srgbClr val="FF0000"/>
                </a:solidFill>
                <a:latin typeface="Times New Roman" panose="02020603050405020304" pitchFamily="18" charset="0"/>
                <a:ea typeface="+mn-ea"/>
                <a:cs typeface="Times New Roman" panose="02020603050405020304" pitchFamily="18" charset="0"/>
              </a:rPr>
              <a:t>On U.S. business cards</a:t>
            </a:r>
            <a:r>
              <a:rPr lang="en-US" altLang="zh-CN" sz="2000" dirty="0">
                <a:solidFill>
                  <a:srgbClr val="000000"/>
                </a:solidFill>
                <a:latin typeface="Times New Roman" panose="02020603050405020304" pitchFamily="18" charset="0"/>
                <a:ea typeface="+mn-ea"/>
                <a:cs typeface="Times New Roman" panose="02020603050405020304" pitchFamily="18" charset="0"/>
              </a:rPr>
              <a:t>, the individual’s name is in large, bold letters. It demonstrates how </a:t>
            </a:r>
            <a:r>
              <a:rPr lang="en-US" altLang="zh-CN" sz="2000" dirty="0">
                <a:solidFill>
                  <a:srgbClr val="FF0000"/>
                </a:solidFill>
                <a:latin typeface="Times New Roman" panose="02020603050405020304" pitchFamily="18" charset="0"/>
                <a:ea typeface="+mn-ea"/>
                <a:cs typeface="Times New Roman" panose="02020603050405020304" pitchFamily="18" charset="0"/>
              </a:rPr>
              <a:t>hierarchy</a:t>
            </a:r>
            <a:r>
              <a:rPr lang="en-US" altLang="zh-CN" sz="2000" dirty="0">
                <a:solidFill>
                  <a:srgbClr val="000000"/>
                </a:solidFill>
                <a:latin typeface="Times New Roman" panose="02020603050405020304" pitchFamily="18" charset="0"/>
                <a:ea typeface="+mn-ea"/>
                <a:cs typeface="Times New Roman" panose="02020603050405020304" pitchFamily="18" charset="0"/>
              </a:rPr>
              <a:t> is emphasized in Japan and </a:t>
            </a:r>
            <a:r>
              <a:rPr lang="en-US" altLang="zh-CN" sz="2000" dirty="0">
                <a:solidFill>
                  <a:srgbClr val="FF0000"/>
                </a:solidFill>
                <a:latin typeface="Times New Roman" panose="02020603050405020304" pitchFamily="18" charset="0"/>
                <a:ea typeface="+mn-ea"/>
                <a:cs typeface="Times New Roman" panose="02020603050405020304" pitchFamily="18" charset="0"/>
              </a:rPr>
              <a:t>egalitarianism</a:t>
            </a:r>
            <a:r>
              <a:rPr lang="en-US" altLang="zh-CN" sz="2000" dirty="0">
                <a:solidFill>
                  <a:srgbClr val="000000"/>
                </a:solidFill>
                <a:latin typeface="Times New Roman" panose="02020603050405020304" pitchFamily="18" charset="0"/>
                <a:ea typeface="+mn-ea"/>
                <a:cs typeface="Times New Roman" panose="02020603050405020304" pitchFamily="18" charset="0"/>
              </a:rPr>
              <a:t> is stressed in the United States.</a:t>
            </a:r>
            <a:endParaRPr lang="zh-CN" altLang="en-US" sz="2000" dirty="0">
              <a:solidFill>
                <a:srgbClr val="000000"/>
              </a:solidFill>
              <a:latin typeface="Times New Roman" panose="02020603050405020304" pitchFamily="18" charset="0"/>
              <a:ea typeface="+mn-ea"/>
              <a:cs typeface="Times New Roman" panose="02020603050405020304" pitchFamily="18" charset="0"/>
            </a:endParaRPr>
          </a:p>
        </p:txBody>
      </p:sp>
      <p:pic>
        <p:nvPicPr>
          <p:cNvPr id="17" name="图片 16">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26896" y="6014633"/>
            <a:ext cx="1017104" cy="1017104"/>
          </a:xfrm>
          <a:prstGeom prst="rect">
            <a:avLst/>
          </a:prstGeom>
        </p:spPr>
      </p:pic>
    </p:spTree>
    <p:extLst>
      <p:ext uri="{BB962C8B-B14F-4D97-AF65-F5344CB8AC3E}">
        <p14:creationId xmlns:p14="http://schemas.microsoft.com/office/powerpoint/2010/main" val="2297741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3603"/>
            <a:ext cx="8229600" cy="1143000"/>
          </a:xfrm>
        </p:spPr>
        <p:txBody>
          <a:bodyPr/>
          <a:lstStyle/>
          <a:p>
            <a:r>
              <a:rPr lang="en-US" altLang="zh-CN" dirty="0">
                <a:latin typeface="Times New Roman" panose="02020603050405020304" pitchFamily="18" charset="0"/>
                <a:cs typeface="Times New Roman" panose="02020603050405020304" pitchFamily="18" charset="0"/>
              </a:rPr>
              <a:t>5.3.7 Personal Identity </a:t>
            </a:r>
            <a:r>
              <a:rPr lang="en-US" altLang="zh-CN" dirty="0">
                <a:highlight>
                  <a:srgbClr val="FFFF00"/>
                </a:highlight>
                <a:latin typeface="Times New Roman" panose="02020603050405020304" pitchFamily="18" charset="0"/>
                <a:cs typeface="Times New Roman" panose="02020603050405020304" pitchFamily="18" charset="0"/>
              </a:rPr>
              <a:t>P178 </a:t>
            </a:r>
            <a:endParaRPr lang="zh-CN" altLang="en-US" dirty="0">
              <a:highlight>
                <a:srgbClr val="FFFF00"/>
              </a:highlight>
            </a:endParaRPr>
          </a:p>
        </p:txBody>
      </p:sp>
      <p:sp>
        <p:nvSpPr>
          <p:cNvPr id="3" name="内容占位符 2"/>
          <p:cNvSpPr>
            <a:spLocks noGrp="1"/>
          </p:cNvSpPr>
          <p:nvPr>
            <p:ph idx="1"/>
          </p:nvPr>
        </p:nvSpPr>
        <p:spPr>
          <a:xfrm>
            <a:off x="457200" y="2415209"/>
            <a:ext cx="8229600" cy="4525963"/>
          </a:xfrm>
        </p:spPr>
        <p:txBody>
          <a:bodyPr/>
          <a:lstStyle/>
          <a:p>
            <a:pPr>
              <a:lnSpc>
                <a:spcPct val="125000"/>
              </a:lnSpc>
              <a:spcBef>
                <a:spcPts val="0"/>
              </a:spcBef>
            </a:pPr>
            <a:r>
              <a:rPr lang="en-US" altLang="zh-CN" sz="2800" b="1" dirty="0">
                <a:solidFill>
                  <a:srgbClr val="000000"/>
                </a:solidFill>
                <a:latin typeface="Times New Roman" panose="02020603050405020304" pitchFamily="18" charset="0"/>
                <a:cs typeface="Times New Roman" panose="02020603050405020304" pitchFamily="18" charset="0"/>
              </a:rPr>
              <a:t>Personal identity </a:t>
            </a:r>
            <a:r>
              <a:rPr lang="en-US" altLang="zh-CN" sz="2800" dirty="0">
                <a:solidFill>
                  <a:srgbClr val="000000"/>
                </a:solidFill>
                <a:latin typeface="Times New Roman" panose="02020603050405020304" pitchFamily="18" charset="0"/>
                <a:cs typeface="Times New Roman" panose="02020603050405020304" pitchFamily="18" charset="0"/>
              </a:rPr>
              <a:t>arises from characteristics that set you apart from others in your in-group —</a:t>
            </a:r>
            <a:r>
              <a:rPr lang="en-US" altLang="zh-CN" sz="2800" dirty="0">
                <a:solidFill>
                  <a:srgbClr val="FF0000"/>
                </a:solidFill>
                <a:latin typeface="Times New Roman" panose="02020603050405020304" pitchFamily="18" charset="0"/>
                <a:cs typeface="Times New Roman" panose="02020603050405020304" pitchFamily="18" charset="0"/>
              </a:rPr>
              <a:t>those things that make you unique</a:t>
            </a:r>
            <a:r>
              <a:rPr lang="en-US" altLang="zh-CN" sz="2800" dirty="0">
                <a:solidFill>
                  <a:srgbClr val="000000"/>
                </a:solidFill>
                <a:latin typeface="Times New Roman" panose="02020603050405020304" pitchFamily="18" charset="0"/>
                <a:cs typeface="Times New Roman" panose="02020603050405020304" pitchFamily="18" charset="0"/>
              </a:rPr>
              <a:t> and influence how you see yourself. Scholars typically use the term self-construal (</a:t>
            </a:r>
            <a:r>
              <a:rPr lang="zh-CN" altLang="en-US" sz="2800" dirty="0">
                <a:solidFill>
                  <a:srgbClr val="000000"/>
                </a:solidFill>
                <a:latin typeface="Times New Roman" panose="02020603050405020304" pitchFamily="18" charset="0"/>
                <a:cs typeface="Times New Roman" panose="02020603050405020304" pitchFamily="18" charset="0"/>
              </a:rPr>
              <a:t>自我建构）</a:t>
            </a:r>
            <a:r>
              <a:rPr lang="en-US" altLang="zh-CN" sz="2800" dirty="0">
                <a:solidFill>
                  <a:srgbClr val="000000"/>
                </a:solidFill>
                <a:latin typeface="Times New Roman" panose="02020603050405020304" pitchFamily="18" charset="0"/>
                <a:cs typeface="Times New Roman" panose="02020603050405020304" pitchFamily="18" charset="0"/>
              </a:rPr>
              <a:t>to denote how individuals view themselves in relation to others. </a:t>
            </a:r>
            <a:endParaRPr lang="zh-CN" alt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027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14747"/>
            <a:ext cx="8229600" cy="4525963"/>
          </a:xfrm>
        </p:spPr>
        <p:txBody>
          <a:bodyPr/>
          <a:lstStyle/>
          <a:p>
            <a:pPr>
              <a:lnSpc>
                <a:spcPct val="125000"/>
              </a:lnSpc>
              <a:spcBef>
                <a:spcPts val="0"/>
              </a:spcBef>
            </a:pPr>
            <a:r>
              <a:rPr lang="en-US" altLang="zh-CN" sz="2000" dirty="0">
                <a:solidFill>
                  <a:srgbClr val="000000"/>
                </a:solidFill>
                <a:latin typeface="Times New Roman" panose="02020603050405020304" pitchFamily="18" charset="0"/>
                <a:cs typeface="Times New Roman" panose="02020603050405020304" pitchFamily="18" charset="0"/>
              </a:rPr>
              <a:t>Research by social and cultural psychologists has disclosed that an individual possesses an independent, an interdependent, and a relational self-construal and that cultural differences in self-definition arise through differences in the relative strength or elaboration of these self-</a:t>
            </a:r>
            <a:r>
              <a:rPr lang="en-US" altLang="zh-CN" sz="2000" dirty="0" err="1">
                <a:solidFill>
                  <a:srgbClr val="000000"/>
                </a:solidFill>
                <a:latin typeface="Times New Roman" panose="02020603050405020304" pitchFamily="18" charset="0"/>
                <a:cs typeface="Times New Roman" panose="02020603050405020304" pitchFamily="18" charset="0"/>
              </a:rPr>
              <a:t>construals</a:t>
            </a:r>
            <a:r>
              <a:rPr lang="en-US" altLang="zh-CN" sz="2000" dirty="0">
                <a:solidFill>
                  <a:srgbClr val="000000"/>
                </a:solidFill>
                <a:latin typeface="Times New Roman" panose="02020603050405020304" pitchFamily="18" charset="0"/>
                <a:cs typeface="Times New Roman" panose="02020603050405020304" pitchFamily="18" charset="0"/>
              </a:rPr>
              <a:t>.  (individualistic vs. collectivistic)</a:t>
            </a:r>
          </a:p>
          <a:p>
            <a:pPr algn="just">
              <a:lnSpc>
                <a:spcPct val="125000"/>
              </a:lnSpc>
              <a:spcBef>
                <a:spcPts val="0"/>
              </a:spcBef>
            </a:pPr>
            <a:r>
              <a:rPr lang="en-US" altLang="zh-CN" sz="2000" dirty="0">
                <a:solidFill>
                  <a:srgbClr val="FF0000"/>
                </a:solidFill>
                <a:latin typeface="Times New Roman" panose="02020603050405020304" pitchFamily="18" charset="0"/>
                <a:cs typeface="Times New Roman" panose="02020603050405020304" pitchFamily="18" charset="0"/>
              </a:rPr>
              <a:t>People from individualistic cultures </a:t>
            </a:r>
            <a:r>
              <a:rPr lang="en-US" altLang="zh-CN" sz="2000" dirty="0">
                <a:solidFill>
                  <a:srgbClr val="000000"/>
                </a:solidFill>
                <a:latin typeface="Times New Roman" panose="02020603050405020304" pitchFamily="18" charset="0"/>
                <a:cs typeface="Times New Roman" panose="02020603050405020304" pitchFamily="18" charset="0"/>
              </a:rPr>
              <a:t>with a high level of independent self-construal are likely to be self-promoting and favor direct communication. Conversely, </a:t>
            </a:r>
            <a:r>
              <a:rPr lang="en-US" altLang="zh-CN" sz="2000" dirty="0">
                <a:solidFill>
                  <a:srgbClr val="FF0000"/>
                </a:solidFill>
                <a:latin typeface="Times New Roman" panose="02020603050405020304" pitchFamily="18" charset="0"/>
                <a:cs typeface="Times New Roman" panose="02020603050405020304" pitchFamily="18" charset="0"/>
              </a:rPr>
              <a:t>someone of a collectivistic-oriented culture </a:t>
            </a:r>
            <a:r>
              <a:rPr lang="en-US" altLang="zh-CN" sz="2000" dirty="0">
                <a:solidFill>
                  <a:srgbClr val="000000"/>
                </a:solidFill>
                <a:latin typeface="Times New Roman" panose="02020603050405020304" pitchFamily="18" charset="0"/>
                <a:cs typeface="Times New Roman" panose="02020603050405020304" pitchFamily="18" charset="0"/>
              </a:rPr>
              <a:t>may tend to emphasize their group membership and prefer indirect communication. </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4" name="标题 1"/>
          <p:cNvSpPr>
            <a:spLocks noGrp="1"/>
          </p:cNvSpPr>
          <p:nvPr>
            <p:ph type="title"/>
          </p:nvPr>
        </p:nvSpPr>
        <p:spPr>
          <a:xfrm>
            <a:off x="457200" y="443603"/>
            <a:ext cx="8229600" cy="1143000"/>
          </a:xfrm>
        </p:spPr>
        <p:txBody>
          <a:bodyPr/>
          <a:lstStyle/>
          <a:p>
            <a:r>
              <a:rPr lang="en-US" altLang="zh-CN" dirty="0">
                <a:latin typeface="Times New Roman" panose="02020603050405020304" pitchFamily="18" charset="0"/>
                <a:cs typeface="Times New Roman" panose="02020603050405020304" pitchFamily="18" charset="0"/>
              </a:rPr>
              <a:t>5.3.7 Personal Identity </a:t>
            </a:r>
            <a:r>
              <a:rPr lang="en-US" altLang="zh-CN" dirty="0">
                <a:highlight>
                  <a:srgbClr val="FFFF00"/>
                </a:highlight>
                <a:latin typeface="Times New Roman" panose="02020603050405020304" pitchFamily="18" charset="0"/>
                <a:cs typeface="Times New Roman" panose="02020603050405020304" pitchFamily="18" charset="0"/>
              </a:rPr>
              <a:t>P178</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0696" y="6019801"/>
            <a:ext cx="1017104" cy="1017104"/>
          </a:xfrm>
          <a:prstGeom prst="rect">
            <a:avLst/>
          </a:prstGeom>
        </p:spPr>
      </p:pic>
    </p:spTree>
    <p:extLst>
      <p:ext uri="{BB962C8B-B14F-4D97-AF65-F5344CB8AC3E}">
        <p14:creationId xmlns:p14="http://schemas.microsoft.com/office/powerpoint/2010/main" val="359716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637" y="854148"/>
            <a:ext cx="8229600" cy="1143000"/>
          </a:xfrm>
        </p:spPr>
        <p:txBody>
          <a:bodyPr/>
          <a:lstStyle/>
          <a:p>
            <a:r>
              <a:rPr lang="en-US" altLang="zh-CN" sz="3600" dirty="0">
                <a:latin typeface="Times New Roman" panose="02020603050405020304" pitchFamily="18" charset="0"/>
                <a:cs typeface="Times New Roman" panose="02020603050405020304" pitchFamily="18" charset="0"/>
              </a:rPr>
              <a:t>5.3.8 Cyber Identity and Fantasy Identity </a:t>
            </a:r>
            <a:r>
              <a:rPr lang="en-US" altLang="zh-CN" sz="3600" dirty="0">
                <a:highlight>
                  <a:srgbClr val="FFFF00"/>
                </a:highlight>
                <a:latin typeface="Times New Roman" panose="02020603050405020304" pitchFamily="18" charset="0"/>
                <a:cs typeface="Times New Roman" panose="02020603050405020304" pitchFamily="18" charset="0"/>
              </a:rPr>
              <a:t>P179 </a:t>
            </a:r>
            <a:endParaRPr lang="zh-CN" altLang="en-US" sz="3600" dirty="0">
              <a:highlight>
                <a:srgbClr val="FFFF00"/>
              </a:highlight>
            </a:endParaRPr>
          </a:p>
        </p:txBody>
      </p:sp>
      <p:sp>
        <p:nvSpPr>
          <p:cNvPr id="3" name="内容占位符 2"/>
          <p:cNvSpPr>
            <a:spLocks noGrp="1"/>
          </p:cNvSpPr>
          <p:nvPr>
            <p:ph idx="1"/>
          </p:nvPr>
        </p:nvSpPr>
        <p:spPr>
          <a:xfrm>
            <a:off x="457200" y="2332037"/>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The Internet allows individuals to select and promote what they consider the positive features of their identity and omit any perceived negative elements or even construct an </a:t>
            </a:r>
            <a:r>
              <a:rPr lang="en-US" altLang="zh-CN" sz="2800" b="1" dirty="0">
                <a:solidFill>
                  <a:srgbClr val="FF0000"/>
                </a:solidFill>
                <a:latin typeface="Times New Roman" panose="02020603050405020304" pitchFamily="18" charset="0"/>
                <a:cs typeface="Times New Roman" panose="02020603050405020304" pitchFamily="18" charset="0"/>
              </a:rPr>
              <a:t>imaginary persona</a:t>
            </a:r>
            <a:r>
              <a:rPr lang="en-US" altLang="zh-CN" sz="2800" dirty="0">
                <a:solidFill>
                  <a:srgbClr val="000000"/>
                </a:solidFill>
                <a:latin typeface="Times New Roman" panose="02020603050405020304" pitchFamily="18" charset="0"/>
                <a:cs typeface="Times New Roman" panose="02020603050405020304" pitchFamily="18" charset="0"/>
              </a:rPr>
              <a:t>, that may or may not correspond to their actual identity.</a:t>
            </a:r>
          </a:p>
          <a:p>
            <a:pPr>
              <a:lnSpc>
                <a:spcPct val="125000"/>
              </a:lnSpc>
              <a:spcBef>
                <a:spcPts val="0"/>
              </a:spcBef>
            </a:pPr>
            <a:r>
              <a:rPr lang="en-US" altLang="zh-CN" sz="2800" b="1" dirty="0">
                <a:solidFill>
                  <a:srgbClr val="FF0000"/>
                </a:solidFill>
                <a:latin typeface="Times New Roman" panose="02020603050405020304" pitchFamily="18" charset="0"/>
                <a:cs typeface="Times New Roman" panose="02020603050405020304" pitchFamily="18" charset="0"/>
              </a:rPr>
              <a:t>Fantasy identity</a:t>
            </a:r>
            <a:r>
              <a:rPr lang="en-US" altLang="zh-CN" sz="2800" dirty="0">
                <a:solidFill>
                  <a:srgbClr val="000000"/>
                </a:solidFill>
                <a:latin typeface="Times New Roman" panose="02020603050405020304" pitchFamily="18" charset="0"/>
                <a:cs typeface="Times New Roman" panose="02020603050405020304" pitchFamily="18" charset="0"/>
              </a:rPr>
              <a:t>, which also extends across cultures, centers on characters from science fiction movies, comic books (manga), and anime.</a:t>
            </a:r>
            <a:endParaRPr lang="zh-CN" altLang="en-US" sz="28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1487" y="5980044"/>
            <a:ext cx="1017104" cy="1017104"/>
          </a:xfrm>
          <a:prstGeom prst="rect">
            <a:avLst/>
          </a:prstGeom>
        </p:spPr>
      </p:pic>
    </p:spTree>
    <p:extLst>
      <p:ext uri="{BB962C8B-B14F-4D97-AF65-F5344CB8AC3E}">
        <p14:creationId xmlns:p14="http://schemas.microsoft.com/office/powerpoint/2010/main" val="2331896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5.3.9 Other Identities  </a:t>
            </a:r>
            <a:endParaRPr lang="zh-CN" altLang="en-US" dirty="0"/>
          </a:p>
        </p:txBody>
      </p:sp>
      <p:sp>
        <p:nvSpPr>
          <p:cNvPr id="3" name="内容占位符 2"/>
          <p:cNvSpPr>
            <a:spLocks noGrp="1"/>
          </p:cNvSpPr>
          <p:nvPr>
            <p:ph idx="1"/>
          </p:nvPr>
        </p:nvSpPr>
        <p:spPr>
          <a:xfrm>
            <a:off x="457200" y="2435087"/>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Religious identity</a:t>
            </a: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Political identity</a:t>
            </a: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Socioeconomic identity</a:t>
            </a: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Tribal identity</a:t>
            </a: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a:t>
            </a:r>
          </a:p>
        </p:txBody>
      </p:sp>
      <p:pic>
        <p:nvPicPr>
          <p:cNvPr id="6" name="图片 5">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1487" y="5980044"/>
            <a:ext cx="1017104" cy="1017104"/>
          </a:xfrm>
          <a:prstGeom prst="rect">
            <a:avLst/>
          </a:prstGeom>
        </p:spPr>
      </p:pic>
    </p:spTree>
    <p:extLst>
      <p:ext uri="{BB962C8B-B14F-4D97-AF65-F5344CB8AC3E}">
        <p14:creationId xmlns:p14="http://schemas.microsoft.com/office/powerpoint/2010/main" val="3007042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7748" y="820751"/>
            <a:ext cx="8229600" cy="1143000"/>
          </a:xfrm>
        </p:spPr>
        <p:txBody>
          <a:bodyPr/>
          <a:lstStyle/>
          <a:p>
            <a:r>
              <a:rPr lang="en-US" altLang="zh-CN" sz="4000" dirty="0">
                <a:latin typeface="Times New Roman" panose="02020603050405020304" pitchFamily="18" charset="0"/>
                <a:cs typeface="Times New Roman" panose="02020603050405020304" pitchFamily="18" charset="0"/>
              </a:rPr>
              <a:t>5.4 Identity Acquisition and Development </a:t>
            </a:r>
            <a:r>
              <a:rPr lang="en-US" altLang="zh-CN" sz="4000" dirty="0">
                <a:highlight>
                  <a:srgbClr val="FFFF00"/>
                </a:highlight>
                <a:latin typeface="Times New Roman" panose="02020603050405020304" pitchFamily="18" charset="0"/>
                <a:cs typeface="Times New Roman" panose="02020603050405020304" pitchFamily="18" charset="0"/>
              </a:rPr>
              <a:t>P180</a:t>
            </a:r>
            <a:endParaRPr lang="zh-CN" altLang="en-US" sz="40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367748" y="2494722"/>
            <a:ext cx="8229600"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As previously discussed, </a:t>
            </a:r>
            <a:r>
              <a:rPr lang="en-US" altLang="zh-CN" sz="2400" dirty="0">
                <a:solidFill>
                  <a:srgbClr val="FF0000"/>
                </a:solidFill>
                <a:latin typeface="Times New Roman" panose="02020603050405020304" pitchFamily="18" charset="0"/>
                <a:cs typeface="Times New Roman" panose="02020603050405020304" pitchFamily="18" charset="0"/>
              </a:rPr>
              <a:t>identities are a product of contact with others</a:t>
            </a:r>
            <a:r>
              <a:rPr lang="en-US" altLang="zh-CN" sz="2400" dirty="0">
                <a:solidFill>
                  <a:srgbClr val="000000"/>
                </a:solidFill>
                <a:latin typeface="Times New Roman" panose="02020603050405020304" pitchFamily="18" charset="0"/>
                <a:cs typeface="Times New Roman" panose="02020603050405020304" pitchFamily="18" charset="0"/>
              </a:rPr>
              <a:t>. Ting-Toomey sees identities as being acquired and developed through interaction with others in their cultural group. Thus, </a:t>
            </a:r>
            <a:r>
              <a:rPr lang="en-US" altLang="zh-CN" sz="2400" dirty="0">
                <a:solidFill>
                  <a:srgbClr val="FF0000"/>
                </a:solidFill>
                <a:latin typeface="Times New Roman" panose="02020603050405020304" pitchFamily="18" charset="0"/>
                <a:cs typeface="Times New Roman" panose="02020603050405020304" pitchFamily="18" charset="0"/>
              </a:rPr>
              <a:t>your individual identities are derived from your larger group identities</a:t>
            </a:r>
            <a:r>
              <a:rPr lang="en-US" altLang="zh-CN" sz="2400" dirty="0">
                <a:solidFill>
                  <a:srgbClr val="000000"/>
                </a:solidFill>
                <a:latin typeface="Times New Roman" panose="02020603050405020304" pitchFamily="18" charset="0"/>
                <a:cs typeface="Times New Roman" panose="02020603050405020304" pitchFamily="18" charset="0"/>
              </a:rPr>
              <a:t>. Identity development, then, can be described as a dynamic process of familial influences, cultural socialization, and personal experiences.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4" name="星形: 五角 3">
            <a:extLst>
              <a:ext uri="{FF2B5EF4-FFF2-40B4-BE49-F238E27FC236}">
                <a16:creationId xmlns:a16="http://schemas.microsoft.com/office/drawing/2014/main" id="{BAB84FF5-F770-48BA-98F5-AF69024C5D54}"/>
              </a:ext>
            </a:extLst>
          </p:cNvPr>
          <p:cNvSpPr/>
          <p:nvPr/>
        </p:nvSpPr>
        <p:spPr>
          <a:xfrm>
            <a:off x="4891141" y="145386"/>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185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774" y="2435087"/>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hlinkClick r:id="rId2" action="ppaction://hlinksldjump"/>
              </a:rPr>
              <a:t>Phinney’s three-stage identity development model</a:t>
            </a: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hlinkClick r:id="rId3" action="ppaction://hlinksldjump"/>
              </a:rPr>
              <a:t>Multistage Identity Development Models</a:t>
            </a: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hlinkClick r:id="rId4" action="ppaction://hlinksldjump"/>
              </a:rPr>
              <a:t>Martin and Nakayama’s biracial identity development model</a:t>
            </a: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hlinkClick r:id="rId5" action="ppaction://hlinksldjump"/>
              </a:rPr>
              <a:t>Ascribed identities or avowed identities</a:t>
            </a: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800" dirty="0">
              <a:solidFill>
                <a:srgbClr val="00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389013" y="877458"/>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4000" dirty="0">
                <a:latin typeface="Times New Roman" panose="02020603050405020304" pitchFamily="18" charset="0"/>
                <a:cs typeface="Times New Roman" panose="02020603050405020304" pitchFamily="18" charset="0"/>
              </a:rPr>
              <a:t>5.4 Identity Acquisition and Development</a:t>
            </a:r>
            <a:endParaRPr lang="zh-CN" altLang="en-US" sz="40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8189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66115" y="854806"/>
            <a:ext cx="8706678" cy="1143000"/>
          </a:xfrm>
        </p:spPr>
        <p:txBody>
          <a:bodyPr/>
          <a:lstStyle/>
          <a:p>
            <a:r>
              <a:rPr lang="en-US" altLang="zh-CN" sz="3200" dirty="0">
                <a:latin typeface="Times New Roman" panose="02020603050405020304" pitchFamily="18" charset="0"/>
                <a:cs typeface="Times New Roman" panose="02020603050405020304" pitchFamily="18" charset="0"/>
              </a:rPr>
              <a:t>Phinney’s three-stage identity development model </a:t>
            </a:r>
            <a:r>
              <a:rPr lang="en-US" altLang="zh-CN" sz="3200" dirty="0">
                <a:highlight>
                  <a:srgbClr val="FFFF00"/>
                </a:highlight>
                <a:latin typeface="Times New Roman" panose="02020603050405020304" pitchFamily="18" charset="0"/>
                <a:cs typeface="Times New Roman" panose="02020603050405020304" pitchFamily="18" charset="0"/>
              </a:rPr>
              <a:t>P180-181</a:t>
            </a:r>
            <a:endParaRPr lang="zh-CN" altLang="en-US" sz="32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72309" y="2718699"/>
            <a:ext cx="8229600" cy="397981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Initial stage: Unexamined ethnic identity</a:t>
            </a:r>
          </a:p>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Second stage: Ethnic identity search</a:t>
            </a:r>
          </a:p>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Final stage: Ethnic identity achievement</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3378777"/>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6774" y="932121"/>
            <a:ext cx="8229600" cy="1143000"/>
          </a:xfrm>
        </p:spPr>
        <p:txBody>
          <a:bodyPr/>
          <a:lstStyle/>
          <a:p>
            <a:r>
              <a:rPr lang="en-US" altLang="zh-CN" sz="4000" dirty="0">
                <a:latin typeface="Times New Roman" panose="02020603050405020304" pitchFamily="18" charset="0"/>
                <a:cs typeface="Times New Roman" panose="02020603050405020304" pitchFamily="18" charset="0"/>
              </a:rPr>
              <a:t>Stage 1: Unexamined ethnic identity </a:t>
            </a:r>
            <a:r>
              <a:rPr lang="en-US" altLang="zh-CN" sz="4000" dirty="0">
                <a:highlight>
                  <a:srgbClr val="FFFF00"/>
                </a:highlight>
                <a:latin typeface="Times New Roman" panose="02020603050405020304" pitchFamily="18" charset="0"/>
                <a:cs typeface="Times New Roman" panose="02020603050405020304" pitchFamily="18" charset="0"/>
              </a:rPr>
              <a:t>P180</a:t>
            </a:r>
            <a:endParaRPr lang="zh-CN" altLang="en-US" sz="40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26774" y="2445026"/>
            <a:ext cx="8229600" cy="4525963"/>
          </a:xfrm>
        </p:spPr>
        <p:txBody>
          <a:bodyPr/>
          <a:lstStyle/>
          <a:p>
            <a:pPr>
              <a:lnSpc>
                <a:spcPct val="125000"/>
              </a:lnSpc>
              <a:spcBef>
                <a:spcPts val="0"/>
              </a:spcBef>
            </a:pPr>
            <a:r>
              <a:rPr lang="en-US" altLang="zh-CN" dirty="0">
                <a:solidFill>
                  <a:srgbClr val="000000"/>
                </a:solidFill>
                <a:latin typeface="Times New Roman" panose="02020603050405020304" pitchFamily="18" charset="0"/>
                <a:cs typeface="Times New Roman" panose="02020603050405020304" pitchFamily="18" charset="0"/>
              </a:rPr>
              <a:t>This stage is characterized by </a:t>
            </a:r>
            <a:r>
              <a:rPr lang="en-US" altLang="zh-CN" dirty="0">
                <a:solidFill>
                  <a:srgbClr val="FF0000"/>
                </a:solidFill>
                <a:latin typeface="Times New Roman" panose="02020603050405020304" pitchFamily="18" charset="0"/>
                <a:cs typeface="Times New Roman" panose="02020603050405020304" pitchFamily="18" charset="0"/>
              </a:rPr>
              <a:t>the lack of exploration of ethnicity</a:t>
            </a:r>
            <a:r>
              <a:rPr lang="en-US" altLang="zh-CN" dirty="0">
                <a:solidFill>
                  <a:srgbClr val="000000"/>
                </a:solidFill>
                <a:latin typeface="Times New Roman" panose="02020603050405020304" pitchFamily="18" charset="0"/>
                <a:cs typeface="Times New Roman" panose="02020603050405020304" pitchFamily="18" charset="0"/>
              </a:rPr>
              <a:t>. During this phase, individuals are not particularly interested in examining or demonstrating their personal ethnicity. </a:t>
            </a:r>
          </a:p>
          <a:p>
            <a:endParaRPr lang="zh-CN" altLang="en-US" dirty="0"/>
          </a:p>
        </p:txBody>
      </p:sp>
    </p:spTree>
    <p:extLst>
      <p:ext uri="{BB962C8B-B14F-4D97-AF65-F5344CB8AC3E}">
        <p14:creationId xmlns:p14="http://schemas.microsoft.com/office/powerpoint/2010/main" val="3375853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67596"/>
            <a:ext cx="8229600" cy="1143000"/>
          </a:xfrm>
        </p:spPr>
        <p:txBody>
          <a:bodyPr/>
          <a:lstStyle/>
          <a:p>
            <a:r>
              <a:rPr lang="en-US" altLang="zh-CN" dirty="0">
                <a:latin typeface="Times New Roman" panose="02020603050405020304" pitchFamily="18" charset="0"/>
                <a:cs typeface="Times New Roman" panose="02020603050405020304" pitchFamily="18" charset="0"/>
              </a:rPr>
              <a:t>Stage 2: Ethnic identity search</a:t>
            </a:r>
            <a:br>
              <a:rPr lang="en-US" altLang="zh-CN" dirty="0">
                <a:latin typeface="Times New Roman" panose="02020603050405020304" pitchFamily="18" charset="0"/>
                <a:cs typeface="Times New Roman" panose="02020603050405020304" pitchFamily="18" charset="0"/>
              </a:rPr>
            </a:br>
            <a:r>
              <a:rPr lang="en-US" altLang="zh-CN" dirty="0">
                <a:highlight>
                  <a:srgbClr val="FFFF00"/>
                </a:highlight>
                <a:latin typeface="Times New Roman" panose="02020603050405020304" pitchFamily="18" charset="0"/>
                <a:cs typeface="Times New Roman" panose="02020603050405020304" pitchFamily="18" charset="0"/>
              </a:rPr>
              <a:t>P181</a:t>
            </a:r>
            <a:endParaRPr lang="zh-CN" altLang="en-US"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66531" y="2332037"/>
            <a:ext cx="8229600"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This stage begins when individuals </a:t>
            </a:r>
            <a:r>
              <a:rPr lang="en-US" altLang="zh-CN" sz="2400" dirty="0">
                <a:solidFill>
                  <a:srgbClr val="FF0000"/>
                </a:solidFill>
                <a:latin typeface="Times New Roman" panose="02020603050405020304" pitchFamily="18" charset="0"/>
                <a:cs typeface="Times New Roman" panose="02020603050405020304" pitchFamily="18" charset="0"/>
              </a:rPr>
              <a:t>become interested </a:t>
            </a:r>
            <a:r>
              <a:rPr lang="en-US" altLang="zh-CN" sz="2400" dirty="0">
                <a:latin typeface="Times New Roman" panose="02020603050405020304" pitchFamily="18" charset="0"/>
                <a:cs typeface="Times New Roman" panose="02020603050405020304" pitchFamily="18" charset="0"/>
              </a:rPr>
              <a:t>in</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learning about and understanding their own ethnicity.</a:t>
            </a:r>
          </a:p>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Movement from stage 1 to stage 2 can be </a:t>
            </a:r>
            <a:r>
              <a:rPr lang="en-US" altLang="zh-CN" sz="2400" dirty="0">
                <a:solidFill>
                  <a:srgbClr val="FF0000"/>
                </a:solidFill>
                <a:latin typeface="Times New Roman" panose="02020603050405020304" pitchFamily="18" charset="0"/>
                <a:cs typeface="Times New Roman" panose="02020603050405020304" pitchFamily="18" charset="0"/>
              </a:rPr>
              <a:t>stimulated by a variety of events</a:t>
            </a:r>
            <a:r>
              <a:rPr lang="en-US" altLang="zh-CN" sz="2400" dirty="0">
                <a:solidFill>
                  <a:srgbClr val="000000"/>
                </a:solidFill>
                <a:latin typeface="Times New Roman" panose="02020603050405020304" pitchFamily="18" charset="0"/>
                <a:cs typeface="Times New Roman" panose="02020603050405020304" pitchFamily="18" charset="0"/>
              </a:rPr>
              <a:t>. An incident of discrimination might move minority members to reflect on their own ethnicity. Increased interest in ethnic identity could also come from attending a cultural event, taking a culture class, or some other event that expands greater awareness of and interest in one’s cultural heritage.</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8048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0995" y="868326"/>
            <a:ext cx="8229600" cy="1143000"/>
          </a:xfrm>
        </p:spPr>
        <p:txBody>
          <a:bodyPr/>
          <a:lstStyle/>
          <a:p>
            <a:r>
              <a:rPr lang="en-US" altLang="zh-CN" sz="4000" dirty="0">
                <a:latin typeface="Times New Roman" panose="02020603050405020304" pitchFamily="18" charset="0"/>
                <a:cs typeface="Times New Roman" panose="02020603050405020304" pitchFamily="18" charset="0"/>
              </a:rPr>
              <a:t>Stage 3: Ethnic identity achievement</a:t>
            </a:r>
            <a:br>
              <a:rPr lang="en-US" altLang="zh-CN" sz="4000" dirty="0">
                <a:latin typeface="Times New Roman" panose="02020603050405020304" pitchFamily="18" charset="0"/>
                <a:cs typeface="Times New Roman" panose="02020603050405020304" pitchFamily="18" charset="0"/>
              </a:rPr>
            </a:br>
            <a:r>
              <a:rPr lang="en-US" altLang="zh-CN" sz="4000" dirty="0">
                <a:highlight>
                  <a:srgbClr val="FFFF00"/>
                </a:highlight>
                <a:latin typeface="Times New Roman" panose="02020603050405020304" pitchFamily="18" charset="0"/>
                <a:cs typeface="Times New Roman" panose="02020603050405020304" pitchFamily="18" charset="0"/>
              </a:rPr>
              <a:t>P181</a:t>
            </a:r>
            <a:endParaRPr lang="zh-CN" altLang="en-US" sz="40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616225" y="2451307"/>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This stage is reached when individuals have </a:t>
            </a:r>
            <a:r>
              <a:rPr lang="en-US" altLang="zh-CN" sz="2800" dirty="0">
                <a:solidFill>
                  <a:srgbClr val="FF0000"/>
                </a:solidFill>
                <a:latin typeface="Times New Roman" panose="02020603050405020304" pitchFamily="18" charset="0"/>
                <a:cs typeface="Times New Roman" panose="02020603050405020304" pitchFamily="18" charset="0"/>
              </a:rPr>
              <a:t>a clear and confident understanding of their own cultural identity</a:t>
            </a:r>
            <a:r>
              <a:rPr lang="en-US" altLang="zh-CN" sz="2800" dirty="0">
                <a:solidFill>
                  <a:srgbClr val="000000"/>
                </a:solidFill>
                <a:latin typeface="Times New Roman" panose="02020603050405020304" pitchFamily="18" charset="0"/>
                <a:cs typeface="Times New Roman" panose="02020603050405020304" pitchFamily="18" charset="0"/>
              </a:rPr>
              <a:t>. For minority members, this usually comes with an ability to effectively deal with discrimination and negative stereotypes. Identity achievement can also provide greater self-confidence and enhance feelings of personal worth.</a:t>
            </a:r>
            <a:endParaRPr lang="zh-CN" altLang="en-US" sz="28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3129921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9349" y="875414"/>
            <a:ext cx="8229600" cy="1143000"/>
          </a:xfrm>
        </p:spPr>
        <p:txBody>
          <a:bodyPr/>
          <a:lstStyle/>
          <a:p>
            <a:r>
              <a:rPr lang="en-US" altLang="zh-CN" sz="3600" dirty="0">
                <a:latin typeface="Times New Roman" panose="02020603050405020304" pitchFamily="18" charset="0"/>
                <a:cs typeface="Times New Roman" panose="02020603050405020304" pitchFamily="18" charset="0"/>
              </a:rPr>
              <a:t>Multistage Identity Development Models</a:t>
            </a:r>
            <a:br>
              <a:rPr lang="en-US" altLang="zh-CN" sz="3600" dirty="0">
                <a:latin typeface="Times New Roman" panose="02020603050405020304" pitchFamily="18" charset="0"/>
                <a:cs typeface="Times New Roman" panose="02020603050405020304" pitchFamily="18" charset="0"/>
              </a:rPr>
            </a:br>
            <a:r>
              <a:rPr lang="en-US" altLang="zh-CN" sz="3600" dirty="0">
                <a:highlight>
                  <a:srgbClr val="FFFF00"/>
                </a:highlight>
                <a:latin typeface="Times New Roman" panose="02020603050405020304" pitchFamily="18" charset="0"/>
                <a:cs typeface="Times New Roman" panose="02020603050405020304" pitchFamily="18" charset="0"/>
              </a:rPr>
              <a:t>P181</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2461246"/>
            <a:ext cx="8577470" cy="4525963"/>
          </a:xfrm>
        </p:spPr>
        <p:txBody>
          <a:bodyPr/>
          <a:lstStyle/>
          <a:p>
            <a:pPr>
              <a:lnSpc>
                <a:spcPct val="125000"/>
              </a:lnSpc>
              <a:spcBef>
                <a:spcPts val="0"/>
              </a:spcBef>
            </a:pPr>
            <a:r>
              <a:rPr lang="en-US" altLang="zh-CN" dirty="0">
                <a:solidFill>
                  <a:srgbClr val="000000"/>
                </a:solidFill>
                <a:latin typeface="Times New Roman" panose="02020603050405020304" pitchFamily="18" charset="0"/>
                <a:cs typeface="Times New Roman" panose="02020603050405020304" pitchFamily="18" charset="0"/>
              </a:rPr>
              <a:t>Martin and Nakayama offer multistage identity development models for </a:t>
            </a:r>
            <a:r>
              <a:rPr lang="en-US" altLang="zh-CN" dirty="0">
                <a:solidFill>
                  <a:srgbClr val="FF0000"/>
                </a:solidFill>
                <a:latin typeface="Times New Roman" panose="02020603050405020304" pitchFamily="18" charset="0"/>
                <a:cs typeface="Times New Roman" panose="02020603050405020304" pitchFamily="18" charset="0"/>
              </a:rPr>
              <a:t>minority, majority, and biracial individuals </a:t>
            </a:r>
            <a:r>
              <a:rPr lang="en-US" altLang="zh-CN" dirty="0">
                <a:solidFill>
                  <a:srgbClr val="000000"/>
                </a:solidFill>
                <a:latin typeface="Times New Roman" panose="02020603050405020304" pitchFamily="18" charset="0"/>
                <a:cs typeface="Times New Roman" panose="02020603050405020304" pitchFamily="18" charset="0"/>
              </a:rPr>
              <a:t>respectively.</a:t>
            </a:r>
          </a:p>
        </p:txBody>
      </p:sp>
    </p:spTree>
    <p:extLst>
      <p:ext uri="{BB962C8B-B14F-4D97-AF65-F5344CB8AC3E}">
        <p14:creationId xmlns:p14="http://schemas.microsoft.com/office/powerpoint/2010/main" val="2734435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9349" y="875414"/>
            <a:ext cx="8229600" cy="1143000"/>
          </a:xfrm>
        </p:spPr>
        <p:txBody>
          <a:bodyPr/>
          <a:lstStyle/>
          <a:p>
            <a:r>
              <a:rPr lang="en-US" altLang="zh-CN" sz="3600" dirty="0">
                <a:latin typeface="Times New Roman" panose="02020603050405020304" pitchFamily="18" charset="0"/>
                <a:cs typeface="Times New Roman" panose="02020603050405020304" pitchFamily="18" charset="0"/>
              </a:rPr>
              <a:t>Multistage Identity Development Models</a:t>
            </a:r>
            <a:br>
              <a:rPr lang="en-US" altLang="zh-CN" sz="3600" dirty="0">
                <a:latin typeface="Times New Roman" panose="02020603050405020304" pitchFamily="18" charset="0"/>
                <a:cs typeface="Times New Roman" panose="02020603050405020304" pitchFamily="18" charset="0"/>
              </a:rPr>
            </a:br>
            <a:r>
              <a:rPr lang="en-US" altLang="zh-CN" sz="3600" dirty="0">
                <a:highlight>
                  <a:srgbClr val="FFFF00"/>
                </a:highlight>
                <a:latin typeface="Times New Roman" panose="02020603050405020304" pitchFamily="18" charset="0"/>
                <a:cs typeface="Times New Roman" panose="02020603050405020304" pitchFamily="18" charset="0"/>
              </a:rPr>
              <a:t>P181</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2461246"/>
            <a:ext cx="8577470" cy="4525963"/>
          </a:xfrm>
        </p:spPr>
        <p:txBody>
          <a:bodyPr/>
          <a:lstStyle/>
          <a:p>
            <a:pPr marL="0" indent="0">
              <a:lnSpc>
                <a:spcPct val="125000"/>
              </a:lnSpc>
              <a:spcBef>
                <a:spcPts val="0"/>
              </a:spcBef>
              <a:buNone/>
            </a:pPr>
            <a:r>
              <a:rPr lang="en-US" altLang="zh-CN" sz="2400" dirty="0">
                <a:solidFill>
                  <a:srgbClr val="FF0000"/>
                </a:solidFill>
                <a:latin typeface="Times New Roman" panose="02020603050405020304" pitchFamily="18" charset="0"/>
                <a:cs typeface="Times New Roman" panose="02020603050405020304" pitchFamily="18" charset="0"/>
              </a:rPr>
              <a:t>Minority identity development </a:t>
            </a:r>
            <a:r>
              <a:rPr lang="en-US" altLang="zh-CN" sz="2400" dirty="0">
                <a:solidFill>
                  <a:srgbClr val="000000"/>
                </a:solidFill>
                <a:latin typeface="Times New Roman" panose="02020603050405020304" pitchFamily="18" charset="0"/>
                <a:cs typeface="Times New Roman" panose="02020603050405020304" pitchFamily="18" charset="0"/>
              </a:rPr>
              <a:t>follows </a:t>
            </a:r>
            <a:r>
              <a:rPr lang="en-US" altLang="zh-CN" sz="2400" dirty="0">
                <a:solidFill>
                  <a:srgbClr val="FF0000"/>
                </a:solidFill>
                <a:latin typeface="Times New Roman" panose="02020603050405020304" pitchFamily="18" charset="0"/>
                <a:cs typeface="Times New Roman" panose="02020603050405020304" pitchFamily="18" charset="0"/>
              </a:rPr>
              <a:t>a four-step model</a:t>
            </a:r>
            <a:r>
              <a:rPr lang="en-US" altLang="zh-CN" sz="2400" dirty="0">
                <a:solidFill>
                  <a:srgbClr val="000000"/>
                </a:solidFill>
                <a:latin typeface="Times New Roman" panose="02020603050405020304" pitchFamily="18" charset="0"/>
                <a:cs typeface="Times New Roman" panose="02020603050405020304" pitchFamily="18" charset="0"/>
              </a:rPr>
              <a:t>.</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1</a:t>
            </a:r>
            <a:r>
              <a:rPr lang="en-US" altLang="zh-CN" sz="2400" dirty="0">
                <a:solidFill>
                  <a:srgbClr val="000000"/>
                </a:solidFill>
                <a:latin typeface="Times New Roman" panose="02020603050405020304" pitchFamily="18" charset="0"/>
                <a:cs typeface="Times New Roman" panose="02020603050405020304" pitchFamily="18" charset="0"/>
              </a:rPr>
              <a:t> Unexamined identity: similar to Phinney’s model, in which individuals are </a:t>
            </a:r>
            <a:r>
              <a:rPr lang="en-US" altLang="zh-CN" sz="2400" dirty="0">
                <a:solidFill>
                  <a:srgbClr val="FF0000"/>
                </a:solidFill>
                <a:latin typeface="Times New Roman" panose="02020603050405020304" pitchFamily="18" charset="0"/>
                <a:cs typeface="Times New Roman" panose="02020603050405020304" pitchFamily="18" charset="0"/>
              </a:rPr>
              <a:t>unconcerned</a:t>
            </a:r>
            <a:r>
              <a:rPr lang="en-US" altLang="zh-CN" sz="2400" dirty="0">
                <a:solidFill>
                  <a:srgbClr val="000000"/>
                </a:solidFill>
                <a:latin typeface="Times New Roman" panose="02020603050405020304" pitchFamily="18" charset="0"/>
                <a:cs typeface="Times New Roman" panose="02020603050405020304" pitchFamily="18" charset="0"/>
              </a:rPr>
              <a:t> about identity issues.</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2</a:t>
            </a:r>
            <a:r>
              <a:rPr lang="en-US" altLang="zh-CN" sz="2400" dirty="0">
                <a:solidFill>
                  <a:srgbClr val="000000"/>
                </a:solidFill>
                <a:latin typeface="Times New Roman" panose="02020603050405020304" pitchFamily="18" charset="0"/>
                <a:cs typeface="Times New Roman" panose="02020603050405020304" pitchFamily="18" charset="0"/>
              </a:rPr>
              <a:t> Conformity: </a:t>
            </a:r>
            <a:r>
              <a:rPr lang="en-US" altLang="zh-CN" sz="2400" dirty="0">
                <a:latin typeface="Times New Roman" panose="02020603050405020304" pitchFamily="18" charset="0"/>
                <a:cs typeface="Times New Roman" panose="02020603050405020304" pitchFamily="18" charset="0"/>
              </a:rPr>
              <a:t>minority members </a:t>
            </a:r>
            <a:r>
              <a:rPr lang="en-US" altLang="zh-CN" sz="2400" dirty="0">
                <a:solidFill>
                  <a:srgbClr val="FF0000"/>
                </a:solidFill>
                <a:latin typeface="Times New Roman" panose="02020603050405020304" pitchFamily="18" charset="0"/>
                <a:cs typeface="Times New Roman" panose="02020603050405020304" pitchFamily="18" charset="0"/>
              </a:rPr>
              <a:t>endeavor to fit in</a:t>
            </a:r>
            <a:r>
              <a:rPr lang="en-US" altLang="zh-CN" sz="2400" dirty="0">
                <a:latin typeface="Times New Roman" panose="02020603050405020304" pitchFamily="18" charset="0"/>
                <a:cs typeface="Times New Roman" panose="02020603050405020304" pitchFamily="18" charset="0"/>
              </a:rPr>
              <a:t> with the dominant culture and may even develop negative self-images.</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3</a:t>
            </a:r>
            <a:r>
              <a:rPr lang="en-US" altLang="zh-CN" sz="2400" dirty="0">
                <a:solidFill>
                  <a:srgbClr val="000000"/>
                </a:solidFill>
                <a:latin typeface="Times New Roman" panose="02020603050405020304" pitchFamily="18" charset="0"/>
                <a:cs typeface="Times New Roman" panose="02020603050405020304" pitchFamily="18" charset="0"/>
              </a:rPr>
              <a:t> Resistance and separatism: the result of some cultural awakening that motivates increased interest in  and adherence to one’s own culture. Concurrently, rejection of all or selected aspects of the dominant culture may occur.</a:t>
            </a:r>
          </a:p>
        </p:txBody>
      </p:sp>
    </p:spTree>
    <p:extLst>
      <p:ext uri="{BB962C8B-B14F-4D97-AF65-F5344CB8AC3E}">
        <p14:creationId xmlns:p14="http://schemas.microsoft.com/office/powerpoint/2010/main" val="2652047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9349" y="875414"/>
            <a:ext cx="8229600" cy="1143000"/>
          </a:xfrm>
        </p:spPr>
        <p:txBody>
          <a:bodyPr/>
          <a:lstStyle/>
          <a:p>
            <a:r>
              <a:rPr lang="en-US" altLang="zh-CN" sz="3600" dirty="0">
                <a:latin typeface="Times New Roman" panose="02020603050405020304" pitchFamily="18" charset="0"/>
                <a:cs typeface="Times New Roman" panose="02020603050405020304" pitchFamily="18" charset="0"/>
              </a:rPr>
              <a:t>Multistage Identity Development Models</a:t>
            </a:r>
            <a:br>
              <a:rPr lang="en-US" altLang="zh-CN" sz="3600" dirty="0">
                <a:latin typeface="Times New Roman" panose="02020603050405020304" pitchFamily="18" charset="0"/>
                <a:cs typeface="Times New Roman" panose="02020603050405020304" pitchFamily="18" charset="0"/>
              </a:rPr>
            </a:br>
            <a:r>
              <a:rPr lang="en-US" altLang="zh-CN" sz="3600" dirty="0">
                <a:highlight>
                  <a:srgbClr val="FFFF00"/>
                </a:highlight>
                <a:latin typeface="Times New Roman" panose="02020603050405020304" pitchFamily="18" charset="0"/>
                <a:cs typeface="Times New Roman" panose="02020603050405020304" pitchFamily="18" charset="0"/>
              </a:rPr>
              <a:t>P181</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2332037"/>
            <a:ext cx="8577470" cy="4525963"/>
          </a:xfrm>
        </p:spPr>
        <p:txBody>
          <a:bodyPr/>
          <a:lstStyle/>
          <a:p>
            <a:pPr marL="0" indent="0">
              <a:lnSpc>
                <a:spcPct val="125000"/>
              </a:lnSpc>
              <a:spcBef>
                <a:spcPts val="0"/>
              </a:spcBef>
              <a:buNone/>
            </a:pPr>
            <a:r>
              <a:rPr lang="en-US" altLang="zh-CN" dirty="0">
                <a:solidFill>
                  <a:srgbClr val="FF0000"/>
                </a:solidFill>
                <a:latin typeface="Times New Roman" panose="02020603050405020304" pitchFamily="18" charset="0"/>
                <a:cs typeface="Times New Roman" panose="02020603050405020304" pitchFamily="18" charset="0"/>
              </a:rPr>
              <a:t>Minority identity development </a:t>
            </a:r>
            <a:r>
              <a:rPr lang="en-US" altLang="zh-CN" dirty="0">
                <a:solidFill>
                  <a:srgbClr val="000000"/>
                </a:solidFill>
                <a:latin typeface="Times New Roman" panose="02020603050405020304" pitchFamily="18" charset="0"/>
                <a:cs typeface="Times New Roman" panose="02020603050405020304" pitchFamily="18" charset="0"/>
              </a:rPr>
              <a:t>follows </a:t>
            </a:r>
            <a:r>
              <a:rPr lang="en-US" altLang="zh-CN" dirty="0">
                <a:solidFill>
                  <a:srgbClr val="FF0000"/>
                </a:solidFill>
                <a:latin typeface="Times New Roman" panose="02020603050405020304" pitchFamily="18" charset="0"/>
                <a:cs typeface="Times New Roman" panose="02020603050405020304" pitchFamily="18" charset="0"/>
              </a:rPr>
              <a:t>a four-step model</a:t>
            </a:r>
            <a:r>
              <a:rPr lang="en-US" altLang="zh-CN" dirty="0">
                <a:solidFill>
                  <a:srgbClr val="000000"/>
                </a:solidFill>
                <a:latin typeface="Times New Roman" panose="02020603050405020304" pitchFamily="18" charset="0"/>
                <a:cs typeface="Times New Roman" panose="02020603050405020304" pitchFamily="18" charset="0"/>
              </a:rPr>
              <a:t>.</a:t>
            </a:r>
          </a:p>
          <a:p>
            <a:pPr>
              <a:lnSpc>
                <a:spcPct val="125000"/>
              </a:lnSpc>
              <a:spcBef>
                <a:spcPts val="0"/>
              </a:spcBef>
            </a:pPr>
            <a:r>
              <a:rPr lang="en-US" altLang="zh-CN" dirty="0">
                <a:solidFill>
                  <a:srgbClr val="FF0000"/>
                </a:solidFill>
                <a:latin typeface="Times New Roman" panose="02020603050405020304" pitchFamily="18" charset="0"/>
                <a:cs typeface="Times New Roman" panose="02020603050405020304" pitchFamily="18" charset="0"/>
              </a:rPr>
              <a:t>The final stage</a:t>
            </a:r>
            <a:r>
              <a:rPr lang="en-US" altLang="zh-CN" dirty="0">
                <a:solidFill>
                  <a:srgbClr val="000000"/>
                </a:solidFill>
                <a:latin typeface="Times New Roman" panose="02020603050405020304" pitchFamily="18" charset="0"/>
                <a:cs typeface="Times New Roman" panose="02020603050405020304" pitchFamily="18" charset="0"/>
              </a:rPr>
              <a:t> Integration: individuals gain a sense of pride in and identify with their own cultural group and demonstrate </a:t>
            </a:r>
            <a:r>
              <a:rPr lang="en-US" altLang="zh-CN">
                <a:solidFill>
                  <a:srgbClr val="000000"/>
                </a:solidFill>
                <a:latin typeface="Times New Roman" panose="02020603050405020304" pitchFamily="18" charset="0"/>
                <a:cs typeface="Times New Roman" panose="02020603050405020304" pitchFamily="18" charset="0"/>
              </a:rPr>
              <a:t>an acceptance of</a:t>
            </a:r>
            <a:endParaRPr lang="en-US" altLang="zh-CN"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solidFill>
                  <a:srgbClr val="000000"/>
                </a:solidFill>
                <a:latin typeface="Times New Roman" panose="02020603050405020304" pitchFamily="18" charset="0"/>
                <a:cs typeface="Times New Roman" panose="02020603050405020304" pitchFamily="18" charset="0"/>
              </a:rPr>
              <a:t> other groups.</a:t>
            </a:r>
          </a:p>
        </p:txBody>
      </p:sp>
    </p:spTree>
    <p:extLst>
      <p:ext uri="{BB962C8B-B14F-4D97-AF65-F5344CB8AC3E}">
        <p14:creationId xmlns:p14="http://schemas.microsoft.com/office/powerpoint/2010/main" val="36327773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9349" y="875414"/>
            <a:ext cx="8229600" cy="1143000"/>
          </a:xfrm>
        </p:spPr>
        <p:txBody>
          <a:bodyPr/>
          <a:lstStyle/>
          <a:p>
            <a:r>
              <a:rPr lang="en-US" altLang="zh-CN" sz="3600" dirty="0">
                <a:latin typeface="Times New Roman" panose="02020603050405020304" pitchFamily="18" charset="0"/>
                <a:cs typeface="Times New Roman" panose="02020603050405020304" pitchFamily="18" charset="0"/>
              </a:rPr>
              <a:t>Multistage Identity Development Models</a:t>
            </a:r>
            <a:br>
              <a:rPr lang="en-US" altLang="zh-CN" sz="3600" dirty="0">
                <a:latin typeface="Times New Roman" panose="02020603050405020304" pitchFamily="18" charset="0"/>
                <a:cs typeface="Times New Roman" panose="02020603050405020304" pitchFamily="18" charset="0"/>
              </a:rPr>
            </a:br>
            <a:r>
              <a:rPr lang="en-US" altLang="zh-CN" sz="3600" dirty="0">
                <a:highlight>
                  <a:srgbClr val="FFFF00"/>
                </a:highlight>
                <a:latin typeface="Times New Roman" panose="02020603050405020304" pitchFamily="18" charset="0"/>
                <a:cs typeface="Times New Roman" panose="02020603050405020304" pitchFamily="18" charset="0"/>
              </a:rPr>
              <a:t>P181</a:t>
            </a:r>
            <a:endParaRPr lang="zh-CN" altLang="en-US" sz="36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2461246"/>
            <a:ext cx="8577470" cy="4525963"/>
          </a:xfrm>
        </p:spPr>
        <p:txBody>
          <a:bodyPr/>
          <a:lstStyle/>
          <a:p>
            <a:pPr marL="0" indent="0">
              <a:lnSpc>
                <a:spcPct val="125000"/>
              </a:lnSpc>
              <a:spcBef>
                <a:spcPts val="0"/>
              </a:spcBef>
              <a:buNone/>
            </a:pPr>
            <a:r>
              <a:rPr lang="en-US" altLang="zh-CN" sz="2400" dirty="0">
                <a:solidFill>
                  <a:srgbClr val="FF0000"/>
                </a:solidFill>
                <a:latin typeface="Times New Roman" panose="02020603050405020304" pitchFamily="18" charset="0"/>
                <a:cs typeface="Times New Roman" panose="02020603050405020304" pitchFamily="18" charset="0"/>
              </a:rPr>
              <a:t>Majority identity development </a:t>
            </a:r>
            <a:r>
              <a:rPr lang="en-US" altLang="zh-CN" sz="2400" dirty="0">
                <a:solidFill>
                  <a:srgbClr val="000000"/>
                </a:solidFill>
                <a:latin typeface="Times New Roman" panose="02020603050405020304" pitchFamily="18" charset="0"/>
                <a:cs typeface="Times New Roman" panose="02020603050405020304" pitchFamily="18" charset="0"/>
              </a:rPr>
              <a:t>follows </a:t>
            </a:r>
            <a:r>
              <a:rPr lang="en-US" altLang="zh-CN" sz="2400" dirty="0">
                <a:solidFill>
                  <a:srgbClr val="FF0000"/>
                </a:solidFill>
                <a:latin typeface="Times New Roman" panose="02020603050405020304" pitchFamily="18" charset="0"/>
                <a:cs typeface="Times New Roman" panose="02020603050405020304" pitchFamily="18" charset="0"/>
              </a:rPr>
              <a:t>a five-step model</a:t>
            </a:r>
            <a:r>
              <a:rPr lang="en-US" altLang="zh-CN" sz="2400" dirty="0">
                <a:solidFill>
                  <a:srgbClr val="000000"/>
                </a:solidFill>
                <a:latin typeface="Times New Roman" panose="02020603050405020304" pitchFamily="18" charset="0"/>
                <a:cs typeface="Times New Roman" panose="02020603050405020304" pitchFamily="18" charset="0"/>
              </a:rPr>
              <a:t>.</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1</a:t>
            </a:r>
            <a:r>
              <a:rPr lang="en-US" altLang="zh-CN" sz="2400" dirty="0">
                <a:solidFill>
                  <a:srgbClr val="000000"/>
                </a:solidFill>
                <a:latin typeface="Times New Roman" panose="02020603050405020304" pitchFamily="18" charset="0"/>
                <a:cs typeface="Times New Roman" panose="02020603050405020304" pitchFamily="18" charset="0"/>
              </a:rPr>
              <a:t> Unexamined identity: being of little concern.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2</a:t>
            </a:r>
            <a:r>
              <a:rPr lang="en-US" altLang="zh-CN" sz="2400" dirty="0">
                <a:solidFill>
                  <a:srgbClr val="000000"/>
                </a:solidFill>
                <a:latin typeface="Times New Roman" panose="02020603050405020304" pitchFamily="18" charset="0"/>
                <a:cs typeface="Times New Roman" panose="02020603050405020304" pitchFamily="18" charset="0"/>
              </a:rPr>
              <a:t> Acceptance: acquiescence to existing social inequities, even though such acceptance may occur at a subconscious level.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3</a:t>
            </a:r>
            <a:r>
              <a:rPr lang="en-US" altLang="zh-CN" sz="2400" dirty="0">
                <a:solidFill>
                  <a:srgbClr val="000000"/>
                </a:solidFill>
                <a:latin typeface="Times New Roman" panose="02020603050405020304" pitchFamily="18" charset="0"/>
                <a:cs typeface="Times New Roman" panose="02020603050405020304" pitchFamily="18" charset="0"/>
              </a:rPr>
              <a:t> Resistance: members of the dominant culture become more aware of existing social inequities, begin to question their own culture, and increase their association with minority culture members. </a:t>
            </a:r>
          </a:p>
        </p:txBody>
      </p:sp>
    </p:spTree>
    <p:extLst>
      <p:ext uri="{BB962C8B-B14F-4D97-AF65-F5344CB8AC3E}">
        <p14:creationId xmlns:p14="http://schemas.microsoft.com/office/powerpoint/2010/main" val="610383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15208"/>
            <a:ext cx="8229600" cy="4525963"/>
          </a:xfrm>
        </p:spPr>
        <p:txBody>
          <a:bodyPr/>
          <a:lstStyle/>
          <a:p>
            <a:pPr>
              <a:lnSpc>
                <a:spcPct val="125000"/>
              </a:lnSpc>
              <a:spcBef>
                <a:spcPts val="0"/>
              </a:spcBef>
            </a:pPr>
            <a:r>
              <a:rPr lang="en-US" altLang="zh-CN" sz="2800" dirty="0">
                <a:solidFill>
                  <a:srgbClr val="FF0000"/>
                </a:solidFill>
                <a:latin typeface="Times New Roman" panose="02020603050405020304" pitchFamily="18" charset="0"/>
                <a:cs typeface="Times New Roman" panose="02020603050405020304" pitchFamily="18" charset="0"/>
              </a:rPr>
              <a:t>Stage 4&amp;5 </a:t>
            </a:r>
            <a:r>
              <a:rPr lang="en-US" altLang="zh-CN" sz="2800" dirty="0">
                <a:solidFill>
                  <a:srgbClr val="000000"/>
                </a:solidFill>
                <a:latin typeface="Times New Roman" panose="02020603050405020304" pitchFamily="18" charset="0"/>
                <a:cs typeface="Times New Roman" panose="02020603050405020304" pitchFamily="18" charset="0"/>
              </a:rPr>
              <a:t>Redefinition and reintegration: It brings an increased understanding of one’s dominant culture identity and an appreciation of minority cultures.</a:t>
            </a:r>
            <a:endParaRPr lang="zh-CN" altLang="en-US" sz="28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800" dirty="0">
              <a:solidFill>
                <a:srgbClr val="00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83997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Multistage Identity Development Models</a:t>
            </a:r>
          </a:p>
          <a:p>
            <a:r>
              <a:rPr lang="en-US" altLang="zh-CN" sz="3600" dirty="0">
                <a:highlight>
                  <a:srgbClr val="FFFF00"/>
                </a:highlight>
                <a:latin typeface="Times New Roman" panose="02020603050405020304" pitchFamily="18" charset="0"/>
                <a:cs typeface="Times New Roman" panose="02020603050405020304" pitchFamily="18" charset="0"/>
              </a:rPr>
              <a:t>P181-182</a:t>
            </a:r>
            <a:endParaRPr lang="zh-CN" altLang="en-US" sz="3600"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1488" y="5970105"/>
            <a:ext cx="1017104" cy="1017104"/>
          </a:xfrm>
          <a:prstGeom prst="rect">
            <a:avLst/>
          </a:prstGeom>
        </p:spPr>
      </p:pic>
    </p:spTree>
    <p:extLst>
      <p:ext uri="{BB962C8B-B14F-4D97-AF65-F5344CB8AC3E}">
        <p14:creationId xmlns:p14="http://schemas.microsoft.com/office/powerpoint/2010/main" val="272258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6287" y="897182"/>
            <a:ext cx="8229600" cy="1143000"/>
          </a:xfrm>
        </p:spPr>
        <p:txBody>
          <a:bodyPr/>
          <a:lstStyle/>
          <a:p>
            <a:r>
              <a:rPr lang="en-US" altLang="zh-CN" sz="3200" dirty="0">
                <a:latin typeface="Times New Roman" panose="02020603050405020304" pitchFamily="18" charset="0"/>
                <a:cs typeface="Times New Roman" panose="02020603050405020304" pitchFamily="18" charset="0"/>
              </a:rPr>
              <a:t>Martin and Nakayama’s biracial identity development model </a:t>
            </a:r>
            <a:r>
              <a:rPr lang="en-US" altLang="zh-CN" sz="3200" dirty="0">
                <a:highlight>
                  <a:srgbClr val="FFFF00"/>
                </a:highlight>
                <a:latin typeface="Times New Roman" panose="02020603050405020304" pitchFamily="18" charset="0"/>
                <a:cs typeface="Times New Roman" panose="02020603050405020304" pitchFamily="18" charset="0"/>
              </a:rPr>
              <a:t>P182</a:t>
            </a:r>
            <a:endParaRPr lang="zh-CN" altLang="en-US" sz="3200"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42491" y="2145927"/>
            <a:ext cx="8229600" cy="4525963"/>
          </a:xfrm>
        </p:spPr>
        <p:txBody>
          <a:bodyPr/>
          <a:lstStyle/>
          <a:p>
            <a:pPr marL="0" marR="0" lvl="0" indent="0" algn="l" defTabSz="914400" rtl="0" eaLnBrk="0" fontAlgn="base" latinLnBrk="0" hangingPunct="0">
              <a:lnSpc>
                <a:spcPct val="125000"/>
              </a:lnSpc>
              <a:spcBef>
                <a:spcPts val="0"/>
              </a:spcBef>
              <a:spcAft>
                <a:spcPct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Biracial identity development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follows </a:t>
            </a: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a three-step model</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1</a:t>
            </a:r>
            <a:r>
              <a:rPr lang="en-US" altLang="zh-CN" sz="2400" dirty="0">
                <a:solidFill>
                  <a:srgbClr val="000000"/>
                </a:solidFill>
                <a:latin typeface="Times New Roman" panose="02020603050405020304" pitchFamily="18" charset="0"/>
                <a:cs typeface="Times New Roman" panose="02020603050405020304" pitchFamily="18" charset="0"/>
              </a:rPr>
              <a:t>: Biracial individuals may rotate through three phases where they (1) become conscious of differences in general and the potential for discord, (2) gain an awareness of their personal differences from other children, and (3) begin to sense they are not part of the norm.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2</a:t>
            </a:r>
            <a:r>
              <a:rPr lang="en-US" altLang="zh-CN" sz="2400" dirty="0">
                <a:solidFill>
                  <a:srgbClr val="000000"/>
                </a:solidFill>
                <a:latin typeface="Times New Roman" panose="02020603050405020304" pitchFamily="18" charset="0"/>
                <a:cs typeface="Times New Roman" panose="02020603050405020304" pitchFamily="18" charset="0"/>
              </a:rPr>
              <a:t>: A struggle to be accepted and the development of feelings that they should choose one race or another.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Stage 3&amp;4</a:t>
            </a:r>
            <a:r>
              <a:rPr lang="en-US" altLang="zh-CN" sz="2400" dirty="0">
                <a:solidFill>
                  <a:srgbClr val="000000"/>
                </a:solidFill>
                <a:latin typeface="Times New Roman" panose="02020603050405020304" pitchFamily="18" charset="0"/>
                <a:cs typeface="Times New Roman" panose="02020603050405020304" pitchFamily="18" charset="0"/>
              </a:rPr>
              <a:t>: Biracial individuals accept their duality, becoming more self-confident.</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3662" y="6095999"/>
            <a:ext cx="894867" cy="894867"/>
          </a:xfrm>
          <a:prstGeom prst="rect">
            <a:avLst/>
          </a:prstGeom>
        </p:spPr>
      </p:pic>
    </p:spTree>
    <p:extLst>
      <p:ext uri="{BB962C8B-B14F-4D97-AF65-F5344CB8AC3E}">
        <p14:creationId xmlns:p14="http://schemas.microsoft.com/office/powerpoint/2010/main" val="17212527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49105"/>
            <a:ext cx="8229600" cy="1143000"/>
          </a:xfrm>
        </p:spPr>
        <p:txBody>
          <a:bodyPr/>
          <a:lstStyle/>
          <a:p>
            <a:r>
              <a:rPr lang="en-US" altLang="zh-CN" sz="3600" dirty="0">
                <a:solidFill>
                  <a:srgbClr val="000000"/>
                </a:solidFill>
                <a:latin typeface="Times New Roman" panose="02020603050405020304" pitchFamily="18" charset="0"/>
                <a:cs typeface="Times New Roman" panose="02020603050405020304" pitchFamily="18" charset="0"/>
              </a:rPr>
              <a:t>Ascribed identities or avowed identities </a:t>
            </a:r>
            <a:r>
              <a:rPr lang="en-US" altLang="zh-CN" sz="3600" dirty="0">
                <a:solidFill>
                  <a:srgbClr val="000000"/>
                </a:solidFill>
                <a:highlight>
                  <a:srgbClr val="FFFF00"/>
                </a:highlight>
                <a:latin typeface="Times New Roman" panose="02020603050405020304" pitchFamily="18" charset="0"/>
                <a:cs typeface="Times New Roman" panose="02020603050405020304" pitchFamily="18" charset="0"/>
              </a:rPr>
              <a:t>P183</a:t>
            </a:r>
            <a:endParaRPr lang="zh-CN" altLang="en-US" sz="3600" dirty="0">
              <a:highlight>
                <a:srgbClr val="FFFF00"/>
              </a:highlight>
            </a:endParaRPr>
          </a:p>
        </p:txBody>
      </p:sp>
      <p:sp>
        <p:nvSpPr>
          <p:cNvPr id="3" name="内容占位符 2"/>
          <p:cNvSpPr>
            <a:spLocks noGrp="1"/>
          </p:cNvSpPr>
          <p:nvPr>
            <p:ph idx="1"/>
          </p:nvPr>
        </p:nvSpPr>
        <p:spPr>
          <a:xfrm>
            <a:off x="586409" y="2530821"/>
            <a:ext cx="8229600" cy="4025924"/>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Identities can also be classified as </a:t>
            </a:r>
            <a:r>
              <a:rPr lang="en-US" altLang="zh-CN" sz="2400" dirty="0">
                <a:solidFill>
                  <a:srgbClr val="FF0000"/>
                </a:solidFill>
                <a:latin typeface="Times New Roman" panose="02020603050405020304" pitchFamily="18" charset="0"/>
                <a:cs typeface="Times New Roman" panose="02020603050405020304" pitchFamily="18" charset="0"/>
              </a:rPr>
              <a:t>ascribed</a:t>
            </a:r>
            <a:r>
              <a:rPr lang="en-US" altLang="zh-CN" sz="2400" dirty="0">
                <a:solidFill>
                  <a:srgbClr val="000000"/>
                </a:solidFill>
                <a:latin typeface="Times New Roman" panose="02020603050405020304" pitchFamily="18" charset="0"/>
                <a:cs typeface="Times New Roman" panose="02020603050405020304" pitchFamily="18" charset="0"/>
              </a:rPr>
              <a:t> or </a:t>
            </a:r>
            <a:r>
              <a:rPr lang="en-US" altLang="zh-CN" sz="2400" dirty="0">
                <a:solidFill>
                  <a:srgbClr val="FF0000"/>
                </a:solidFill>
                <a:latin typeface="Times New Roman" panose="02020603050405020304" pitchFamily="18" charset="0"/>
                <a:cs typeface="Times New Roman" panose="02020603050405020304" pitchFamily="18" charset="0"/>
              </a:rPr>
              <a:t>avowed</a:t>
            </a:r>
            <a:r>
              <a:rPr lang="en-US" altLang="zh-CN" sz="2400" dirty="0">
                <a:solidFill>
                  <a:srgbClr val="00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based on how they are acquired</a:t>
            </a:r>
            <a:r>
              <a:rPr lang="en-US" altLang="zh-CN" sz="2400" dirty="0">
                <a:solidFill>
                  <a:srgbClr val="000000"/>
                </a:solidFill>
                <a:latin typeface="Times New Roman" panose="02020603050405020304" pitchFamily="18" charset="0"/>
                <a:cs typeface="Times New Roman" panose="02020603050405020304" pitchFamily="18" charset="0"/>
              </a:rPr>
              <a:t>, a distinction referring to whether an identity was </a:t>
            </a:r>
            <a:r>
              <a:rPr lang="en-US" altLang="zh-CN" sz="2400" dirty="0">
                <a:solidFill>
                  <a:srgbClr val="FF0000"/>
                </a:solidFill>
                <a:latin typeface="Times New Roman" panose="02020603050405020304" pitchFamily="18" charset="0"/>
                <a:cs typeface="Times New Roman" panose="02020603050405020304" pitchFamily="18" charset="0"/>
              </a:rPr>
              <a:t>obtained involuntarily or voluntarily</a:t>
            </a:r>
            <a:r>
              <a:rPr lang="en-US" altLang="zh-CN" sz="2400" dirty="0">
                <a:solidFill>
                  <a:srgbClr val="000000"/>
                </a:solidFill>
                <a:latin typeface="Times New Roman" panose="02020603050405020304" pitchFamily="18" charset="0"/>
                <a:cs typeface="Times New Roman" panose="02020603050405020304" pitchFamily="18" charset="0"/>
              </a:rPr>
              <a:t>. </a:t>
            </a:r>
          </a:p>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Racial, ethnic, and sexual identities are assigned at birth and are considered ascribed, or involuntary. </a:t>
            </a:r>
          </a:p>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By contrast, your identity as a particular university student is avowed because you voluntarily elected to attend the school.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Tree>
    <p:extLst>
      <p:ext uri="{BB962C8B-B14F-4D97-AF65-F5344CB8AC3E}">
        <p14:creationId xmlns:p14="http://schemas.microsoft.com/office/powerpoint/2010/main" val="3685571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0569" y="895950"/>
            <a:ext cx="8229600" cy="1143000"/>
          </a:xfrm>
        </p:spPr>
        <p:txBody>
          <a:bodyPr/>
          <a:lstStyle/>
          <a:p>
            <a:r>
              <a:rPr lang="en-US" altLang="zh-CN" sz="3600" dirty="0">
                <a:latin typeface="Times New Roman" panose="02020603050405020304" pitchFamily="18" charset="0"/>
                <a:cs typeface="Times New Roman" panose="02020603050405020304" pitchFamily="18" charset="0"/>
              </a:rPr>
              <a:t>5.5 Establishing and Enacting Cultural Identity </a:t>
            </a:r>
            <a:r>
              <a:rPr lang="en-US" altLang="zh-CN" sz="3600" dirty="0">
                <a:highlight>
                  <a:srgbClr val="FFFF00"/>
                </a:highlight>
                <a:latin typeface="Times New Roman" panose="02020603050405020304" pitchFamily="18" charset="0"/>
                <a:cs typeface="Times New Roman" panose="02020603050405020304" pitchFamily="18" charset="0"/>
              </a:rPr>
              <a:t>P183</a:t>
            </a:r>
            <a:endParaRPr lang="zh-CN" altLang="en-US" sz="3600" dirty="0">
              <a:highlight>
                <a:srgbClr val="FFFF00"/>
              </a:highlight>
            </a:endParaRPr>
          </a:p>
        </p:txBody>
      </p:sp>
      <p:sp>
        <p:nvSpPr>
          <p:cNvPr id="3" name="内容占位符 2"/>
          <p:cNvSpPr>
            <a:spLocks noGrp="1"/>
          </p:cNvSpPr>
          <p:nvPr>
            <p:ph idx="1"/>
          </p:nvPr>
        </p:nvSpPr>
        <p:spPr>
          <a:xfrm>
            <a:off x="526774" y="2332037"/>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As you go about your daily activity, entering and exiting various contexts, </a:t>
            </a:r>
            <a:r>
              <a:rPr lang="en-US" altLang="zh-CN" sz="2800" dirty="0">
                <a:solidFill>
                  <a:srgbClr val="FF0000"/>
                </a:solidFill>
                <a:latin typeface="Times New Roman" panose="02020603050405020304" pitchFamily="18" charset="0"/>
                <a:cs typeface="Times New Roman" panose="02020603050405020304" pitchFamily="18" charset="0"/>
              </a:rPr>
              <a:t>different identities come into play</a:t>
            </a:r>
            <a:r>
              <a:rPr lang="en-US" altLang="zh-CN" sz="2800" dirty="0">
                <a:solidFill>
                  <a:srgbClr val="000000"/>
                </a:solidFill>
                <a:latin typeface="Times New Roman" panose="02020603050405020304" pitchFamily="18" charset="0"/>
                <a:cs typeface="Times New Roman" panose="02020603050405020304" pitchFamily="18" charset="0"/>
              </a:rPr>
              <a:t>. By interacting with others you continually create and recreate your cultural identity through communication, which can take a variety of forms, including conversation, commemorations of history, music, dance, ritual, ceremonial, and social drama of all sorts. </a:t>
            </a:r>
            <a:endParaRPr lang="zh-CN" alt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61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332037"/>
            <a:ext cx="8229600"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Culture’s influence in establishing identity can be demonstrated by returning to the classroom and contrasting student interaction styles in the United States and Japan.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In the United States </a:t>
            </a:r>
            <a:r>
              <a:rPr lang="en-US" altLang="zh-CN" sz="2400" dirty="0">
                <a:solidFill>
                  <a:srgbClr val="000000"/>
                </a:solidFill>
                <a:latin typeface="Times New Roman" panose="02020603050405020304" pitchFamily="18" charset="0"/>
                <a:cs typeface="Times New Roman" panose="02020603050405020304" pitchFamily="18" charset="0"/>
              </a:rPr>
              <a:t>individualism is stressed, and even young children are taught to be independent and develop their personal identity. Being different is a common and valued trait. </a:t>
            </a:r>
          </a:p>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This is in contrast to the collective societies of </a:t>
            </a:r>
            <a:r>
              <a:rPr lang="en-US" altLang="zh-CN" sz="2400" dirty="0">
                <a:solidFill>
                  <a:srgbClr val="FF0000"/>
                </a:solidFill>
                <a:latin typeface="Times New Roman" panose="02020603050405020304" pitchFamily="18" charset="0"/>
                <a:cs typeface="Times New Roman" panose="02020603050405020304" pitchFamily="18" charset="0"/>
              </a:rPr>
              <a:t>Northeast Asia</a:t>
            </a:r>
            <a:r>
              <a:rPr lang="en-US" altLang="zh-CN" sz="2400" dirty="0">
                <a:solidFill>
                  <a:srgbClr val="000000"/>
                </a:solidFill>
                <a:latin typeface="Times New Roman" panose="02020603050405020304" pitchFamily="18" charset="0"/>
                <a:cs typeface="Times New Roman" panose="02020603050405020304" pitchFamily="18" charset="0"/>
              </a:rPr>
              <a:t>, where children learn the importance of interdependence and identity is defined by relationships and group memberships. </a:t>
            </a:r>
          </a:p>
          <a:p>
            <a:pPr>
              <a:lnSpc>
                <a:spcPct val="125000"/>
              </a:lnSpc>
              <a:spcBef>
                <a:spcPts val="0"/>
              </a:spcBef>
            </a:pP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519686" y="874684"/>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5.5 Establishing and Enacting Cultural Identity </a:t>
            </a:r>
            <a:r>
              <a:rPr lang="en-US" altLang="zh-CN" sz="3600" dirty="0">
                <a:highlight>
                  <a:srgbClr val="FFFF00"/>
                </a:highlight>
                <a:latin typeface="Times New Roman" panose="02020603050405020304" pitchFamily="18" charset="0"/>
                <a:cs typeface="Times New Roman" panose="02020603050405020304" pitchFamily="18" charset="0"/>
              </a:rPr>
              <a:t>P183</a:t>
            </a:r>
            <a:endParaRPr lang="zh-CN" altLang="en-US" sz="3600" dirty="0">
              <a:highlight>
                <a:srgbClr val="FFFF00"/>
              </a:highlight>
            </a:endParaRPr>
          </a:p>
        </p:txBody>
      </p:sp>
    </p:spTree>
    <p:extLst>
      <p:ext uri="{BB962C8B-B14F-4D97-AF65-F5344CB8AC3E}">
        <p14:creationId xmlns:p14="http://schemas.microsoft.com/office/powerpoint/2010/main" val="2926991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774" y="2484783"/>
            <a:ext cx="8229600" cy="4525963"/>
          </a:xfrm>
        </p:spPr>
        <p:txBody>
          <a:bodyPr/>
          <a:lstStyle/>
          <a:p>
            <a:pPr>
              <a:lnSpc>
                <a:spcPct val="125000"/>
              </a:lnSpc>
              <a:spcBef>
                <a:spcPts val="0"/>
              </a:spcBef>
            </a:pPr>
            <a:r>
              <a:rPr lang="en-US" altLang="zh-CN" sz="2800" dirty="0">
                <a:solidFill>
                  <a:srgbClr val="000000"/>
                </a:solidFill>
                <a:latin typeface="Times New Roman" panose="02020603050405020304" pitchFamily="18" charset="0"/>
                <a:cs typeface="Times New Roman" panose="02020603050405020304" pitchFamily="18" charset="0"/>
              </a:rPr>
              <a:t>Once established, identities are enacted in multiple ways, beginning in childhood and progressing through adolescence into the adult years.</a:t>
            </a:r>
          </a:p>
          <a:p>
            <a:endParaRPr lang="zh-CN" altLang="en-US" dirty="0"/>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840896"/>
            <a:ext cx="1017104" cy="1017104"/>
          </a:xfrm>
          <a:prstGeom prst="rect">
            <a:avLst/>
          </a:prstGeom>
        </p:spPr>
      </p:pic>
      <p:sp>
        <p:nvSpPr>
          <p:cNvPr id="5" name="标题 1"/>
          <p:cNvSpPr txBox="1">
            <a:spLocks/>
          </p:cNvSpPr>
          <p:nvPr/>
        </p:nvSpPr>
        <p:spPr>
          <a:xfrm>
            <a:off x="526774" y="910126"/>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5.5 Establishing and Enacting Cultural Identity </a:t>
            </a:r>
            <a:r>
              <a:rPr lang="en-US" altLang="zh-CN" sz="3600" dirty="0">
                <a:highlight>
                  <a:srgbClr val="FFFF00"/>
                </a:highlight>
                <a:latin typeface="Times New Roman" panose="02020603050405020304" pitchFamily="18" charset="0"/>
                <a:cs typeface="Times New Roman" panose="02020603050405020304" pitchFamily="18" charset="0"/>
              </a:rPr>
              <a:t>P184</a:t>
            </a:r>
            <a:endParaRPr lang="zh-CN" altLang="en-US" sz="3600" dirty="0">
              <a:highlight>
                <a:srgbClr val="FFFF00"/>
              </a:highlight>
            </a:endParaRPr>
          </a:p>
        </p:txBody>
      </p:sp>
    </p:spTree>
    <p:extLst>
      <p:ext uri="{BB962C8B-B14F-4D97-AF65-F5344CB8AC3E}">
        <p14:creationId xmlns:p14="http://schemas.microsoft.com/office/powerpoint/2010/main" val="3808699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53418"/>
            <a:ext cx="8229600" cy="1143000"/>
          </a:xfrm>
        </p:spPr>
        <p:txBody>
          <a:bodyPr/>
          <a:lstStyle/>
          <a:p>
            <a:r>
              <a:rPr lang="en-US" altLang="zh-CN" dirty="0">
                <a:latin typeface="Times New Roman" panose="02020603050405020304" pitchFamily="18" charset="0"/>
                <a:cs typeface="Times New Roman" panose="02020603050405020304" pitchFamily="18" charset="0"/>
              </a:rPr>
              <a:t>5.6 Globalization and Cultural Identity </a:t>
            </a:r>
            <a:r>
              <a:rPr lang="en-US" altLang="zh-CN" dirty="0">
                <a:highlight>
                  <a:srgbClr val="FFFF00"/>
                </a:highlight>
                <a:latin typeface="Times New Roman" panose="02020603050405020304" pitchFamily="18" charset="0"/>
                <a:cs typeface="Times New Roman" panose="02020603050405020304" pitchFamily="18" charset="0"/>
              </a:rPr>
              <a:t>P185</a:t>
            </a:r>
            <a:endParaRPr lang="zh-CN" altLang="en-US" dirty="0">
              <a:highlight>
                <a:srgbClr val="FFFF00"/>
              </a:highlight>
            </a:endParaRPr>
          </a:p>
        </p:txBody>
      </p:sp>
      <p:sp>
        <p:nvSpPr>
          <p:cNvPr id="3" name="内容占位符 2"/>
          <p:cNvSpPr>
            <a:spLocks noGrp="1"/>
          </p:cNvSpPr>
          <p:nvPr>
            <p:ph idx="1"/>
          </p:nvPr>
        </p:nvSpPr>
        <p:spPr>
          <a:xfrm>
            <a:off x="352838" y="2332037"/>
            <a:ext cx="8656983"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There is no denying that the contemporary world social order is increasingly characterized by multiculturalism. Contrary to the belief and dire predictions made by some, globalization does not appear to be producing a culturally homogenized global society. Giddens claims that rather than increased similarity, globalization is actually abetting cultural diversity and </a:t>
            </a:r>
            <a:r>
              <a:rPr lang="en-US" altLang="zh-CN" sz="2400" b="1" dirty="0">
                <a:solidFill>
                  <a:srgbClr val="000000"/>
                </a:solidFill>
                <a:latin typeface="Times New Roman" panose="02020603050405020304" pitchFamily="18" charset="0"/>
                <a:cs typeface="Times New Roman" panose="02020603050405020304" pitchFamily="18" charset="0"/>
              </a:rPr>
              <a:t>giving rise to a revival of local cultural identities</a:t>
            </a:r>
            <a:r>
              <a:rPr lang="en-US" altLang="zh-CN" sz="2400" dirty="0">
                <a:solidFill>
                  <a:srgbClr val="000000"/>
                </a:solidFill>
                <a:latin typeface="Times New Roman" panose="02020603050405020304" pitchFamily="18" charset="0"/>
                <a:cs typeface="Times New Roman" panose="02020603050405020304" pitchFamily="18" charset="0"/>
              </a:rPr>
              <a:t> in different parts of the world.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4993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8113" y="2454964"/>
            <a:ext cx="8716618"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From another perspective, people acknowledging multiple cultural identities are becoming more common. </a:t>
            </a:r>
            <a:r>
              <a:rPr lang="en-US" altLang="zh-CN" sz="2400" dirty="0">
                <a:solidFill>
                  <a:srgbClr val="000000"/>
                </a:solidFill>
                <a:latin typeface="Times New Roman" panose="02020603050405020304" pitchFamily="18" charset="0"/>
                <a:cs typeface="Times New Roman" panose="02020603050405020304" pitchFamily="18" charset="0"/>
              </a:rPr>
              <a:t>The globalized economy, immigration, ease of foreign travel, communication technologies, and intercultural marriage are bringing about an increased mixing of cultures, and this mixing is producing people who possess multiple cultural identities. Chuang notes, </a:t>
            </a:r>
            <a:r>
              <a:rPr lang="en-US" altLang="zh-CN" sz="2400" b="1" dirty="0">
                <a:solidFill>
                  <a:srgbClr val="000000"/>
                </a:solidFill>
                <a:latin typeface="Times New Roman" panose="02020603050405020304" pitchFamily="18" charset="0"/>
                <a:cs typeface="Times New Roman" panose="02020603050405020304" pitchFamily="18" charset="0"/>
              </a:rPr>
              <a:t>cultural identity becomes blurry</a:t>
            </a:r>
            <a:r>
              <a:rPr lang="en-US" altLang="zh-CN" sz="2400" dirty="0">
                <a:solidFill>
                  <a:srgbClr val="000000"/>
                </a:solidFill>
                <a:latin typeface="Times New Roman" panose="02020603050405020304" pitchFamily="18" charset="0"/>
                <a:cs typeface="Times New Roman" panose="02020603050405020304" pitchFamily="18" charset="0"/>
              </a:rPr>
              <a:t> in the midst of cultural integration, bicultural interactions, interracial marriages, and the mutual adaptation processes.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860508"/>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5.6 Globalization and Cultural Identity </a:t>
            </a:r>
            <a:r>
              <a:rPr lang="en-US" altLang="zh-CN" dirty="0">
                <a:highlight>
                  <a:srgbClr val="FFFF00"/>
                </a:highlight>
                <a:latin typeface="Times New Roman" panose="02020603050405020304" pitchFamily="18" charset="0"/>
                <a:cs typeface="Times New Roman" panose="02020603050405020304" pitchFamily="18" charset="0"/>
              </a:rPr>
              <a:t>P185</a:t>
            </a:r>
            <a:endParaRPr lang="zh-CN" altLang="en-US" dirty="0">
              <a:highlight>
                <a:srgbClr val="FFFF00"/>
              </a:highlight>
            </a:endParaRPr>
          </a:p>
        </p:txBody>
      </p:sp>
    </p:spTree>
    <p:extLst>
      <p:ext uri="{BB962C8B-B14F-4D97-AF65-F5344CB8AC3E}">
        <p14:creationId xmlns:p14="http://schemas.microsoft.com/office/powerpoint/2010/main" val="2923904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E8CF0-11F6-44B9-9D99-6DF92EB3FD76}"/>
              </a:ext>
            </a:extLst>
          </p:cNvPr>
          <p:cNvSpPr>
            <a:spLocks noGrp="1"/>
          </p:cNvSpPr>
          <p:nvPr>
            <p:ph type="title"/>
          </p:nvPr>
        </p:nvSpPr>
        <p:spPr>
          <a:xfrm>
            <a:off x="457200" y="873604"/>
            <a:ext cx="8229600" cy="1143000"/>
          </a:xfrm>
        </p:spPr>
        <p:txBody>
          <a:bodyPr/>
          <a:lstStyle/>
          <a:p>
            <a:r>
              <a:rPr kumimoji="0" lang="en-US" altLang="zh-CN" sz="4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5.6 Globalization and Cultural Identity </a:t>
            </a:r>
            <a:r>
              <a:rPr kumimoji="0" lang="en-US" altLang="zh-CN" sz="44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宋体"/>
                <a:cs typeface="Times New Roman" panose="02020603050405020304" pitchFamily="18" charset="0"/>
              </a:rPr>
              <a:t>P185</a:t>
            </a:r>
            <a:endParaRPr lang="zh-CN" altLang="en-US" dirty="0"/>
          </a:p>
        </p:txBody>
      </p:sp>
      <p:sp>
        <p:nvSpPr>
          <p:cNvPr id="3" name="内容占位符 2">
            <a:extLst>
              <a:ext uri="{FF2B5EF4-FFF2-40B4-BE49-F238E27FC236}">
                <a16:creationId xmlns:a16="http://schemas.microsoft.com/office/drawing/2014/main" id="{6D608832-A1B0-4234-B3B6-7800215A72CF}"/>
              </a:ext>
            </a:extLst>
          </p:cNvPr>
          <p:cNvSpPr>
            <a:spLocks noGrp="1"/>
          </p:cNvSpPr>
          <p:nvPr>
            <p:ph idx="1"/>
          </p:nvPr>
        </p:nvSpPr>
        <p:spPr>
          <a:xfrm>
            <a:off x="457200" y="2223977"/>
            <a:ext cx="8229600" cy="4525963"/>
          </a:xfrm>
        </p:spPr>
        <p:txBody>
          <a:bodyPr/>
          <a:lstStyle/>
          <a:p>
            <a:r>
              <a:rPr lang="en-US" altLang="zh-CN" dirty="0">
                <a:solidFill>
                  <a:srgbClr val="000000"/>
                </a:solidFill>
                <a:latin typeface="Times New Roman" panose="02020603050405020304" pitchFamily="18" charset="0"/>
                <a:cs typeface="Times New Roman" panose="02020603050405020304" pitchFamily="18" charset="0"/>
              </a:rPr>
              <a:t>Globalization has also given rise to </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intercultural transients,</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those people who frequently move back and forth across cultural borders and must manage both cultural changes and identity renegotiations. Over the past decade a growing number of nations have made dual citizenship available, thereby increasing the community of intercultural transients.</a:t>
            </a:r>
            <a:endParaRPr lang="zh-CN" altLang="en-US"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7059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0561" y="2332037"/>
            <a:ext cx="8526117"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Issues of identity can be expected </a:t>
            </a:r>
            <a:r>
              <a:rPr lang="en-US" altLang="zh-CN" sz="2400" b="1" dirty="0">
                <a:solidFill>
                  <a:srgbClr val="000000"/>
                </a:solidFill>
                <a:latin typeface="Times New Roman" panose="02020603050405020304" pitchFamily="18" charset="0"/>
                <a:cs typeface="Times New Roman" panose="02020603050405020304" pitchFamily="18" charset="0"/>
              </a:rPr>
              <a:t>to remain complex </a:t>
            </a:r>
            <a:r>
              <a:rPr lang="en-US" altLang="zh-CN" sz="2400" dirty="0">
                <a:solidFill>
                  <a:srgbClr val="000000"/>
                </a:solidFill>
                <a:latin typeface="Times New Roman" panose="02020603050405020304" pitchFamily="18" charset="0"/>
                <a:cs typeface="Times New Roman" panose="02020603050405020304" pitchFamily="18" charset="0"/>
              </a:rPr>
              <a:t>and perhaps become more so as globalism and multiculturalism increasingly characterize contemporary society. It is clear, however, that the old understanding of a fixed cultural identity or ethnicity is outdated, and identity is rapidly becoming more of an articulated negotiation between what you call yourself and what other people are willing to call you.  Regardless of how they are achieved, the form they take, or how they are acquired, your identities will remain a product of culture.</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1609" y="5940287"/>
            <a:ext cx="1017104" cy="1017104"/>
          </a:xfrm>
          <a:prstGeom prst="rect">
            <a:avLst/>
          </a:prstGeom>
        </p:spPr>
      </p:pic>
      <p:sp>
        <p:nvSpPr>
          <p:cNvPr id="5" name="标题 1"/>
          <p:cNvSpPr>
            <a:spLocks noGrp="1"/>
          </p:cNvSpPr>
          <p:nvPr>
            <p:ph type="title"/>
          </p:nvPr>
        </p:nvSpPr>
        <p:spPr>
          <a:xfrm>
            <a:off x="477078" y="832154"/>
            <a:ext cx="8229600" cy="1143000"/>
          </a:xfrm>
        </p:spPr>
        <p:txBody>
          <a:bodyPr/>
          <a:lstStyle/>
          <a:p>
            <a:r>
              <a:rPr lang="en-US" altLang="zh-CN" dirty="0">
                <a:latin typeface="Times New Roman" panose="02020603050405020304" pitchFamily="18" charset="0"/>
                <a:cs typeface="Times New Roman" panose="02020603050405020304" pitchFamily="18" charset="0"/>
              </a:rPr>
              <a:t>5.6 Globalization and Cultural Identity </a:t>
            </a:r>
            <a:r>
              <a:rPr lang="en-US" altLang="zh-CN" dirty="0">
                <a:highlight>
                  <a:srgbClr val="FFFF00"/>
                </a:highlight>
                <a:latin typeface="Times New Roman" panose="02020603050405020304" pitchFamily="18" charset="0"/>
                <a:cs typeface="Times New Roman" panose="02020603050405020304" pitchFamily="18" charset="0"/>
              </a:rPr>
              <a:t>P186</a:t>
            </a:r>
            <a:endParaRPr lang="zh-CN" altLang="en-US" dirty="0">
              <a:highlight>
                <a:srgbClr val="FFFF00"/>
              </a:highlight>
            </a:endParaRPr>
          </a:p>
        </p:txBody>
      </p:sp>
    </p:spTree>
    <p:extLst>
      <p:ext uri="{BB962C8B-B14F-4D97-AF65-F5344CB8AC3E}">
        <p14:creationId xmlns:p14="http://schemas.microsoft.com/office/powerpoint/2010/main" val="5365595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47564"/>
            <a:ext cx="8229600" cy="1143000"/>
          </a:xfrm>
        </p:spPr>
        <p:txBody>
          <a:bodyPr/>
          <a:lstStyle/>
          <a:p>
            <a:r>
              <a:rPr lang="en-US" altLang="zh-CN" sz="3600" dirty="0">
                <a:latin typeface="Times New Roman" panose="02020603050405020304" pitchFamily="18" charset="0"/>
                <a:cs typeface="Times New Roman" panose="02020603050405020304" pitchFamily="18" charset="0"/>
              </a:rPr>
              <a:t>5.7 Competency and Identity in Intercultural Interactions </a:t>
            </a:r>
            <a:r>
              <a:rPr lang="en-US" altLang="zh-CN" sz="3600" dirty="0">
                <a:highlight>
                  <a:srgbClr val="FFFF00"/>
                </a:highlight>
                <a:latin typeface="Times New Roman" panose="02020603050405020304" pitchFamily="18" charset="0"/>
                <a:cs typeface="Times New Roman" panose="02020603050405020304" pitchFamily="18" charset="0"/>
              </a:rPr>
              <a:t>P186</a:t>
            </a:r>
            <a:endParaRPr lang="zh-CN" altLang="en-US" sz="3600" dirty="0">
              <a:highlight>
                <a:srgbClr val="FFFF00"/>
              </a:highlight>
            </a:endParaRPr>
          </a:p>
        </p:txBody>
      </p:sp>
      <p:sp>
        <p:nvSpPr>
          <p:cNvPr id="3" name="内容占位符 2"/>
          <p:cNvSpPr>
            <a:spLocks noGrp="1"/>
          </p:cNvSpPr>
          <p:nvPr>
            <p:ph idx="1"/>
          </p:nvPr>
        </p:nvSpPr>
        <p:spPr>
          <a:xfrm>
            <a:off x="248478" y="2405271"/>
            <a:ext cx="8895522"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Identity can influence interaction through shaping expectations and motivating behavior. You are constantly assuming different identities as you interact with other people, and with each identity you employ a set of communicative behaviors appropriate for that identity and context. Culture has shaped your understanding and expectations of appropriate communicative behaviors for various social settings. But what is appropriate in one culture may be inappropriate in another.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3678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7929" y="2441368"/>
            <a:ext cx="8686801" cy="4525963"/>
          </a:xfrm>
        </p:spPr>
        <p:txBody>
          <a:bodyPr/>
          <a:lstStyle/>
          <a:p>
            <a:pPr>
              <a:lnSpc>
                <a:spcPct val="125000"/>
              </a:lnSpc>
              <a:spcBef>
                <a:spcPts val="0"/>
              </a:spcBef>
            </a:pPr>
            <a:r>
              <a:rPr lang="en-US" altLang="zh-CN" sz="2400" dirty="0">
                <a:solidFill>
                  <a:srgbClr val="000000"/>
                </a:solidFill>
                <a:latin typeface="Times New Roman" panose="02020603050405020304" pitchFamily="18" charset="0"/>
                <a:cs typeface="Times New Roman" panose="02020603050405020304" pitchFamily="18" charset="0"/>
              </a:rPr>
              <a:t>In an intercultural meeting, </a:t>
            </a:r>
            <a:r>
              <a:rPr lang="en-US" altLang="zh-CN" sz="2400" dirty="0">
                <a:solidFill>
                  <a:srgbClr val="FF0000"/>
                </a:solidFill>
                <a:latin typeface="Times New Roman" panose="02020603050405020304" pitchFamily="18" charset="0"/>
                <a:cs typeface="Times New Roman" panose="02020603050405020304" pitchFamily="18" charset="0"/>
              </a:rPr>
              <a:t>the varying expectations </a:t>
            </a:r>
            <a:r>
              <a:rPr lang="en-US" altLang="zh-CN" sz="2400" dirty="0">
                <a:solidFill>
                  <a:srgbClr val="000000"/>
                </a:solidFill>
                <a:latin typeface="Times New Roman" panose="02020603050405020304" pitchFamily="18" charset="0"/>
                <a:cs typeface="Times New Roman" panose="02020603050405020304" pitchFamily="18" charset="0"/>
              </a:rPr>
              <a:t>for identity display and communication style </a:t>
            </a:r>
            <a:r>
              <a:rPr lang="en-US" altLang="zh-CN" sz="2400" dirty="0">
                <a:solidFill>
                  <a:srgbClr val="FF0000"/>
                </a:solidFill>
                <a:latin typeface="Times New Roman" panose="02020603050405020304" pitchFamily="18" charset="0"/>
                <a:cs typeface="Times New Roman" panose="02020603050405020304" pitchFamily="18" charset="0"/>
              </a:rPr>
              <a:t>carry considerable potential </a:t>
            </a:r>
            <a:r>
              <a:rPr lang="en-US" altLang="zh-CN" sz="2400" dirty="0">
                <a:solidFill>
                  <a:srgbClr val="000000"/>
                </a:solidFill>
                <a:latin typeface="Times New Roman" panose="02020603050405020304" pitchFamily="18" charset="0"/>
                <a:cs typeface="Times New Roman" panose="02020603050405020304" pitchFamily="18" charset="0"/>
              </a:rPr>
              <a:t>for creating anxiety, misunderstandings, and even conflict. This is why cultural identity is a focal element in intercultural communication. To avoid potential problems during intercultural interaction, </a:t>
            </a:r>
            <a:r>
              <a:rPr lang="en-US" altLang="zh-CN" sz="2400" dirty="0">
                <a:solidFill>
                  <a:srgbClr val="FF0000"/>
                </a:solidFill>
                <a:latin typeface="Times New Roman" panose="02020603050405020304" pitchFamily="18" charset="0"/>
                <a:cs typeface="Times New Roman" panose="02020603050405020304" pitchFamily="18" charset="0"/>
              </a:rPr>
              <a:t>you need to develop intercultural competence</a:t>
            </a:r>
            <a:r>
              <a:rPr lang="en-US" altLang="zh-CN" sz="2400" dirty="0">
                <a:solidFill>
                  <a:srgbClr val="000000"/>
                </a:solidFill>
                <a:latin typeface="Times New Roman" panose="02020603050405020304" pitchFamily="18" charset="0"/>
                <a:cs typeface="Times New Roman" panose="02020603050405020304" pitchFamily="18" charset="0"/>
              </a:rPr>
              <a:t>, which is achieved when an avowed identity matches the ascribed identity. </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5" name="标题 1"/>
          <p:cNvSpPr txBox="1">
            <a:spLocks/>
          </p:cNvSpPr>
          <p:nvPr/>
        </p:nvSpPr>
        <p:spPr>
          <a:xfrm>
            <a:off x="566529" y="861741"/>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dirty="0">
                <a:latin typeface="Times New Roman" panose="02020603050405020304" pitchFamily="18" charset="0"/>
                <a:cs typeface="Times New Roman" panose="02020603050405020304" pitchFamily="18" charset="0"/>
              </a:rPr>
              <a:t>5.7 Competency and Identity in Intercultural Interactions </a:t>
            </a:r>
            <a:r>
              <a:rPr lang="en-US" altLang="zh-CN" sz="3600" dirty="0">
                <a:highlight>
                  <a:srgbClr val="FFFF00"/>
                </a:highlight>
                <a:latin typeface="Times New Roman" panose="02020603050405020304" pitchFamily="18" charset="0"/>
                <a:cs typeface="Times New Roman" panose="02020603050405020304" pitchFamily="18" charset="0"/>
              </a:rPr>
              <a:t>P186</a:t>
            </a:r>
            <a:endParaRPr lang="zh-CN" altLang="en-US" sz="3600" dirty="0">
              <a:highlight>
                <a:srgbClr val="FFFF00"/>
              </a:highlight>
            </a:endParaRPr>
          </a:p>
        </p:txBody>
      </p:sp>
    </p:spTree>
    <p:extLst>
      <p:ext uri="{BB962C8B-B14F-4D97-AF65-F5344CB8AC3E}">
        <p14:creationId xmlns:p14="http://schemas.microsoft.com/office/powerpoint/2010/main" val="2527849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840988002"/>
      </p:ext>
    </p:extLst>
  </p:cSld>
  <p:clrMapOvr>
    <a:masterClrMapping/>
  </p:clrMapOvr>
</p:sld>
</file>

<file path=ppt/theme/theme1.xml><?xml version="1.0" encoding="utf-8"?>
<a:theme xmlns:a="http://schemas.openxmlformats.org/drawingml/2006/main" name="默认设计模板">
  <a:themeElements>
    <a:clrScheme name="自定义 2">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5529</TotalTime>
  <Words>3090</Words>
  <Application>Microsoft Office PowerPoint</Application>
  <PresentationFormat>全屏显示(4:3)</PresentationFormat>
  <Paragraphs>177</Paragraphs>
  <Slides>58</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等线</vt:lpstr>
      <vt:lpstr>庞门正道标题体</vt:lpstr>
      <vt:lpstr>Arial</vt:lpstr>
      <vt:lpstr>Times New Roman</vt:lpstr>
      <vt:lpstr>默认设计模板</vt:lpstr>
      <vt:lpstr>Chapter 5 Culture and Identity:  Situating the Individual</vt:lpstr>
      <vt:lpstr>Contents</vt:lpstr>
      <vt:lpstr>5.1 Identity: Defining the Concept </vt:lpstr>
      <vt:lpstr>Scholars’ definition of identity P168</vt:lpstr>
      <vt:lpstr>PowerPoint 演示文稿</vt:lpstr>
      <vt:lpstr>PowerPoint 演示文稿</vt:lpstr>
      <vt:lpstr>PowerPoint 演示文稿</vt:lpstr>
      <vt:lpstr>PowerPoint 演示文稿</vt:lpstr>
      <vt:lpstr>Categories of identity</vt:lpstr>
      <vt:lpstr>Turner’s three identity categories P169</vt:lpstr>
      <vt:lpstr>Human identity P169</vt:lpstr>
      <vt:lpstr>Social identity P169</vt:lpstr>
      <vt:lpstr>Personal identity P169</vt:lpstr>
      <vt:lpstr>Hall’s three identity categories</vt:lpstr>
      <vt:lpstr>Personal identity P170</vt:lpstr>
      <vt:lpstr>Relational identity P170</vt:lpstr>
      <vt:lpstr>Communal identity P170</vt:lpstr>
      <vt:lpstr>5.2 The Influence of Identity P171</vt:lpstr>
      <vt:lpstr>5.3 Examining Social Identities P171-172</vt:lpstr>
      <vt:lpstr>Different identities</vt:lpstr>
      <vt:lpstr>5.3.1 Racial Identity P172 </vt:lpstr>
      <vt:lpstr>PowerPoint 演示文稿</vt:lpstr>
      <vt:lpstr>5.3.2 Gender Identity P172</vt:lpstr>
      <vt:lpstr>PowerPoint 演示文稿</vt:lpstr>
      <vt:lpstr>PowerPoint 演示文稿</vt:lpstr>
      <vt:lpstr>PowerPoint 演示文稿</vt:lpstr>
      <vt:lpstr>5.3.3 Ethnic Identity P174 </vt:lpstr>
      <vt:lpstr>5.3.4 National Identity P175</vt:lpstr>
      <vt:lpstr>5.3.5 Regional Identity P175</vt:lpstr>
      <vt:lpstr>5.3.6 Organizational Identity P177</vt:lpstr>
      <vt:lpstr>PowerPoint 演示文稿</vt:lpstr>
      <vt:lpstr>5.3.7 Personal Identity P178 </vt:lpstr>
      <vt:lpstr>5.3.7 Personal Identity P178</vt:lpstr>
      <vt:lpstr>5.3.8 Cyber Identity and Fantasy Identity P179 </vt:lpstr>
      <vt:lpstr>5.3.9 Other Identities  </vt:lpstr>
      <vt:lpstr>5.4 Identity Acquisition and Development P180</vt:lpstr>
      <vt:lpstr>PowerPoint 演示文稿</vt:lpstr>
      <vt:lpstr>Phinney’s three-stage identity development model P180-181</vt:lpstr>
      <vt:lpstr>Stage 1: Unexamined ethnic identity P180</vt:lpstr>
      <vt:lpstr>Stage 2: Ethnic identity search P181</vt:lpstr>
      <vt:lpstr>Stage 3: Ethnic identity achievement P181</vt:lpstr>
      <vt:lpstr>Multistage Identity Development Models P181</vt:lpstr>
      <vt:lpstr>Multistage Identity Development Models P181</vt:lpstr>
      <vt:lpstr>Multistage Identity Development Models P181</vt:lpstr>
      <vt:lpstr>Multistage Identity Development Models P181</vt:lpstr>
      <vt:lpstr>PowerPoint 演示文稿</vt:lpstr>
      <vt:lpstr>Martin and Nakayama’s biracial identity development model P182</vt:lpstr>
      <vt:lpstr>Ascribed identities or avowed identities P183</vt:lpstr>
      <vt:lpstr>5.5 Establishing and Enacting Cultural Identity P183</vt:lpstr>
      <vt:lpstr>PowerPoint 演示文稿</vt:lpstr>
      <vt:lpstr>PowerPoint 演示文稿</vt:lpstr>
      <vt:lpstr>5.6 Globalization and Cultural Identity P185</vt:lpstr>
      <vt:lpstr>PowerPoint 演示文稿</vt:lpstr>
      <vt:lpstr>5.6 Globalization and Cultural Identity P185</vt:lpstr>
      <vt:lpstr>5.6 Globalization and Cultural Identity P186</vt:lpstr>
      <vt:lpstr>5.7 Competency and Identity in Intercultural Interactions P186</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183</cp:revision>
  <dcterms:created xsi:type="dcterms:W3CDTF">2020-05-16T17:38:09Z</dcterms:created>
  <dcterms:modified xsi:type="dcterms:W3CDTF">2022-04-13T01:33:54Z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2052-2.2.0.3563</vt:lpwstr>
  </property>
</Properties>
</file>