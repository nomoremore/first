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Lst>
  <p:notesMasterIdLst>
    <p:notesMasterId r:id="rId53"/>
  </p:notesMasterIdLst>
  <p:handoutMasterIdLst>
    <p:handoutMasterId r:id="rId54"/>
  </p:handoutMasterIdLst>
  <p:sldIdLst>
    <p:sldId id="11519" r:id="rId4"/>
    <p:sldId id="11525" r:id="rId5"/>
    <p:sldId id="11526" r:id="rId6"/>
    <p:sldId id="11527" r:id="rId7"/>
    <p:sldId id="11528" r:id="rId8"/>
    <p:sldId id="11529" r:id="rId9"/>
    <p:sldId id="11530" r:id="rId10"/>
    <p:sldId id="11531" r:id="rId11"/>
    <p:sldId id="11532" r:id="rId12"/>
    <p:sldId id="11533" r:id="rId13"/>
    <p:sldId id="11534" r:id="rId14"/>
    <p:sldId id="11535" r:id="rId15"/>
    <p:sldId id="11536" r:id="rId16"/>
    <p:sldId id="11537" r:id="rId17"/>
    <p:sldId id="11538" r:id="rId18"/>
    <p:sldId id="11539" r:id="rId19"/>
    <p:sldId id="11540" r:id="rId20"/>
    <p:sldId id="11541" r:id="rId21"/>
    <p:sldId id="11542" r:id="rId22"/>
    <p:sldId id="11543" r:id="rId23"/>
    <p:sldId id="11544" r:id="rId24"/>
    <p:sldId id="11545" r:id="rId25"/>
    <p:sldId id="11546" r:id="rId26"/>
    <p:sldId id="11547" r:id="rId27"/>
    <p:sldId id="11548" r:id="rId28"/>
    <p:sldId id="11549" r:id="rId29"/>
    <p:sldId id="11550" r:id="rId30"/>
    <p:sldId id="11551" r:id="rId31"/>
    <p:sldId id="11552" r:id="rId32"/>
    <p:sldId id="321" r:id="rId33"/>
    <p:sldId id="322" r:id="rId34"/>
    <p:sldId id="323" r:id="rId35"/>
    <p:sldId id="324" r:id="rId36"/>
    <p:sldId id="325" r:id="rId37"/>
    <p:sldId id="326" r:id="rId38"/>
    <p:sldId id="11553" r:id="rId39"/>
    <p:sldId id="11554" r:id="rId40"/>
    <p:sldId id="11555" r:id="rId41"/>
    <p:sldId id="11556" r:id="rId42"/>
    <p:sldId id="328" r:id="rId43"/>
    <p:sldId id="329" r:id="rId44"/>
    <p:sldId id="11557" r:id="rId45"/>
    <p:sldId id="11558" r:id="rId46"/>
    <p:sldId id="11559" r:id="rId47"/>
    <p:sldId id="11560" r:id="rId48"/>
    <p:sldId id="11561" r:id="rId49"/>
    <p:sldId id="11562" r:id="rId50"/>
    <p:sldId id="11563" r:id="rId51"/>
    <p:sldId id="11520" r:id="rId52"/>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庞门正道标题体" charset="0"/>
        <a:ea typeface="庞门正道标题体" charset="0"/>
        <a:cs typeface="+mn-cs"/>
      </a:defRPr>
    </a:lvl1pPr>
    <a:lvl2pPr marL="457200" lvl="1"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2pPr>
    <a:lvl3pPr marL="914400" lvl="2"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3pPr>
    <a:lvl4pPr marL="1371600" lvl="3"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4pPr>
    <a:lvl5pPr marL="1828800" lvl="4"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5pPr>
    <a:lvl6pPr marL="2286000" lvl="5"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6pPr>
    <a:lvl7pPr marL="2743200" lvl="6"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7pPr>
    <a:lvl8pPr marL="3200400" lvl="7"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8pPr>
    <a:lvl9pPr marL="3657600" lvl="8"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9pPr>
  </p:defaultTextStyle>
  <p:extLst>
    <p:ext uri="{EFAFB233-063F-42B5-8137-9DF3F51BA10A}">
      <p15:sldGuideLst xmlns:p15="http://schemas.microsoft.com/office/powerpoint/2012/main">
        <p15:guide id="1" orient="horz" pos="194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7979"/>
    <a:srgbClr val="44546A"/>
    <a:srgbClr val="FECC66"/>
    <a:srgbClr val="DD79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p:restoredTop sz="95317"/>
  </p:normalViewPr>
  <p:slideViewPr>
    <p:cSldViewPr snapToGrid="0" showGuides="1">
      <p:cViewPr varScale="1">
        <p:scale>
          <a:sx n="91" d="100"/>
          <a:sy n="91" d="100"/>
        </p:scale>
        <p:origin x="1128" y="44"/>
      </p:cViewPr>
      <p:guideLst>
        <p:guide orient="horz" pos="1940"/>
        <p:guide pos="2880"/>
      </p:guideLst>
    </p:cSldViewPr>
  </p:slideViewPr>
  <p:notesTextViewPr>
    <p:cViewPr>
      <p:scale>
        <a:sx n="1" d="1"/>
        <a:sy n="1" d="1"/>
      </p:scale>
      <p:origin x="0" y="0"/>
    </p:cViewPr>
  </p:notesTextViewPr>
  <p:sorterViewPr>
    <p:cViewPr>
      <p:scale>
        <a:sx n="139" d="100"/>
        <a:sy n="139" d="100"/>
      </p:scale>
      <p:origin x="0" y="0"/>
    </p:cViewPr>
  </p:sorter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2022/3/18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3FE26FED-0DD7-4A82-A311-86EEE75CA699}" type="datetimeFigureOut">
              <a:rPr lang="zh-CN" altLang="en-US" strike="noStrike" noProof="1" smtClean="0">
                <a:latin typeface="+mn-lt"/>
                <a:ea typeface="+mn-ea"/>
                <a:cs typeface="+mn-cs"/>
              </a:rPr>
              <a:t>2022/3/18</a:t>
            </a:fld>
            <a:endParaRPr lang="zh-CN" altLang="en-US" strike="noStrike" noProof="1"/>
          </a:p>
        </p:txBody>
      </p:sp>
      <p:sp>
        <p:nvSpPr>
          <p:cNvPr id="8196"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819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lstStyle/>
          <a:p>
            <a:pPr lvl="0"/>
            <a:r>
              <a:rPr lang="zh-CN" altLang="en-US"/>
              <a:t>单击此处编辑母版文本样式</a:t>
            </a:r>
          </a:p>
          <a:p>
            <a:pPr lvl="1" indent="0"/>
            <a:r>
              <a:rPr lang="zh-CN" altLang="en-US"/>
              <a:t>二级</a:t>
            </a:r>
          </a:p>
          <a:p>
            <a:pPr lvl="2" indent="0"/>
            <a:r>
              <a:rPr lang="zh-CN" altLang="en-US"/>
              <a:t>三级</a:t>
            </a:r>
          </a:p>
          <a:p>
            <a:pPr lvl="3" indent="0"/>
            <a:r>
              <a:rPr lang="zh-CN" altLang="en-US"/>
              <a:t>四级</a:t>
            </a:r>
          </a:p>
          <a:p>
            <a:pPr lvl="4" indent="0"/>
            <a:r>
              <a:rPr lang="zh-CN" altLang="en-US"/>
              <a:t>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64E61829-E50B-4091-AE21-893680968DF2}"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a:defRPr/>
            </a:pPr>
            <a:endParaRPr lang="zh-CN" altLang="en-US">
              <a:solidFill>
                <a:srgbClr val="000000"/>
              </a:solidFill>
            </a:endParaRPr>
          </a:p>
        </p:txBody>
      </p:sp>
      <p:sp>
        <p:nvSpPr>
          <p:cNvPr id="8" name="页脚占位符 7"/>
          <p:cNvSpPr>
            <a:spLocks noGrp="1"/>
          </p:cNvSpPr>
          <p:nvPr>
            <p:ph type="ftr" sz="quarter" idx="11"/>
          </p:nvPr>
        </p:nvSpPr>
        <p:spPr/>
        <p:txBody>
          <a:bodyPr/>
          <a:lstStyle/>
          <a:p>
            <a:pPr>
              <a:defRPr/>
            </a:pPr>
            <a:endParaRPr lang="zh-CN" altLang="en-US">
              <a:solidFill>
                <a:srgbClr val="000000"/>
              </a:solidFill>
            </a:endParaRPr>
          </a:p>
        </p:txBody>
      </p:sp>
      <p:sp>
        <p:nvSpPr>
          <p:cNvPr id="9" name="灯片编号占位符 8"/>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a:defRPr/>
            </a:pPr>
            <a:endParaRPr lang="zh-CN" altLang="en-US">
              <a:solidFill>
                <a:srgbClr val="000000"/>
              </a:solidFill>
            </a:endParaRPr>
          </a:p>
        </p:txBody>
      </p:sp>
      <p:sp>
        <p:nvSpPr>
          <p:cNvPr id="4" name="页脚占位符 3"/>
          <p:cNvSpPr>
            <a:spLocks noGrp="1"/>
          </p:cNvSpPr>
          <p:nvPr>
            <p:ph type="ftr" sz="quarter" idx="11"/>
          </p:nvPr>
        </p:nvSpPr>
        <p:spPr/>
        <p:txBody>
          <a:bodyPr/>
          <a:lstStyle/>
          <a:p>
            <a:pPr>
              <a:defRPr/>
            </a:pPr>
            <a:endParaRPr lang="zh-CN" altLang="en-US">
              <a:solidFill>
                <a:srgbClr val="000000"/>
              </a:solidFill>
            </a:endParaRPr>
          </a:p>
        </p:txBody>
      </p:sp>
      <p:sp>
        <p:nvSpPr>
          <p:cNvPr id="5" name="灯片编号占位符 4"/>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zh-CN" altLang="en-US">
              <a:solidFill>
                <a:srgbClr val="000000"/>
              </a:solidFill>
            </a:endParaRPr>
          </a:p>
        </p:txBody>
      </p:sp>
      <p:sp>
        <p:nvSpPr>
          <p:cNvPr id="3" name="页脚占位符 2"/>
          <p:cNvSpPr>
            <a:spLocks noGrp="1"/>
          </p:cNvSpPr>
          <p:nvPr>
            <p:ph type="ftr" sz="quarter" idx="11"/>
          </p:nvPr>
        </p:nvSpPr>
        <p:spPr/>
        <p:txBody>
          <a:bodyPr/>
          <a:lstStyle/>
          <a:p>
            <a:pPr>
              <a:defRPr/>
            </a:pPr>
            <a:endParaRPr lang="zh-CN" altLang="en-US">
              <a:solidFill>
                <a:srgbClr val="000000"/>
              </a:solidFill>
            </a:endParaRPr>
          </a:p>
        </p:txBody>
      </p:sp>
      <p:sp>
        <p:nvSpPr>
          <p:cNvPr id="4" name="灯片编号占位符 3"/>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t>‹#›</a:t>
            </a:fld>
            <a:endParaRPr lang="zh-CN" altLang="en-US">
              <a:solidFill>
                <a:srgbClr val="000000"/>
              </a:solidFill>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991529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4249275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41535991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1696360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a:defRPr/>
            </a:pPr>
            <a:endParaRPr lang="zh-CN" altLang="en-US">
              <a:solidFill>
                <a:srgbClr val="000000"/>
              </a:solidFill>
            </a:endParaRPr>
          </a:p>
        </p:txBody>
      </p:sp>
      <p:sp>
        <p:nvSpPr>
          <p:cNvPr id="8" name="页脚占位符 7"/>
          <p:cNvSpPr>
            <a:spLocks noGrp="1"/>
          </p:cNvSpPr>
          <p:nvPr>
            <p:ph type="ftr" sz="quarter" idx="11"/>
          </p:nvPr>
        </p:nvSpPr>
        <p:spPr/>
        <p:txBody>
          <a:bodyPr/>
          <a:lstStyle/>
          <a:p>
            <a:pPr>
              <a:defRPr/>
            </a:pPr>
            <a:endParaRPr lang="zh-CN" altLang="en-US">
              <a:solidFill>
                <a:srgbClr val="000000"/>
              </a:solidFill>
            </a:endParaRPr>
          </a:p>
        </p:txBody>
      </p:sp>
      <p:sp>
        <p:nvSpPr>
          <p:cNvPr id="9" name="灯片编号占位符 8"/>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787501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a:defRPr/>
            </a:pPr>
            <a:endParaRPr lang="zh-CN" altLang="en-US">
              <a:solidFill>
                <a:srgbClr val="000000"/>
              </a:solidFill>
            </a:endParaRPr>
          </a:p>
        </p:txBody>
      </p:sp>
      <p:sp>
        <p:nvSpPr>
          <p:cNvPr id="4" name="页脚占位符 3"/>
          <p:cNvSpPr>
            <a:spLocks noGrp="1"/>
          </p:cNvSpPr>
          <p:nvPr>
            <p:ph type="ftr" sz="quarter" idx="11"/>
          </p:nvPr>
        </p:nvSpPr>
        <p:spPr/>
        <p:txBody>
          <a:bodyPr/>
          <a:lstStyle/>
          <a:p>
            <a:pPr>
              <a:defRPr/>
            </a:pPr>
            <a:endParaRPr lang="zh-CN" altLang="en-US">
              <a:solidFill>
                <a:srgbClr val="000000"/>
              </a:solidFill>
            </a:endParaRPr>
          </a:p>
        </p:txBody>
      </p:sp>
      <p:sp>
        <p:nvSpPr>
          <p:cNvPr id="5" name="灯片编号占位符 4"/>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6841744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zh-CN" altLang="en-US">
              <a:solidFill>
                <a:srgbClr val="000000"/>
              </a:solidFill>
            </a:endParaRPr>
          </a:p>
        </p:txBody>
      </p:sp>
      <p:sp>
        <p:nvSpPr>
          <p:cNvPr id="3" name="页脚占位符 2"/>
          <p:cNvSpPr>
            <a:spLocks noGrp="1"/>
          </p:cNvSpPr>
          <p:nvPr>
            <p:ph type="ftr" sz="quarter" idx="11"/>
          </p:nvPr>
        </p:nvSpPr>
        <p:spPr/>
        <p:txBody>
          <a:bodyPr/>
          <a:lstStyle/>
          <a:p>
            <a:pPr>
              <a:defRPr/>
            </a:pPr>
            <a:endParaRPr lang="zh-CN" altLang="en-US">
              <a:solidFill>
                <a:srgbClr val="000000"/>
              </a:solidFill>
            </a:endParaRPr>
          </a:p>
        </p:txBody>
      </p:sp>
      <p:sp>
        <p:nvSpPr>
          <p:cNvPr id="4" name="灯片编号占位符 3"/>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637810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6177853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4610144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3016855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9876017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79F88C5D-CAFF-44F6-BCBF-DD3EFAE8DE52}"/>
              </a:ext>
            </a:extLst>
          </p:cNvPr>
          <p:cNvSpPr>
            <a:spLocks noGrp="1" noChangeArrowheads="1"/>
          </p:cNvSpPr>
          <p:nvPr>
            <p:ph type="dt" sz="half" idx="10"/>
          </p:nvPr>
        </p:nvSpPr>
        <p:spPr>
          <a:ln/>
        </p:spPr>
        <p:txBody>
          <a:bodyPr/>
          <a:lstStyle>
            <a:lvl1pPr>
              <a:defRPr/>
            </a:lvl1pPr>
          </a:lstStyle>
          <a:p>
            <a:pPr>
              <a:defRPr/>
            </a:pPr>
            <a:fld id="{8B85747D-50D4-408C-B859-0AD50D76F857}" type="datetime1">
              <a:rPr lang="zh-CN" altLang="en-US"/>
              <a:pPr>
                <a:defRPr/>
              </a:pPr>
              <a:t>2022/3/18</a:t>
            </a:fld>
            <a:endParaRPr lang="en-US" altLang="zh-CN"/>
          </a:p>
        </p:txBody>
      </p:sp>
      <p:sp>
        <p:nvSpPr>
          <p:cNvPr id="5" name="Rectangle 5">
            <a:extLst>
              <a:ext uri="{FF2B5EF4-FFF2-40B4-BE49-F238E27FC236}">
                <a16:creationId xmlns:a16="http://schemas.microsoft.com/office/drawing/2014/main" id="{41C130D5-D110-4A37-884E-711ECA8D5D2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81C92D8-014F-405A-A290-16844D6C38D8}"/>
              </a:ext>
            </a:extLst>
          </p:cNvPr>
          <p:cNvSpPr>
            <a:spLocks noGrp="1" noChangeArrowheads="1"/>
          </p:cNvSpPr>
          <p:nvPr>
            <p:ph type="sldNum" sz="quarter" idx="12"/>
          </p:nvPr>
        </p:nvSpPr>
        <p:spPr>
          <a:ln/>
        </p:spPr>
        <p:txBody>
          <a:bodyPr/>
          <a:lstStyle>
            <a:lvl1pPr>
              <a:defRPr/>
            </a:lvl1pPr>
          </a:lstStyle>
          <a:p>
            <a:fld id="{E0BB3D9A-32DD-4DBD-864F-EB94B2B5F905}" type="slidenum">
              <a:rPr lang="en-US" altLang="zh-CN"/>
              <a:pPr/>
              <a:t>‹#›</a:t>
            </a:fld>
            <a:endParaRPr lang="en-US" altLang="zh-CN"/>
          </a:p>
        </p:txBody>
      </p:sp>
    </p:spTree>
    <p:extLst>
      <p:ext uri="{BB962C8B-B14F-4D97-AF65-F5344CB8AC3E}">
        <p14:creationId xmlns:p14="http://schemas.microsoft.com/office/powerpoint/2010/main" val="36523344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E8639D7-F8C0-4BB4-8798-B67849952A2F}"/>
              </a:ext>
            </a:extLst>
          </p:cNvPr>
          <p:cNvSpPr>
            <a:spLocks noGrp="1" noChangeArrowheads="1"/>
          </p:cNvSpPr>
          <p:nvPr>
            <p:ph type="dt" sz="half" idx="10"/>
          </p:nvPr>
        </p:nvSpPr>
        <p:spPr>
          <a:ln/>
        </p:spPr>
        <p:txBody>
          <a:bodyPr/>
          <a:lstStyle>
            <a:lvl1pPr>
              <a:defRPr/>
            </a:lvl1pPr>
          </a:lstStyle>
          <a:p>
            <a:pPr>
              <a:defRPr/>
            </a:pPr>
            <a:fld id="{AA9A6142-D400-48B1-8EA3-D05CED71588B}" type="datetime1">
              <a:rPr lang="zh-CN" altLang="en-US"/>
              <a:pPr>
                <a:defRPr/>
              </a:pPr>
              <a:t>2022/3/18</a:t>
            </a:fld>
            <a:endParaRPr lang="en-US" altLang="zh-CN"/>
          </a:p>
        </p:txBody>
      </p:sp>
      <p:sp>
        <p:nvSpPr>
          <p:cNvPr id="5" name="Rectangle 5">
            <a:extLst>
              <a:ext uri="{FF2B5EF4-FFF2-40B4-BE49-F238E27FC236}">
                <a16:creationId xmlns:a16="http://schemas.microsoft.com/office/drawing/2014/main" id="{E3845D44-F302-4113-BDFD-6E5D8BC307E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7A173B8-F09F-4ED3-BA26-D243B6C310EF}"/>
              </a:ext>
            </a:extLst>
          </p:cNvPr>
          <p:cNvSpPr>
            <a:spLocks noGrp="1" noChangeArrowheads="1"/>
          </p:cNvSpPr>
          <p:nvPr>
            <p:ph type="sldNum" sz="quarter" idx="12"/>
          </p:nvPr>
        </p:nvSpPr>
        <p:spPr>
          <a:ln/>
        </p:spPr>
        <p:txBody>
          <a:bodyPr/>
          <a:lstStyle>
            <a:lvl1pPr>
              <a:defRPr/>
            </a:lvl1pPr>
          </a:lstStyle>
          <a:p>
            <a:fld id="{D26C45B5-A9E9-4D3F-BAF8-A6148E430D3E}" type="slidenum">
              <a:rPr lang="en-US" altLang="zh-CN"/>
              <a:pPr/>
              <a:t>‹#›</a:t>
            </a:fld>
            <a:endParaRPr lang="en-US" altLang="zh-CN"/>
          </a:p>
        </p:txBody>
      </p:sp>
    </p:spTree>
    <p:extLst>
      <p:ext uri="{BB962C8B-B14F-4D97-AF65-F5344CB8AC3E}">
        <p14:creationId xmlns:p14="http://schemas.microsoft.com/office/powerpoint/2010/main" val="18607971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8CF17084-092D-424E-BF2C-E2110E2F16AD}"/>
              </a:ext>
            </a:extLst>
          </p:cNvPr>
          <p:cNvSpPr>
            <a:spLocks noGrp="1" noChangeArrowheads="1"/>
          </p:cNvSpPr>
          <p:nvPr>
            <p:ph type="dt" sz="half" idx="10"/>
          </p:nvPr>
        </p:nvSpPr>
        <p:spPr>
          <a:ln/>
        </p:spPr>
        <p:txBody>
          <a:bodyPr/>
          <a:lstStyle>
            <a:lvl1pPr>
              <a:defRPr/>
            </a:lvl1pPr>
          </a:lstStyle>
          <a:p>
            <a:pPr>
              <a:defRPr/>
            </a:pPr>
            <a:fld id="{7A8656D6-65E9-40EF-B05D-5275B21E6C2D}" type="datetime1">
              <a:rPr lang="zh-CN" altLang="en-US"/>
              <a:pPr>
                <a:defRPr/>
              </a:pPr>
              <a:t>2022/3/18</a:t>
            </a:fld>
            <a:endParaRPr lang="en-US" altLang="zh-CN"/>
          </a:p>
        </p:txBody>
      </p:sp>
      <p:sp>
        <p:nvSpPr>
          <p:cNvPr id="5" name="Rectangle 5">
            <a:extLst>
              <a:ext uri="{FF2B5EF4-FFF2-40B4-BE49-F238E27FC236}">
                <a16:creationId xmlns:a16="http://schemas.microsoft.com/office/drawing/2014/main" id="{22014932-472E-4036-B32D-B53BDFEA9FB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F120BEE-5DA0-41F5-842A-FEE755B0CA2A}"/>
              </a:ext>
            </a:extLst>
          </p:cNvPr>
          <p:cNvSpPr>
            <a:spLocks noGrp="1" noChangeArrowheads="1"/>
          </p:cNvSpPr>
          <p:nvPr>
            <p:ph type="sldNum" sz="quarter" idx="12"/>
          </p:nvPr>
        </p:nvSpPr>
        <p:spPr>
          <a:ln/>
        </p:spPr>
        <p:txBody>
          <a:bodyPr/>
          <a:lstStyle>
            <a:lvl1pPr>
              <a:defRPr/>
            </a:lvl1pPr>
          </a:lstStyle>
          <a:p>
            <a:fld id="{CBF44088-138F-4996-90CE-B0D2CF13768C}" type="slidenum">
              <a:rPr lang="en-US" altLang="zh-CN"/>
              <a:pPr/>
              <a:t>‹#›</a:t>
            </a:fld>
            <a:endParaRPr lang="en-US" altLang="zh-CN"/>
          </a:p>
        </p:txBody>
      </p:sp>
    </p:spTree>
    <p:extLst>
      <p:ext uri="{BB962C8B-B14F-4D97-AF65-F5344CB8AC3E}">
        <p14:creationId xmlns:p14="http://schemas.microsoft.com/office/powerpoint/2010/main" val="16402508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1C8A1254-C338-44BA-B6B4-3AF8285AFC59}"/>
              </a:ext>
            </a:extLst>
          </p:cNvPr>
          <p:cNvSpPr>
            <a:spLocks noGrp="1" noChangeArrowheads="1"/>
          </p:cNvSpPr>
          <p:nvPr>
            <p:ph type="dt" sz="half" idx="10"/>
          </p:nvPr>
        </p:nvSpPr>
        <p:spPr>
          <a:ln/>
        </p:spPr>
        <p:txBody>
          <a:bodyPr/>
          <a:lstStyle>
            <a:lvl1pPr>
              <a:defRPr/>
            </a:lvl1pPr>
          </a:lstStyle>
          <a:p>
            <a:pPr>
              <a:defRPr/>
            </a:pPr>
            <a:fld id="{3D018A2D-C1C4-4E78-83C5-BA3712DAB0DD}" type="datetime1">
              <a:rPr lang="zh-CN" altLang="en-US"/>
              <a:pPr>
                <a:defRPr/>
              </a:pPr>
              <a:t>2022/3/18</a:t>
            </a:fld>
            <a:endParaRPr lang="en-US" altLang="zh-CN"/>
          </a:p>
        </p:txBody>
      </p:sp>
      <p:sp>
        <p:nvSpPr>
          <p:cNvPr id="6" name="Rectangle 5">
            <a:extLst>
              <a:ext uri="{FF2B5EF4-FFF2-40B4-BE49-F238E27FC236}">
                <a16:creationId xmlns:a16="http://schemas.microsoft.com/office/drawing/2014/main" id="{E1F6F968-2250-44E8-A11B-4B200EFD11F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22BBCB9-90AE-4EB0-A579-84C98EFF11D0}"/>
              </a:ext>
            </a:extLst>
          </p:cNvPr>
          <p:cNvSpPr>
            <a:spLocks noGrp="1" noChangeArrowheads="1"/>
          </p:cNvSpPr>
          <p:nvPr>
            <p:ph type="sldNum" sz="quarter" idx="12"/>
          </p:nvPr>
        </p:nvSpPr>
        <p:spPr>
          <a:ln/>
        </p:spPr>
        <p:txBody>
          <a:bodyPr/>
          <a:lstStyle>
            <a:lvl1pPr>
              <a:defRPr/>
            </a:lvl1pPr>
          </a:lstStyle>
          <a:p>
            <a:fld id="{E7FD5751-54DA-4E43-A8F6-A9C828BB07DF}" type="slidenum">
              <a:rPr lang="en-US" altLang="zh-CN"/>
              <a:pPr/>
              <a:t>‹#›</a:t>
            </a:fld>
            <a:endParaRPr lang="en-US" altLang="zh-CN"/>
          </a:p>
        </p:txBody>
      </p:sp>
    </p:spTree>
    <p:extLst>
      <p:ext uri="{BB962C8B-B14F-4D97-AF65-F5344CB8AC3E}">
        <p14:creationId xmlns:p14="http://schemas.microsoft.com/office/powerpoint/2010/main" val="5974921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D18087AA-9C62-4339-8B49-F041474A8CAE}"/>
              </a:ext>
            </a:extLst>
          </p:cNvPr>
          <p:cNvSpPr>
            <a:spLocks noGrp="1" noChangeArrowheads="1"/>
          </p:cNvSpPr>
          <p:nvPr>
            <p:ph type="dt" sz="half" idx="10"/>
          </p:nvPr>
        </p:nvSpPr>
        <p:spPr>
          <a:ln/>
        </p:spPr>
        <p:txBody>
          <a:bodyPr/>
          <a:lstStyle>
            <a:lvl1pPr>
              <a:defRPr/>
            </a:lvl1pPr>
          </a:lstStyle>
          <a:p>
            <a:pPr>
              <a:defRPr/>
            </a:pPr>
            <a:fld id="{5E35F189-9AED-43D6-A240-5B91E201FD42}" type="datetime1">
              <a:rPr lang="zh-CN" altLang="en-US"/>
              <a:pPr>
                <a:defRPr/>
              </a:pPr>
              <a:t>2022/3/18</a:t>
            </a:fld>
            <a:endParaRPr lang="en-US" altLang="zh-CN"/>
          </a:p>
        </p:txBody>
      </p:sp>
      <p:sp>
        <p:nvSpPr>
          <p:cNvPr id="8" name="Rectangle 5">
            <a:extLst>
              <a:ext uri="{FF2B5EF4-FFF2-40B4-BE49-F238E27FC236}">
                <a16:creationId xmlns:a16="http://schemas.microsoft.com/office/drawing/2014/main" id="{A2818FC5-867D-4962-BC33-ADBF88F40D5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F2A86D18-9E88-45DC-8D1C-A718C16E7922}"/>
              </a:ext>
            </a:extLst>
          </p:cNvPr>
          <p:cNvSpPr>
            <a:spLocks noGrp="1" noChangeArrowheads="1"/>
          </p:cNvSpPr>
          <p:nvPr>
            <p:ph type="sldNum" sz="quarter" idx="12"/>
          </p:nvPr>
        </p:nvSpPr>
        <p:spPr>
          <a:ln/>
        </p:spPr>
        <p:txBody>
          <a:bodyPr/>
          <a:lstStyle>
            <a:lvl1pPr>
              <a:defRPr/>
            </a:lvl1pPr>
          </a:lstStyle>
          <a:p>
            <a:fld id="{0C9B7F3F-AAEB-4312-8EB0-4DB9BB02197D}" type="slidenum">
              <a:rPr lang="en-US" altLang="zh-CN"/>
              <a:pPr/>
              <a:t>‹#›</a:t>
            </a:fld>
            <a:endParaRPr lang="en-US" altLang="zh-CN"/>
          </a:p>
        </p:txBody>
      </p:sp>
    </p:spTree>
    <p:extLst>
      <p:ext uri="{BB962C8B-B14F-4D97-AF65-F5344CB8AC3E}">
        <p14:creationId xmlns:p14="http://schemas.microsoft.com/office/powerpoint/2010/main" val="37645050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6972D9DD-7F9F-4E26-BBB9-B48BDF36699C}"/>
              </a:ext>
            </a:extLst>
          </p:cNvPr>
          <p:cNvSpPr>
            <a:spLocks noGrp="1" noChangeArrowheads="1"/>
          </p:cNvSpPr>
          <p:nvPr>
            <p:ph type="dt" sz="half" idx="10"/>
          </p:nvPr>
        </p:nvSpPr>
        <p:spPr>
          <a:ln/>
        </p:spPr>
        <p:txBody>
          <a:bodyPr/>
          <a:lstStyle>
            <a:lvl1pPr>
              <a:defRPr/>
            </a:lvl1pPr>
          </a:lstStyle>
          <a:p>
            <a:pPr>
              <a:defRPr/>
            </a:pPr>
            <a:fld id="{9E28D7AF-FE28-4B4A-AABE-0AAF82E59870}" type="datetime1">
              <a:rPr lang="zh-CN" altLang="en-US"/>
              <a:pPr>
                <a:defRPr/>
              </a:pPr>
              <a:t>2022/3/18</a:t>
            </a:fld>
            <a:endParaRPr lang="en-US" altLang="zh-CN"/>
          </a:p>
        </p:txBody>
      </p:sp>
      <p:sp>
        <p:nvSpPr>
          <p:cNvPr id="4" name="Rectangle 5">
            <a:extLst>
              <a:ext uri="{FF2B5EF4-FFF2-40B4-BE49-F238E27FC236}">
                <a16:creationId xmlns:a16="http://schemas.microsoft.com/office/drawing/2014/main" id="{EDA63AC4-E429-4FF7-B511-1F2D22E6563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4F903359-41FE-4448-BD2C-FF3EE24ADAE5}"/>
              </a:ext>
            </a:extLst>
          </p:cNvPr>
          <p:cNvSpPr>
            <a:spLocks noGrp="1" noChangeArrowheads="1"/>
          </p:cNvSpPr>
          <p:nvPr>
            <p:ph type="sldNum" sz="quarter" idx="12"/>
          </p:nvPr>
        </p:nvSpPr>
        <p:spPr>
          <a:ln/>
        </p:spPr>
        <p:txBody>
          <a:bodyPr/>
          <a:lstStyle>
            <a:lvl1pPr>
              <a:defRPr/>
            </a:lvl1pPr>
          </a:lstStyle>
          <a:p>
            <a:fld id="{F30FEE44-F47F-44F1-8125-9A7C2179CCB5}" type="slidenum">
              <a:rPr lang="en-US" altLang="zh-CN"/>
              <a:pPr/>
              <a:t>‹#›</a:t>
            </a:fld>
            <a:endParaRPr lang="en-US" altLang="zh-CN"/>
          </a:p>
        </p:txBody>
      </p:sp>
    </p:spTree>
    <p:extLst>
      <p:ext uri="{BB962C8B-B14F-4D97-AF65-F5344CB8AC3E}">
        <p14:creationId xmlns:p14="http://schemas.microsoft.com/office/powerpoint/2010/main" val="15622957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8687B46-C869-4B65-942F-8EEE75857316}"/>
              </a:ext>
            </a:extLst>
          </p:cNvPr>
          <p:cNvSpPr>
            <a:spLocks noGrp="1" noChangeArrowheads="1"/>
          </p:cNvSpPr>
          <p:nvPr>
            <p:ph type="dt" sz="half" idx="10"/>
          </p:nvPr>
        </p:nvSpPr>
        <p:spPr>
          <a:ln/>
        </p:spPr>
        <p:txBody>
          <a:bodyPr/>
          <a:lstStyle>
            <a:lvl1pPr>
              <a:defRPr/>
            </a:lvl1pPr>
          </a:lstStyle>
          <a:p>
            <a:pPr>
              <a:defRPr/>
            </a:pPr>
            <a:fld id="{BC966702-12C1-4DC3-A5F9-61CB585D673C}" type="datetime1">
              <a:rPr lang="zh-CN" altLang="en-US"/>
              <a:pPr>
                <a:defRPr/>
              </a:pPr>
              <a:t>2022/3/18</a:t>
            </a:fld>
            <a:endParaRPr lang="en-US" altLang="zh-CN"/>
          </a:p>
        </p:txBody>
      </p:sp>
      <p:sp>
        <p:nvSpPr>
          <p:cNvPr id="3" name="Rectangle 5">
            <a:extLst>
              <a:ext uri="{FF2B5EF4-FFF2-40B4-BE49-F238E27FC236}">
                <a16:creationId xmlns:a16="http://schemas.microsoft.com/office/drawing/2014/main" id="{AC81F247-7799-43E3-A636-361E80ACE2A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E60A1493-0666-4A9A-AF92-BA795C59162A}"/>
              </a:ext>
            </a:extLst>
          </p:cNvPr>
          <p:cNvSpPr>
            <a:spLocks noGrp="1" noChangeArrowheads="1"/>
          </p:cNvSpPr>
          <p:nvPr>
            <p:ph type="sldNum" sz="quarter" idx="12"/>
          </p:nvPr>
        </p:nvSpPr>
        <p:spPr>
          <a:ln/>
        </p:spPr>
        <p:txBody>
          <a:bodyPr/>
          <a:lstStyle>
            <a:lvl1pPr>
              <a:defRPr/>
            </a:lvl1pPr>
          </a:lstStyle>
          <a:p>
            <a:fld id="{0583E4F7-D2DD-4D7C-9AB2-BFB062A44571}" type="slidenum">
              <a:rPr lang="en-US" altLang="zh-CN"/>
              <a:pPr/>
              <a:t>‹#›</a:t>
            </a:fld>
            <a:endParaRPr lang="en-US" altLang="zh-CN"/>
          </a:p>
        </p:txBody>
      </p:sp>
    </p:spTree>
    <p:extLst>
      <p:ext uri="{BB962C8B-B14F-4D97-AF65-F5344CB8AC3E}">
        <p14:creationId xmlns:p14="http://schemas.microsoft.com/office/powerpoint/2010/main" val="37941275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F878C0E-64A4-4E65-91DE-03EEC4ED4314}"/>
              </a:ext>
            </a:extLst>
          </p:cNvPr>
          <p:cNvSpPr>
            <a:spLocks noGrp="1" noChangeArrowheads="1"/>
          </p:cNvSpPr>
          <p:nvPr>
            <p:ph type="dt" sz="half" idx="10"/>
          </p:nvPr>
        </p:nvSpPr>
        <p:spPr>
          <a:ln/>
        </p:spPr>
        <p:txBody>
          <a:bodyPr/>
          <a:lstStyle>
            <a:lvl1pPr>
              <a:defRPr/>
            </a:lvl1pPr>
          </a:lstStyle>
          <a:p>
            <a:pPr>
              <a:defRPr/>
            </a:pPr>
            <a:fld id="{910381DB-3AA4-4412-84CD-36DDACB8E3EC}" type="datetime1">
              <a:rPr lang="zh-CN" altLang="en-US"/>
              <a:pPr>
                <a:defRPr/>
              </a:pPr>
              <a:t>2022/3/18</a:t>
            </a:fld>
            <a:endParaRPr lang="en-US" altLang="zh-CN"/>
          </a:p>
        </p:txBody>
      </p:sp>
      <p:sp>
        <p:nvSpPr>
          <p:cNvPr id="6" name="Rectangle 5">
            <a:extLst>
              <a:ext uri="{FF2B5EF4-FFF2-40B4-BE49-F238E27FC236}">
                <a16:creationId xmlns:a16="http://schemas.microsoft.com/office/drawing/2014/main" id="{540D0125-363A-4EE7-AE28-4EC9856C6A8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52431E5-C920-48B4-9EDD-726C4CE9E589}"/>
              </a:ext>
            </a:extLst>
          </p:cNvPr>
          <p:cNvSpPr>
            <a:spLocks noGrp="1" noChangeArrowheads="1"/>
          </p:cNvSpPr>
          <p:nvPr>
            <p:ph type="sldNum" sz="quarter" idx="12"/>
          </p:nvPr>
        </p:nvSpPr>
        <p:spPr>
          <a:ln/>
        </p:spPr>
        <p:txBody>
          <a:bodyPr/>
          <a:lstStyle>
            <a:lvl1pPr>
              <a:defRPr/>
            </a:lvl1pPr>
          </a:lstStyle>
          <a:p>
            <a:fld id="{F14810D2-0EA7-4623-9105-7437386B4FF2}" type="slidenum">
              <a:rPr lang="en-US" altLang="zh-CN"/>
              <a:pPr/>
              <a:t>‹#›</a:t>
            </a:fld>
            <a:endParaRPr lang="en-US" altLang="zh-CN"/>
          </a:p>
        </p:txBody>
      </p:sp>
    </p:spTree>
    <p:extLst>
      <p:ext uri="{BB962C8B-B14F-4D97-AF65-F5344CB8AC3E}">
        <p14:creationId xmlns:p14="http://schemas.microsoft.com/office/powerpoint/2010/main" val="19858001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B627117E-4499-434A-89BE-2AB4A1ADA60D}"/>
              </a:ext>
            </a:extLst>
          </p:cNvPr>
          <p:cNvSpPr>
            <a:spLocks noGrp="1" noChangeArrowheads="1"/>
          </p:cNvSpPr>
          <p:nvPr>
            <p:ph type="dt" sz="half" idx="10"/>
          </p:nvPr>
        </p:nvSpPr>
        <p:spPr>
          <a:ln/>
        </p:spPr>
        <p:txBody>
          <a:bodyPr/>
          <a:lstStyle>
            <a:lvl1pPr>
              <a:defRPr/>
            </a:lvl1pPr>
          </a:lstStyle>
          <a:p>
            <a:pPr>
              <a:defRPr/>
            </a:pPr>
            <a:fld id="{533354D2-B9A3-4897-BE23-F0A162E85F77}" type="datetime1">
              <a:rPr lang="zh-CN" altLang="en-US"/>
              <a:pPr>
                <a:defRPr/>
              </a:pPr>
              <a:t>2022/3/18</a:t>
            </a:fld>
            <a:endParaRPr lang="en-US" altLang="zh-CN"/>
          </a:p>
        </p:txBody>
      </p:sp>
      <p:sp>
        <p:nvSpPr>
          <p:cNvPr id="6" name="Rectangle 5">
            <a:extLst>
              <a:ext uri="{FF2B5EF4-FFF2-40B4-BE49-F238E27FC236}">
                <a16:creationId xmlns:a16="http://schemas.microsoft.com/office/drawing/2014/main" id="{2ACB8F05-7E49-4A5E-AB0C-3114A8D40CA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8296E3E-4F0A-47CE-948C-EAAA74E330FF}"/>
              </a:ext>
            </a:extLst>
          </p:cNvPr>
          <p:cNvSpPr>
            <a:spLocks noGrp="1" noChangeArrowheads="1"/>
          </p:cNvSpPr>
          <p:nvPr>
            <p:ph type="sldNum" sz="quarter" idx="12"/>
          </p:nvPr>
        </p:nvSpPr>
        <p:spPr>
          <a:ln/>
        </p:spPr>
        <p:txBody>
          <a:bodyPr/>
          <a:lstStyle>
            <a:lvl1pPr>
              <a:defRPr/>
            </a:lvl1pPr>
          </a:lstStyle>
          <a:p>
            <a:fld id="{439D684B-5FF6-4654-A527-B3119396EA0F}" type="slidenum">
              <a:rPr lang="en-US" altLang="zh-CN"/>
              <a:pPr/>
              <a:t>‹#›</a:t>
            </a:fld>
            <a:endParaRPr lang="en-US" altLang="zh-CN"/>
          </a:p>
        </p:txBody>
      </p:sp>
    </p:spTree>
    <p:extLst>
      <p:ext uri="{BB962C8B-B14F-4D97-AF65-F5344CB8AC3E}">
        <p14:creationId xmlns:p14="http://schemas.microsoft.com/office/powerpoint/2010/main" val="24585723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B82D57E-1A79-4E31-8542-A0A4A33DCFB1}"/>
              </a:ext>
            </a:extLst>
          </p:cNvPr>
          <p:cNvSpPr>
            <a:spLocks noGrp="1" noChangeArrowheads="1"/>
          </p:cNvSpPr>
          <p:nvPr>
            <p:ph type="dt" sz="half" idx="10"/>
          </p:nvPr>
        </p:nvSpPr>
        <p:spPr>
          <a:ln/>
        </p:spPr>
        <p:txBody>
          <a:bodyPr/>
          <a:lstStyle>
            <a:lvl1pPr>
              <a:defRPr/>
            </a:lvl1pPr>
          </a:lstStyle>
          <a:p>
            <a:pPr>
              <a:defRPr/>
            </a:pPr>
            <a:fld id="{61A9E173-609D-4430-BBB5-645CEFDDE92C}" type="datetime1">
              <a:rPr lang="zh-CN" altLang="en-US"/>
              <a:pPr>
                <a:defRPr/>
              </a:pPr>
              <a:t>2022/3/18</a:t>
            </a:fld>
            <a:endParaRPr lang="en-US" altLang="zh-CN"/>
          </a:p>
        </p:txBody>
      </p:sp>
      <p:sp>
        <p:nvSpPr>
          <p:cNvPr id="5" name="Rectangle 5">
            <a:extLst>
              <a:ext uri="{FF2B5EF4-FFF2-40B4-BE49-F238E27FC236}">
                <a16:creationId xmlns:a16="http://schemas.microsoft.com/office/drawing/2014/main" id="{28108BF7-2989-4EFF-BB92-C380E133693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5652A43-46E9-4F90-A46C-60B5B65A35F3}"/>
              </a:ext>
            </a:extLst>
          </p:cNvPr>
          <p:cNvSpPr>
            <a:spLocks noGrp="1" noChangeArrowheads="1"/>
          </p:cNvSpPr>
          <p:nvPr>
            <p:ph type="sldNum" sz="quarter" idx="12"/>
          </p:nvPr>
        </p:nvSpPr>
        <p:spPr>
          <a:ln/>
        </p:spPr>
        <p:txBody>
          <a:bodyPr/>
          <a:lstStyle>
            <a:lvl1pPr>
              <a:defRPr/>
            </a:lvl1pPr>
          </a:lstStyle>
          <a:p>
            <a:fld id="{6D18EBAE-9050-4236-9196-1010A4CC9EB2}" type="slidenum">
              <a:rPr lang="en-US" altLang="zh-CN"/>
              <a:pPr/>
              <a:t>‹#›</a:t>
            </a:fld>
            <a:endParaRPr lang="en-US" altLang="zh-CN"/>
          </a:p>
        </p:txBody>
      </p:sp>
    </p:spTree>
    <p:extLst>
      <p:ext uri="{BB962C8B-B14F-4D97-AF65-F5344CB8AC3E}">
        <p14:creationId xmlns:p14="http://schemas.microsoft.com/office/powerpoint/2010/main" val="17254761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0245A2A-D9DA-433E-AEF1-F649DB0109BF}"/>
              </a:ext>
            </a:extLst>
          </p:cNvPr>
          <p:cNvSpPr>
            <a:spLocks noGrp="1" noChangeArrowheads="1"/>
          </p:cNvSpPr>
          <p:nvPr>
            <p:ph type="dt" sz="half" idx="10"/>
          </p:nvPr>
        </p:nvSpPr>
        <p:spPr>
          <a:ln/>
        </p:spPr>
        <p:txBody>
          <a:bodyPr/>
          <a:lstStyle>
            <a:lvl1pPr>
              <a:defRPr/>
            </a:lvl1pPr>
          </a:lstStyle>
          <a:p>
            <a:pPr>
              <a:defRPr/>
            </a:pPr>
            <a:fld id="{5D9BB1A1-38AD-4334-B644-6F3B36A33C6F}" type="datetime1">
              <a:rPr lang="zh-CN" altLang="en-US"/>
              <a:pPr>
                <a:defRPr/>
              </a:pPr>
              <a:t>2022/3/18</a:t>
            </a:fld>
            <a:endParaRPr lang="en-US" altLang="zh-CN"/>
          </a:p>
        </p:txBody>
      </p:sp>
      <p:sp>
        <p:nvSpPr>
          <p:cNvPr id="5" name="Rectangle 5">
            <a:extLst>
              <a:ext uri="{FF2B5EF4-FFF2-40B4-BE49-F238E27FC236}">
                <a16:creationId xmlns:a16="http://schemas.microsoft.com/office/drawing/2014/main" id="{2D6A2EA4-ED19-482D-81EE-BB455385D85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6B16F57-88D4-4026-9E70-53B416FDD9E0}"/>
              </a:ext>
            </a:extLst>
          </p:cNvPr>
          <p:cNvSpPr>
            <a:spLocks noGrp="1" noChangeArrowheads="1"/>
          </p:cNvSpPr>
          <p:nvPr>
            <p:ph type="sldNum" sz="quarter" idx="12"/>
          </p:nvPr>
        </p:nvSpPr>
        <p:spPr>
          <a:ln/>
        </p:spPr>
        <p:txBody>
          <a:bodyPr/>
          <a:lstStyle>
            <a:lvl1pPr>
              <a:defRPr/>
            </a:lvl1pPr>
          </a:lstStyle>
          <a:p>
            <a:fld id="{ADA8BB13-B4A8-4A2D-855B-F84CF582EB94}" type="slidenum">
              <a:rPr lang="en-US" altLang="zh-CN"/>
              <a:pPr/>
              <a:t>‹#›</a:t>
            </a:fld>
            <a:endParaRPr lang="en-US" altLang="zh-CN"/>
          </a:p>
        </p:txBody>
      </p:sp>
    </p:spTree>
    <p:extLst>
      <p:ext uri="{BB962C8B-B14F-4D97-AF65-F5344CB8AC3E}">
        <p14:creationId xmlns:p14="http://schemas.microsoft.com/office/powerpoint/2010/main" val="810981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eaLnBrk="1" hangingPunct="1">
              <a:defRPr sz="1400" noProof="1"/>
            </a:lvl1pPr>
          </a:lstStyle>
          <a:p>
            <a:pPr>
              <a:defRPr/>
            </a:pPr>
            <a:fld id="{894EEF7A-21E7-4D0D-8777-62C63046F42F}" type="slidenum">
              <a:rPr lang="zh-CN" altLang="en-US">
                <a:solidFill>
                  <a:srgbClr val="000000"/>
                </a:solidFill>
                <a:latin typeface="Arial" panose="020B0604020202020204" pitchFamily="34" charset="0"/>
                <a:ea typeface="宋体" panose="02010600030101010101" pitchFamily="2" charset="-122"/>
              </a:rPr>
              <a:t>‹#›</a:t>
            </a:fld>
            <a:endParaRPr lang="zh-CN" altLang="en-US">
              <a:solidFill>
                <a:srgbClr val="000000"/>
              </a:solidFill>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eaLnBrk="1" hangingPunct="1">
              <a:defRPr sz="1400" noProof="1"/>
            </a:lvl1pPr>
          </a:lstStyle>
          <a:p>
            <a:pPr>
              <a:defRPr/>
            </a:pPr>
            <a:fld id="{894EEF7A-21E7-4D0D-8777-62C63046F42F}" type="slidenum">
              <a:rPr lang="zh-CN" altLang="en-US">
                <a:solidFill>
                  <a:srgbClr val="000000"/>
                </a:solidFill>
                <a:latin typeface="Arial" panose="020B0604020202020204" pitchFamily="34" charset="0"/>
                <a:ea typeface="宋体" panose="02010600030101010101" pitchFamily="2" charset="-122"/>
              </a:rPr>
              <a:pPr>
                <a:defRPr/>
              </a:pPr>
              <a:t>‹#›</a:t>
            </a:fld>
            <a:endParaRPr lang="zh-CN" altLang="en-US">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067655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3DCF40E-2E16-4103-9100-AD683C4AC796}"/>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7CA9B5F3-1E33-4D9E-A174-72076481081B}"/>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4180ED76-8A42-4025-A926-1EC57062B0C9}"/>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b="0">
                <a:effectLst/>
                <a:latin typeface="+mn-lt"/>
                <a:ea typeface="+mn-ea"/>
                <a:cs typeface="Arial Unicode MS" pitchFamily="34" charset="-122"/>
              </a:defRPr>
            </a:lvl1pPr>
          </a:lstStyle>
          <a:p>
            <a:pPr>
              <a:defRPr/>
            </a:pPr>
            <a:fld id="{97FD8E44-2301-43BE-B0FA-65485AB55723}" type="datetime1">
              <a:rPr lang="zh-CN" altLang="en-US"/>
              <a:pPr>
                <a:defRPr/>
              </a:pPr>
              <a:t>2022/3/18</a:t>
            </a:fld>
            <a:endParaRPr lang="en-US" altLang="zh-CN"/>
          </a:p>
        </p:txBody>
      </p:sp>
      <p:sp>
        <p:nvSpPr>
          <p:cNvPr id="1029" name="Rectangle 5">
            <a:extLst>
              <a:ext uri="{FF2B5EF4-FFF2-40B4-BE49-F238E27FC236}">
                <a16:creationId xmlns:a16="http://schemas.microsoft.com/office/drawing/2014/main" id="{B300A110-06E2-4CDC-BBF7-7F91360F5A22}"/>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b="0">
                <a:effectLst/>
                <a:latin typeface="+mn-lt"/>
                <a:ea typeface="+mn-ea"/>
                <a:cs typeface="Arial Unicode MS" pitchFamily="34" charset="-122"/>
              </a:defRPr>
            </a:lvl1pPr>
          </a:lstStyle>
          <a:p>
            <a:pPr>
              <a:defRPr/>
            </a:pPr>
            <a:endParaRPr lang="en-US" altLang="zh-CN"/>
          </a:p>
        </p:txBody>
      </p:sp>
      <p:sp>
        <p:nvSpPr>
          <p:cNvPr id="1030" name="Rectangle 6">
            <a:extLst>
              <a:ext uri="{FF2B5EF4-FFF2-40B4-BE49-F238E27FC236}">
                <a16:creationId xmlns:a16="http://schemas.microsoft.com/office/drawing/2014/main" id="{EE62AD9C-7D69-44C9-92E7-B8D92AD9A64B}"/>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0">
                <a:latin typeface="Arial" panose="020B0604020202020204" pitchFamily="34" charset="0"/>
                <a:ea typeface="宋体" panose="02010600030101010101" pitchFamily="2" charset="-122"/>
              </a:defRPr>
            </a:lvl1pPr>
          </a:lstStyle>
          <a:p>
            <a:fld id="{D433DE41-1FBE-48A3-A8C9-6A402B58D332}" type="slidenum">
              <a:rPr lang="en-US" altLang="zh-CN"/>
              <a:pPr/>
              <a:t>‹#›</a:t>
            </a:fld>
            <a:endParaRPr lang="en-US" altLang="zh-CN"/>
          </a:p>
        </p:txBody>
      </p:sp>
    </p:spTree>
    <p:extLst>
      <p:ext uri="{BB962C8B-B14F-4D97-AF65-F5344CB8AC3E}">
        <p14:creationId xmlns:p14="http://schemas.microsoft.com/office/powerpoint/2010/main" val="1645379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3360420" y="1466215"/>
            <a:ext cx="242316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rPr>
              <a:t>Chapter 3 </a:t>
            </a:r>
          </a:p>
        </p:txBody>
      </p:sp>
      <p:sp>
        <p:nvSpPr>
          <p:cNvPr id="4" name="文本框 3"/>
          <p:cNvSpPr txBox="1"/>
          <p:nvPr/>
        </p:nvSpPr>
        <p:spPr>
          <a:xfrm>
            <a:off x="983615" y="3133090"/>
            <a:ext cx="7176770" cy="1322070"/>
          </a:xfrm>
          <a:prstGeom prst="rect">
            <a:avLst/>
          </a:prstGeom>
          <a:noFill/>
        </p:spPr>
        <p:txBody>
          <a:bodyPr wrap="square" rtlCol="0">
            <a:spAutoFit/>
          </a:bodyPr>
          <a:lstStyle/>
          <a:p>
            <a:pPr algn="ctr"/>
            <a:r>
              <a:rPr lang="en-US" altLang="zh-CN" sz="4000" b="1">
                <a:latin typeface="Times New Roman" panose="02020603050405020304" pitchFamily="18" charset="0"/>
                <a:cs typeface="Times New Roman" panose="02020603050405020304" pitchFamily="18" charset="0"/>
              </a:rPr>
              <a:t>The Deep Structure of Culture: </a:t>
            </a:r>
          </a:p>
          <a:p>
            <a:pPr algn="ctr"/>
            <a:r>
              <a:rPr lang="en-US" altLang="zh-CN" sz="4000" b="1">
                <a:latin typeface="Times New Roman" panose="02020603050405020304" pitchFamily="18" charset="0"/>
                <a:cs typeface="Times New Roman" panose="02020603050405020304" pitchFamily="18" charset="0"/>
              </a:rPr>
              <a:t>Lessons from the Family</a:t>
            </a: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3360420" y="1466215"/>
            <a:ext cx="2423160" cy="706755"/>
          </a:xfrm>
          <a:prstGeom prst="rect">
            <a:avLst/>
          </a:prstGeom>
          <a:noFill/>
        </p:spPr>
        <p:txBody>
          <a:bodyPr wrap="square" rtlCol="0">
            <a:spAutoFit/>
          </a:bodyPr>
          <a:lstStyle/>
          <a:p>
            <a:r>
              <a:rPr lang="en-US" altLang="zh-CN" sz="4000" b="1">
                <a:latin typeface="Times New Roman" panose="02020603050405020304" pitchFamily="18" charset="0"/>
                <a:cs typeface="Times New Roman" panose="02020603050405020304" pitchFamily="18" charset="0"/>
              </a:rPr>
              <a:t>Contents </a:t>
            </a:r>
          </a:p>
        </p:txBody>
      </p:sp>
      <p:sp>
        <p:nvSpPr>
          <p:cNvPr id="2" name="文本框 1"/>
          <p:cNvSpPr txBox="1"/>
          <p:nvPr/>
        </p:nvSpPr>
        <p:spPr>
          <a:xfrm>
            <a:off x="545465" y="2959735"/>
            <a:ext cx="8196580" cy="1322070"/>
          </a:xfrm>
          <a:prstGeom prst="rect">
            <a:avLst/>
          </a:prstGeom>
          <a:noFill/>
        </p:spPr>
        <p:txBody>
          <a:bodyPr wrap="square" rtlCol="0">
            <a:spAutoFit/>
          </a:bodyPr>
          <a:lstStyle/>
          <a:p>
            <a:pPr marL="285750" indent="-285750">
              <a:buFont typeface="Arial" panose="020B0604020202020204" pitchFamily="34" charset="0"/>
              <a:buChar char="•"/>
            </a:pPr>
            <a:r>
              <a:rPr lang="en-US" altLang="zh-CN" sz="4000">
                <a:latin typeface="Times New Roman" panose="02020603050405020304" pitchFamily="18" charset="0"/>
                <a:cs typeface="Times New Roman" panose="02020603050405020304" pitchFamily="18" charset="0"/>
              </a:rPr>
              <a:t>The Deep Structure of Culture</a:t>
            </a:r>
          </a:p>
          <a:p>
            <a:pPr marL="285750" indent="-285750">
              <a:buFont typeface="Arial" panose="020B0604020202020204" pitchFamily="34" charset="0"/>
              <a:buChar char="•"/>
            </a:pPr>
            <a:r>
              <a:rPr lang="en-US" altLang="zh-CN" sz="4000">
                <a:latin typeface="Times New Roman" panose="02020603050405020304" pitchFamily="18" charset="0"/>
                <a:cs typeface="Times New Roman" panose="02020603050405020304" pitchFamily="18" charset="0"/>
              </a:rPr>
              <a:t>Family</a:t>
            </a: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6435"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59938" y="778425"/>
            <a:ext cx="9252799"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3.1 The Deep Structure of Culture </a:t>
            </a:r>
            <a:r>
              <a:rPr lang="en-US" altLang="zh-CN" sz="4000" b="1" dirty="0">
                <a:highlight>
                  <a:srgbClr val="FFFF00"/>
                </a:highlight>
                <a:latin typeface="Times New Roman" panose="02020603050405020304" pitchFamily="18" charset="0"/>
                <a:cs typeface="Times New Roman" panose="02020603050405020304" pitchFamily="18" charset="0"/>
                <a:sym typeface="+mn-ea"/>
              </a:rPr>
              <a:t>P78-79</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
        <p:nvSpPr>
          <p:cNvPr id="4" name="文本框 3"/>
          <p:cNvSpPr txBox="1"/>
          <p:nvPr/>
        </p:nvSpPr>
        <p:spPr>
          <a:xfrm>
            <a:off x="464820" y="2345690"/>
            <a:ext cx="8357870" cy="489267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The key to how members of a culture view the world can be found in that culture's </a:t>
            </a:r>
            <a:r>
              <a:rPr lang="en-US" altLang="zh-CN" sz="2400" i="1" dirty="0">
                <a:solidFill>
                  <a:srgbClr val="FF0000"/>
                </a:solidFill>
                <a:latin typeface="Times New Roman" panose="02020603050405020304" pitchFamily="18" charset="0"/>
                <a:cs typeface="Times New Roman" panose="02020603050405020304" pitchFamily="18" charset="0"/>
              </a:rPr>
              <a:t>deep structure</a:t>
            </a:r>
            <a:r>
              <a:rPr lang="en-US" altLang="zh-CN" sz="2400" i="1" dirty="0">
                <a:latin typeface="Times New Roman" panose="02020603050405020304" pitchFamily="18" charset="0"/>
                <a:cs typeface="Times New Roman" panose="02020603050405020304" pitchFamily="18" charset="0"/>
              </a:rPr>
              <a:t>.</a:t>
            </a:r>
          </a:p>
          <a:p>
            <a:pPr algn="just"/>
            <a:r>
              <a:rPr lang="en-US" altLang="zh-CN" sz="2400" i="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It is this deep culture, </a:t>
            </a:r>
            <a:r>
              <a:rPr lang="en-US" altLang="zh-CN" sz="2400" i="1" dirty="0">
                <a:latin typeface="Times New Roman" panose="02020603050405020304" pitchFamily="18" charset="0"/>
                <a:cs typeface="Times New Roman" panose="02020603050405020304" pitchFamily="18" charset="0"/>
              </a:rPr>
              <a:t>the conscious and unconscious assumptions about how the world works</a:t>
            </a:r>
            <a:r>
              <a:rPr lang="en-US" altLang="zh-CN" sz="2400" dirty="0">
                <a:latin typeface="Times New Roman" panose="02020603050405020304" pitchFamily="18" charset="0"/>
                <a:cs typeface="Times New Roman" panose="02020603050405020304" pitchFamily="18" charset="0"/>
              </a:rPr>
              <a:t>, that unifies a culture, makes each culture unique, and explains the “how” and “why” of a culture's collective action——action that is often difficult for “outsiders” to understand.</a:t>
            </a:r>
            <a:endParaRPr lang="en-US" altLang="zh-CN" sz="2400" i="1" dirty="0">
              <a:latin typeface="Times New Roman" panose="02020603050405020304" pitchFamily="18" charset="0"/>
              <a:cs typeface="Times New Roman" panose="02020603050405020304" pitchFamily="18" charset="0"/>
            </a:endParaRPr>
          </a:p>
          <a:p>
            <a:pPr algn="just"/>
            <a:r>
              <a:rPr lang="en-US" altLang="zh-CN" sz="2400" dirty="0">
                <a:latin typeface="Times New Roman" panose="02020603050405020304" pitchFamily="18" charset="0"/>
                <a:cs typeface="Times New Roman" panose="02020603050405020304" pitchFamily="18" charset="0"/>
              </a:rPr>
              <a:t>    Examination of some aspects of a culture's deep structure can provide insight into and improve understanding of that culture's perspectives on ethics, notions of child rearing, ideas about God, nature, aesthetics, and the meaning of life, and even attitudes toward earth.</a:t>
            </a:r>
            <a:endParaRPr lang="en-US" altLang="zh-CN" sz="2400" i="1" dirty="0">
              <a:latin typeface="Times New Roman" panose="02020603050405020304" pitchFamily="18" charset="0"/>
              <a:cs typeface="Times New Roman" panose="02020603050405020304" pitchFamily="18" charset="0"/>
            </a:endParaRPr>
          </a:p>
          <a:p>
            <a:pPr algn="just"/>
            <a:endParaRPr lang="en-US" altLang="zh-CN" sz="2400" dirty="0">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2" name="文本框 1"/>
          <p:cNvSpPr txBox="1"/>
          <p:nvPr/>
        </p:nvSpPr>
        <p:spPr>
          <a:xfrm>
            <a:off x="234950" y="2631239"/>
            <a:ext cx="8816975" cy="3107690"/>
          </a:xfrm>
          <a:prstGeom prst="rect">
            <a:avLst/>
          </a:prstGeom>
          <a:noFill/>
        </p:spPr>
        <p:txBody>
          <a:bodyPr wrap="square" rtlCol="0">
            <a:spAutoFit/>
          </a:bodyPr>
          <a:lstStyle/>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Deep Structure Institutions Transmit Culture's Most Important Messages</a:t>
            </a:r>
          </a:p>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sym typeface="+mn-ea"/>
              </a:rPr>
              <a:t>Deep Structure Institutions and Their Messages Endure</a:t>
            </a:r>
          </a:p>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sym typeface="+mn-ea"/>
              </a:rPr>
              <a:t>Deep Structure Institutions and Their Messages Are Deeply Felt</a:t>
            </a:r>
          </a:p>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sym typeface="+mn-ea"/>
              </a:rPr>
              <a:t>Deep Structure Institutions Supply Much of a Person's Identity</a:t>
            </a:r>
            <a:endParaRPr lang="en-US" altLang="zh-CN" sz="2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26080" y="806351"/>
            <a:ext cx="9491167"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3.1 The Deep Structure of Culture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P80-83</a:t>
            </a:r>
            <a:r>
              <a:rPr lang="en-US" altLang="zh-CN" sz="4000" b="1" dirty="0">
                <a:latin typeface="Times New Roman" panose="02020603050405020304" pitchFamily="18" charset="0"/>
                <a:cs typeface="Times New Roman" panose="02020603050405020304" pitchFamily="18" charset="0"/>
              </a:rPr>
              <a:t> </a:t>
            </a: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94615" y="685398"/>
            <a:ext cx="8953500" cy="1198880"/>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sym typeface="+mn-ea"/>
              </a:rPr>
              <a:t>3.1.1 Deep Structure Institutions Transmit Culture's Most Important Messages </a:t>
            </a:r>
            <a:r>
              <a:rPr lang="en-US" altLang="zh-CN" sz="2400" b="1" dirty="0">
                <a:highlight>
                  <a:srgbClr val="FFFF00"/>
                </a:highlight>
                <a:latin typeface="Times New Roman" panose="02020603050405020304" pitchFamily="18" charset="0"/>
                <a:cs typeface="Times New Roman" panose="02020603050405020304" pitchFamily="18" charset="0"/>
                <a:sym typeface="+mn-ea"/>
              </a:rPr>
              <a:t>P81</a:t>
            </a:r>
            <a:endParaRPr lang="en-US" altLang="zh-CN" sz="2400" b="1" dirty="0">
              <a:highlight>
                <a:srgbClr val="FFFF00"/>
              </a:highlight>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sym typeface="+mn-ea"/>
              </a:rPr>
              <a:t> </a:t>
            </a:r>
            <a:r>
              <a:rPr lang="en-US" altLang="zh-CN" sz="24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392430" y="2420888"/>
            <a:ext cx="8357870" cy="378460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The social institutions of family, state, and religion carry the messages that matter most to people. Whether you seek material possessions to attain happiness or choose instead to seek spiritual fulfillment, the </a:t>
            </a:r>
            <a:r>
              <a:rPr lang="en-US" altLang="zh-CN" sz="2400" dirty="0">
                <a:solidFill>
                  <a:srgbClr val="FF0000"/>
                </a:solidFill>
                <a:latin typeface="Times New Roman" panose="02020603050405020304" pitchFamily="18" charset="0"/>
                <a:cs typeface="Times New Roman" panose="02020603050405020304" pitchFamily="18" charset="0"/>
              </a:rPr>
              <a:t>three deep structure institutions (family, state, and religion) </a:t>
            </a:r>
            <a:r>
              <a:rPr lang="en-US" altLang="zh-CN" sz="2400" dirty="0">
                <a:latin typeface="Times New Roman" panose="02020603050405020304" pitchFamily="18" charset="0"/>
                <a:cs typeface="Times New Roman" panose="02020603050405020304" pitchFamily="18" charset="0"/>
              </a:rPr>
              <a:t>help you make major decisions regarding how to live your life. These cultural institutions and the messages they generate tell you whether you should believe in fate or the power of free choice. They form your notions about right and wrong, why there is suffering, what to expect from life, where your loyalties should lie, and even how to prepare for death.</a:t>
            </a: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55215"/>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0" y="937260"/>
            <a:ext cx="9645650" cy="82994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sym typeface="+mn-ea"/>
              </a:rPr>
              <a:t>3.1.2 Deep Structure Institutions and Their Messages Endure </a:t>
            </a:r>
            <a:r>
              <a:rPr lang="en-US" altLang="zh-CN" sz="2400" b="1" dirty="0">
                <a:highlight>
                  <a:srgbClr val="FFFF00"/>
                </a:highlight>
                <a:latin typeface="Times New Roman" panose="02020603050405020304" pitchFamily="18" charset="0"/>
                <a:cs typeface="Times New Roman" panose="02020603050405020304" pitchFamily="18" charset="0"/>
                <a:sym typeface="+mn-ea"/>
              </a:rPr>
              <a:t>P82</a:t>
            </a:r>
            <a:endParaRPr lang="en-US" altLang="zh-CN" sz="2400" b="1" dirty="0">
              <a:highlight>
                <a:srgbClr val="FFFF00"/>
              </a:highlight>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sym typeface="+mn-ea"/>
              </a:rPr>
              <a:t> </a:t>
            </a:r>
            <a:r>
              <a:rPr lang="en-US" altLang="zh-CN" sz="24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393065" y="2475523"/>
            <a:ext cx="8357870" cy="353943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rPr>
              <a:t>Deep structure institutions endure. They work in harmony to preserve the wisdom, traditions, and customs that make a culture unique. </a:t>
            </a:r>
            <a:r>
              <a:rPr lang="en-US" altLang="zh-CN" sz="3200" dirty="0">
                <a:solidFill>
                  <a:srgbClr val="FF0000"/>
                </a:solidFill>
                <a:latin typeface="Times New Roman" panose="02020603050405020304" pitchFamily="18" charset="0"/>
                <a:cs typeface="Times New Roman" panose="02020603050405020304" pitchFamily="18" charset="0"/>
              </a:rPr>
              <a:t>In China</a:t>
            </a:r>
            <a:r>
              <a:rPr lang="en-US" altLang="zh-CN" sz="3200" dirty="0">
                <a:latin typeface="Times New Roman" panose="02020603050405020304" pitchFamily="18" charset="0"/>
                <a:cs typeface="Times New Roman" panose="02020603050405020304" pitchFamily="18" charset="0"/>
              </a:rPr>
              <a:t>, students are being taught about the “one hundred years of humiliation” suffered under Western and Japanese imperialists in the nineteenth and twentieth centuries.</a:t>
            </a: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0" y="908720"/>
            <a:ext cx="9645650" cy="830997"/>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sym typeface="+mn-ea"/>
              </a:rPr>
              <a:t>3.1.3 Deep Structure Institutions and Their Messages Are Deeply Felt</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sym typeface="+mn-ea"/>
              </a:rPr>
              <a:t>                                                                                    </a:t>
            </a:r>
            <a:r>
              <a:rPr lang="en-US" altLang="zh-CN" sz="2400" b="1" dirty="0">
                <a:latin typeface="Times New Roman" panose="02020603050405020304" pitchFamily="18" charset="0"/>
                <a:cs typeface="Times New Roman" panose="02020603050405020304" pitchFamily="18" charset="0"/>
              </a:rPr>
              <a:t> </a:t>
            </a:r>
            <a:r>
              <a:rPr lang="en-US" altLang="zh-CN" sz="2400" b="1" dirty="0">
                <a:highlight>
                  <a:srgbClr val="FFFF00"/>
                </a:highlight>
                <a:latin typeface="Times New Roman" panose="02020603050405020304" pitchFamily="18" charset="0"/>
                <a:cs typeface="Times New Roman" panose="02020603050405020304" pitchFamily="18" charset="0"/>
              </a:rPr>
              <a:t>P82</a:t>
            </a:r>
          </a:p>
        </p:txBody>
      </p:sp>
      <p:sp>
        <p:nvSpPr>
          <p:cNvPr id="4" name="文本框 3"/>
          <p:cNvSpPr txBox="1"/>
          <p:nvPr/>
        </p:nvSpPr>
        <p:spPr>
          <a:xfrm>
            <a:off x="323263" y="2109670"/>
            <a:ext cx="8357870" cy="4832092"/>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The content generated by these institutions (and the institutions themselves) arouses profound and emotional feelings about loyalty and nationalism.</a:t>
            </a:r>
            <a:r>
              <a:rPr lang="en-US" altLang="zh-CN" sz="2800" dirty="0">
                <a:latin typeface="Times New Roman" panose="02020603050405020304" pitchFamily="18" charset="0"/>
                <a:cs typeface="Times New Roman" panose="02020603050405020304" pitchFamily="18" charset="0"/>
              </a:rPr>
              <a:t> Think for a moment about the fierce reactions that can be produced in the United States when someone takes God's name in vain, burns the American flag, or calls someone's mother an obscene word. Countries and religious causes have sent young men and women to war. And, frequently, politicians have attempted to win elections by urging voters to recognize the importance of God, country, and family.</a:t>
            </a:r>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0" y="880427"/>
            <a:ext cx="9645650" cy="830997"/>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sym typeface="+mn-ea"/>
              </a:rPr>
              <a:t>3.1.4 Deep Structure Institutions Supply Much of a Person's Identity</a:t>
            </a:r>
          </a:p>
          <a:p>
            <a:r>
              <a:rPr lang="en-US" altLang="zh-CN" sz="2400" b="1" dirty="0">
                <a:latin typeface="Times New Roman" panose="02020603050405020304" pitchFamily="18" charset="0"/>
                <a:cs typeface="Times New Roman" panose="02020603050405020304" pitchFamily="18" charset="0"/>
                <a:sym typeface="+mn-ea"/>
              </a:rPr>
              <a:t>                                                                                     </a:t>
            </a:r>
            <a:r>
              <a:rPr lang="en-US" altLang="zh-CN" sz="2400" b="1" dirty="0">
                <a:highlight>
                  <a:srgbClr val="FFFF00"/>
                </a:highlight>
                <a:latin typeface="Times New Roman" panose="02020603050405020304" pitchFamily="18" charset="0"/>
                <a:cs typeface="Times New Roman" panose="02020603050405020304" pitchFamily="18" charset="0"/>
                <a:sym typeface="+mn-ea"/>
              </a:rPr>
              <a:t>P82</a:t>
            </a:r>
            <a:endParaRPr lang="en-US" altLang="zh-CN" sz="2400" b="1" dirty="0">
              <a:highlight>
                <a:srgbClr val="FFFF00"/>
              </a:highlight>
              <a:latin typeface="Times New Roman" panose="02020603050405020304" pitchFamily="18" charset="0"/>
              <a:cs typeface="Times New Roman" panose="02020603050405020304" pitchFamily="18" charset="0"/>
            </a:endParaRPr>
          </a:p>
        </p:txBody>
      </p:sp>
      <p:sp>
        <p:nvSpPr>
          <p:cNvPr id="4" name="文本框 3"/>
          <p:cNvSpPr txBox="1"/>
          <p:nvPr/>
        </p:nvSpPr>
        <p:spPr>
          <a:xfrm>
            <a:off x="323263" y="2233620"/>
            <a:ext cx="8357870" cy="44012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One of the most important responsibilities of any culture is to </a:t>
            </a:r>
            <a:r>
              <a:rPr lang="en-US" altLang="zh-CN" sz="2800" dirty="0">
                <a:solidFill>
                  <a:srgbClr val="FF0000"/>
                </a:solidFill>
                <a:latin typeface="Times New Roman" panose="02020603050405020304" pitchFamily="18" charset="0"/>
                <a:cs typeface="Times New Roman" panose="02020603050405020304" pitchFamily="18" charset="0"/>
              </a:rPr>
              <a:t>assist its members in forming their identities</a:t>
            </a:r>
            <a:r>
              <a:rPr lang="en-US" altLang="zh-CN" sz="2800" dirty="0">
                <a:latin typeface="Times New Roman" panose="02020603050405020304" pitchFamily="18" charset="0"/>
                <a:cs typeface="Times New Roman" panose="02020603050405020304" pitchFamily="18" charset="0"/>
              </a:rPr>
              <a:t>. Put in slightly different terms, </a:t>
            </a:r>
            <a:r>
              <a:rPr lang="en-US" altLang="zh-CN" sz="2800" dirty="0">
                <a:solidFill>
                  <a:srgbClr val="FF0000"/>
                </a:solidFill>
                <a:latin typeface="Times New Roman" panose="02020603050405020304" pitchFamily="18" charset="0"/>
                <a:cs typeface="Times New Roman" panose="02020603050405020304" pitchFamily="18" charset="0"/>
              </a:rPr>
              <a:t>you are not born with an identity</a:t>
            </a:r>
            <a:r>
              <a:rPr lang="en-US" altLang="zh-CN" sz="2800" dirty="0">
                <a:latin typeface="Times New Roman" panose="02020603050405020304" pitchFamily="18" charset="0"/>
                <a:cs typeface="Times New Roman" panose="02020603050405020304" pitchFamily="18" charset="0"/>
              </a:rPr>
              <a:t>, but through countless interactions, you discover who you are, how you fit in, and where you find security. As mentioned elsewhere, the family is most instrumental </a:t>
            </a:r>
            <a:r>
              <a:rPr lang="en-US" altLang="zh-CN" sz="2800" dirty="0">
                <a:solidFill>
                  <a:srgbClr val="FF0000"/>
                </a:solidFill>
                <a:latin typeface="Times New Roman" panose="02020603050405020304" pitchFamily="18" charset="0"/>
                <a:cs typeface="Times New Roman" panose="02020603050405020304" pitchFamily="18" charset="0"/>
              </a:rPr>
              <a:t>in the early stages of the socialization process </a:t>
            </a:r>
            <a:r>
              <a:rPr lang="en-US" altLang="zh-CN" sz="2800" dirty="0">
                <a:latin typeface="Times New Roman" panose="02020603050405020304" pitchFamily="18" charset="0"/>
                <a:cs typeface="Times New Roman" panose="02020603050405020304" pitchFamily="18" charset="0"/>
              </a:rPr>
              <a:t>that establishes a child's personal identity. However, once you encounter other people, you begin to develop a variety of identities. (“I”— “we”)</a:t>
            </a: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327771" y="776455"/>
            <a:ext cx="4307050"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 Family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P84</a:t>
            </a:r>
            <a:r>
              <a:rPr lang="en-US" altLang="zh-CN" sz="40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393065" y="2420888"/>
            <a:ext cx="8357870" cy="415417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The family not only supplies the child's </a:t>
            </a:r>
            <a:r>
              <a:rPr lang="en-US" altLang="zh-CN" sz="2400" dirty="0">
                <a:solidFill>
                  <a:srgbClr val="FF0000"/>
                </a:solidFill>
                <a:latin typeface="Times New Roman" panose="02020603050405020304" pitchFamily="18" charset="0"/>
                <a:cs typeface="Times New Roman" panose="02020603050405020304" pitchFamily="18" charset="0"/>
              </a:rPr>
              <a:t>basic physical needs</a:t>
            </a:r>
            <a:r>
              <a:rPr lang="en-US" altLang="zh-CN" sz="2400" dirty="0">
                <a:latin typeface="Times New Roman" panose="02020603050405020304" pitchFamily="18" charset="0"/>
                <a:cs typeface="Times New Roman" panose="02020603050405020304" pitchFamily="18" charset="0"/>
              </a:rPr>
              <a:t>, but also functions as </a:t>
            </a:r>
            <a:r>
              <a:rPr lang="en-US" altLang="zh-CN" sz="2400" dirty="0">
                <a:solidFill>
                  <a:srgbClr val="FF0000"/>
                </a:solidFill>
                <a:latin typeface="Times New Roman" panose="02020603050405020304" pitchFamily="18" charset="0"/>
                <a:cs typeface="Times New Roman" panose="02020603050405020304" pitchFamily="18" charset="0"/>
              </a:rPr>
              <a:t>the first “carrier” of the essential information </a:t>
            </a:r>
            <a:r>
              <a:rPr lang="en-US" altLang="zh-CN" sz="2400" dirty="0">
                <a:latin typeface="Times New Roman" panose="02020603050405020304" pitchFamily="18" charset="0"/>
                <a:cs typeface="Times New Roman" panose="02020603050405020304" pitchFamily="18" charset="0"/>
              </a:rPr>
              <a:t>that the child needs to know as a member of the culture. </a:t>
            </a:r>
            <a:r>
              <a:rPr lang="en-US" altLang="zh-CN" sz="2400" dirty="0">
                <a:solidFill>
                  <a:srgbClr val="FF0000"/>
                </a:solidFill>
                <a:latin typeface="Times New Roman" panose="02020603050405020304" pitchFamily="18" charset="0"/>
                <a:cs typeface="Times New Roman" panose="02020603050405020304" pitchFamily="18" charset="0"/>
              </a:rPr>
              <a:t>This means</a:t>
            </a:r>
            <a:r>
              <a:rPr lang="en-US" altLang="zh-CN" sz="2400" dirty="0">
                <a:latin typeface="Times New Roman" panose="02020603050405020304" pitchFamily="18" charset="0"/>
                <a:cs typeface="Times New Roman" panose="02020603050405020304" pitchFamily="18" charset="0"/>
              </a:rPr>
              <a:t> that the family must teach the historical background of the family and the culture, manners and correct behavior, cultural and individual identity, traditions, and language. </a:t>
            </a:r>
            <a:r>
              <a:rPr lang="en-US" altLang="zh-CN" sz="2400" dirty="0">
                <a:solidFill>
                  <a:srgbClr val="FF0000"/>
                </a:solidFill>
                <a:latin typeface="Times New Roman" panose="02020603050405020304" pitchFamily="18" charset="0"/>
                <a:cs typeface="Times New Roman" panose="02020603050405020304" pitchFamily="18" charset="0"/>
              </a:rPr>
              <a:t>In short</a:t>
            </a:r>
            <a:r>
              <a:rPr lang="en-US" altLang="zh-CN" sz="2400" dirty="0">
                <a:latin typeface="Times New Roman" panose="02020603050405020304" pitchFamily="18" charset="0"/>
                <a:cs typeface="Times New Roman" panose="02020603050405020304" pitchFamily="18" charset="0"/>
              </a:rPr>
              <a:t>, the family is asked to transform a biological organism into a human being who must spend the rest of his or her life around other human beings. It is the family that greets you once you leave the comfort of the womb. In this sense, the family is the first and chief socializing agent.</a:t>
            </a:r>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167228" y="719420"/>
            <a:ext cx="4146506"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 Family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P82</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
        <p:nvSpPr>
          <p:cNvPr id="4" name="文本框 3"/>
          <p:cNvSpPr txBox="1"/>
          <p:nvPr/>
        </p:nvSpPr>
        <p:spPr>
          <a:xfrm>
            <a:off x="393065" y="2271395"/>
            <a:ext cx="835787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As the earliest community to which a person is attached and the first authority under which a person learns to live, the family has a series of </a:t>
            </a:r>
            <a:r>
              <a:rPr lang="en-US" altLang="zh-CN" sz="2400" dirty="0">
                <a:solidFill>
                  <a:srgbClr val="FF0000"/>
                </a:solidFill>
                <a:latin typeface="Times New Roman" panose="02020603050405020304" pitchFamily="18" charset="0"/>
                <a:cs typeface="Times New Roman" panose="02020603050405020304" pitchFamily="18" charset="0"/>
              </a:rPr>
              <a:t>responsibilities</a:t>
            </a:r>
            <a:r>
              <a:rPr lang="en-US" altLang="zh-CN" sz="2400" dirty="0">
                <a:latin typeface="Times New Roman" panose="02020603050405020304" pitchFamily="18" charset="0"/>
                <a:cs typeface="Times New Roman" panose="02020603050405020304" pitchFamily="18" charset="0"/>
              </a:rPr>
              <a:t> that directly relate to perception and communication:</a:t>
            </a:r>
          </a:p>
          <a:p>
            <a:pPr marL="342900" indent="-342900" algn="just">
              <a:buFont typeface="Arial" panose="020B0604020202020204" pitchFamily="34" charset="0"/>
              <a:buChar char="•"/>
            </a:pPr>
            <a:r>
              <a:rPr lang="en-US" altLang="zh-CN" sz="2400" dirty="0">
                <a:solidFill>
                  <a:srgbClr val="FF0000"/>
                </a:solidFill>
                <a:latin typeface="Times New Roman" panose="02020603050405020304" pitchFamily="18" charset="0"/>
                <a:cs typeface="Times New Roman" panose="02020603050405020304" pitchFamily="18" charset="0"/>
              </a:rPr>
              <a:t>First</a:t>
            </a:r>
            <a:r>
              <a:rPr lang="en-US" altLang="zh-CN" sz="2400" dirty="0">
                <a:latin typeface="Times New Roman" panose="02020603050405020304" pitchFamily="18" charset="0"/>
                <a:cs typeface="Times New Roman" panose="02020603050405020304" pitchFamily="18" charset="0"/>
              </a:rPr>
              <a:t>, while a culture's core values and worldview derive from its predominant religious and cultural history, the family is </a:t>
            </a:r>
            <a:r>
              <a:rPr lang="en-US" altLang="zh-CN" sz="2400" dirty="0">
                <a:solidFill>
                  <a:srgbClr val="FF0000"/>
                </a:solidFill>
                <a:latin typeface="Times New Roman" panose="02020603050405020304" pitchFamily="18" charset="0"/>
                <a:cs typeface="Times New Roman" panose="02020603050405020304" pitchFamily="18" charset="0"/>
              </a:rPr>
              <a:t>the first and primary caretaker </a:t>
            </a:r>
            <a:r>
              <a:rPr lang="en-US" altLang="zh-CN" sz="2400" dirty="0">
                <a:latin typeface="Times New Roman" panose="02020603050405020304" pitchFamily="18" charset="0"/>
                <a:cs typeface="Times New Roman" panose="02020603050405020304" pitchFamily="18" charset="0"/>
              </a:rPr>
              <a:t>of these views and values.</a:t>
            </a:r>
          </a:p>
          <a:p>
            <a:pPr marL="342900" indent="-342900" algn="just">
              <a:buFont typeface="Arial" panose="020B0604020202020204" pitchFamily="34" charset="0"/>
              <a:buChar char="•"/>
            </a:pPr>
            <a:r>
              <a:rPr lang="en-US" altLang="zh-CN" sz="2400" dirty="0">
                <a:solidFill>
                  <a:srgbClr val="FF0000"/>
                </a:solidFill>
                <a:latin typeface="Times New Roman" panose="02020603050405020304" pitchFamily="18" charset="0"/>
                <a:cs typeface="Times New Roman" panose="02020603050405020304" pitchFamily="18" charset="0"/>
              </a:rPr>
              <a:t>Second</a:t>
            </a:r>
            <a:r>
              <a:rPr lang="en-US" altLang="zh-CN" sz="2400" dirty="0">
                <a:latin typeface="Times New Roman" panose="02020603050405020304" pitchFamily="18" charset="0"/>
                <a:cs typeface="Times New Roman" panose="02020603050405020304" pitchFamily="18" charset="0"/>
              </a:rPr>
              <a:t>, families are important because they </a:t>
            </a:r>
            <a:r>
              <a:rPr lang="en-US" altLang="zh-CN" sz="2400" dirty="0">
                <a:solidFill>
                  <a:srgbClr val="FF0000"/>
                </a:solidFill>
                <a:latin typeface="Times New Roman" panose="02020603050405020304" pitchFamily="18" charset="0"/>
                <a:cs typeface="Times New Roman" panose="02020603050405020304" pitchFamily="18" charset="0"/>
              </a:rPr>
              <a:t>supply</a:t>
            </a:r>
            <a:r>
              <a:rPr lang="en-US" altLang="zh-CN" sz="2400" dirty="0">
                <a:latin typeface="Times New Roman" panose="02020603050405020304" pitchFamily="18" charset="0"/>
                <a:cs typeface="Times New Roman" panose="02020603050405020304" pitchFamily="18" charset="0"/>
              </a:rPr>
              <a:t> all of us with </a:t>
            </a:r>
            <a:r>
              <a:rPr lang="en-US" altLang="zh-CN" sz="2400" dirty="0">
                <a:solidFill>
                  <a:srgbClr val="FF0000"/>
                </a:solidFill>
                <a:latin typeface="Times New Roman" panose="02020603050405020304" pitchFamily="18" charset="0"/>
                <a:cs typeface="Times New Roman" panose="02020603050405020304" pitchFamily="18" charset="0"/>
              </a:rPr>
              <a:t>a sense of our identity</a:t>
            </a:r>
            <a:r>
              <a:rPr lang="en-US" altLang="zh-CN"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altLang="zh-CN" sz="2400" dirty="0">
                <a:solidFill>
                  <a:srgbClr val="FF0000"/>
                </a:solidFill>
                <a:latin typeface="Times New Roman" panose="02020603050405020304" pitchFamily="18" charset="0"/>
                <a:cs typeface="Times New Roman" panose="02020603050405020304" pitchFamily="18" charset="0"/>
              </a:rPr>
              <a:t>Third</a:t>
            </a:r>
            <a:r>
              <a:rPr lang="en-US" altLang="zh-CN" sz="2400" dirty="0">
                <a:latin typeface="Times New Roman" panose="02020603050405020304" pitchFamily="18" charset="0"/>
                <a:cs typeface="Times New Roman" panose="02020603050405020304" pitchFamily="18" charset="0"/>
              </a:rPr>
              <a:t>, families are important from a communication perspective, as they </a:t>
            </a:r>
            <a:r>
              <a:rPr lang="en-US" altLang="zh-CN" sz="2400" dirty="0">
                <a:solidFill>
                  <a:srgbClr val="FF0000"/>
                </a:solidFill>
                <a:latin typeface="Times New Roman" panose="02020603050405020304" pitchFamily="18" charset="0"/>
                <a:cs typeface="Times New Roman" panose="02020603050405020304" pitchFamily="18" charset="0"/>
              </a:rPr>
              <a:t>provide a setting for the development of an individual's self-concept</a:t>
            </a:r>
            <a:r>
              <a:rPr lang="en-US" altLang="zh-CN" sz="2400" dirty="0">
                <a:latin typeface="Times New Roman" panose="02020603050405020304" pitchFamily="18" charset="0"/>
                <a:cs typeface="Times New Roman" panose="02020603050405020304" pitchFamily="18" charset="0"/>
              </a:rPr>
              <a:t>.</a:t>
            </a:r>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234950" y="755514"/>
            <a:ext cx="268097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 Family</a:t>
            </a:r>
            <a:r>
              <a:rPr lang="en-US" altLang="zh-CN" sz="4000" b="1" dirty="0">
                <a:latin typeface="Times New Roman" panose="02020603050405020304" pitchFamily="18" charset="0"/>
                <a:cs typeface="Times New Roman" panose="02020603050405020304" pitchFamily="18" charset="0"/>
              </a:rPr>
              <a:t> </a:t>
            </a:r>
          </a:p>
        </p:txBody>
      </p:sp>
      <p:sp>
        <p:nvSpPr>
          <p:cNvPr id="2" name="文本框 1"/>
          <p:cNvSpPr txBox="1"/>
          <p:nvPr/>
        </p:nvSpPr>
        <p:spPr>
          <a:xfrm>
            <a:off x="234950" y="2420888"/>
            <a:ext cx="8816975" cy="3969385"/>
          </a:xfrm>
          <a:prstGeom prst="rect">
            <a:avLst/>
          </a:prstGeom>
          <a:noFill/>
        </p:spPr>
        <p:txBody>
          <a:bodyPr wrap="square" rtlCol="0">
            <a:spAutoFit/>
          </a:bodyPr>
          <a:lstStyle/>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Definition of Family</a:t>
            </a:r>
          </a:p>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Forms of Family</a:t>
            </a:r>
          </a:p>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Globalization and Families</a:t>
            </a:r>
          </a:p>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Functions of the Family</a:t>
            </a:r>
          </a:p>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Cultural Variants in Family Interaction</a:t>
            </a:r>
          </a:p>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The Elderly</a:t>
            </a:r>
          </a:p>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Social Skills</a:t>
            </a:r>
          </a:p>
          <a:p>
            <a:pPr marL="285750" indent="-28575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Developing Communication Competence Through the Family</a:t>
            </a:r>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89535" y="744079"/>
            <a:ext cx="7183784"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3.2.1 Definition of Family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P85</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
        <p:nvSpPr>
          <p:cNvPr id="4" name="文本框 3"/>
          <p:cNvSpPr txBox="1"/>
          <p:nvPr/>
        </p:nvSpPr>
        <p:spPr>
          <a:xfrm>
            <a:off x="393065" y="2508250"/>
            <a:ext cx="8357870" cy="193802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 single definition of family is difficult to construct, since what constitutes a family, especially in the United States, can take a variety of configurations.</a:t>
            </a:r>
          </a:p>
          <a:p>
            <a:pPr algn="just"/>
            <a:r>
              <a:rPr lang="en-US" altLang="zh-CN" sz="2400" dirty="0">
                <a:latin typeface="Times New Roman" panose="02020603050405020304" pitchFamily="18" charset="0"/>
                <a:cs typeface="Times New Roman" panose="02020603050405020304" pitchFamily="18" charset="0"/>
              </a:rPr>
              <a:t>    A definition advanced by </a:t>
            </a:r>
            <a:r>
              <a:rPr lang="en-US" altLang="zh-CN" sz="2400" b="1" dirty="0" err="1">
                <a:latin typeface="Times New Roman" panose="02020603050405020304" pitchFamily="18" charset="0"/>
                <a:cs typeface="Times New Roman" panose="02020603050405020304" pitchFamily="18" charset="0"/>
              </a:rPr>
              <a:t>Lamanna</a:t>
            </a:r>
            <a:r>
              <a:rPr lang="en-US" altLang="zh-CN" sz="2400" b="1" dirty="0">
                <a:latin typeface="Times New Roman" panose="02020603050405020304" pitchFamily="18" charset="0"/>
                <a:cs typeface="Times New Roman" panose="02020603050405020304" pitchFamily="18" charset="0"/>
              </a:rPr>
              <a:t> and </a:t>
            </a:r>
            <a:r>
              <a:rPr lang="en-US" altLang="zh-CN" sz="2400" b="1" dirty="0" err="1">
                <a:latin typeface="Times New Roman" panose="02020603050405020304" pitchFamily="18" charset="0"/>
                <a:cs typeface="Times New Roman" panose="02020603050405020304" pitchFamily="18" charset="0"/>
              </a:rPr>
              <a:t>Riedmann</a:t>
            </a:r>
            <a:r>
              <a:rPr lang="en-US" altLang="zh-CN" sz="2400" dirty="0">
                <a:latin typeface="Times New Roman" panose="02020603050405020304" pitchFamily="18" charset="0"/>
                <a:cs typeface="Times New Roman" panose="02020603050405020304" pitchFamily="18" charset="0"/>
              </a:rPr>
              <a:t> is acceptable:</a:t>
            </a:r>
          </a:p>
        </p:txBody>
      </p:sp>
      <p:sp>
        <p:nvSpPr>
          <p:cNvPr id="2" name="文本框 1"/>
          <p:cNvSpPr txBox="1"/>
          <p:nvPr/>
        </p:nvSpPr>
        <p:spPr>
          <a:xfrm>
            <a:off x="89535" y="4516492"/>
            <a:ext cx="8970645" cy="175323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 family is any sexually expressive or parent-child or other kin relationship in which people——usually related by ancestry, marriage, or adoption——</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form an economic unit and care for any young;</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consider their identity to be significantly attached to the group;</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commit to maintaining that group over time.</a:t>
            </a:r>
            <a:r>
              <a:rPr lang="en-US" altLang="zh-CN" sz="2400" dirty="0">
                <a:latin typeface="Times New Roman" panose="02020603050405020304" pitchFamily="18" charset="0"/>
                <a:cs typeface="Times New Roman" panose="02020603050405020304" pitchFamily="18" charset="0"/>
              </a:rPr>
              <a:t> </a:t>
            </a:r>
          </a:p>
        </p:txBody>
      </p:sp>
      <p:sp>
        <p:nvSpPr>
          <p:cNvPr id="7" name="星形: 五角 6">
            <a:extLst>
              <a:ext uri="{FF2B5EF4-FFF2-40B4-BE49-F238E27FC236}">
                <a16:creationId xmlns:a16="http://schemas.microsoft.com/office/drawing/2014/main" id="{51CB2549-30B3-49DD-AFA5-3C201923EA52}"/>
              </a:ext>
            </a:extLst>
          </p:cNvPr>
          <p:cNvSpPr/>
          <p:nvPr/>
        </p:nvSpPr>
        <p:spPr>
          <a:xfrm>
            <a:off x="6714907" y="786840"/>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145376" y="767362"/>
            <a:ext cx="6897598"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3.2.2 Forms of Family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P85</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
        <p:nvSpPr>
          <p:cNvPr id="4" name="文本框 3"/>
          <p:cNvSpPr txBox="1"/>
          <p:nvPr/>
        </p:nvSpPr>
        <p:spPr>
          <a:xfrm>
            <a:off x="393065" y="2281555"/>
            <a:ext cx="8357870" cy="489267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The form and type of the family manifest the cultural and historical beliefs of each culture. Most people encounter </a:t>
            </a:r>
            <a:r>
              <a:rPr lang="en-US" altLang="zh-CN" sz="2400" dirty="0">
                <a:solidFill>
                  <a:srgbClr val="FF0000"/>
                </a:solidFill>
                <a:latin typeface="Times New Roman" panose="02020603050405020304" pitchFamily="18" charset="0"/>
                <a:cs typeface="Times New Roman" panose="02020603050405020304" pitchFamily="18" charset="0"/>
              </a:rPr>
              <a:t>two families</a:t>
            </a:r>
            <a:r>
              <a:rPr lang="en-US" altLang="zh-CN" sz="2400" dirty="0">
                <a:latin typeface="Times New Roman" panose="02020603050405020304" pitchFamily="18" charset="0"/>
                <a:cs typeface="Times New Roman" panose="02020603050405020304" pitchFamily="18" charset="0"/>
              </a:rPr>
              <a:t> during the course of their lives:</a:t>
            </a:r>
          </a:p>
          <a:p>
            <a:pPr marL="342900" indent="-342900" algn="just">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the family they are born into (the family of orientation)</a:t>
            </a:r>
          </a:p>
          <a:p>
            <a:pPr marL="342900" indent="-342900" algn="just">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the family that is formed when and if they take a mate.</a:t>
            </a:r>
          </a:p>
          <a:p>
            <a:pPr algn="just">
              <a:buFont typeface="Arial" panose="020B0604020202020204" pitchFamily="34" charset="0"/>
            </a:pPr>
            <a:r>
              <a:rPr lang="en-US" altLang="zh-CN" sz="2400" dirty="0">
                <a:latin typeface="Times New Roman" panose="02020603050405020304" pitchFamily="18" charset="0"/>
                <a:cs typeface="Times New Roman" panose="02020603050405020304" pitchFamily="18" charset="0"/>
              </a:rPr>
              <a:t>    Once a person becomes part of either one of these families, he or she also finds him- or herself a member of a </a:t>
            </a:r>
            <a:r>
              <a:rPr lang="en-US" altLang="zh-CN" sz="2400" i="1" dirty="0">
                <a:latin typeface="Times New Roman" panose="02020603050405020304" pitchFamily="18" charset="0"/>
                <a:cs typeface="Times New Roman" panose="02020603050405020304" pitchFamily="18" charset="0"/>
              </a:rPr>
              <a:t>nuclear</a:t>
            </a:r>
            <a:r>
              <a:rPr lang="en-US" altLang="zh-CN" sz="2400" dirty="0">
                <a:latin typeface="Times New Roman" panose="02020603050405020304" pitchFamily="18" charset="0"/>
                <a:cs typeface="Times New Roman" panose="02020603050405020304" pitchFamily="18" charset="0"/>
              </a:rPr>
              <a:t> or </a:t>
            </a:r>
            <a:r>
              <a:rPr lang="en-US" altLang="zh-CN" sz="2400" i="1" dirty="0">
                <a:latin typeface="Times New Roman" panose="02020603050405020304" pitchFamily="18" charset="0"/>
                <a:cs typeface="Times New Roman" panose="02020603050405020304" pitchFamily="18" charset="0"/>
              </a:rPr>
              <a:t>extended</a:t>
            </a:r>
            <a:r>
              <a:rPr lang="en-US" altLang="zh-CN" sz="2400" dirty="0">
                <a:latin typeface="Times New Roman" panose="02020603050405020304" pitchFamily="18" charset="0"/>
                <a:cs typeface="Times New Roman" panose="02020603050405020304" pitchFamily="18" charset="0"/>
              </a:rPr>
              <a:t> family. </a:t>
            </a:r>
          </a:p>
          <a:p>
            <a:pPr marL="342900" indent="-342900" algn="just">
              <a:buFont typeface="Arial" panose="020B0604020202020204" pitchFamily="34" charset="0"/>
              <a:buChar char="•"/>
            </a:pPr>
            <a:r>
              <a:rPr lang="en-US" altLang="zh-CN" sz="2400" b="1" dirty="0">
                <a:latin typeface="Times New Roman" panose="02020603050405020304" pitchFamily="18" charset="0"/>
                <a:cs typeface="Times New Roman" panose="02020603050405020304" pitchFamily="18" charset="0"/>
              </a:rPr>
              <a:t>A </a:t>
            </a:r>
            <a:r>
              <a:rPr lang="en-US" altLang="zh-CN" sz="2400" b="1" i="1" dirty="0">
                <a:solidFill>
                  <a:srgbClr val="FF0000"/>
                </a:solidFill>
                <a:latin typeface="Times New Roman" panose="02020603050405020304" pitchFamily="18" charset="0"/>
                <a:cs typeface="Times New Roman" panose="02020603050405020304" pitchFamily="18" charset="0"/>
              </a:rPr>
              <a:t>nuclear</a:t>
            </a:r>
            <a:r>
              <a:rPr lang="en-US" altLang="zh-CN" sz="2400" b="1" dirty="0">
                <a:latin typeface="Times New Roman" panose="02020603050405020304" pitchFamily="18" charset="0"/>
                <a:cs typeface="Times New Roman" panose="02020603050405020304" pitchFamily="18" charset="0"/>
              </a:rPr>
              <a:t> family</a:t>
            </a:r>
            <a:r>
              <a:rPr lang="en-US" altLang="zh-CN" sz="2400" dirty="0">
                <a:latin typeface="Times New Roman" panose="02020603050405020304" pitchFamily="18" charset="0"/>
                <a:cs typeface="Times New Roman" panose="02020603050405020304" pitchFamily="18" charset="0"/>
              </a:rPr>
              <a:t>: a parent or parents and a child or children as one unit</a:t>
            </a:r>
          </a:p>
          <a:p>
            <a:pPr marL="342900" indent="-342900" algn="just">
              <a:buFont typeface="Arial" panose="020B0604020202020204" pitchFamily="34" charset="0"/>
              <a:buChar char="•"/>
            </a:pPr>
            <a:r>
              <a:rPr lang="en-US" altLang="zh-CN" sz="2400" b="1" dirty="0">
                <a:latin typeface="Times New Roman" panose="02020603050405020304" pitchFamily="18" charset="0"/>
                <a:cs typeface="Times New Roman" panose="02020603050405020304" pitchFamily="18" charset="0"/>
              </a:rPr>
              <a:t>An </a:t>
            </a:r>
            <a:r>
              <a:rPr lang="en-US" altLang="zh-CN" sz="2400" b="1" i="1" dirty="0">
                <a:solidFill>
                  <a:srgbClr val="FF0000"/>
                </a:solidFill>
                <a:latin typeface="Times New Roman" panose="02020603050405020304" pitchFamily="18" charset="0"/>
                <a:cs typeface="Times New Roman" panose="02020603050405020304" pitchFamily="18" charset="0"/>
              </a:rPr>
              <a:t>extended</a:t>
            </a:r>
            <a:r>
              <a:rPr lang="en-US" altLang="zh-CN" sz="2400" b="1" dirty="0">
                <a:latin typeface="Times New Roman" panose="02020603050405020304" pitchFamily="18" charset="0"/>
                <a:cs typeface="Times New Roman" panose="02020603050405020304" pitchFamily="18" charset="0"/>
              </a:rPr>
              <a:t> family</a:t>
            </a:r>
            <a:r>
              <a:rPr lang="en-US" altLang="zh-CN" sz="2400" dirty="0">
                <a:latin typeface="Times New Roman" panose="02020603050405020304" pitchFamily="18" charset="0"/>
                <a:cs typeface="Times New Roman" panose="02020603050405020304" pitchFamily="18" charset="0"/>
              </a:rPr>
              <a:t>: typically includes grandparents and relatives</a:t>
            </a:r>
          </a:p>
          <a:p>
            <a:pPr algn="just">
              <a:buFont typeface="Arial" panose="020B0604020202020204" pitchFamily="34" charset="0"/>
            </a:pPr>
            <a:endParaRPr lang="en-US" altLang="zh-CN" sz="2400" dirty="0">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103495" y="799920"/>
            <a:ext cx="6904578"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3.2.2.1 Nuclear Families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P86</a:t>
            </a:r>
            <a:r>
              <a:rPr lang="en-US" altLang="zh-CN" sz="40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393065" y="2553335"/>
            <a:ext cx="8357870" cy="3539430"/>
          </a:xfrm>
          <a:prstGeom prst="rect">
            <a:avLst/>
          </a:prstGeom>
          <a:noFill/>
        </p:spPr>
        <p:txBody>
          <a:bodyPr wrap="square" rtlCol="0">
            <a:spAutoFit/>
          </a:bodyPr>
          <a:lstStyle/>
          <a:p>
            <a:pPr algn="just"/>
            <a:r>
              <a:rPr lang="en-US" altLang="zh-CN" sz="2800" dirty="0">
                <a:latin typeface="Times New Roman" panose="02020603050405020304" pitchFamily="18" charset="0"/>
                <a:cs typeface="Times New Roman" panose="02020603050405020304" pitchFamily="18" charset="0"/>
              </a:rPr>
              <a:t>    Nuclear families, usually referred to as “</a:t>
            </a:r>
            <a:r>
              <a:rPr lang="en-US" altLang="zh-CN" sz="2800" i="1" dirty="0">
                <a:latin typeface="Times New Roman" panose="02020603050405020304" pitchFamily="18" charset="0"/>
                <a:cs typeface="Times New Roman" panose="02020603050405020304" pitchFamily="18" charset="0"/>
              </a:rPr>
              <a:t>two-generation families</a:t>
            </a:r>
            <a:r>
              <a:rPr lang="en-US" altLang="zh-CN" sz="2800" dirty="0">
                <a:latin typeface="Times New Roman" panose="02020603050405020304" pitchFamily="18" charset="0"/>
                <a:cs typeface="Times New Roman" panose="02020603050405020304" pitchFamily="18" charset="0"/>
              </a:rPr>
              <a:t>,” make up the pattern </a:t>
            </a:r>
            <a:r>
              <a:rPr lang="en-US" altLang="zh-CN" sz="2800" dirty="0">
                <a:solidFill>
                  <a:srgbClr val="FF0000"/>
                </a:solidFill>
                <a:latin typeface="Times New Roman" panose="02020603050405020304" pitchFamily="18" charset="0"/>
                <a:cs typeface="Times New Roman" panose="02020603050405020304" pitchFamily="18" charset="0"/>
              </a:rPr>
              <a:t>found</a:t>
            </a:r>
            <a:r>
              <a:rPr lang="en-US" altLang="zh-CN" sz="2800" dirty="0">
                <a:latin typeface="Times New Roman" panose="02020603050405020304" pitchFamily="18" charset="0"/>
                <a:cs typeface="Times New Roman" panose="02020603050405020304" pitchFamily="18" charset="0"/>
              </a:rPr>
              <a:t> in </a:t>
            </a:r>
            <a:r>
              <a:rPr lang="en-US" altLang="zh-CN" sz="2800" dirty="0">
                <a:solidFill>
                  <a:srgbClr val="FF0000"/>
                </a:solidFill>
                <a:latin typeface="Times New Roman" panose="02020603050405020304" pitchFamily="18" charset="0"/>
                <a:cs typeface="Times New Roman" panose="02020603050405020304" pitchFamily="18" charset="0"/>
              </a:rPr>
              <a:t>most</a:t>
            </a:r>
            <a:r>
              <a:rPr lang="en-US" altLang="zh-CN" sz="2800" dirty="0">
                <a:latin typeface="Times New Roman" panose="02020603050405020304" pitchFamily="18" charset="0"/>
                <a:cs typeface="Times New Roman" panose="02020603050405020304" pitchFamily="18" charset="0"/>
              </a:rPr>
              <a:t> of the United States and in many other Western cultures. The nuclear family is made up of </a:t>
            </a:r>
            <a:r>
              <a:rPr lang="en-US" altLang="zh-CN" sz="2800" dirty="0">
                <a:solidFill>
                  <a:srgbClr val="FF0000"/>
                </a:solidFill>
                <a:latin typeface="Times New Roman" panose="02020603050405020304" pitchFamily="18" charset="0"/>
                <a:cs typeface="Times New Roman" panose="02020603050405020304" pitchFamily="18" charset="0"/>
              </a:rPr>
              <a:t>two generations</a:t>
            </a:r>
            <a:r>
              <a:rPr lang="en-US" altLang="zh-CN" sz="2800" dirty="0">
                <a:latin typeface="Times New Roman" panose="02020603050405020304" pitchFamily="18" charset="0"/>
                <a:cs typeface="Times New Roman" panose="02020603050405020304" pitchFamily="18" charset="0"/>
              </a:rPr>
              <a:t>: the parents and their unmarried children. Each member of a nuclear family has a series of </a:t>
            </a:r>
            <a:r>
              <a:rPr lang="en-US" altLang="zh-CN" sz="2800" dirty="0">
                <a:solidFill>
                  <a:srgbClr val="FF0000"/>
                </a:solidFill>
                <a:latin typeface="Times New Roman" panose="02020603050405020304" pitchFamily="18" charset="0"/>
                <a:cs typeface="Times New Roman" panose="02020603050405020304" pitchFamily="18" charset="0"/>
              </a:rPr>
              <a:t>evolving relationships </a:t>
            </a:r>
            <a:r>
              <a:rPr lang="en-US" altLang="zh-CN" sz="2800" dirty="0">
                <a:latin typeface="Times New Roman" panose="02020603050405020304" pitchFamily="18" charset="0"/>
                <a:cs typeface="Times New Roman" panose="02020603050405020304" pitchFamily="18" charset="0"/>
              </a:rPr>
              <a:t>with every other member: husband and wife, parents and children, and children with each other.</a:t>
            </a:r>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215176" y="792940"/>
            <a:ext cx="6443889"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3.2.2.1 Nuclear Families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P86</a:t>
            </a:r>
            <a:r>
              <a:rPr lang="en-US" altLang="zh-CN" sz="40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393065" y="2345690"/>
            <a:ext cx="8357870" cy="4401205"/>
          </a:xfrm>
          <a:prstGeom prst="rect">
            <a:avLst/>
          </a:prstGeom>
          <a:noFill/>
        </p:spPr>
        <p:txBody>
          <a:bodyPr wrap="square" rtlCol="0">
            <a:spAutoFit/>
          </a:bodyPr>
          <a:lstStyle/>
          <a:p>
            <a:pPr algn="just"/>
            <a:r>
              <a:rPr lang="en-US" altLang="zh-CN" sz="2800" dirty="0">
                <a:latin typeface="Times New Roman" panose="02020603050405020304" pitchFamily="18" charset="0"/>
                <a:cs typeface="Times New Roman" panose="02020603050405020304" pitchFamily="18" charset="0"/>
              </a:rPr>
              <a:t>    The nuclear family, like all deep structure institutions, </a:t>
            </a:r>
            <a:r>
              <a:rPr lang="en-US" altLang="zh-CN" sz="2800" dirty="0">
                <a:solidFill>
                  <a:srgbClr val="FF0000"/>
                </a:solidFill>
                <a:latin typeface="Times New Roman" panose="02020603050405020304" pitchFamily="18" charset="0"/>
                <a:cs typeface="Times New Roman" panose="02020603050405020304" pitchFamily="18" charset="0"/>
              </a:rPr>
              <a:t>manifests</a:t>
            </a:r>
            <a:r>
              <a:rPr lang="en-US" altLang="zh-CN" sz="2800" dirty="0">
                <a:latin typeface="Times New Roman" panose="02020603050405020304" pitchFamily="18" charset="0"/>
                <a:cs typeface="Times New Roman" panose="02020603050405020304" pitchFamily="18" charset="0"/>
              </a:rPr>
              <a:t> many of the </a:t>
            </a:r>
            <a:r>
              <a:rPr lang="en-US" altLang="zh-CN" sz="2800" dirty="0">
                <a:solidFill>
                  <a:srgbClr val="FF0000"/>
                </a:solidFill>
                <a:latin typeface="Times New Roman" panose="02020603050405020304" pitchFamily="18" charset="0"/>
                <a:cs typeface="Times New Roman" panose="02020603050405020304" pitchFamily="18" charset="0"/>
              </a:rPr>
              <a:t>values</a:t>
            </a:r>
            <a:r>
              <a:rPr lang="en-US" altLang="zh-CN" sz="2800" dirty="0">
                <a:latin typeface="Times New Roman" panose="02020603050405020304" pitchFamily="18" charset="0"/>
                <a:cs typeface="Times New Roman" panose="02020603050405020304" pitchFamily="18" charset="0"/>
              </a:rPr>
              <a:t> of the culture that stresses this family pattern.</a:t>
            </a:r>
          </a:p>
          <a:p>
            <a:pPr algn="just"/>
            <a:r>
              <a:rPr lang="en-US" altLang="zh-CN" sz="2800" dirty="0">
                <a:latin typeface="Times New Roman" panose="02020603050405020304" pitchFamily="18" charset="0"/>
                <a:cs typeface="Times New Roman" panose="02020603050405020304" pitchFamily="18" charset="0"/>
              </a:rPr>
              <a:t>    Cultural values of the nuclear family are also reflected in </a:t>
            </a:r>
            <a:r>
              <a:rPr lang="en-US" altLang="zh-CN" sz="2800" dirty="0">
                <a:solidFill>
                  <a:srgbClr val="FF0000"/>
                </a:solidFill>
                <a:latin typeface="Times New Roman" panose="02020603050405020304" pitchFamily="18" charset="0"/>
                <a:cs typeface="Times New Roman" panose="02020603050405020304" pitchFamily="18" charset="0"/>
              </a:rPr>
              <a:t>child-rearing practices</a:t>
            </a:r>
            <a:r>
              <a:rPr lang="en-US" altLang="zh-CN" sz="2800" dirty="0">
                <a:latin typeface="Times New Roman" panose="02020603050405020304" pitchFamily="18" charset="0"/>
                <a:cs typeface="Times New Roman" panose="02020603050405020304" pitchFamily="18" charset="0"/>
              </a:rPr>
              <a:t>.</a:t>
            </a:r>
          </a:p>
          <a:p>
            <a:pPr algn="just"/>
            <a:r>
              <a:rPr lang="en-US" altLang="zh-CN" sz="2800" dirty="0">
                <a:latin typeface="Times New Roman" panose="02020603050405020304" pitchFamily="18" charset="0"/>
                <a:cs typeface="Times New Roman" panose="02020603050405020304" pitchFamily="18" charset="0"/>
              </a:rPr>
              <a:t>    American cultural values toward and treatment of the </a:t>
            </a:r>
            <a:r>
              <a:rPr lang="en-US" altLang="zh-CN" sz="2800" dirty="0">
                <a:solidFill>
                  <a:srgbClr val="FF0000"/>
                </a:solidFill>
                <a:latin typeface="Times New Roman" panose="02020603050405020304" pitchFamily="18" charset="0"/>
                <a:cs typeface="Times New Roman" panose="02020603050405020304" pitchFamily="18" charset="0"/>
              </a:rPr>
              <a:t>elderly</a:t>
            </a:r>
            <a:r>
              <a:rPr lang="en-US" altLang="zh-CN" sz="2800" dirty="0">
                <a:latin typeface="Times New Roman" panose="02020603050405020304" pitchFamily="18" charset="0"/>
                <a:cs typeface="Times New Roman" panose="02020603050405020304" pitchFamily="18" charset="0"/>
              </a:rPr>
              <a:t> are likewise replicated in nuclear families. In these families older members of the family do not normally spend their “senior” years living with their children.</a:t>
            </a: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82555" y="805413"/>
            <a:ext cx="6799876"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3.2.2.2 Extended Families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P86</a:t>
            </a:r>
            <a:r>
              <a:rPr lang="en-US" altLang="zh-CN" sz="40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393065" y="2334895"/>
            <a:ext cx="835787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There are twice as many extended families as there are nuclear families. </a:t>
            </a:r>
            <a:r>
              <a:rPr lang="en-US" altLang="zh-CN" sz="2400" dirty="0">
                <a:solidFill>
                  <a:srgbClr val="FF0000"/>
                </a:solidFill>
                <a:latin typeface="Times New Roman" panose="02020603050405020304" pitchFamily="18" charset="0"/>
                <a:cs typeface="Times New Roman" panose="02020603050405020304" pitchFamily="18" charset="0"/>
              </a:rPr>
              <a:t>Extended families include </a:t>
            </a:r>
            <a:r>
              <a:rPr lang="en-US" altLang="zh-CN" sz="2400" i="1" dirty="0">
                <a:latin typeface="Times New Roman" panose="02020603050405020304" pitchFamily="18" charset="0"/>
                <a:cs typeface="Times New Roman" panose="02020603050405020304" pitchFamily="18" charset="0"/>
              </a:rPr>
              <a:t>other relations and generations</a:t>
            </a:r>
            <a:r>
              <a:rPr lang="en-US" altLang="zh-CN" sz="2400" dirty="0">
                <a:latin typeface="Times New Roman" panose="02020603050405020304" pitchFamily="18" charset="0"/>
                <a:cs typeface="Times New Roman" panose="02020603050405020304" pitchFamily="18" charset="0"/>
              </a:rPr>
              <a:t> in addition to the nuclear family, so that along with married parents and their offspring, there might be the parents' parents, siblings of the spouses and children, and in-laws. All members of the extended family </a:t>
            </a:r>
            <a:r>
              <a:rPr lang="en-US" altLang="zh-CN" sz="2400" dirty="0">
                <a:solidFill>
                  <a:srgbClr val="FF0000"/>
                </a:solidFill>
                <a:latin typeface="Times New Roman" panose="02020603050405020304" pitchFamily="18" charset="0"/>
                <a:cs typeface="Times New Roman" panose="02020603050405020304" pitchFamily="18" charset="0"/>
              </a:rPr>
              <a:t>live in one house or in homes close to one another, forming one cooperative unit</a:t>
            </a:r>
            <a:r>
              <a:rPr lang="en-US" altLang="zh-CN" sz="2400" dirty="0">
                <a:latin typeface="Times New Roman" panose="02020603050405020304" pitchFamily="18" charset="0"/>
                <a:cs typeface="Times New Roman" panose="02020603050405020304" pitchFamily="18" charset="0"/>
              </a:rPr>
              <a:t>.</a:t>
            </a:r>
          </a:p>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Historically</a:t>
            </a:r>
            <a:r>
              <a:rPr lang="en-US" altLang="zh-CN" sz="2400" dirty="0">
                <a:latin typeface="Times New Roman" panose="02020603050405020304" pitchFamily="18" charset="0"/>
                <a:cs typeface="Times New Roman" panose="02020603050405020304" pitchFamily="18" charset="0"/>
              </a:rPr>
              <a:t>, the cooperative units within the extended family have gathered </a:t>
            </a:r>
            <a:r>
              <a:rPr lang="en-US" altLang="zh-CN" sz="2400" dirty="0">
                <a:solidFill>
                  <a:srgbClr val="FF0000"/>
                </a:solidFill>
                <a:latin typeface="Times New Roman" panose="02020603050405020304" pitchFamily="18" charset="0"/>
                <a:cs typeface="Times New Roman" panose="02020603050405020304" pitchFamily="18" charset="0"/>
              </a:rPr>
              <a:t>for economic reasons </a:t>
            </a:r>
            <a:r>
              <a:rPr lang="en-US" altLang="zh-CN" sz="2400" dirty="0">
                <a:latin typeface="Times New Roman" panose="02020603050405020304" pitchFamily="18" charset="0"/>
                <a:cs typeface="Times New Roman" panose="02020603050405020304" pitchFamily="18" charset="0"/>
              </a:rPr>
              <a:t>and to share the workload and rearing of children. In an extended family, a set of behaviors and values may be acted out that differ from those found in nuclear families. </a:t>
            </a:r>
          </a:p>
        </p:txBody>
      </p:sp>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54635" y="745490"/>
            <a:ext cx="8230806"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3.2.3 Globalization and Families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P87</a:t>
            </a:r>
            <a:r>
              <a:rPr lang="en-US" altLang="zh-CN" sz="40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393065" y="2420888"/>
            <a:ext cx="8357870" cy="4031873"/>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3200" dirty="0">
                <a:solidFill>
                  <a:srgbClr val="FF0000"/>
                </a:solidFill>
                <a:latin typeface="Times New Roman" panose="02020603050405020304" pitchFamily="18" charset="0"/>
                <a:cs typeface="Times New Roman" panose="02020603050405020304" pitchFamily="18" charset="0"/>
              </a:rPr>
              <a:t>Globalization has redefined families </a:t>
            </a:r>
            <a:r>
              <a:rPr lang="en-US" altLang="zh-CN" sz="3200" dirty="0">
                <a:latin typeface="Times New Roman" panose="02020603050405020304" pitchFamily="18" charset="0"/>
                <a:cs typeface="Times New Roman" panose="02020603050405020304" pitchFamily="18" charset="0"/>
              </a:rPr>
              <a:t>throughout the world. The velocity of social change around the globe in the 21st century is shaping the family as an institution in revolutionary ways. In every society </a:t>
            </a:r>
            <a:r>
              <a:rPr lang="en-US" altLang="zh-CN" sz="3200" dirty="0">
                <a:solidFill>
                  <a:srgbClr val="FF0000"/>
                </a:solidFill>
                <a:latin typeface="Times New Roman" panose="02020603050405020304" pitchFamily="18" charset="0"/>
                <a:cs typeface="Times New Roman" panose="02020603050405020304" pitchFamily="18" charset="0"/>
              </a:rPr>
              <a:t>traditional notions </a:t>
            </a:r>
            <a:r>
              <a:rPr lang="en-US" altLang="zh-CN" sz="3200" dirty="0">
                <a:latin typeface="Times New Roman" panose="02020603050405020304" pitchFamily="18" charset="0"/>
                <a:cs typeface="Times New Roman" panose="02020603050405020304" pitchFamily="18" charset="0"/>
              </a:rPr>
              <a:t>about family life, work, identity and the relationships of individuals and groups to one another </a:t>
            </a:r>
            <a:r>
              <a:rPr lang="en-US" altLang="zh-CN" sz="3200" dirty="0">
                <a:solidFill>
                  <a:srgbClr val="FF0000"/>
                </a:solidFill>
                <a:latin typeface="Times New Roman" panose="02020603050405020304" pitchFamily="18" charset="0"/>
                <a:cs typeface="Times New Roman" panose="02020603050405020304" pitchFamily="18" charset="0"/>
              </a:rPr>
              <a:t>are being transformed </a:t>
            </a:r>
            <a:r>
              <a:rPr lang="en-US" altLang="zh-CN" sz="3200" dirty="0">
                <a:latin typeface="Times New Roman" panose="02020603050405020304" pitchFamily="18" charset="0"/>
                <a:cs typeface="Times New Roman" panose="02020603050405020304" pitchFamily="18" charset="0"/>
              </a:rPr>
              <a:t>due to globalizing forces.</a:t>
            </a:r>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124436" y="718289"/>
            <a:ext cx="8530954"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3.2.3 Globalization and Families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P87</a:t>
            </a:r>
            <a:r>
              <a:rPr lang="en-US" altLang="zh-CN" sz="40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241300" y="2234565"/>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The most obvious impact </a:t>
            </a:r>
            <a:r>
              <a:rPr lang="en-US" altLang="zh-CN" sz="2400" dirty="0">
                <a:latin typeface="Times New Roman" panose="02020603050405020304" pitchFamily="18" charset="0"/>
                <a:cs typeface="Times New Roman" panose="02020603050405020304" pitchFamily="18" charset="0"/>
              </a:rPr>
              <a:t>of globalization is that it has created a world where millions of workers now leave their families and move from one country to another to seek jobs and higher wages. Many of these people </a:t>
            </a:r>
            <a:r>
              <a:rPr lang="en-US" altLang="zh-CN" sz="2400" dirty="0">
                <a:solidFill>
                  <a:srgbClr val="FF0000"/>
                </a:solidFill>
                <a:latin typeface="Times New Roman" panose="02020603050405020304" pitchFamily="18" charset="0"/>
                <a:cs typeface="Times New Roman" panose="02020603050405020304" pitchFamily="18" charset="0"/>
              </a:rPr>
              <a:t>migrate</a:t>
            </a:r>
            <a:r>
              <a:rPr lang="en-US" altLang="zh-CN" sz="2400" dirty="0">
                <a:latin typeface="Times New Roman" panose="02020603050405020304" pitchFamily="18" charset="0"/>
                <a:cs typeface="Times New Roman" panose="02020603050405020304" pitchFamily="18" charset="0"/>
              </a:rPr>
              <a:t> as a way to escape poverty. However, when they “escape,” they often transform the makeup and character of their family, as </a:t>
            </a:r>
            <a:r>
              <a:rPr lang="en-US" altLang="zh-CN" sz="2400" dirty="0">
                <a:solidFill>
                  <a:srgbClr val="FF0000"/>
                </a:solidFill>
                <a:latin typeface="Times New Roman" panose="02020603050405020304" pitchFamily="18" charset="0"/>
                <a:cs typeface="Times New Roman" panose="02020603050405020304" pitchFamily="18" charset="0"/>
              </a:rPr>
              <a:t>migration places “significant stress </a:t>
            </a:r>
            <a:r>
              <a:rPr lang="en-US" altLang="zh-CN" sz="2400" dirty="0">
                <a:latin typeface="Times New Roman" panose="02020603050405020304" pitchFamily="18" charset="0"/>
                <a:cs typeface="Times New Roman" panose="02020603050405020304" pitchFamily="18" charset="0"/>
              </a:rPr>
              <a:t>on relationships among parents, children, elders, and other family members.” </a:t>
            </a:r>
          </a:p>
          <a:p>
            <a:pPr algn="just"/>
            <a:r>
              <a:rPr lang="en-US" altLang="zh-CN" sz="2400" dirty="0">
                <a:latin typeface="Times New Roman" panose="02020603050405020304" pitchFamily="18" charset="0"/>
                <a:cs typeface="Times New Roman" panose="02020603050405020304" pitchFamily="18" charset="0"/>
              </a:rPr>
              <a:t>    The stress of  breaking up the family can take </a:t>
            </a:r>
            <a:r>
              <a:rPr lang="en-US" altLang="zh-CN" sz="2400" dirty="0">
                <a:solidFill>
                  <a:srgbClr val="FF0000"/>
                </a:solidFill>
                <a:latin typeface="Times New Roman" panose="02020603050405020304" pitchFamily="18" charset="0"/>
                <a:cs typeface="Times New Roman" panose="02020603050405020304" pitchFamily="18" charset="0"/>
              </a:rPr>
              <a:t>a variety of forms</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There is </a:t>
            </a:r>
            <a:r>
              <a:rPr lang="en-US" altLang="zh-CN" sz="2400" dirty="0">
                <a:latin typeface="Times New Roman" panose="02020603050405020304" pitchFamily="18" charset="0"/>
                <a:cs typeface="Times New Roman" panose="02020603050405020304" pitchFamily="18" charset="0"/>
              </a:rPr>
              <a:t>an impact on the social lives of both the migrants who move to a new culture and the families they leave behind. There are also countless occasions when parents who are illegal are sent home, and the children often remain in the new country without their parents.</a:t>
            </a: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0" y="709179"/>
            <a:ext cx="762508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3.2.4 Functions of the Family</a:t>
            </a:r>
            <a:r>
              <a:rPr lang="en-US" altLang="zh-CN" sz="4000" b="1" dirty="0">
                <a:latin typeface="Times New Roman" panose="02020603050405020304" pitchFamily="18" charset="0"/>
                <a:cs typeface="Times New Roman" panose="02020603050405020304" pitchFamily="18" charset="0"/>
              </a:rPr>
              <a:t> </a:t>
            </a:r>
          </a:p>
        </p:txBody>
      </p:sp>
      <p:sp>
        <p:nvSpPr>
          <p:cNvPr id="2" name="文本框 1"/>
          <p:cNvSpPr txBox="1"/>
          <p:nvPr/>
        </p:nvSpPr>
        <p:spPr>
          <a:xfrm>
            <a:off x="234950" y="2649855"/>
            <a:ext cx="8816975" cy="2554545"/>
          </a:xfrm>
          <a:prstGeom prst="rect">
            <a:avLst/>
          </a:prstGeom>
          <a:noFill/>
        </p:spPr>
        <p:txBody>
          <a:bodyPr wrap="square" rtlCol="0">
            <a:spAutoFit/>
          </a:bodyPr>
          <a:lstStyle/>
          <a:p>
            <a:pPr marL="285750" indent="-285750">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Reproductive function</a:t>
            </a:r>
          </a:p>
          <a:p>
            <a:pPr marL="285750" indent="-285750">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Economic function</a:t>
            </a:r>
          </a:p>
          <a:p>
            <a:pPr marL="285750" indent="-285750">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Socialization function</a:t>
            </a:r>
          </a:p>
          <a:p>
            <a:pPr marL="285750" indent="-285750">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Language acquisition function</a:t>
            </a:r>
          </a:p>
          <a:p>
            <a:pPr marL="285750" indent="-285750">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Identity function</a:t>
            </a:r>
          </a:p>
        </p:txBody>
      </p:sp>
      <p:sp>
        <p:nvSpPr>
          <p:cNvPr id="4" name="星形: 五角 3">
            <a:extLst>
              <a:ext uri="{FF2B5EF4-FFF2-40B4-BE49-F238E27FC236}">
                <a16:creationId xmlns:a16="http://schemas.microsoft.com/office/drawing/2014/main" id="{D42E9785-300E-4922-83E0-BAF5613488F4}"/>
              </a:ext>
            </a:extLst>
          </p:cNvPr>
          <p:cNvSpPr/>
          <p:nvPr/>
        </p:nvSpPr>
        <p:spPr>
          <a:xfrm>
            <a:off x="6714907" y="786840"/>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147320" y="668055"/>
            <a:ext cx="8012478"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3.2.4.1 Reproductive Function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P88</a:t>
            </a:r>
            <a:r>
              <a:rPr lang="en-US" altLang="zh-CN" sz="40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241300" y="2345690"/>
            <a:ext cx="8661400" cy="4031873"/>
          </a:xfrm>
          <a:prstGeom prst="rect">
            <a:avLst/>
          </a:prstGeom>
          <a:noFill/>
        </p:spPr>
        <p:txBody>
          <a:bodyPr wrap="square" rtlCol="0">
            <a:spAutoFit/>
          </a:bodyPr>
          <a:lstStyle/>
          <a:p>
            <a:pPr algn="just"/>
            <a:r>
              <a:rPr lang="en-US" altLang="zh-CN" sz="3200" dirty="0">
                <a:latin typeface="Times New Roman" panose="02020603050405020304" pitchFamily="18" charset="0"/>
                <a:cs typeface="Times New Roman" panose="02020603050405020304" pitchFamily="18" charset="0"/>
              </a:rPr>
              <a:t>   The most important function of the family in any culture is reproduction. The family makes continuation of the culture possible by producing (or adopting) children to replace the older members of the culture as they pass on. </a:t>
            </a:r>
            <a:r>
              <a:rPr lang="en-US" altLang="zh-CN" sz="3200" dirty="0">
                <a:solidFill>
                  <a:srgbClr val="FF0000"/>
                </a:solidFill>
                <a:latin typeface="Times New Roman" panose="02020603050405020304" pitchFamily="18" charset="0"/>
                <a:cs typeface="Times New Roman" panose="02020603050405020304" pitchFamily="18" charset="0"/>
              </a:rPr>
              <a:t>This essential function allows a culture to perpetuate itself. </a:t>
            </a:r>
            <a:r>
              <a:rPr lang="en-US" altLang="zh-CN" sz="3200" dirty="0">
                <a:latin typeface="Times New Roman" panose="02020603050405020304" pitchFamily="18" charset="0"/>
                <a:cs typeface="Times New Roman" panose="02020603050405020304" pitchFamily="18" charset="0"/>
              </a:rPr>
              <a:t>Without the infusion of new life, the culture would soon disappear.</a:t>
            </a:r>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147320" y="743253"/>
            <a:ext cx="762508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3.2.4.2 Economic Function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P89</a:t>
            </a:r>
            <a:r>
              <a:rPr lang="en-US" altLang="zh-CN" sz="40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241300" y="2345690"/>
            <a:ext cx="8661400" cy="4031873"/>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rPr>
              <a:t>The second function of families is </a:t>
            </a:r>
            <a:r>
              <a:rPr lang="en-US" altLang="zh-CN" sz="3200" dirty="0">
                <a:solidFill>
                  <a:srgbClr val="FF0000"/>
                </a:solidFill>
                <a:latin typeface="Times New Roman" panose="02020603050405020304" pitchFamily="18" charset="0"/>
                <a:cs typeface="Times New Roman" panose="02020603050405020304" pitchFamily="18" charset="0"/>
              </a:rPr>
              <a:t>to supply children with the necessities of life</a:t>
            </a:r>
            <a:r>
              <a:rPr lang="en-US" altLang="zh-CN" sz="3200" dirty="0">
                <a:latin typeface="Times New Roman" panose="02020603050405020304" pitchFamily="18" charset="0"/>
                <a:cs typeface="Times New Roman" panose="02020603050405020304" pitchFamily="18" charset="0"/>
              </a:rPr>
              <a:t> (food, clothing, shelter). In subtle and manifest ways, the family teaches </a:t>
            </a:r>
            <a:r>
              <a:rPr lang="en-US" altLang="zh-CN" sz="3200" dirty="0">
                <a:solidFill>
                  <a:srgbClr val="FF0000"/>
                </a:solidFill>
                <a:latin typeface="Times New Roman" panose="02020603050405020304" pitchFamily="18" charset="0"/>
                <a:cs typeface="Times New Roman" panose="02020603050405020304" pitchFamily="18" charset="0"/>
              </a:rPr>
              <a:t>economic sharing and responsibility</a:t>
            </a:r>
            <a:r>
              <a:rPr lang="en-US" altLang="zh-CN" sz="3200" dirty="0">
                <a:latin typeface="Times New Roman" panose="02020603050405020304" pitchFamily="18" charset="0"/>
                <a:cs typeface="Times New Roman" panose="02020603050405020304" pitchFamily="18" charset="0"/>
              </a:rPr>
              <a:t>. Although the methods for generating goods and services and even the means of distribution vary from culture to culture, the family consumes food and other necessities as a social unit.</a:t>
            </a: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147320" y="785960"/>
            <a:ext cx="762508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3.2.4.3 Socialization Function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P89</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
        <p:nvSpPr>
          <p:cNvPr id="4" name="文本框 3"/>
          <p:cNvSpPr txBox="1"/>
          <p:nvPr/>
        </p:nvSpPr>
        <p:spPr>
          <a:xfrm>
            <a:off x="241300" y="2508991"/>
            <a:ext cx="8661400" cy="378460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Teaching children how to fit into their particular culture is one of the family's most important tasks. Part of a family's socialization process is </a:t>
            </a:r>
            <a:r>
              <a:rPr lang="en-US" altLang="zh-CN" sz="2400" dirty="0">
                <a:solidFill>
                  <a:srgbClr val="FF0000"/>
                </a:solidFill>
                <a:latin typeface="Times New Roman" panose="02020603050405020304" pitchFamily="18" charset="0"/>
                <a:cs typeface="Times New Roman" panose="02020603050405020304" pitchFamily="18" charset="0"/>
              </a:rPr>
              <a:t>teaching the culture's core values, beliefs, ways of behaving, and worldview. </a:t>
            </a:r>
            <a:r>
              <a:rPr lang="en-US" altLang="zh-CN" sz="2400" dirty="0">
                <a:latin typeface="Times New Roman" panose="02020603050405020304" pitchFamily="18" charset="0"/>
                <a:cs typeface="Times New Roman" panose="02020603050405020304" pitchFamily="18" charset="0"/>
              </a:rPr>
              <a:t>This means that parents teach their children behaviors that are appropriate, expected, moral, or polite. Not only are norms and values passed along by families to children, but families also </a:t>
            </a:r>
            <a:r>
              <a:rPr lang="en-US" altLang="zh-CN" sz="2400" dirty="0">
                <a:solidFill>
                  <a:srgbClr val="FF0000"/>
                </a:solidFill>
                <a:latin typeface="Times New Roman" panose="02020603050405020304" pitchFamily="18" charset="0"/>
                <a:cs typeface="Times New Roman" panose="02020603050405020304" pitchFamily="18" charset="0"/>
              </a:rPr>
              <a:t>give them their initial exposure to questions of faith</a:t>
            </a:r>
            <a:r>
              <a:rPr lang="en-US" altLang="zh-CN" sz="2400" dirty="0">
                <a:latin typeface="Times New Roman" panose="02020603050405020304" pitchFamily="18" charset="0"/>
                <a:cs typeface="Times New Roman" panose="02020603050405020304" pitchFamily="18" charset="0"/>
              </a:rPr>
              <a:t>. </a:t>
            </a:r>
          </a:p>
          <a:p>
            <a:pPr algn="just"/>
            <a:r>
              <a:rPr lang="en-US" altLang="zh-CN" sz="2400" dirty="0">
                <a:latin typeface="Times New Roman" panose="02020603050405020304" pitchFamily="18" charset="0"/>
                <a:cs typeface="Times New Roman" panose="02020603050405020304" pitchFamily="18" charset="0"/>
              </a:rPr>
              <a:t>    In short, the family provides the environment within which </a:t>
            </a:r>
            <a:r>
              <a:rPr lang="en-US" altLang="zh-CN" sz="2400" dirty="0">
                <a:solidFill>
                  <a:srgbClr val="FF0000"/>
                </a:solidFill>
                <a:latin typeface="Times New Roman" panose="02020603050405020304" pitchFamily="18" charset="0"/>
                <a:cs typeface="Times New Roman" panose="02020603050405020304" pitchFamily="18" charset="0"/>
              </a:rPr>
              <a:t>human values and morals</a:t>
            </a:r>
            <a:r>
              <a:rPr lang="en-US" altLang="zh-CN" sz="2400" dirty="0">
                <a:latin typeface="Times New Roman" panose="02020603050405020304" pitchFamily="18" charset="0"/>
                <a:cs typeface="Times New Roman" panose="02020603050405020304" pitchFamily="18" charset="0"/>
              </a:rPr>
              <a:t> develop and grow in the new generations; these values and morals cannot exist apart from the family unit.</a:t>
            </a:r>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83818" y="734363"/>
            <a:ext cx="8661401" cy="1323439"/>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3.2.4.4 Language Acquisition Function                   </a:t>
            </a:r>
            <a:r>
              <a:rPr lang="en-US" altLang="zh-CN" sz="4000" b="1" dirty="0">
                <a:highlight>
                  <a:srgbClr val="FFFF00"/>
                </a:highlight>
                <a:latin typeface="Times New Roman" panose="02020603050405020304" pitchFamily="18" charset="0"/>
                <a:cs typeface="Times New Roman" panose="02020603050405020304" pitchFamily="18" charset="0"/>
                <a:sym typeface="+mn-ea"/>
              </a:rPr>
              <a:t>P89</a:t>
            </a:r>
            <a:r>
              <a:rPr lang="en-US" altLang="zh-CN" sz="4000" b="1" dirty="0">
                <a:latin typeface="Times New Roman" panose="02020603050405020304" pitchFamily="18" charset="0"/>
                <a:cs typeface="Times New Roman" panose="02020603050405020304" pitchFamily="18" charset="0"/>
              </a:rPr>
              <a:t> </a:t>
            </a:r>
          </a:p>
        </p:txBody>
      </p:sp>
      <p:sp>
        <p:nvSpPr>
          <p:cNvPr id="5" name="文本框 4"/>
          <p:cNvSpPr txBox="1"/>
          <p:nvPr/>
        </p:nvSpPr>
        <p:spPr>
          <a:xfrm>
            <a:off x="241300" y="2420888"/>
            <a:ext cx="8661400" cy="4031873"/>
          </a:xfrm>
          <a:prstGeom prst="rect">
            <a:avLst/>
          </a:prstGeom>
          <a:noFill/>
        </p:spPr>
        <p:txBody>
          <a:bodyPr wrap="square" rtlCol="0">
            <a:spAutoFit/>
          </a:bodyPr>
          <a:lstStyle/>
          <a:p>
            <a:pPr algn="just"/>
            <a:r>
              <a:rPr lang="en-US" altLang="zh-CN" sz="3200" dirty="0">
                <a:latin typeface="Times New Roman" panose="02020603050405020304" pitchFamily="18" charset="0"/>
                <a:cs typeface="Times New Roman" panose="02020603050405020304" pitchFamily="18" charset="0"/>
              </a:rPr>
              <a:t>   The family is the place where children learn the language of the culture they are born into. The process of learning words, what they mean, and how to use them </a:t>
            </a:r>
            <a:r>
              <a:rPr lang="en-US" altLang="zh-CN" sz="3200" dirty="0">
                <a:solidFill>
                  <a:srgbClr val="FF0000"/>
                </a:solidFill>
                <a:latin typeface="Times New Roman" panose="02020603050405020304" pitchFamily="18" charset="0"/>
                <a:cs typeface="Times New Roman" panose="02020603050405020304" pitchFamily="18" charset="0"/>
              </a:rPr>
              <a:t>begins at birth and has its origins in the family</a:t>
            </a:r>
            <a:r>
              <a:rPr lang="en-US" altLang="zh-CN" sz="3200" dirty="0">
                <a:latin typeface="Times New Roman" panose="02020603050405020304" pitchFamily="18" charset="0"/>
                <a:cs typeface="Times New Roman" panose="02020603050405020304" pitchFamily="18" charset="0"/>
              </a:rPr>
              <a:t>. From how voices sound (learning dialects) to the objects those voices are referring to (the meaning of “mama” and “dada”) make family the main “teacher.”</a:t>
            </a: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61614" y="812165"/>
            <a:ext cx="8745220"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3.2.4.5 Identity Function </a:t>
            </a:r>
            <a:r>
              <a:rPr lang="en-US" altLang="zh-CN" sz="4000" b="1" dirty="0">
                <a:highlight>
                  <a:srgbClr val="FFFF00"/>
                </a:highlight>
                <a:latin typeface="Times New Roman" panose="02020603050405020304" pitchFamily="18" charset="0"/>
                <a:cs typeface="Times New Roman" panose="02020603050405020304" pitchFamily="18" charset="0"/>
                <a:sym typeface="+mn-ea"/>
              </a:rPr>
              <a:t>P90</a:t>
            </a:r>
            <a:r>
              <a:rPr lang="en-US" altLang="zh-CN" sz="4000" b="1" dirty="0">
                <a:latin typeface="Times New Roman" panose="02020603050405020304" pitchFamily="18" charset="0"/>
                <a:cs typeface="Times New Roman" panose="02020603050405020304" pitchFamily="18" charset="0"/>
              </a:rPr>
              <a:t> </a:t>
            </a:r>
          </a:p>
        </p:txBody>
      </p:sp>
      <p:sp>
        <p:nvSpPr>
          <p:cNvPr id="5" name="文本框 4"/>
          <p:cNvSpPr txBox="1"/>
          <p:nvPr/>
        </p:nvSpPr>
        <p:spPr>
          <a:xfrm>
            <a:off x="241300" y="2420888"/>
            <a:ext cx="8661400" cy="3970318"/>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The family is </a:t>
            </a:r>
            <a:r>
              <a:rPr lang="en-US" altLang="zh-CN" sz="2800" dirty="0">
                <a:latin typeface="Times New Roman" panose="02020603050405020304" pitchFamily="18" charset="0"/>
                <a:cs typeface="Times New Roman" panose="02020603050405020304" pitchFamily="18" charset="0"/>
              </a:rPr>
              <a:t>perhaps the most important of all identities, as it is </a:t>
            </a:r>
            <a:r>
              <a:rPr lang="en-US" altLang="zh-CN" sz="2800" dirty="0">
                <a:solidFill>
                  <a:srgbClr val="FF0000"/>
                </a:solidFill>
                <a:latin typeface="Times New Roman" panose="02020603050405020304" pitchFamily="18" charset="0"/>
                <a:cs typeface="Times New Roman" panose="02020603050405020304" pitchFamily="18" charset="0"/>
              </a:rPr>
              <a:t>a precursor to other identities</a:t>
            </a:r>
            <a:r>
              <a:rPr lang="en-US" altLang="zh-CN" sz="2800" dirty="0">
                <a:latin typeface="Times New Roman" panose="02020603050405020304" pitchFamily="18" charset="0"/>
                <a:cs typeface="Times New Roman" panose="02020603050405020304" pitchFamily="18" charset="0"/>
              </a:rPr>
              <a:t>. Family is not only the basic unit of a society but also provides individuals with their most essential social identity. The family accomplishes this by </a:t>
            </a:r>
            <a:r>
              <a:rPr lang="en-US" altLang="zh-CN" sz="2800" dirty="0">
                <a:solidFill>
                  <a:srgbClr val="FF0000"/>
                </a:solidFill>
                <a:latin typeface="Times New Roman" panose="02020603050405020304" pitchFamily="18" charset="0"/>
                <a:cs typeface="Times New Roman" panose="02020603050405020304" pitchFamily="18" charset="0"/>
              </a:rPr>
              <a:t>giving children knowledge about </a:t>
            </a:r>
            <a:r>
              <a:rPr lang="en-US" altLang="zh-CN" sz="2800" dirty="0">
                <a:latin typeface="Times New Roman" panose="02020603050405020304" pitchFamily="18" charset="0"/>
                <a:cs typeface="Times New Roman" panose="02020603050405020304" pitchFamily="18" charset="0"/>
              </a:rPr>
              <a:t>their historical backgrounds, </a:t>
            </a:r>
            <a:r>
              <a:rPr lang="en-US" altLang="zh-CN" sz="2800" dirty="0">
                <a:solidFill>
                  <a:srgbClr val="FF0000"/>
                </a:solidFill>
                <a:latin typeface="Times New Roman" panose="02020603050405020304" pitchFamily="18" charset="0"/>
                <a:cs typeface="Times New Roman" panose="02020603050405020304" pitchFamily="18" charset="0"/>
              </a:rPr>
              <a:t>information regarding </a:t>
            </a:r>
            <a:r>
              <a:rPr lang="en-US" altLang="zh-CN" sz="2800" dirty="0">
                <a:latin typeface="Times New Roman" panose="02020603050405020304" pitchFamily="18" charset="0"/>
                <a:cs typeface="Times New Roman" panose="02020603050405020304" pitchFamily="18" charset="0"/>
              </a:rPr>
              <a:t>the permanent nature of their culture, and specific behaviors, customs, traditions, and language associated with their ethnic or cultural group.</a:t>
            </a:r>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89535" y="795958"/>
            <a:ext cx="9464675" cy="1754326"/>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3.2.5 Cultural Variants in Family Interaction </a:t>
            </a:r>
            <a:r>
              <a:rPr lang="en-US" altLang="zh-CN" sz="3600" b="1" dirty="0">
                <a:highlight>
                  <a:srgbClr val="FFFF00"/>
                </a:highlight>
                <a:latin typeface="Times New Roman" panose="02020603050405020304" pitchFamily="18" charset="0"/>
                <a:cs typeface="Times New Roman" panose="02020603050405020304" pitchFamily="18" charset="0"/>
                <a:sym typeface="+mn-ea"/>
              </a:rPr>
              <a:t>P90</a:t>
            </a:r>
          </a:p>
          <a:p>
            <a:r>
              <a:rPr lang="en-US" altLang="zh-CN" sz="3600" b="1" dirty="0">
                <a:latin typeface="Times New Roman" panose="02020603050405020304" pitchFamily="18" charset="0"/>
                <a:cs typeface="Times New Roman" panose="02020603050405020304" pitchFamily="18" charset="0"/>
              </a:rPr>
              <a:t> </a:t>
            </a:r>
          </a:p>
        </p:txBody>
      </p:sp>
      <p:sp>
        <p:nvSpPr>
          <p:cNvPr id="5" name="文本框 4"/>
          <p:cNvSpPr txBox="1"/>
          <p:nvPr/>
        </p:nvSpPr>
        <p:spPr>
          <a:xfrm>
            <a:off x="241300" y="2409850"/>
            <a:ext cx="8661400" cy="353943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Before beginning this section on the role of family in cultural interaction patterns, </a:t>
            </a:r>
            <a:r>
              <a:rPr lang="en-US" altLang="zh-CN" sz="2800" dirty="0">
                <a:solidFill>
                  <a:srgbClr val="FF0000"/>
                </a:solidFill>
                <a:latin typeface="Times New Roman" panose="02020603050405020304" pitchFamily="18" charset="0"/>
                <a:cs typeface="Times New Roman" panose="02020603050405020304" pitchFamily="18" charset="0"/>
              </a:rPr>
              <a:t>two disclaimers </a:t>
            </a:r>
            <a:r>
              <a:rPr lang="en-US" altLang="zh-CN" sz="2800" dirty="0">
                <a:latin typeface="Times New Roman" panose="02020603050405020304" pitchFamily="18" charset="0"/>
                <a:cs typeface="Times New Roman" panose="02020603050405020304" pitchFamily="18" charset="0"/>
              </a:rPr>
              <a:t>are in order.</a:t>
            </a:r>
          </a:p>
          <a:p>
            <a:pPr marL="342900" indent="-342900" algn="just">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All of the major institutions of a culture are </a:t>
            </a:r>
            <a:r>
              <a:rPr lang="en-US" altLang="zh-CN" sz="2800" dirty="0">
                <a:solidFill>
                  <a:srgbClr val="FF0000"/>
                </a:solidFill>
                <a:latin typeface="Times New Roman" panose="02020603050405020304" pitchFamily="18" charset="0"/>
                <a:cs typeface="Times New Roman" panose="02020603050405020304" pitchFamily="18" charset="0"/>
              </a:rPr>
              <a:t>linked</a:t>
            </a:r>
            <a:r>
              <a:rPr lang="en-US" altLang="zh-CN" sz="2800" dirty="0">
                <a:latin typeface="Times New Roman" panose="02020603050405020304" pitchFamily="18" charset="0"/>
                <a:cs typeface="Times New Roman" panose="02020603050405020304" pitchFamily="18" charset="0"/>
              </a:rPr>
              <a:t>. This means the family works in conjunction with other aspects of a culture.</a:t>
            </a:r>
          </a:p>
          <a:p>
            <a:pPr marL="342900" indent="-342900" algn="just">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Families within a culture may also display a range of differences.</a:t>
            </a:r>
          </a:p>
          <a:p>
            <a:pPr algn="just">
              <a:buFont typeface="Arial" panose="020B0604020202020204" pitchFamily="34" charset="0"/>
            </a:pPr>
            <a:r>
              <a:rPr lang="en-US" altLang="zh-CN" sz="2800" dirty="0">
                <a:latin typeface="Times New Roman" panose="02020603050405020304" pitchFamily="18" charset="0"/>
                <a:cs typeface="Times New Roman" panose="02020603050405020304" pitchFamily="18" charset="0"/>
              </a:rPr>
              <a:t>    In short, there are </a:t>
            </a:r>
            <a:r>
              <a:rPr lang="en-US" altLang="zh-CN" sz="2800" dirty="0">
                <a:solidFill>
                  <a:srgbClr val="FF0000"/>
                </a:solidFill>
                <a:latin typeface="Times New Roman" panose="02020603050405020304" pitchFamily="18" charset="0"/>
                <a:cs typeface="Times New Roman" panose="02020603050405020304" pitchFamily="18" charset="0"/>
              </a:rPr>
              <a:t>variations</a:t>
            </a:r>
            <a:r>
              <a:rPr lang="en-US" altLang="zh-CN" sz="2800" dirty="0">
                <a:latin typeface="Times New Roman" panose="02020603050405020304" pitchFamily="18" charset="0"/>
                <a:cs typeface="Times New Roman" panose="02020603050405020304" pitchFamily="18" charset="0"/>
              </a:rPr>
              <a:t> among and within cultures.</a:t>
            </a:r>
          </a:p>
        </p:txBody>
      </p:sp>
      <p:sp>
        <p:nvSpPr>
          <p:cNvPr id="6" name="星形: 五角 5">
            <a:extLst>
              <a:ext uri="{FF2B5EF4-FFF2-40B4-BE49-F238E27FC236}">
                <a16:creationId xmlns:a16="http://schemas.microsoft.com/office/drawing/2014/main" id="{325126BB-4ED9-435D-91F5-6AAE5D3B65E8}"/>
              </a:ext>
            </a:extLst>
          </p:cNvPr>
          <p:cNvSpPr/>
          <p:nvPr/>
        </p:nvSpPr>
        <p:spPr>
          <a:xfrm>
            <a:off x="4900068" y="234299"/>
            <a:ext cx="558412" cy="55143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3" name="文本框 2"/>
          <p:cNvSpPr txBox="1"/>
          <p:nvPr/>
        </p:nvSpPr>
        <p:spPr>
          <a:xfrm>
            <a:off x="0" y="799920"/>
            <a:ext cx="9464675" cy="645160"/>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sym typeface="+mn-ea"/>
              </a:rPr>
              <a:t>3.2.5 Cultural Variants in Family Interaction</a:t>
            </a:r>
            <a:r>
              <a:rPr lang="en-US" altLang="zh-CN" sz="3600" b="1" dirty="0">
                <a:latin typeface="Times New Roman" panose="02020603050405020304" pitchFamily="18" charset="0"/>
                <a:cs typeface="Times New Roman" panose="02020603050405020304" pitchFamily="18" charset="0"/>
              </a:rPr>
              <a:t> </a:t>
            </a:r>
          </a:p>
        </p:txBody>
      </p:sp>
      <p:sp>
        <p:nvSpPr>
          <p:cNvPr id="2" name="文本框 1"/>
          <p:cNvSpPr txBox="1"/>
          <p:nvPr/>
        </p:nvSpPr>
        <p:spPr>
          <a:xfrm>
            <a:off x="234950" y="2649855"/>
            <a:ext cx="8816975" cy="2492990"/>
          </a:xfrm>
          <a:prstGeom prst="rect">
            <a:avLst/>
          </a:prstGeom>
          <a:noFill/>
        </p:spPr>
        <p:txBody>
          <a:bodyPr wrap="square" rtlCol="0">
            <a:spAutoFit/>
          </a:bodyPr>
          <a:lstStyle/>
          <a:p>
            <a:pPr marL="285750" indent="-285750">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Gender roles</a:t>
            </a:r>
          </a:p>
          <a:p>
            <a:pPr marL="285750" indent="-285750">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Individualism and collectivism</a:t>
            </a:r>
          </a:p>
          <a:p>
            <a:pPr marL="285750" indent="-285750">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Individualism and the family</a:t>
            </a:r>
          </a:p>
          <a:p>
            <a:pPr marL="285750" indent="-285750">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Collectivism and the family</a:t>
            </a:r>
          </a:p>
          <a:p>
            <a:pPr marL="285750" indent="-285750">
              <a:buFont typeface="Arial" panose="020B0604020202020204" pitchFamily="34" charset="0"/>
              <a:buChar char="•"/>
            </a:pPr>
            <a:endParaRPr lang="en-US" altLang="zh-CN" sz="2800" dirty="0">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0" y="744079"/>
            <a:ext cx="9464675"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3.2.5.1 Gender Roles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P91</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
        <p:nvSpPr>
          <p:cNvPr id="5" name="文本框 4"/>
          <p:cNvSpPr txBox="1"/>
          <p:nvPr/>
        </p:nvSpPr>
        <p:spPr>
          <a:xfrm>
            <a:off x="241300" y="2529932"/>
            <a:ext cx="8661400" cy="378460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One of the most important family patterns is the teaching of accepted gender roles. </a:t>
            </a:r>
            <a:r>
              <a:rPr lang="en-US" altLang="zh-CN" sz="2400" dirty="0">
                <a:solidFill>
                  <a:srgbClr val="FF0000"/>
                </a:solidFill>
                <a:latin typeface="Times New Roman" panose="02020603050405020304" pitchFamily="18" charset="0"/>
                <a:cs typeface="Times New Roman" panose="02020603050405020304" pitchFamily="18" charset="0"/>
              </a:rPr>
              <a:t>The learning of acceptable gender roles begins as soon as the newborn arrives</a:t>
            </a:r>
            <a:r>
              <a:rPr lang="en-US" altLang="zh-CN" sz="2400" dirty="0">
                <a:latin typeface="Times New Roman" panose="02020603050405020304" pitchFamily="18" charset="0"/>
                <a:cs typeface="Times New Roman" panose="02020603050405020304" pitchFamily="18" charset="0"/>
              </a:rPr>
              <a:t>. The initial announcement regarding the sex of the child immediately allows the family to begin the crucial role of socializing the newborn. The gender differences are reflected in the social roles men and women play, how much authority is given to each other, who are the major decision makers within the culture, and which gender is most valued. </a:t>
            </a:r>
            <a:r>
              <a:rPr lang="en-US" altLang="zh-CN" sz="2400" dirty="0">
                <a:solidFill>
                  <a:srgbClr val="FF0000"/>
                </a:solidFill>
                <a:latin typeface="Times New Roman" panose="02020603050405020304" pitchFamily="18" charset="0"/>
                <a:cs typeface="Times New Roman" panose="02020603050405020304" pitchFamily="18" charset="0"/>
              </a:rPr>
              <a:t>In short, the task of “teaching” children behaviors associated with each other falls on the family regardless of the culture. </a:t>
            </a: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52613" y="777870"/>
            <a:ext cx="9464675" cy="1323439"/>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3.2.5.2 Individualism and Collectivism </a:t>
            </a:r>
          </a:p>
          <a:p>
            <a:r>
              <a:rPr lang="en-US" altLang="zh-CN" sz="4000" b="1" dirty="0">
                <a:highlight>
                  <a:srgbClr val="FFFF00"/>
                </a:highlight>
                <a:latin typeface="Times New Roman" panose="02020603050405020304" pitchFamily="18" charset="0"/>
                <a:cs typeface="Times New Roman" panose="02020603050405020304" pitchFamily="18" charset="0"/>
                <a:sym typeface="+mn-ea"/>
              </a:rPr>
              <a:t>P98</a:t>
            </a:r>
            <a:r>
              <a:rPr lang="en-US" altLang="zh-CN" sz="4000" b="1" dirty="0">
                <a:latin typeface="Times New Roman" panose="02020603050405020304" pitchFamily="18" charset="0"/>
                <a:cs typeface="Times New Roman" panose="02020603050405020304" pitchFamily="18" charset="0"/>
              </a:rPr>
              <a:t> </a:t>
            </a:r>
          </a:p>
        </p:txBody>
      </p:sp>
      <p:sp>
        <p:nvSpPr>
          <p:cNvPr id="5" name="文本框 4"/>
          <p:cNvSpPr txBox="1"/>
          <p:nvPr/>
        </p:nvSpPr>
        <p:spPr>
          <a:xfrm>
            <a:off x="241300" y="2567378"/>
            <a:ext cx="8661400" cy="3908762"/>
          </a:xfrm>
          <a:prstGeom prst="rect">
            <a:avLst/>
          </a:prstGeom>
          <a:noFill/>
        </p:spPr>
        <p:txBody>
          <a:bodyPr wrap="square" rtlCol="0">
            <a:spAutoFit/>
          </a:bodyPr>
          <a:lstStyle/>
          <a:p>
            <a:pPr algn="just"/>
            <a:r>
              <a:rPr lang="en-US" altLang="zh-CN" sz="2800" dirty="0">
                <a:latin typeface="Times New Roman" panose="02020603050405020304" pitchFamily="18" charset="0"/>
                <a:cs typeface="Times New Roman" panose="02020603050405020304" pitchFamily="18" charset="0"/>
              </a:rPr>
              <a:t>    The </a:t>
            </a:r>
            <a:r>
              <a:rPr lang="en-US" altLang="zh-CN" sz="2800" dirty="0">
                <a:solidFill>
                  <a:srgbClr val="FF0000"/>
                </a:solidFill>
                <a:latin typeface="Times New Roman" panose="02020603050405020304" pitchFamily="18" charset="0"/>
                <a:cs typeface="Times New Roman" panose="02020603050405020304" pitchFamily="18" charset="0"/>
              </a:rPr>
              <a:t>two orientations </a:t>
            </a:r>
            <a:r>
              <a:rPr lang="en-US" altLang="zh-CN" sz="2800" dirty="0">
                <a:latin typeface="Times New Roman" panose="02020603050405020304" pitchFamily="18" charset="0"/>
                <a:cs typeface="Times New Roman" panose="02020603050405020304" pitchFamily="18" charset="0"/>
              </a:rPr>
              <a:t>of individualism and collectivism play a significant role in child-rearing practices. Although the terms “individualism” and “collectivism” seem to be polar opposites, they are actually </a:t>
            </a:r>
            <a:r>
              <a:rPr lang="en-US" altLang="zh-CN" sz="2800" dirty="0">
                <a:solidFill>
                  <a:srgbClr val="FF0000"/>
                </a:solidFill>
                <a:latin typeface="Times New Roman" panose="02020603050405020304" pitchFamily="18" charset="0"/>
                <a:cs typeface="Times New Roman" panose="02020603050405020304" pitchFamily="18" charset="0"/>
              </a:rPr>
              <a:t>the end values of a continuum</a:t>
            </a:r>
            <a:r>
              <a:rPr lang="en-US" altLang="zh-CN" sz="2800" dirty="0">
                <a:latin typeface="Times New Roman" panose="02020603050405020304" pitchFamily="18" charset="0"/>
                <a:cs typeface="Times New Roman" panose="02020603050405020304" pitchFamily="18" charset="0"/>
              </a:rPr>
              <a:t> along which cultures can be situated.</a:t>
            </a:r>
          </a:p>
          <a:p>
            <a:pPr algn="just"/>
            <a:r>
              <a:rPr lang="en-US" altLang="zh-CN" sz="2800" dirty="0">
                <a:latin typeface="Times New Roman" panose="02020603050405020304" pitchFamily="18" charset="0"/>
                <a:cs typeface="Times New Roman" panose="02020603050405020304" pitchFamily="18" charset="0"/>
              </a:rPr>
              <a:t>    The </a:t>
            </a:r>
            <a:r>
              <a:rPr lang="en-US" altLang="zh-CN" sz="2800" i="1" dirty="0">
                <a:latin typeface="Times New Roman" panose="02020603050405020304" pitchFamily="18" charset="0"/>
                <a:cs typeface="Times New Roman" panose="02020603050405020304" pitchFamily="18" charset="0"/>
              </a:rPr>
              <a:t>individual-collective</a:t>
            </a:r>
            <a:r>
              <a:rPr lang="en-US" altLang="zh-CN" sz="2800" dirty="0">
                <a:latin typeface="Times New Roman" panose="02020603050405020304" pitchFamily="18" charset="0"/>
                <a:cs typeface="Times New Roman" panose="02020603050405020304" pitchFamily="18" charset="0"/>
              </a:rPr>
              <a:t> dimension is a culture's tendency to encourage people to be unique and independent or conforming and interdependent.</a:t>
            </a:r>
          </a:p>
          <a:p>
            <a:pPr marL="342900" indent="-342900" algn="just">
              <a:buFont typeface="Arial" panose="020B0604020202020204" pitchFamily="34" charset="0"/>
              <a:buChar char="•"/>
            </a:pPr>
            <a:endParaRPr lang="en-US" altLang="zh-CN" sz="2400" dirty="0">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52089" y="758040"/>
            <a:ext cx="9464675" cy="1323439"/>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3.2.5.2 Individualism and Collectivism </a:t>
            </a:r>
          </a:p>
          <a:p>
            <a:r>
              <a:rPr lang="en-US" altLang="zh-CN" sz="4000" b="1" dirty="0">
                <a:highlight>
                  <a:srgbClr val="FFFF00"/>
                </a:highlight>
                <a:latin typeface="Times New Roman" panose="02020603050405020304" pitchFamily="18" charset="0"/>
                <a:cs typeface="Times New Roman" panose="02020603050405020304" pitchFamily="18" charset="0"/>
                <a:sym typeface="+mn-ea"/>
              </a:rPr>
              <a:t>P98</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
        <p:nvSpPr>
          <p:cNvPr id="5" name="文本框 4"/>
          <p:cNvSpPr txBox="1"/>
          <p:nvPr/>
        </p:nvSpPr>
        <p:spPr>
          <a:xfrm>
            <a:off x="241300" y="2345690"/>
            <a:ext cx="8661400" cy="4154170"/>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2400" b="1" i="1" dirty="0">
                <a:latin typeface="Times New Roman" panose="02020603050405020304" pitchFamily="18" charset="0"/>
                <a:ea typeface="+mn-ea"/>
                <a:cs typeface="Times New Roman" panose="02020603050405020304" pitchFamily="18" charset="0"/>
                <a:sym typeface="+mn-ea"/>
              </a:rPr>
              <a:t>Individualistic</a:t>
            </a:r>
            <a:r>
              <a:rPr lang="en-US" altLang="zh-CN" sz="2400" b="1" dirty="0">
                <a:latin typeface="Times New Roman" panose="02020603050405020304" pitchFamily="18" charset="0"/>
                <a:ea typeface="+mn-ea"/>
                <a:cs typeface="Times New Roman" panose="02020603050405020304" pitchFamily="18" charset="0"/>
                <a:sym typeface="+mn-ea"/>
              </a:rPr>
              <a:t> cultures</a:t>
            </a:r>
            <a:r>
              <a:rPr lang="en-US" altLang="zh-CN" sz="2400" dirty="0">
                <a:latin typeface="Times New Roman" panose="02020603050405020304" pitchFamily="18" charset="0"/>
                <a:ea typeface="+mn-ea"/>
                <a:cs typeface="Times New Roman" panose="02020603050405020304" pitchFamily="18" charset="0"/>
                <a:sym typeface="+mn-ea"/>
              </a:rPr>
              <a:t>: </a:t>
            </a:r>
            <a:r>
              <a:rPr lang="en-US" altLang="zh-CN" sz="2400" dirty="0">
                <a:solidFill>
                  <a:srgbClr val="FF0000"/>
                </a:solidFill>
                <a:latin typeface="Times New Roman" panose="02020603050405020304" pitchFamily="18" charset="0"/>
                <a:ea typeface="+mn-ea"/>
                <a:cs typeface="Times New Roman" panose="02020603050405020304" pitchFamily="18" charset="0"/>
                <a:sym typeface="+mn-ea"/>
              </a:rPr>
              <a:t>value the individual over the group</a:t>
            </a:r>
            <a:r>
              <a:rPr lang="en-US" altLang="zh-CN" sz="2400" dirty="0">
                <a:latin typeface="Times New Roman" panose="02020603050405020304" pitchFamily="18" charset="0"/>
                <a:ea typeface="+mn-ea"/>
                <a:cs typeface="Times New Roman" panose="02020603050405020304" pitchFamily="18" charset="0"/>
                <a:sym typeface="+mn-ea"/>
              </a:rPr>
              <a:t>. The individual is perceived as a sovereign stand-alone entity. Each person's uniqueness is of paramount value in individualistic cultures. This means that values such as independence, competition, self-determination, pursuing individual goals, independent living, and the “I” being the most important form of identity are the norms.</a:t>
            </a:r>
          </a:p>
          <a:p>
            <a:pPr marL="342900" indent="-342900" algn="just">
              <a:buFont typeface="Arial" panose="020B0604020202020204" pitchFamily="34" charset="0"/>
              <a:buChar char="•"/>
            </a:pPr>
            <a:r>
              <a:rPr lang="en-US" altLang="zh-CN" sz="2400" b="1" i="1" dirty="0">
                <a:latin typeface="Times New Roman" panose="02020603050405020304" pitchFamily="18" charset="0"/>
                <a:cs typeface="Times New Roman" panose="02020603050405020304" pitchFamily="18" charset="0"/>
              </a:rPr>
              <a:t>Collective</a:t>
            </a:r>
            <a:r>
              <a:rPr lang="en-US" altLang="zh-CN" sz="2400" b="1" dirty="0">
                <a:latin typeface="Times New Roman" panose="02020603050405020304" pitchFamily="18" charset="0"/>
                <a:cs typeface="Times New Roman" panose="02020603050405020304" pitchFamily="18" charset="0"/>
              </a:rPr>
              <a:t> cultures</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emphasize the needs and goals of the group rather than the self. </a:t>
            </a:r>
            <a:r>
              <a:rPr lang="en-US" altLang="zh-CN" sz="2400" dirty="0">
                <a:latin typeface="Times New Roman" panose="02020603050405020304" pitchFamily="18" charset="0"/>
                <a:cs typeface="Times New Roman" panose="02020603050405020304" pitchFamily="18" charset="0"/>
              </a:rPr>
              <a:t>This means that values such as interdependence, group achievement, cooperation, and the like are stressed. </a:t>
            </a:r>
          </a:p>
        </p:txBody>
      </p:sp>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9F437C83-EBDB-47DA-8B0F-FB72C4CBFC80}"/>
              </a:ext>
            </a:extLst>
          </p:cNvPr>
          <p:cNvSpPr>
            <a:spLocks noGrp="1" noRot="1" noChangeArrowheads="1"/>
          </p:cNvSpPr>
          <p:nvPr>
            <p:ph type="title"/>
          </p:nvPr>
        </p:nvSpPr>
        <p:spPr>
          <a:xfrm>
            <a:off x="457200" y="115888"/>
            <a:ext cx="8229600" cy="1143000"/>
          </a:xfrm>
        </p:spPr>
        <p:txBody>
          <a:bodyPr/>
          <a:lstStyle/>
          <a:p>
            <a:r>
              <a:rPr lang="en-US" altLang="zh-CN"/>
              <a:t>Ego / self-image</a:t>
            </a:r>
          </a:p>
        </p:txBody>
      </p:sp>
      <p:sp>
        <p:nvSpPr>
          <p:cNvPr id="14339" name="Rectangle 3">
            <a:extLst>
              <a:ext uri="{FF2B5EF4-FFF2-40B4-BE49-F238E27FC236}">
                <a16:creationId xmlns:a16="http://schemas.microsoft.com/office/drawing/2014/main" id="{01760DCE-D23A-498F-85A8-121E2B580DD5}"/>
              </a:ext>
            </a:extLst>
          </p:cNvPr>
          <p:cNvSpPr>
            <a:spLocks noGrp="1" noRot="1" noChangeArrowheads="1"/>
          </p:cNvSpPr>
          <p:nvPr>
            <p:ph type="body" idx="1"/>
          </p:nvPr>
        </p:nvSpPr>
        <p:spPr>
          <a:xfrm>
            <a:off x="179388" y="1341438"/>
            <a:ext cx="8229600" cy="4525962"/>
          </a:xfrm>
        </p:spPr>
        <p:txBody>
          <a:bodyPr/>
          <a:lstStyle/>
          <a:p>
            <a:pPr>
              <a:defRPr/>
            </a:pPr>
            <a:endParaRPr lang="en-US" altLang="zh-CN" dirty="0"/>
          </a:p>
          <a:p>
            <a:pPr>
              <a:defRPr/>
            </a:pPr>
            <a:endParaRPr lang="en-US" altLang="zh-CN" dirty="0"/>
          </a:p>
          <a:p>
            <a:pPr>
              <a:defRPr/>
            </a:pPr>
            <a:endParaRPr lang="en-US" altLang="zh-CN" dirty="0"/>
          </a:p>
          <a:p>
            <a:pPr>
              <a:defRPr/>
            </a:pPr>
            <a:endParaRPr lang="en-US" altLang="zh-CN" dirty="0"/>
          </a:p>
          <a:p>
            <a:pPr>
              <a:defRPr/>
            </a:pPr>
            <a:endParaRPr lang="en-US" altLang="zh-CN" dirty="0"/>
          </a:p>
          <a:p>
            <a:pPr>
              <a:defRPr/>
            </a:pPr>
            <a:endParaRPr lang="en-US" altLang="zh-CN" dirty="0"/>
          </a:p>
          <a:p>
            <a:pPr>
              <a:defRPr/>
            </a:pPr>
            <a:endParaRPr lang="en-US" altLang="zh-CN" dirty="0"/>
          </a:p>
          <a:p>
            <a:pPr marL="0" indent="0">
              <a:buFontTx/>
              <a:buNone/>
              <a:defRPr/>
            </a:pPr>
            <a:endParaRPr lang="en-US" altLang="zh-CN" dirty="0"/>
          </a:p>
          <a:p>
            <a:pPr marL="0" indent="0">
              <a:buFontTx/>
              <a:buNone/>
              <a:defRPr/>
            </a:pPr>
            <a:r>
              <a:rPr lang="en-US" altLang="zh-CN" dirty="0"/>
              <a:t>         West                                  China</a:t>
            </a:r>
            <a:endParaRPr lang="zh-CN" altLang="zh-CN" dirty="0"/>
          </a:p>
        </p:txBody>
      </p:sp>
      <p:pic>
        <p:nvPicPr>
          <p:cNvPr id="32772" name="Picture 5">
            <a:extLst>
              <a:ext uri="{FF2B5EF4-FFF2-40B4-BE49-F238E27FC236}">
                <a16:creationId xmlns:a16="http://schemas.microsoft.com/office/drawing/2014/main" id="{EE555507-3D4D-48B5-A674-03CC6551D0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344"/>
          <a:stretch>
            <a:fillRect/>
          </a:stretch>
        </p:blipFill>
        <p:spPr bwMode="auto">
          <a:xfrm>
            <a:off x="381000" y="1600200"/>
            <a:ext cx="8305800" cy="416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9F72DCB8-CBF2-44B1-AAA9-1F089286170E}"/>
              </a:ext>
            </a:extLst>
          </p:cNvPr>
          <p:cNvSpPr>
            <a:spLocks noGrp="1" noRot="1" noChangeArrowheads="1"/>
          </p:cNvSpPr>
          <p:nvPr>
            <p:ph type="title"/>
          </p:nvPr>
        </p:nvSpPr>
        <p:spPr/>
        <p:txBody>
          <a:bodyPr/>
          <a:lstStyle/>
          <a:p>
            <a:endParaRPr lang="zh-CN" altLang="zh-CN"/>
          </a:p>
        </p:txBody>
      </p:sp>
      <p:sp>
        <p:nvSpPr>
          <p:cNvPr id="33795" name="Rectangle 3">
            <a:extLst>
              <a:ext uri="{FF2B5EF4-FFF2-40B4-BE49-F238E27FC236}">
                <a16:creationId xmlns:a16="http://schemas.microsoft.com/office/drawing/2014/main" id="{F54AC377-1E98-4F4F-9629-64019559CF18}"/>
              </a:ext>
            </a:extLst>
          </p:cNvPr>
          <p:cNvSpPr>
            <a:spLocks noGrp="1" noRot="1" noChangeArrowheads="1"/>
          </p:cNvSpPr>
          <p:nvPr>
            <p:ph type="body" idx="1"/>
          </p:nvPr>
        </p:nvSpPr>
        <p:spPr/>
        <p:txBody>
          <a:bodyPr/>
          <a:lstStyle/>
          <a:p>
            <a:endParaRPr lang="zh-CN" altLang="zh-CN"/>
          </a:p>
        </p:txBody>
      </p:sp>
      <p:pic>
        <p:nvPicPr>
          <p:cNvPr id="33796" name="Picture 4" descr="46026-2">
            <a:extLst>
              <a:ext uri="{FF2B5EF4-FFF2-40B4-BE49-F238E27FC236}">
                <a16:creationId xmlns:a16="http://schemas.microsoft.com/office/drawing/2014/main" id="{5A9A1762-F3A2-4620-B20C-52151F6A5C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477838"/>
            <a:ext cx="6161088" cy="589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EF5804C6-D85B-44E4-BD44-CDAA354FD403}"/>
              </a:ext>
            </a:extLst>
          </p:cNvPr>
          <p:cNvSpPr>
            <a:spLocks noGrp="1" noRot="1" noChangeArrowheads="1"/>
          </p:cNvSpPr>
          <p:nvPr>
            <p:ph type="title"/>
          </p:nvPr>
        </p:nvSpPr>
        <p:spPr/>
        <p:txBody>
          <a:bodyPr/>
          <a:lstStyle/>
          <a:p>
            <a:endParaRPr lang="zh-CN" altLang="zh-CN"/>
          </a:p>
        </p:txBody>
      </p:sp>
      <p:sp>
        <p:nvSpPr>
          <p:cNvPr id="34819" name="Rectangle 3">
            <a:extLst>
              <a:ext uri="{FF2B5EF4-FFF2-40B4-BE49-F238E27FC236}">
                <a16:creationId xmlns:a16="http://schemas.microsoft.com/office/drawing/2014/main" id="{2A3F5660-E215-4A79-81C0-13095B647A59}"/>
              </a:ext>
            </a:extLst>
          </p:cNvPr>
          <p:cNvSpPr>
            <a:spLocks noGrp="1" noRot="1" noChangeArrowheads="1"/>
          </p:cNvSpPr>
          <p:nvPr>
            <p:ph type="body" idx="1"/>
          </p:nvPr>
        </p:nvSpPr>
        <p:spPr/>
        <p:txBody>
          <a:bodyPr/>
          <a:lstStyle/>
          <a:p>
            <a:endParaRPr lang="zh-CN" altLang="zh-CN"/>
          </a:p>
        </p:txBody>
      </p:sp>
      <p:pic>
        <p:nvPicPr>
          <p:cNvPr id="34820" name="Picture 4" descr="129178047388570826">
            <a:extLst>
              <a:ext uri="{FF2B5EF4-FFF2-40B4-BE49-F238E27FC236}">
                <a16:creationId xmlns:a16="http://schemas.microsoft.com/office/drawing/2014/main" id="{32C95AFC-9E13-4A6E-AE87-BC3D64EC3E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452438"/>
            <a:ext cx="6745287" cy="585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962E80C-34CA-4877-AF3A-30F434F9618C}"/>
              </a:ext>
            </a:extLst>
          </p:cNvPr>
          <p:cNvSpPr>
            <a:spLocks noGrp="1" noRot="1" noChangeArrowheads="1"/>
          </p:cNvSpPr>
          <p:nvPr>
            <p:ph type="title"/>
          </p:nvPr>
        </p:nvSpPr>
        <p:spPr/>
        <p:txBody>
          <a:bodyPr/>
          <a:lstStyle/>
          <a:p>
            <a:r>
              <a:rPr lang="en-US" altLang="zh-CN"/>
              <a:t>Difference in lifestyle</a:t>
            </a:r>
          </a:p>
        </p:txBody>
      </p:sp>
      <p:pic>
        <p:nvPicPr>
          <p:cNvPr id="35843" name="Picture 4">
            <a:extLst>
              <a:ext uri="{FF2B5EF4-FFF2-40B4-BE49-F238E27FC236}">
                <a16:creationId xmlns:a16="http://schemas.microsoft.com/office/drawing/2014/main" id="{60B6CF50-7E69-488D-8D41-5F8A5FF31B8E}"/>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858838" y="2046288"/>
            <a:ext cx="7353300" cy="3795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Rectangle 3">
            <a:extLst>
              <a:ext uri="{FF2B5EF4-FFF2-40B4-BE49-F238E27FC236}">
                <a16:creationId xmlns:a16="http://schemas.microsoft.com/office/drawing/2014/main" id="{DD4B0731-D0F9-4151-BF2B-8B22B7BC6E89}"/>
              </a:ext>
            </a:extLst>
          </p:cNvPr>
          <p:cNvSpPr txBox="1">
            <a:spLocks noRot="1" noChangeArrowheads="1"/>
          </p:cNvSpPr>
          <p:nvPr/>
        </p:nvSpPr>
        <p:spPr bwMode="auto">
          <a:xfrm>
            <a:off x="179388" y="1341438"/>
            <a:ext cx="822960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altLang="zh-CN" sz="3200" b="1" i="0" u="none" strike="noStrike" kern="1200" cap="none" spc="0" normalizeH="0" baseline="0" noProof="0">
                <a:ln>
                  <a:noFill/>
                </a:ln>
                <a:solidFill>
                  <a:srgbClr val="000000"/>
                </a:solidFill>
                <a:effectLst/>
                <a:uLnTx/>
                <a:uFillTx/>
                <a:latin typeface="Arial"/>
                <a:ea typeface="宋体"/>
                <a:cs typeface="+mn-cs"/>
              </a:rPr>
              <a:t>         West                                  China</a:t>
            </a:r>
            <a:endParaRPr kumimoji="0" lang="zh-CN" altLang="zh-CN" sz="3200" b="1" i="0" u="none" strike="noStrike" kern="1200" cap="none" spc="0" normalizeH="0" baseline="0" noProof="0" dirty="0">
              <a:ln>
                <a:noFill/>
              </a:ln>
              <a:solidFill>
                <a:srgbClr val="000000"/>
              </a:solidFill>
              <a:effectLst/>
              <a:uLnTx/>
              <a:uFillTx/>
              <a:latin typeface="Arial"/>
              <a:ea typeface="宋体"/>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6597F82-0348-4DDE-8288-BEAA06C16CBA}"/>
              </a:ext>
            </a:extLst>
          </p:cNvPr>
          <p:cNvSpPr>
            <a:spLocks noGrp="1" noRot="1" noChangeArrowheads="1"/>
          </p:cNvSpPr>
          <p:nvPr>
            <p:ph type="title"/>
          </p:nvPr>
        </p:nvSpPr>
        <p:spPr/>
        <p:txBody>
          <a:bodyPr/>
          <a:lstStyle/>
          <a:p>
            <a:r>
              <a:rPr lang="en-US" altLang="zh-CN"/>
              <a:t>In the party</a:t>
            </a:r>
          </a:p>
        </p:txBody>
      </p:sp>
      <p:sp>
        <p:nvSpPr>
          <p:cNvPr id="36867" name="Rectangle 3">
            <a:extLst>
              <a:ext uri="{FF2B5EF4-FFF2-40B4-BE49-F238E27FC236}">
                <a16:creationId xmlns:a16="http://schemas.microsoft.com/office/drawing/2014/main" id="{37E5A8C3-4B6D-4842-8F03-8B77183606AD}"/>
              </a:ext>
            </a:extLst>
          </p:cNvPr>
          <p:cNvSpPr>
            <a:spLocks noGrp="1" noRot="1" noChangeArrowheads="1"/>
          </p:cNvSpPr>
          <p:nvPr>
            <p:ph type="body" idx="1"/>
          </p:nvPr>
        </p:nvSpPr>
        <p:spPr/>
        <p:txBody>
          <a:bodyPr/>
          <a:lstStyle/>
          <a:p>
            <a:endParaRPr lang="zh-CN" altLang="zh-CN"/>
          </a:p>
        </p:txBody>
      </p:sp>
      <p:pic>
        <p:nvPicPr>
          <p:cNvPr id="36868" name="Picture 5">
            <a:extLst>
              <a:ext uri="{FF2B5EF4-FFF2-40B4-BE49-F238E27FC236}">
                <a16:creationId xmlns:a16="http://schemas.microsoft.com/office/drawing/2014/main" id="{D3E80DD6-6AF7-4B91-8C66-99DBAD14B6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520"/>
          <a:stretch>
            <a:fillRect/>
          </a:stretch>
        </p:blipFill>
        <p:spPr bwMode="auto">
          <a:xfrm>
            <a:off x="457200" y="1600200"/>
            <a:ext cx="8229600" cy="429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E809F617-7FFB-4DB9-BE20-26D66DEEFB10}"/>
              </a:ext>
            </a:extLst>
          </p:cNvPr>
          <p:cNvSpPr txBox="1">
            <a:spLocks noRot="1" noChangeArrowheads="1"/>
          </p:cNvSpPr>
          <p:nvPr/>
        </p:nvSpPr>
        <p:spPr bwMode="auto">
          <a:xfrm>
            <a:off x="179388" y="1341438"/>
            <a:ext cx="822960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US" altLang="zh-CN" sz="3200" b="1" i="0" u="none" strike="noStrike" kern="1200" cap="none" spc="0" normalizeH="0" baseline="0" noProof="0">
              <a:ln>
                <a:noFill/>
              </a:ln>
              <a:solidFill>
                <a:srgbClr val="000000"/>
              </a:solidFill>
              <a:effectLst/>
              <a:uLnTx/>
              <a:uFillTx/>
              <a:latin typeface="Arial"/>
              <a:ea typeface="宋体"/>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altLang="zh-CN" sz="3200" b="1" i="0" u="none" strike="noStrike" kern="1200" cap="none" spc="0" normalizeH="0" baseline="0" noProof="0">
                <a:ln>
                  <a:noFill/>
                </a:ln>
                <a:solidFill>
                  <a:srgbClr val="000000"/>
                </a:solidFill>
                <a:effectLst/>
                <a:uLnTx/>
                <a:uFillTx/>
                <a:latin typeface="Arial"/>
                <a:ea typeface="宋体"/>
                <a:cs typeface="+mn-cs"/>
              </a:rPr>
              <a:t>         West                                  China</a:t>
            </a:r>
            <a:endParaRPr kumimoji="0" lang="zh-CN" altLang="zh-CN" sz="3200" b="1" i="0" u="none" strike="noStrike" kern="1200" cap="none" spc="0" normalizeH="0" baseline="0" noProof="0" dirty="0">
              <a:ln>
                <a:noFill/>
              </a:ln>
              <a:solidFill>
                <a:srgbClr val="000000"/>
              </a:solidFill>
              <a:effectLst/>
              <a:uLnTx/>
              <a:uFillTx/>
              <a:latin typeface="Arial"/>
              <a:ea typeface="宋体"/>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92F79AC3-8B16-4B1E-9420-19791F2A4D88}"/>
              </a:ext>
            </a:extLst>
          </p:cNvPr>
          <p:cNvSpPr>
            <a:spLocks noGrp="1" noRot="1" noChangeArrowheads="1"/>
          </p:cNvSpPr>
          <p:nvPr>
            <p:ph type="title"/>
          </p:nvPr>
        </p:nvSpPr>
        <p:spPr/>
        <p:txBody>
          <a:bodyPr/>
          <a:lstStyle/>
          <a:p>
            <a:r>
              <a:rPr lang="en-US" altLang="zh-CN" b="1" i="1">
                <a:latin typeface="Times New Roman" panose="02020603050405020304" pitchFamily="18" charset="0"/>
                <a:cs typeface="Times New Roman" panose="02020603050405020304" pitchFamily="18" charset="0"/>
              </a:rPr>
              <a:t>Friendship</a:t>
            </a:r>
          </a:p>
        </p:txBody>
      </p:sp>
      <p:sp>
        <p:nvSpPr>
          <p:cNvPr id="37891" name="Rectangle 3">
            <a:extLst>
              <a:ext uri="{FF2B5EF4-FFF2-40B4-BE49-F238E27FC236}">
                <a16:creationId xmlns:a16="http://schemas.microsoft.com/office/drawing/2014/main" id="{163032BD-0496-4916-944D-D4A1E077AC7F}"/>
              </a:ext>
            </a:extLst>
          </p:cNvPr>
          <p:cNvSpPr>
            <a:spLocks noGrp="1" noRot="1" noChangeArrowheads="1"/>
          </p:cNvSpPr>
          <p:nvPr>
            <p:ph type="body" idx="1"/>
          </p:nvPr>
        </p:nvSpPr>
        <p:spPr>
          <a:xfrm>
            <a:off x="179388" y="1379538"/>
            <a:ext cx="8785225" cy="4857750"/>
          </a:xfrm>
        </p:spPr>
        <p:txBody>
          <a:bodyPr/>
          <a:lstStyle/>
          <a:p>
            <a:r>
              <a:rPr lang="en-US" altLang="zh-CN" b="1">
                <a:latin typeface="Times New Roman" panose="02020603050405020304" pitchFamily="18" charset="0"/>
                <a:cs typeface="Times New Roman" panose="02020603050405020304" pitchFamily="18" charset="0"/>
              </a:rPr>
              <a:t>Collectivists hold that one’s business is also the business of the group---friends should be connected with each other’s personal matters….(what is  mine is yours.)</a:t>
            </a:r>
          </a:p>
          <a:p>
            <a:r>
              <a:rPr lang="en-US" altLang="zh-CN" b="1">
                <a:latin typeface="Times New Roman" panose="02020603050405020304" pitchFamily="18" charset="0"/>
                <a:cs typeface="Times New Roman" panose="02020603050405020304" pitchFamily="18" charset="0"/>
              </a:rPr>
              <a:t>Individualists hold that people should mind their own business, privacy should be respected, people should be able to think freely.(what  is mine is not to be used without my permission.)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100951" y="730215"/>
            <a:ext cx="9464675"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3.2.5.3 Individualism and the Family </a:t>
            </a:r>
            <a:r>
              <a:rPr lang="en-US" altLang="zh-CN" sz="4000" b="1" dirty="0">
                <a:highlight>
                  <a:srgbClr val="FFFF00"/>
                </a:highlight>
                <a:latin typeface="Times New Roman" panose="02020603050405020304" pitchFamily="18" charset="0"/>
                <a:cs typeface="Times New Roman" panose="02020603050405020304" pitchFamily="18" charset="0"/>
                <a:sym typeface="+mn-ea"/>
              </a:rPr>
              <a:t>P99</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
        <p:nvSpPr>
          <p:cNvPr id="5" name="文本框 4"/>
          <p:cNvSpPr txBox="1"/>
          <p:nvPr/>
        </p:nvSpPr>
        <p:spPr>
          <a:xfrm>
            <a:off x="241300" y="2334895"/>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Most cultural characteristics have their roots in the deep structure of a culture</a:t>
            </a:r>
            <a:r>
              <a:rPr lang="en-US" altLang="zh-CN" sz="2400" dirty="0">
                <a:latin typeface="Times New Roman" panose="02020603050405020304" pitchFamily="18" charset="0"/>
                <a:cs typeface="Times New Roman" panose="02020603050405020304" pitchFamily="18" charset="0"/>
              </a:rPr>
              <a:t>. For Americans, individualism, as it applies to families, is partially linked to the </a:t>
            </a:r>
            <a:r>
              <a:rPr lang="en-US" altLang="zh-CN" sz="2400" dirty="0">
                <a:solidFill>
                  <a:srgbClr val="FF0000"/>
                </a:solidFill>
                <a:latin typeface="Times New Roman" panose="02020603050405020304" pitchFamily="18" charset="0"/>
                <a:cs typeface="Times New Roman" panose="02020603050405020304" pitchFamily="18" charset="0"/>
              </a:rPr>
              <a:t>history</a:t>
            </a:r>
            <a:r>
              <a:rPr lang="en-US" altLang="zh-CN" sz="2400" dirty="0">
                <a:latin typeface="Times New Roman" panose="02020603050405020304" pitchFamily="18" charset="0"/>
                <a:cs typeface="Times New Roman" panose="02020603050405020304" pitchFamily="18" charset="0"/>
              </a:rPr>
              <a:t> of the United States.</a:t>
            </a:r>
          </a:p>
          <a:p>
            <a:pPr algn="just"/>
            <a:r>
              <a:rPr lang="en-US" altLang="zh-CN" sz="2400" dirty="0">
                <a:latin typeface="Times New Roman" panose="02020603050405020304" pitchFamily="18" charset="0"/>
                <a:cs typeface="Times New Roman" panose="02020603050405020304" pitchFamily="18" charset="0"/>
              </a:rPr>
              <a:t>    In the United States, most individuals were able—and continue even now—to make decisions that </a:t>
            </a:r>
            <a:r>
              <a:rPr lang="en-US" altLang="zh-CN" sz="2400" dirty="0">
                <a:solidFill>
                  <a:srgbClr val="FF0000"/>
                </a:solidFill>
                <a:latin typeface="Times New Roman" panose="02020603050405020304" pitchFamily="18" charset="0"/>
                <a:cs typeface="Times New Roman" panose="02020603050405020304" pitchFamily="18" charset="0"/>
              </a:rPr>
              <a:t>serve their own interests </a:t>
            </a:r>
            <a:r>
              <a:rPr lang="en-US" altLang="zh-CN" sz="2400" dirty="0">
                <a:latin typeface="Times New Roman" panose="02020603050405020304" pitchFamily="18" charset="0"/>
                <a:cs typeface="Times New Roman" panose="02020603050405020304" pitchFamily="18" charset="0"/>
              </a:rPr>
              <a:t>instead of those of the larger group. In most cases, this encourages a shrinking compliance with the authority of the family and stresses </a:t>
            </a:r>
            <a:r>
              <a:rPr lang="en-US" altLang="zh-CN" sz="2400" dirty="0">
                <a:solidFill>
                  <a:srgbClr val="FF0000"/>
                </a:solidFill>
                <a:latin typeface="Times New Roman" panose="02020603050405020304" pitchFamily="18" charset="0"/>
                <a:cs typeface="Times New Roman" panose="02020603050405020304" pitchFamily="18" charset="0"/>
              </a:rPr>
              <a:t>self-reliance</a:t>
            </a:r>
            <a:r>
              <a:rPr lang="en-US" altLang="zh-CN" sz="2400" dirty="0">
                <a:latin typeface="Times New Roman" panose="02020603050405020304" pitchFamily="18" charset="0"/>
                <a:cs typeface="Times New Roman" panose="02020603050405020304" pitchFamily="18" charset="0"/>
              </a:rPr>
              <a:t>. The independence expected and valued in individualistic cultures </a:t>
            </a:r>
            <a:r>
              <a:rPr lang="en-US" altLang="zh-CN" sz="2400" dirty="0">
                <a:solidFill>
                  <a:srgbClr val="FF0000"/>
                </a:solidFill>
                <a:latin typeface="Times New Roman" panose="02020603050405020304" pitchFamily="18" charset="0"/>
                <a:cs typeface="Times New Roman" panose="02020603050405020304" pitchFamily="18" charset="0"/>
              </a:rPr>
              <a:t>encourages autonomy</a:t>
            </a:r>
            <a:r>
              <a:rPr lang="en-US" altLang="zh-CN" sz="2400" dirty="0">
                <a:latin typeface="Times New Roman" panose="02020603050405020304" pitchFamily="18" charset="0"/>
                <a:cs typeface="Times New Roman" panose="02020603050405020304" pitchFamily="18" charset="0"/>
              </a:rPr>
              <a:t>.</a:t>
            </a:r>
          </a:p>
          <a:p>
            <a:pPr algn="just"/>
            <a:r>
              <a:rPr lang="en-US" altLang="zh-CN" sz="2400" dirty="0">
                <a:latin typeface="Times New Roman" panose="02020603050405020304" pitchFamily="18" charset="0"/>
                <a:cs typeface="Times New Roman" panose="02020603050405020304" pitchFamily="18" charset="0"/>
              </a:rPr>
              <a:t>    Apart from the United States, Germany, Switzerland, Canada, Australia, France, Finland and many other cultures also “teach” and reward individualism within the family.</a:t>
            </a: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0" y="730119"/>
            <a:ext cx="9464675"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3.2.5.4 Collectivism and the Family </a:t>
            </a:r>
            <a:r>
              <a:rPr lang="en-US" altLang="zh-CN" sz="4000" b="1" dirty="0">
                <a:highlight>
                  <a:srgbClr val="FFFF00"/>
                </a:highlight>
                <a:latin typeface="Times New Roman" panose="02020603050405020304" pitchFamily="18" charset="0"/>
                <a:cs typeface="Times New Roman" panose="02020603050405020304" pitchFamily="18" charset="0"/>
                <a:sym typeface="+mn-ea"/>
              </a:rPr>
              <a:t>P99</a:t>
            </a:r>
            <a:r>
              <a:rPr lang="en-US" altLang="zh-CN" sz="4000" b="1" dirty="0">
                <a:solidFill>
                  <a:srgbClr val="FF0000"/>
                </a:solidFill>
                <a:highlight>
                  <a:srgbClr val="FFFF00"/>
                </a:highlight>
                <a:latin typeface="Times New Roman" panose="02020603050405020304" pitchFamily="18" charset="0"/>
                <a:cs typeface="Times New Roman" panose="02020603050405020304" pitchFamily="18" charset="0"/>
              </a:rPr>
              <a:t> </a:t>
            </a:r>
          </a:p>
        </p:txBody>
      </p:sp>
      <p:sp>
        <p:nvSpPr>
          <p:cNvPr id="5" name="文本框 4"/>
          <p:cNvSpPr txBox="1"/>
          <p:nvPr/>
        </p:nvSpPr>
        <p:spPr>
          <a:xfrm>
            <a:off x="241300" y="2345690"/>
            <a:ext cx="8661400" cy="415417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In collective cultures, people experience a profound </a:t>
            </a:r>
            <a:r>
              <a:rPr lang="en-US" altLang="zh-CN" sz="2400" dirty="0">
                <a:solidFill>
                  <a:srgbClr val="FF0000"/>
                </a:solidFill>
                <a:latin typeface="Times New Roman" panose="02020603050405020304" pitchFamily="18" charset="0"/>
                <a:cs typeface="Times New Roman" panose="02020603050405020304" pitchFamily="18" charset="0"/>
              </a:rPr>
              <a:t>allegiance and attachment to their families</a:t>
            </a:r>
            <a:r>
              <a:rPr lang="en-US" altLang="zh-CN" sz="2400" dirty="0">
                <a:latin typeface="Times New Roman" panose="02020603050405020304" pitchFamily="18" charset="0"/>
                <a:cs typeface="Times New Roman" panose="02020603050405020304" pitchFamily="18" charset="0"/>
              </a:rPr>
              <a:t>. The family loyalty in </a:t>
            </a:r>
            <a:r>
              <a:rPr lang="en-US" altLang="zh-CN" sz="2400" dirty="0">
                <a:solidFill>
                  <a:srgbClr val="FF0000"/>
                </a:solidFill>
                <a:latin typeface="Times New Roman" panose="02020603050405020304" pitchFamily="18" charset="0"/>
                <a:cs typeface="Times New Roman" panose="02020603050405020304" pitchFamily="18" charset="0"/>
              </a:rPr>
              <a:t>India</a:t>
            </a:r>
            <a:r>
              <a:rPr lang="en-US" altLang="zh-CN" sz="2400" dirty="0">
                <a:latin typeface="Times New Roman" panose="02020603050405020304" pitchFamily="18" charset="0"/>
                <a:cs typeface="Times New Roman" panose="02020603050405020304" pitchFamily="18" charset="0"/>
              </a:rPr>
              <a:t> can be observed in the fact that “feelings of self-esteem and prestige originate more from the reputation and honor of one's family than from any individual attainments.” The collective cultural orientation found in Latino families emphasizes family responsibilities and interdependence to maintain family groups. </a:t>
            </a:r>
            <a:r>
              <a:rPr lang="en-US" altLang="zh-CN" sz="2400" dirty="0">
                <a:solidFill>
                  <a:srgbClr val="FF0000"/>
                </a:solidFill>
                <a:latin typeface="Times New Roman" panose="02020603050405020304" pitchFamily="18" charset="0"/>
                <a:cs typeface="Times New Roman" panose="02020603050405020304" pitchFamily="18" charset="0"/>
              </a:rPr>
              <a:t>Latino</a:t>
            </a:r>
            <a:r>
              <a:rPr lang="en-US" altLang="zh-CN" sz="2400" dirty="0">
                <a:latin typeface="Times New Roman" panose="02020603050405020304" pitchFamily="18" charset="0"/>
                <a:cs typeface="Times New Roman" panose="02020603050405020304" pitchFamily="18" charset="0"/>
              </a:rPr>
              <a:t> family acts as a type of social organization that places the family ahead of the individual's interests and development. It is part of a traditional view of the society that highlights loyalty and cooperation within the family.</a:t>
            </a: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100951" y="764822"/>
            <a:ext cx="9464675"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3.2.6 The Elderly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P102-106</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
        <p:nvSpPr>
          <p:cNvPr id="6" name="文本框 5"/>
          <p:cNvSpPr txBox="1"/>
          <p:nvPr/>
        </p:nvSpPr>
        <p:spPr>
          <a:xfrm>
            <a:off x="241300" y="2105660"/>
            <a:ext cx="8661400" cy="483108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Learning about and coping with the life changes associated with aging is a cultural universal.</a:t>
            </a:r>
          </a:p>
          <a:p>
            <a:pPr marL="342900" indent="-342900" algn="just">
              <a:buFont typeface="Arial" panose="020B0604020202020204" pitchFamily="34" charset="0"/>
              <a:buChar char="•"/>
            </a:pPr>
            <a:r>
              <a:rPr lang="en-US" altLang="zh-CN" sz="2000" dirty="0">
                <a:solidFill>
                  <a:srgbClr val="FF0000"/>
                </a:solidFill>
                <a:latin typeface="Times New Roman" panose="02020603050405020304" pitchFamily="18" charset="0"/>
                <a:cs typeface="Times New Roman" panose="02020603050405020304" pitchFamily="18" charset="0"/>
              </a:rPr>
              <a:t>United States</a:t>
            </a:r>
            <a:r>
              <a:rPr lang="en-US" altLang="zh-CN" sz="2000" dirty="0">
                <a:latin typeface="Times New Roman" panose="02020603050405020304" pitchFamily="18" charset="0"/>
                <a:cs typeface="Times New Roman" panose="02020603050405020304" pitchFamily="18" charset="0"/>
              </a:rPr>
              <a:t>: most members of the dominant culture have a rather negative perception of the elderly.</a:t>
            </a:r>
          </a:p>
          <a:p>
            <a:pPr marL="342900" indent="-342900" algn="just">
              <a:buFont typeface="Arial" panose="020B0604020202020204" pitchFamily="34" charset="0"/>
              <a:buChar char="•"/>
            </a:pPr>
            <a:r>
              <a:rPr lang="en-US" altLang="zh-CN" sz="2000" dirty="0">
                <a:solidFill>
                  <a:srgbClr val="FF0000"/>
                </a:solidFill>
                <a:latin typeface="Times New Roman" panose="02020603050405020304" pitchFamily="18" charset="0"/>
                <a:cs typeface="Times New Roman" panose="02020603050405020304" pitchFamily="18" charset="0"/>
              </a:rPr>
              <a:t>Latino</a:t>
            </a:r>
            <a:r>
              <a:rPr lang="en-US" altLang="zh-CN" sz="2000" dirty="0">
                <a:latin typeface="Times New Roman" panose="02020603050405020304" pitchFamily="18" charset="0"/>
                <a:cs typeface="Times New Roman" panose="02020603050405020304" pitchFamily="18" charset="0"/>
              </a:rPr>
              <a:t>: the elderly are highly respected, play a dominant role in the family, and are always cared for.</a:t>
            </a:r>
          </a:p>
          <a:p>
            <a:pPr marL="342900" indent="-342900" algn="just">
              <a:buFont typeface="Arial" panose="020B0604020202020204" pitchFamily="34" charset="0"/>
              <a:buChar char="•"/>
            </a:pPr>
            <a:r>
              <a:rPr lang="en-US" altLang="zh-CN" sz="2000" dirty="0">
                <a:solidFill>
                  <a:srgbClr val="FF0000"/>
                </a:solidFill>
                <a:latin typeface="Times New Roman" panose="02020603050405020304" pitchFamily="18" charset="0"/>
                <a:cs typeface="Times New Roman" panose="02020603050405020304" pitchFamily="18" charset="0"/>
              </a:rPr>
              <a:t>Arab</a:t>
            </a:r>
            <a:r>
              <a:rPr lang="en-US" altLang="zh-CN" sz="2000" dirty="0">
                <a:latin typeface="Times New Roman" panose="02020603050405020304" pitchFamily="18" charset="0"/>
                <a:cs typeface="Times New Roman" panose="02020603050405020304" pitchFamily="18" charset="0"/>
              </a:rPr>
              <a:t>: the authority, wisdom, and counsel of elder family members are still to a great extent accepted.</a:t>
            </a:r>
          </a:p>
          <a:p>
            <a:pPr marL="342900" indent="-342900" algn="just">
              <a:buFont typeface="Arial" panose="020B0604020202020204" pitchFamily="34" charset="0"/>
              <a:buChar char="•"/>
            </a:pPr>
            <a:r>
              <a:rPr lang="en-US" altLang="zh-CN" sz="2000" dirty="0">
                <a:solidFill>
                  <a:srgbClr val="FF0000"/>
                </a:solidFill>
                <a:latin typeface="Times New Roman" panose="02020603050405020304" pitchFamily="18" charset="0"/>
                <a:cs typeface="Times New Roman" panose="02020603050405020304" pitchFamily="18" charset="0"/>
              </a:rPr>
              <a:t>Asian</a:t>
            </a:r>
            <a:r>
              <a:rPr lang="en-US" altLang="zh-CN" sz="2000" dirty="0">
                <a:latin typeface="Times New Roman" panose="02020603050405020304" pitchFamily="18" charset="0"/>
                <a:cs typeface="Times New Roman" panose="02020603050405020304" pitchFamily="18" charset="0"/>
              </a:rPr>
              <a:t>: the reason for the respect and reverent attitude toward the elderly is ancestor worship.</a:t>
            </a:r>
          </a:p>
          <a:p>
            <a:pPr marL="342900" indent="-342900" algn="just">
              <a:buFont typeface="Arial" panose="020B0604020202020204" pitchFamily="34" charset="0"/>
              <a:buChar char="•"/>
            </a:pPr>
            <a:r>
              <a:rPr lang="en-US" altLang="zh-CN" sz="2000" dirty="0">
                <a:solidFill>
                  <a:srgbClr val="FF0000"/>
                </a:solidFill>
                <a:latin typeface="Times New Roman" panose="02020603050405020304" pitchFamily="18" charset="0"/>
                <a:cs typeface="Times New Roman" panose="02020603050405020304" pitchFamily="18" charset="0"/>
              </a:rPr>
              <a:t>East African</a:t>
            </a:r>
            <a:r>
              <a:rPr lang="en-US" altLang="zh-CN" sz="2000" dirty="0">
                <a:latin typeface="Times New Roman" panose="02020603050405020304" pitchFamily="18" charset="0"/>
                <a:cs typeface="Times New Roman" panose="02020603050405020304" pitchFamily="18" charset="0"/>
              </a:rPr>
              <a:t>: the elderly preside over the priestly functions of ancestral shrine observances on the household level.</a:t>
            </a:r>
          </a:p>
          <a:p>
            <a:pPr marL="342900" indent="-342900" algn="just">
              <a:buFont typeface="Arial" panose="020B0604020202020204" pitchFamily="34" charset="0"/>
              <a:buChar char="•"/>
            </a:pPr>
            <a:r>
              <a:rPr lang="en-US" altLang="zh-CN" sz="2000" dirty="0">
                <a:solidFill>
                  <a:srgbClr val="FF0000"/>
                </a:solidFill>
                <a:latin typeface="Times New Roman" panose="02020603050405020304" pitchFamily="18" charset="0"/>
                <a:cs typeface="Times New Roman" panose="02020603050405020304" pitchFamily="18" charset="0"/>
              </a:rPr>
              <a:t>American Indian</a:t>
            </a:r>
            <a:r>
              <a:rPr lang="en-US" altLang="zh-CN" sz="2000" dirty="0">
                <a:latin typeface="Times New Roman" panose="02020603050405020304" pitchFamily="18" charset="0"/>
                <a:cs typeface="Times New Roman" panose="02020603050405020304" pitchFamily="18" charset="0"/>
              </a:rPr>
              <a:t>: there is a deep and clear deference and respect regarding the elderly.</a:t>
            </a:r>
          </a:p>
          <a:p>
            <a:pPr marL="342900" indent="-342900" algn="just">
              <a:buFont typeface="Arial" panose="020B0604020202020204" pitchFamily="34" charset="0"/>
              <a:buChar char="•"/>
            </a:pPr>
            <a:r>
              <a:rPr lang="en-US" altLang="zh-CN" sz="2000" dirty="0">
                <a:solidFill>
                  <a:srgbClr val="FF0000"/>
                </a:solidFill>
                <a:latin typeface="Times New Roman" panose="02020603050405020304" pitchFamily="18" charset="0"/>
                <a:cs typeface="Times New Roman" panose="02020603050405020304" pitchFamily="18" charset="0"/>
              </a:rPr>
              <a:t>African American</a:t>
            </a:r>
            <a:r>
              <a:rPr lang="en-US" altLang="zh-CN" sz="2000" dirty="0">
                <a:latin typeface="Times New Roman" panose="02020603050405020304" pitchFamily="18" charset="0"/>
                <a:cs typeface="Times New Roman" panose="02020603050405020304" pitchFamily="18" charset="0"/>
              </a:rPr>
              <a:t>: elders are recognized, empowered, and authenticated.</a:t>
            </a:r>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114911" y="794618"/>
            <a:ext cx="9464675"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3.2.6 The Elderly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P106</a:t>
            </a:r>
            <a:r>
              <a:rPr lang="en-US" altLang="zh-CN" sz="40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241300" y="2213067"/>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There are numerous </a:t>
            </a:r>
            <a:r>
              <a:rPr lang="en-US" altLang="zh-CN" sz="2400" dirty="0">
                <a:solidFill>
                  <a:srgbClr val="FF0000"/>
                </a:solidFill>
                <a:latin typeface="Times New Roman" panose="02020603050405020304" pitchFamily="18" charset="0"/>
                <a:cs typeface="Times New Roman" panose="02020603050405020304" pitchFamily="18" charset="0"/>
              </a:rPr>
              <a:t>reasons</a:t>
            </a:r>
            <a:r>
              <a:rPr lang="en-US" altLang="zh-CN" sz="2400" dirty="0">
                <a:latin typeface="Times New Roman" panose="02020603050405020304" pitchFamily="18" charset="0"/>
                <a:cs typeface="Times New Roman" panose="02020603050405020304" pitchFamily="18" charset="0"/>
              </a:rPr>
              <a:t> for the subtle and obvious changes to families throughout the world which influence how the elderly are perceived and treated.</a:t>
            </a:r>
          </a:p>
          <a:p>
            <a:pPr marL="342900" indent="-342900" algn="just">
              <a:buFont typeface="Arial" panose="020B0604020202020204" pitchFamily="34" charset="0"/>
              <a:buChar char="•"/>
            </a:pPr>
            <a:r>
              <a:rPr lang="en-US" altLang="zh-CN" sz="2400" dirty="0">
                <a:solidFill>
                  <a:srgbClr val="FF0000"/>
                </a:solidFill>
                <a:latin typeface="Times New Roman" panose="02020603050405020304" pitchFamily="18" charset="0"/>
                <a:cs typeface="Times New Roman" panose="02020603050405020304" pitchFamily="18" charset="0"/>
              </a:rPr>
              <a:t>First</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the population is getting older</a:t>
            </a:r>
            <a:r>
              <a:rPr lang="en-US" altLang="zh-CN" sz="2400" dirty="0">
                <a:latin typeface="Times New Roman" panose="02020603050405020304" pitchFamily="18" charset="0"/>
                <a:cs typeface="Times New Roman" panose="02020603050405020304" pitchFamily="18" charset="0"/>
              </a:rPr>
              <a:t>. Across the globe, medical advances have produced a period in history where people are living longer. </a:t>
            </a:r>
          </a:p>
          <a:p>
            <a:pPr marL="342900" indent="-342900" algn="just">
              <a:buFont typeface="Arial" panose="020B0604020202020204" pitchFamily="34" charset="0"/>
              <a:buChar char="•"/>
            </a:pPr>
            <a:r>
              <a:rPr lang="en-US" altLang="zh-CN" sz="2400" dirty="0">
                <a:solidFill>
                  <a:srgbClr val="FF0000"/>
                </a:solidFill>
                <a:latin typeface="Times New Roman" panose="02020603050405020304" pitchFamily="18" charset="0"/>
                <a:cs typeface="Times New Roman" panose="02020603050405020304" pitchFamily="18" charset="0"/>
              </a:rPr>
              <a:t>Second</a:t>
            </a:r>
            <a:r>
              <a:rPr lang="en-US" altLang="zh-CN" sz="2400" dirty="0">
                <a:latin typeface="Times New Roman" panose="02020603050405020304" pitchFamily="18" charset="0"/>
                <a:cs typeface="Times New Roman" panose="02020603050405020304" pitchFamily="18" charset="0"/>
              </a:rPr>
              <a:t>, one of the end products of globalization is that more and more people are </a:t>
            </a:r>
            <a:r>
              <a:rPr lang="en-US" altLang="zh-CN" sz="2400" dirty="0">
                <a:solidFill>
                  <a:srgbClr val="FF0000"/>
                </a:solidFill>
                <a:latin typeface="Times New Roman" panose="02020603050405020304" pitchFamily="18" charset="0"/>
                <a:cs typeface="Times New Roman" panose="02020603050405020304" pitchFamily="18" charset="0"/>
              </a:rPr>
              <a:t>moving away from their established communities</a:t>
            </a:r>
            <a:r>
              <a:rPr lang="en-US" altLang="zh-CN"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altLang="zh-CN" sz="2400" dirty="0">
                <a:solidFill>
                  <a:srgbClr val="FF0000"/>
                </a:solidFill>
                <a:latin typeface="Times New Roman" panose="02020603050405020304" pitchFamily="18" charset="0"/>
                <a:cs typeface="Times New Roman" panose="02020603050405020304" pitchFamily="18" charset="0"/>
              </a:rPr>
              <a:t>Third</a:t>
            </a:r>
            <a:r>
              <a:rPr lang="en-US" altLang="zh-CN" sz="2400" dirty="0">
                <a:latin typeface="Times New Roman" panose="02020603050405020304" pitchFamily="18" charset="0"/>
                <a:cs typeface="Times New Roman" panose="02020603050405020304" pitchFamily="18" charset="0"/>
              </a:rPr>
              <a:t>, there are </a:t>
            </a:r>
            <a:r>
              <a:rPr lang="en-US" altLang="zh-CN" sz="2400" dirty="0">
                <a:solidFill>
                  <a:srgbClr val="FF0000"/>
                </a:solidFill>
                <a:latin typeface="Times New Roman" panose="02020603050405020304" pitchFamily="18" charset="0"/>
                <a:cs typeface="Times New Roman" panose="02020603050405020304" pitchFamily="18" charset="0"/>
              </a:rPr>
              <a:t>a number of common pressures and processes </a:t>
            </a:r>
            <a:r>
              <a:rPr lang="en-US" altLang="zh-CN" sz="2400" dirty="0">
                <a:latin typeface="Times New Roman" panose="02020603050405020304" pitchFamily="18" charset="0"/>
                <a:cs typeface="Times New Roman" panose="02020603050405020304" pitchFamily="18" charset="0"/>
              </a:rPr>
              <a:t>confronting family structures and resources. Social change, demographic shifts, and changes in economics and the labor market are some of the key drivers of family change.</a:t>
            </a: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8039DF1D-25C3-4270-8987-608AA9C1DDB5}"/>
              </a:ext>
            </a:extLst>
          </p:cNvPr>
          <p:cNvSpPr>
            <a:spLocks noGrp="1" noRot="1" noChangeArrowheads="1"/>
          </p:cNvSpPr>
          <p:nvPr>
            <p:ph type="title"/>
          </p:nvPr>
        </p:nvSpPr>
        <p:spPr/>
        <p:txBody>
          <a:bodyPr/>
          <a:lstStyle/>
          <a:p>
            <a:r>
              <a:rPr lang="en-US" altLang="zh-CN"/>
              <a:t>People in old age </a:t>
            </a:r>
          </a:p>
        </p:txBody>
      </p:sp>
      <p:sp>
        <p:nvSpPr>
          <p:cNvPr id="39939" name="Rectangle 3">
            <a:extLst>
              <a:ext uri="{FF2B5EF4-FFF2-40B4-BE49-F238E27FC236}">
                <a16:creationId xmlns:a16="http://schemas.microsoft.com/office/drawing/2014/main" id="{3D8880C6-EA47-4C6F-984A-C8DFEB5269FD}"/>
              </a:ext>
            </a:extLst>
          </p:cNvPr>
          <p:cNvSpPr>
            <a:spLocks noGrp="1" noRot="1" noChangeArrowheads="1"/>
          </p:cNvSpPr>
          <p:nvPr>
            <p:ph type="body" idx="1"/>
          </p:nvPr>
        </p:nvSpPr>
        <p:spPr/>
        <p:txBody>
          <a:bodyPr/>
          <a:lstStyle/>
          <a:p>
            <a:endParaRPr lang="zh-CN" altLang="zh-CN"/>
          </a:p>
        </p:txBody>
      </p:sp>
      <p:pic>
        <p:nvPicPr>
          <p:cNvPr id="39940" name="Picture 4" descr="519f3529af308ff398250a37">
            <a:extLst>
              <a:ext uri="{FF2B5EF4-FFF2-40B4-BE49-F238E27FC236}">
                <a16:creationId xmlns:a16="http://schemas.microsoft.com/office/drawing/2014/main" id="{0BAA1F5D-27C1-4039-B182-AC8926E77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4267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5" descr="3_201001061327341i322">
            <a:extLst>
              <a:ext uri="{FF2B5EF4-FFF2-40B4-BE49-F238E27FC236}">
                <a16:creationId xmlns:a16="http://schemas.microsoft.com/office/drawing/2014/main" id="{C08EDA71-C8FA-4F90-B926-E46BA4EF8A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600200"/>
            <a:ext cx="4114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E8514E4-859A-4095-8817-5ACEC4510B3A}"/>
              </a:ext>
            </a:extLst>
          </p:cNvPr>
          <p:cNvSpPr>
            <a:spLocks noGrp="1" noRot="1" noChangeArrowheads="1"/>
          </p:cNvSpPr>
          <p:nvPr>
            <p:ph type="title"/>
          </p:nvPr>
        </p:nvSpPr>
        <p:spPr/>
        <p:txBody>
          <a:bodyPr/>
          <a:lstStyle/>
          <a:p>
            <a:r>
              <a:rPr lang="en-US" altLang="zh-CN"/>
              <a:t>Life in old age </a:t>
            </a:r>
          </a:p>
        </p:txBody>
      </p:sp>
      <p:sp>
        <p:nvSpPr>
          <p:cNvPr id="40963" name="Rectangle 3">
            <a:extLst>
              <a:ext uri="{FF2B5EF4-FFF2-40B4-BE49-F238E27FC236}">
                <a16:creationId xmlns:a16="http://schemas.microsoft.com/office/drawing/2014/main" id="{5B733EA8-6A41-4042-B1E3-2FCB0FF7500D}"/>
              </a:ext>
            </a:extLst>
          </p:cNvPr>
          <p:cNvSpPr>
            <a:spLocks noGrp="1" noRot="1" noChangeArrowheads="1"/>
          </p:cNvSpPr>
          <p:nvPr>
            <p:ph type="body" idx="1"/>
          </p:nvPr>
        </p:nvSpPr>
        <p:spPr/>
        <p:txBody>
          <a:bodyPr/>
          <a:lstStyle/>
          <a:p>
            <a:endParaRPr lang="zh-CN" altLang="zh-CN"/>
          </a:p>
        </p:txBody>
      </p:sp>
      <p:pic>
        <p:nvPicPr>
          <p:cNvPr id="40964" name="Picture 5">
            <a:extLst>
              <a:ext uri="{FF2B5EF4-FFF2-40B4-BE49-F238E27FC236}">
                <a16:creationId xmlns:a16="http://schemas.microsoft.com/office/drawing/2014/main" id="{9E820B9D-7225-43A0-9844-AAC04EBEE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086"/>
          <a:stretch>
            <a:fillRect/>
          </a:stretch>
        </p:blipFill>
        <p:spPr bwMode="auto">
          <a:xfrm>
            <a:off x="457200" y="1600200"/>
            <a:ext cx="82296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44D1B938-33A5-4A87-A277-5B170BD10561}"/>
              </a:ext>
            </a:extLst>
          </p:cNvPr>
          <p:cNvSpPr txBox="1">
            <a:spLocks noRot="1" noChangeArrowheads="1"/>
          </p:cNvSpPr>
          <p:nvPr/>
        </p:nvSpPr>
        <p:spPr bwMode="auto">
          <a:xfrm>
            <a:off x="179388" y="1341438"/>
            <a:ext cx="822960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dirty="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dirty="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dirty="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dirty="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dirty="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dirty="0">
              <a:ln>
                <a:noFill/>
              </a:ln>
              <a:solidFill>
                <a:srgbClr val="000000"/>
              </a:solidFill>
              <a:effectLst/>
              <a:uLnTx/>
              <a:uFillTx/>
              <a:latin typeface="Arial"/>
              <a:ea typeface="宋体"/>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zh-CN" sz="3200" b="1" i="0" u="none" strike="noStrike" kern="1200" cap="none" spc="0" normalizeH="0" baseline="0" noProof="0" dirty="0">
              <a:ln>
                <a:noFill/>
              </a:ln>
              <a:solidFill>
                <a:srgbClr val="000000"/>
              </a:solidFill>
              <a:effectLst/>
              <a:uLnTx/>
              <a:uFillTx/>
              <a:latin typeface="Arial"/>
              <a:ea typeface="宋体"/>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US" altLang="zh-CN" sz="3200" b="1" i="0" u="none" strike="noStrike" kern="1200" cap="none" spc="0" normalizeH="0" baseline="0" noProof="0" dirty="0">
              <a:ln>
                <a:noFill/>
              </a:ln>
              <a:solidFill>
                <a:srgbClr val="000000"/>
              </a:solidFill>
              <a:effectLst/>
              <a:uLnTx/>
              <a:uFillTx/>
              <a:latin typeface="Arial"/>
              <a:ea typeface="宋体"/>
              <a:cs typeface="+mn-cs"/>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altLang="zh-CN" sz="3200" b="1" i="0" u="none" strike="noStrike" kern="1200" cap="none" spc="0" normalizeH="0" baseline="0" noProof="0" dirty="0">
                <a:ln>
                  <a:noFill/>
                </a:ln>
                <a:solidFill>
                  <a:srgbClr val="000000"/>
                </a:solidFill>
                <a:effectLst/>
                <a:uLnTx/>
                <a:uFillTx/>
                <a:latin typeface="Arial"/>
                <a:ea typeface="宋体"/>
                <a:cs typeface="+mn-cs"/>
              </a:rPr>
              <a:t>         West                                  China</a:t>
            </a:r>
            <a:endParaRPr kumimoji="0" lang="zh-CN" altLang="zh-CN" sz="3200" b="1" i="0" u="none" strike="noStrike" kern="1200" cap="none" spc="0" normalizeH="0" baseline="0" noProof="0" dirty="0">
              <a:ln>
                <a:noFill/>
              </a:ln>
              <a:solidFill>
                <a:srgbClr val="000000"/>
              </a:solidFill>
              <a:effectLst/>
              <a:uLnTx/>
              <a:uFillTx/>
              <a:latin typeface="Arial"/>
              <a:ea typeface="宋体"/>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135851" y="778510"/>
            <a:ext cx="9464675"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3.2.7 Social Skills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P107</a:t>
            </a:r>
            <a:r>
              <a:rPr lang="en-US" altLang="zh-CN" sz="40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135851" y="2287532"/>
            <a:ext cx="8661400" cy="4401205"/>
          </a:xfrm>
          <a:prstGeom prst="rect">
            <a:avLst/>
          </a:prstGeom>
          <a:noFill/>
        </p:spPr>
        <p:txBody>
          <a:bodyPr wrap="square" rtlCol="0">
            <a:spAutoFit/>
          </a:bodyPr>
          <a:lstStyle/>
          <a:p>
            <a:pPr algn="just"/>
            <a:r>
              <a:rPr lang="en-US" altLang="zh-CN" sz="2800" dirty="0">
                <a:latin typeface="Times New Roman" panose="02020603050405020304" pitchFamily="18" charset="0"/>
                <a:cs typeface="Times New Roman" panose="02020603050405020304" pitchFamily="18" charset="0"/>
              </a:rPr>
              <a:t>    It is a major family responsibility to </a:t>
            </a:r>
            <a:r>
              <a:rPr lang="en-US" altLang="zh-CN" sz="2800" dirty="0">
                <a:solidFill>
                  <a:srgbClr val="FF0000"/>
                </a:solidFill>
                <a:latin typeface="Times New Roman" panose="02020603050405020304" pitchFamily="18" charset="0"/>
                <a:cs typeface="Times New Roman" panose="02020603050405020304" pitchFamily="18" charset="0"/>
              </a:rPr>
              <a:t>teach</a:t>
            </a:r>
            <a:r>
              <a:rPr lang="en-US" altLang="zh-CN" sz="2800" dirty="0">
                <a:latin typeface="Times New Roman" panose="02020603050405020304" pitchFamily="18" charset="0"/>
                <a:cs typeface="Times New Roman" panose="02020603050405020304" pitchFamily="18" charset="0"/>
              </a:rPr>
              <a:t> the numerous “</a:t>
            </a:r>
            <a:r>
              <a:rPr lang="en-US" altLang="zh-CN" sz="2800" dirty="0">
                <a:solidFill>
                  <a:srgbClr val="FF0000"/>
                </a:solidFill>
                <a:latin typeface="Times New Roman" panose="02020603050405020304" pitchFamily="18" charset="0"/>
                <a:cs typeface="Times New Roman" panose="02020603050405020304" pitchFamily="18" charset="0"/>
              </a:rPr>
              <a:t>cultural skills</a:t>
            </a:r>
            <a:r>
              <a:rPr lang="en-US" altLang="zh-CN" sz="2800" dirty="0">
                <a:latin typeface="Times New Roman" panose="02020603050405020304" pitchFamily="18" charset="0"/>
                <a:cs typeface="Times New Roman" panose="02020603050405020304" pitchFamily="18" charset="0"/>
              </a:rPr>
              <a:t>” a person will need to function effectively. Parents serve as models within the family environment, influencing the development of their children's social skills. That is, children </a:t>
            </a:r>
            <a:r>
              <a:rPr lang="en-US" altLang="zh-CN" sz="2800" dirty="0">
                <a:solidFill>
                  <a:srgbClr val="FF0000"/>
                </a:solidFill>
                <a:latin typeface="Times New Roman" panose="02020603050405020304" pitchFamily="18" charset="0"/>
                <a:cs typeface="Times New Roman" panose="02020603050405020304" pitchFamily="18" charset="0"/>
              </a:rPr>
              <a:t>learn</a:t>
            </a:r>
            <a:r>
              <a:rPr lang="en-US" altLang="zh-CN" sz="2800" dirty="0">
                <a:latin typeface="Times New Roman" panose="02020603050405020304" pitchFamily="18" charset="0"/>
                <a:cs typeface="Times New Roman" panose="02020603050405020304" pitchFamily="18" charset="0"/>
              </a:rPr>
              <a:t> how to interact with </a:t>
            </a:r>
            <a:r>
              <a:rPr lang="en-US" altLang="zh-CN" sz="2800" dirty="0">
                <a:solidFill>
                  <a:srgbClr val="FF0000"/>
                </a:solidFill>
                <a:latin typeface="Times New Roman" panose="02020603050405020304" pitchFamily="18" charset="0"/>
                <a:cs typeface="Times New Roman" panose="02020603050405020304" pitchFamily="18" charset="0"/>
              </a:rPr>
              <a:t>others by observing and imitating</a:t>
            </a:r>
            <a:r>
              <a:rPr lang="en-US" altLang="zh-CN" sz="2800" dirty="0">
                <a:latin typeface="Times New Roman" panose="02020603050405020304" pitchFamily="18" charset="0"/>
                <a:cs typeface="Times New Roman" panose="02020603050405020304" pitchFamily="18" charset="0"/>
              </a:rPr>
              <a:t> the ways in which their parents interact with others. The extent to which children and adolescents possess good social skills can influence their academic performance, behavior, social and family relationships, and involvement in extracurricular activities.</a:t>
            </a: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4" name="文本框 3"/>
          <p:cNvSpPr txBox="1"/>
          <p:nvPr/>
        </p:nvSpPr>
        <p:spPr>
          <a:xfrm>
            <a:off x="295910" y="2227580"/>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 sampling of some of the </a:t>
            </a:r>
            <a:r>
              <a:rPr lang="en-US" altLang="zh-CN" sz="2400" dirty="0">
                <a:solidFill>
                  <a:srgbClr val="FF0000"/>
                </a:solidFill>
                <a:latin typeface="Times New Roman" panose="02020603050405020304" pitchFamily="18" charset="0"/>
                <a:cs typeface="Times New Roman" panose="02020603050405020304" pitchFamily="18" charset="0"/>
              </a:rPr>
              <a:t>basic communication skills </a:t>
            </a:r>
            <a:r>
              <a:rPr lang="en-US" altLang="zh-CN" sz="2400" dirty="0">
                <a:latin typeface="Times New Roman" panose="02020603050405020304" pitchFamily="18" charset="0"/>
                <a:cs typeface="Times New Roman" panose="02020603050405020304" pitchFamily="18" charset="0"/>
              </a:rPr>
              <a:t>each child must learn are listed below:</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When and how to disclose personal information to others.</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How to show respect to other people. </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How to start, maintain, and end a conversation.</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Taking turns when interacting. When to listen and when to speak.</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When not to interrupt.</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The use of silence.</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The correct volume for each setting.</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Knowing appropriate and inappropriate topics of conversation.</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How to use humor.</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Correct use of nonverbal communication. Who can be touched? Where can they be touched?</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a:t>
            </a:r>
          </a:p>
        </p:txBody>
      </p:sp>
      <p:sp>
        <p:nvSpPr>
          <p:cNvPr id="5" name="文本框 4"/>
          <p:cNvSpPr txBox="1"/>
          <p:nvPr/>
        </p:nvSpPr>
        <p:spPr>
          <a:xfrm>
            <a:off x="0" y="719420"/>
            <a:ext cx="9464675"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3.2.7 Social Skills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P107-108</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0" y="785960"/>
            <a:ext cx="9464675"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3.2.7 Social Skills</a:t>
            </a:r>
            <a:r>
              <a:rPr lang="en-US" altLang="zh-CN" sz="40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262871" y="2604134"/>
            <a:ext cx="8816975" cy="1912062"/>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Communication skills</a:t>
            </a:r>
          </a:p>
          <a:p>
            <a:pPr marL="285750" indent="-285750">
              <a:lnSpc>
                <a:spcPct val="200000"/>
              </a:lnSpc>
              <a:buFont typeface="Arial" panose="020B0604020202020204" pitchFamily="34" charset="0"/>
              <a:buChar char="•"/>
            </a:pPr>
            <a:r>
              <a:rPr lang="en-US" altLang="zh-CN" sz="3200" dirty="0">
                <a:latin typeface="Times New Roman" panose="02020603050405020304" pitchFamily="18" charset="0"/>
                <a:cs typeface="Times New Roman" panose="02020603050405020304" pitchFamily="18" charset="0"/>
              </a:rPr>
              <a:t>Aggressive behavior</a:t>
            </a: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114910" y="744080"/>
            <a:ext cx="9464675"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3.2.7.1 Communication Skills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P108</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
        <p:nvSpPr>
          <p:cNvPr id="4" name="文本框 3"/>
          <p:cNvSpPr txBox="1"/>
          <p:nvPr/>
        </p:nvSpPr>
        <p:spPr>
          <a:xfrm>
            <a:off x="241300" y="2574490"/>
            <a:ext cx="8661400" cy="3970318"/>
          </a:xfrm>
          <a:prstGeom prst="rect">
            <a:avLst/>
          </a:prstGeom>
          <a:noFill/>
        </p:spPr>
        <p:txBody>
          <a:bodyPr wrap="square" rtlCol="0">
            <a:spAutoFit/>
          </a:bodyPr>
          <a:lstStyle/>
          <a:p>
            <a:pPr algn="just"/>
            <a:r>
              <a:rPr lang="en-US" altLang="zh-CN" sz="2800" dirty="0">
                <a:latin typeface="Times New Roman" panose="02020603050405020304" pitchFamily="18" charset="0"/>
                <a:cs typeface="Times New Roman" panose="02020603050405020304" pitchFamily="18" charset="0"/>
              </a:rPr>
              <a:t>    Cultural differences in the teaching of communication skills can be observed when family patterns regarding how children are taught the value placed on interaction are considered. Children must learn about words and nonverbal actions so that they can become competent members of their culture. </a:t>
            </a:r>
            <a:r>
              <a:rPr lang="en-US" altLang="zh-CN" sz="2800" dirty="0">
                <a:solidFill>
                  <a:srgbClr val="FF0000"/>
                </a:solidFill>
                <a:latin typeface="Times New Roman" panose="02020603050405020304" pitchFamily="18" charset="0"/>
                <a:cs typeface="Times New Roman" panose="02020603050405020304" pitchFamily="18" charset="0"/>
              </a:rPr>
              <a:t>Through this language socialization, children learn the behaviors that are culturally appropriate in their community. </a:t>
            </a:r>
            <a:r>
              <a:rPr lang="en-US" altLang="zh-CN" sz="2800" dirty="0">
                <a:latin typeface="Times New Roman" panose="02020603050405020304" pitchFamily="18" charset="0"/>
                <a:cs typeface="Times New Roman" panose="02020603050405020304" pitchFamily="18" charset="0"/>
              </a:rPr>
              <a:t>Of course, what is “appropriate” is rooted in culture.</a:t>
            </a:r>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241300" y="555342"/>
            <a:ext cx="9464675" cy="706755"/>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sym typeface="+mn-ea"/>
              </a:rPr>
              <a:t>3.2.7.2 Aggressive Behaviors </a:t>
            </a:r>
            <a:r>
              <a:rPr lang="en-US" altLang="zh-CN" sz="4000" b="1" dirty="0">
                <a:highlight>
                  <a:srgbClr val="FFFF00"/>
                </a:highlight>
                <a:latin typeface="Times New Roman" panose="02020603050405020304" pitchFamily="18" charset="0"/>
                <a:cs typeface="Times New Roman" panose="02020603050405020304" pitchFamily="18" charset="0"/>
                <a:sym typeface="+mn-ea"/>
              </a:rPr>
              <a:t>P108-109</a:t>
            </a:r>
            <a:r>
              <a:rPr lang="en-US" altLang="zh-CN" sz="4000" b="1" dirty="0">
                <a:highlight>
                  <a:srgbClr val="FFFF00"/>
                </a:highlight>
                <a:latin typeface="Times New Roman" panose="02020603050405020304" pitchFamily="18" charset="0"/>
                <a:cs typeface="Times New Roman" panose="02020603050405020304" pitchFamily="18" charset="0"/>
              </a:rPr>
              <a:t> </a:t>
            </a:r>
          </a:p>
        </p:txBody>
      </p:sp>
      <p:sp>
        <p:nvSpPr>
          <p:cNvPr id="4" name="文本框 3"/>
          <p:cNvSpPr txBox="1"/>
          <p:nvPr/>
        </p:nvSpPr>
        <p:spPr>
          <a:xfrm>
            <a:off x="241300" y="2664460"/>
            <a:ext cx="8661400" cy="341503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Another example of cultural differences in child-rearing practices can be seen in </a:t>
            </a:r>
            <a:r>
              <a:rPr lang="en-US" altLang="zh-CN" sz="2400" dirty="0">
                <a:solidFill>
                  <a:srgbClr val="FF0000"/>
                </a:solidFill>
                <a:latin typeface="Times New Roman" panose="02020603050405020304" pitchFamily="18" charset="0"/>
                <a:cs typeface="Times New Roman" panose="02020603050405020304" pitchFamily="18" charset="0"/>
              </a:rPr>
              <a:t>a culture's acceptance or rejection of aggressive verbal and/or nonverbal behavior</a:t>
            </a:r>
            <a:r>
              <a:rPr lang="en-US" altLang="zh-CN" sz="2400" dirty="0">
                <a:latin typeface="Times New Roman" panose="02020603050405020304" pitchFamily="18" charset="0"/>
                <a:cs typeface="Times New Roman" panose="02020603050405020304" pitchFamily="18" charset="0"/>
              </a:rPr>
              <a:t>. Culture is an important factor that plays a role in aggression. </a:t>
            </a:r>
            <a:r>
              <a:rPr lang="en-US" altLang="zh-CN" sz="2400" dirty="0">
                <a:solidFill>
                  <a:srgbClr val="FF0000"/>
                </a:solidFill>
                <a:latin typeface="Times New Roman" panose="02020603050405020304" pitchFamily="18" charset="0"/>
                <a:cs typeface="Times New Roman" panose="02020603050405020304" pitchFamily="18" charset="0"/>
              </a:rPr>
              <a:t>Some</a:t>
            </a:r>
            <a:r>
              <a:rPr lang="en-US" altLang="zh-CN" sz="2400" dirty="0">
                <a:latin typeface="Times New Roman" panose="02020603050405020304" pitchFamily="18" charset="0"/>
                <a:cs typeface="Times New Roman" panose="02020603050405020304" pitchFamily="18" charset="0"/>
              </a:rPr>
              <a:t> cultures are </a:t>
            </a:r>
            <a:r>
              <a:rPr lang="en-US" altLang="zh-CN" sz="2400" dirty="0">
                <a:solidFill>
                  <a:srgbClr val="FF0000"/>
                </a:solidFill>
                <a:latin typeface="Times New Roman" panose="02020603050405020304" pitchFamily="18" charset="0"/>
                <a:cs typeface="Times New Roman" panose="02020603050405020304" pitchFamily="18" charset="0"/>
              </a:rPr>
              <a:t>low in aggression</a:t>
            </a:r>
            <a:r>
              <a:rPr lang="en-US" altLang="zh-CN" sz="2400" dirty="0">
                <a:latin typeface="Times New Roman" panose="02020603050405020304" pitchFamily="18" charset="0"/>
                <a:cs typeface="Times New Roman" panose="02020603050405020304" pitchFamily="18" charset="0"/>
              </a:rPr>
              <a:t>, whereas </a:t>
            </a:r>
            <a:r>
              <a:rPr lang="en-US" altLang="zh-CN" sz="2400" dirty="0">
                <a:solidFill>
                  <a:srgbClr val="FF0000"/>
                </a:solidFill>
                <a:latin typeface="Times New Roman" panose="02020603050405020304" pitchFamily="18" charset="0"/>
                <a:cs typeface="Times New Roman" panose="02020603050405020304" pitchFamily="18" charset="0"/>
              </a:rPr>
              <a:t>others</a:t>
            </a:r>
            <a:r>
              <a:rPr lang="en-US" altLang="zh-CN" sz="2400" dirty="0">
                <a:latin typeface="Times New Roman" panose="02020603050405020304" pitchFamily="18" charset="0"/>
                <a:cs typeface="Times New Roman" panose="02020603050405020304" pitchFamily="18" charset="0"/>
              </a:rPr>
              <a:t> are marked by </a:t>
            </a:r>
            <a:r>
              <a:rPr lang="en-US" altLang="zh-CN" sz="2400" dirty="0">
                <a:solidFill>
                  <a:srgbClr val="FF0000"/>
                </a:solidFill>
                <a:latin typeface="Times New Roman" panose="02020603050405020304" pitchFamily="18" charset="0"/>
                <a:cs typeface="Times New Roman" panose="02020603050405020304" pitchFamily="18" charset="0"/>
              </a:rPr>
              <a:t>a high level of aggression</a:t>
            </a:r>
            <a:r>
              <a:rPr lang="en-US" altLang="zh-CN" sz="2400" dirty="0">
                <a:latin typeface="Times New Roman" panose="02020603050405020304" pitchFamily="18" charset="0"/>
                <a:cs typeface="Times New Roman" panose="02020603050405020304" pitchFamily="18" charset="0"/>
              </a:rPr>
              <a:t>. </a:t>
            </a:r>
          </a:p>
          <a:p>
            <a:pPr algn="just"/>
            <a:r>
              <a:rPr lang="en-US" altLang="zh-CN" sz="2400" dirty="0">
                <a:latin typeface="Times New Roman" panose="02020603050405020304" pitchFamily="18" charset="0"/>
                <a:cs typeface="Times New Roman" panose="02020603050405020304" pitchFamily="18" charset="0"/>
              </a:rPr>
              <a:t>    To be more specific, studies reveal the propensity toward aggressive behavior in most individualistic cultures, while in collective cultures (more common in Latin America and Asia,) the kind of assertive behavior would be regarded as rude and insensitive.</a:t>
            </a:r>
          </a:p>
        </p:txBody>
      </p:sp>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71120" y="890454"/>
            <a:ext cx="9464675" cy="1200329"/>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sym typeface="+mn-ea"/>
              </a:rPr>
              <a:t>3.2.8 Developing Communication Competence Through the Family</a:t>
            </a:r>
          </a:p>
          <a:p>
            <a:r>
              <a:rPr lang="en-US" altLang="zh-CN" sz="2400" b="1" dirty="0">
                <a:highlight>
                  <a:srgbClr val="FFFF00"/>
                </a:highlight>
                <a:latin typeface="Times New Roman" panose="02020603050405020304" pitchFamily="18" charset="0"/>
                <a:cs typeface="Times New Roman" panose="02020603050405020304" pitchFamily="18" charset="0"/>
                <a:sym typeface="+mn-ea"/>
              </a:rPr>
              <a:t>P109</a:t>
            </a:r>
            <a:endParaRPr lang="en-US" altLang="zh-CN" sz="2400" b="1" dirty="0">
              <a:highlight>
                <a:srgbClr val="FFFF00"/>
              </a:highlight>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241300" y="2172970"/>
            <a:ext cx="8661400" cy="4523105"/>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To communicate effectively with people of cultures different from one's own requires an appreciation of the role that family plays within those cultures. The reason for needing such a fund of knowledge about families is that a person's family influences how they communicate.</a:t>
            </a:r>
          </a:p>
          <a:p>
            <a:pPr algn="just"/>
            <a:r>
              <a:rPr lang="en-US" altLang="zh-CN" sz="2400" dirty="0">
                <a:latin typeface="Times New Roman" panose="02020603050405020304" pitchFamily="18" charset="0"/>
                <a:cs typeface="Times New Roman" panose="02020603050405020304" pitchFamily="18" charset="0"/>
              </a:rPr>
              <a:t>    An understanding of </a:t>
            </a:r>
            <a:r>
              <a:rPr lang="en-US" altLang="zh-CN" sz="2400" dirty="0">
                <a:solidFill>
                  <a:srgbClr val="FF0000"/>
                </a:solidFill>
                <a:latin typeface="Times New Roman" panose="02020603050405020304" pitchFamily="18" charset="0"/>
                <a:cs typeface="Times New Roman" panose="02020603050405020304" pitchFamily="18" charset="0"/>
              </a:rPr>
              <a:t>the role of family in communication exchanges </a:t>
            </a:r>
            <a:r>
              <a:rPr lang="en-US" altLang="zh-CN" sz="2400" dirty="0">
                <a:latin typeface="Times New Roman" panose="02020603050405020304" pitchFamily="18" charset="0"/>
                <a:cs typeface="Times New Roman" panose="02020603050405020304" pitchFamily="18" charset="0"/>
              </a:rPr>
              <a:t>is important on two counts:</a:t>
            </a:r>
          </a:p>
          <a:p>
            <a:pPr marL="342900" indent="-342900" algn="just">
              <a:buFont typeface="Arial" panose="020B0604020202020204" pitchFamily="34" charset="0"/>
              <a:buChar char="•"/>
            </a:pPr>
            <a:r>
              <a:rPr lang="en-US" altLang="zh-CN" sz="2400" dirty="0">
                <a:solidFill>
                  <a:srgbClr val="FF0000"/>
                </a:solidFill>
                <a:latin typeface="Times New Roman" panose="02020603050405020304" pitchFamily="18" charset="0"/>
                <a:cs typeface="Times New Roman" panose="02020603050405020304" pitchFamily="18" charset="0"/>
              </a:rPr>
              <a:t>First</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worldwide globalization and demographic changes </a:t>
            </a:r>
            <a:r>
              <a:rPr lang="en-US" altLang="zh-CN" sz="2400" dirty="0">
                <a:latin typeface="Times New Roman" panose="02020603050405020304" pitchFamily="18" charset="0"/>
                <a:cs typeface="Times New Roman" panose="02020603050405020304" pitchFamily="18" charset="0"/>
              </a:rPr>
              <a:t>in the United States have created a situation where settings involving communication have increased in both frequency and variety.</a:t>
            </a:r>
          </a:p>
          <a:p>
            <a:pPr marL="342900" indent="-342900" algn="just">
              <a:buFont typeface="Arial" panose="020B0604020202020204" pitchFamily="34" charset="0"/>
              <a:buChar char="•"/>
            </a:pPr>
            <a:r>
              <a:rPr lang="en-US" altLang="zh-CN" sz="2400" dirty="0">
                <a:solidFill>
                  <a:srgbClr val="FF0000"/>
                </a:solidFill>
                <a:latin typeface="Times New Roman" panose="02020603050405020304" pitchFamily="18" charset="0"/>
                <a:cs typeface="Times New Roman" panose="02020603050405020304" pitchFamily="18" charset="0"/>
              </a:rPr>
              <a:t>Second</a:t>
            </a:r>
            <a:r>
              <a:rPr lang="en-US" altLang="zh-CN" sz="2400" dirty="0">
                <a:latin typeface="Times New Roman" panose="02020603050405020304" pitchFamily="18" charset="0"/>
                <a:cs typeface="Times New Roman" panose="02020603050405020304" pitchFamily="18" charset="0"/>
              </a:rPr>
              <a:t>, many of the professions (teaching, healthcare, etc.) will involve </a:t>
            </a:r>
            <a:r>
              <a:rPr lang="en-US" altLang="zh-CN" sz="2400" dirty="0">
                <a:solidFill>
                  <a:srgbClr val="FF0000"/>
                </a:solidFill>
                <a:latin typeface="Times New Roman" panose="02020603050405020304" pitchFamily="18" charset="0"/>
                <a:cs typeface="Times New Roman" panose="02020603050405020304" pitchFamily="18" charset="0"/>
              </a:rPr>
              <a:t>working with families from diverse cultures. </a:t>
            </a:r>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3073"/>
          <p:cNvSpPr>
            <a:spLocks noGrp="1"/>
          </p:cNvSpPr>
          <p:nvPr>
            <p:ph type="ctrTitle"/>
          </p:nvPr>
        </p:nvSpPr>
        <p:spPr>
          <a:xfrm>
            <a:off x="685800" y="2345690"/>
            <a:ext cx="7772400" cy="1470025"/>
          </a:xfrm>
        </p:spPr>
        <p:txBody>
          <a:bodyPr vert="horz" wrap="square" lIns="91440" tIns="45720" rIns="91440" bIns="45720" anchor="ctr"/>
          <a:lstStyle/>
          <a:p>
            <a:pPr eaLnBrk="1" hangingPunct="1">
              <a:buClrTx/>
              <a:buSzTx/>
              <a:buFontTx/>
            </a:pPr>
            <a:br>
              <a:rPr lang="en-US" altLang="zh-CN" sz="4400" dirty="0">
                <a:solidFill>
                  <a:srgbClr val="FF0000"/>
                </a:solidFill>
                <a:latin typeface="微软雅黑" panose="020B0503020204020204" charset="-122"/>
                <a:ea typeface="微软雅黑" panose="020B0503020204020204" charset="-122"/>
                <a:cs typeface="+mn-ea"/>
                <a:sym typeface="+mn-lt"/>
              </a:rPr>
            </a:br>
            <a:endParaRPr lang="zh-CN" altLang="zh-CN" sz="4400" kern="1200" dirty="0">
              <a:solidFill>
                <a:srgbClr val="FF0000"/>
              </a:solidFill>
            </a:endParaRPr>
          </a:p>
        </p:txBody>
      </p:sp>
      <p:sp>
        <p:nvSpPr>
          <p:cNvPr id="2051" name="副标题 3074"/>
          <p:cNvSpPr>
            <a:spLocks noGrp="1"/>
          </p:cNvSpPr>
          <p:nvPr>
            <p:ph type="subTitle" idx="1"/>
          </p:nvPr>
        </p:nvSpPr>
        <p:spPr>
          <a:xfrm>
            <a:off x="1371600" y="2420888"/>
            <a:ext cx="6400800" cy="3528392"/>
          </a:xfrm>
        </p:spPr>
        <p:txBody>
          <a:bodyPr vert="horz" wrap="square" lIns="91440" tIns="45720" rIns="91440" bIns="45720" anchor="t"/>
          <a:lstStyle/>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en-US" altLang="zh-CN" sz="3200" dirty="0">
              <a:latin typeface="微软雅黑" panose="020B0503020204020204" charset="-122"/>
              <a:ea typeface="微软雅黑" panose="020B0503020204020204" charset="-122"/>
              <a:cs typeface="+mn-ea"/>
              <a:sym typeface="+mn-lt"/>
            </a:endParaRPr>
          </a:p>
          <a:p>
            <a:pPr eaLnBrk="1" hangingPunct="1">
              <a:buClrTx/>
              <a:buSzTx/>
              <a:buFontTx/>
            </a:pPr>
            <a:endParaRPr lang="zh-CN" altLang="zh-CN" sz="3200" kern="1200" dirty="0">
              <a:latin typeface="+mn-lt"/>
              <a:ea typeface="+mn-ea"/>
              <a:cs typeface="+mn-cs"/>
            </a:endParaRPr>
          </a:p>
        </p:txBody>
      </p:sp>
      <p:sp>
        <p:nvSpPr>
          <p:cNvPr id="5" name="文本框 4"/>
          <p:cNvSpPr txBox="1"/>
          <p:nvPr/>
        </p:nvSpPr>
        <p:spPr>
          <a:xfrm>
            <a:off x="0" y="868363"/>
            <a:ext cx="9464675" cy="1200329"/>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sym typeface="+mn-ea"/>
              </a:rPr>
              <a:t>3.2.8 Developing Communication Competence Through the Family</a:t>
            </a:r>
          </a:p>
          <a:p>
            <a:r>
              <a:rPr lang="en-US" altLang="zh-CN" sz="2400" b="1" dirty="0">
                <a:highlight>
                  <a:srgbClr val="FFFF00"/>
                </a:highlight>
                <a:latin typeface="Times New Roman" panose="02020603050405020304" pitchFamily="18" charset="0"/>
                <a:cs typeface="Times New Roman" panose="02020603050405020304" pitchFamily="18" charset="0"/>
                <a:sym typeface="+mn-ea"/>
              </a:rPr>
              <a:t>P110</a:t>
            </a:r>
            <a:endParaRPr lang="en-US" altLang="zh-CN" sz="2400" b="1" dirty="0">
              <a:highlight>
                <a:srgbClr val="FFFF00"/>
              </a:highlight>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241300" y="2190750"/>
            <a:ext cx="8661400" cy="5754370"/>
          </a:xfrm>
          <a:prstGeom prst="rect">
            <a:avLst/>
          </a:prstGeom>
          <a:noFill/>
        </p:spPr>
        <p:txBody>
          <a:bodyPr wrap="square" rtlCol="0">
            <a:spAutoFit/>
          </a:bodyPr>
          <a:lstStyle/>
          <a:p>
            <a:pPr algn="just"/>
            <a:r>
              <a:rPr lang="en-US" altLang="zh-CN" sz="2400" dirty="0">
                <a:latin typeface="Times New Roman" panose="02020603050405020304" pitchFamily="18" charset="0"/>
                <a:cs typeface="Times New Roman" panose="02020603050405020304" pitchFamily="18" charset="0"/>
              </a:rPr>
              <a:t>    Advice for effective communication with diverse families:</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When working with intercultural families, one needs to develop an understanding of self and others.</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Interpersonal communication proficiency includes listening intently, being empathetic, exercising decision-making and problem-solving skills, and displaying expertise in conflict resolution.</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A successful communicator interacting with another culture reflects concern, respect, and sincerity.</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Cultures and families differ in the degree to which they promote individuality and uniqueness versus conformity and interdependence.</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Learn the roles that each family has assigned to gender and the elderly.</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Learn all you can about age-appropriate behavior for each culture you will be dealing with.</a:t>
            </a:r>
          </a:p>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Be aware of the problems created by the possible changes in family dynamics caused by acculturation into a new culture.</a:t>
            </a:r>
          </a:p>
          <a:p>
            <a:pPr marL="342900" indent="-342900" algn="just">
              <a:buFont typeface="Arial" panose="020B0604020202020204" pitchFamily="34" charset="0"/>
              <a:buChar char="•"/>
            </a:pPr>
            <a:endParaRPr lang="en-US" altLang="zh-CN" sz="2400" dirty="0">
              <a:latin typeface="Times New Roman" panose="02020603050405020304" pitchFamily="18" charset="0"/>
              <a:cs typeface="Times New Roman" panose="02020603050405020304" pitchFamily="18" charset="0"/>
            </a:endParaRPr>
          </a:p>
          <a:p>
            <a:pPr algn="just">
              <a:buFont typeface="Arial" panose="020B0604020202020204" pitchFamily="34" charset="0"/>
            </a:pPr>
            <a:endParaRPr lang="en-US" altLang="zh-C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87626" y="3687417"/>
            <a:ext cx="8229600" cy="4525963"/>
          </a:xfrm>
        </p:spPr>
        <p:txBody>
          <a:bodyPr/>
          <a:lstStyle/>
          <a:p>
            <a:pPr marL="0" indent="0" algn="ctr">
              <a:spcBef>
                <a:spcPct val="0"/>
              </a:spcBef>
              <a:buNone/>
            </a:pPr>
            <a:r>
              <a:rPr lang="en-US" altLang="zh-CN" sz="5400" dirty="0">
                <a:solidFill>
                  <a:schemeClr val="tx2"/>
                </a:solidFill>
                <a:latin typeface="Times New Roman" panose="02020603050405020304" pitchFamily="18" charset="0"/>
                <a:ea typeface="+mj-ea"/>
                <a:cs typeface="Times New Roman" panose="02020603050405020304" pitchFamily="18" charset="0"/>
              </a:rPr>
              <a:t>Thanks for watching</a:t>
            </a:r>
            <a:endParaRPr lang="zh-CN" altLang="en-US" sz="5400" dirty="0">
              <a:solidFill>
                <a:schemeClr val="tx2"/>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104530736"/>
      </p:ext>
    </p:extLst>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自定义 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0000"/>
      </a:hlink>
      <a:folHlink>
        <a:srgbClr val="0070C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pter 2">
  <a:themeElements>
    <a:clrScheme name="Chapter 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 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outerShdw blurRad="38100" dist="38100" dir="2700000" algn="tl">
                <a:srgbClr val="000000">
                  <a:alpha val="43137"/>
                </a:srgbClr>
              </a:outerShdw>
            </a:effectLst>
            <a:latin typeface="Tw Cen MT" pitchFamily="34" charset="0"/>
            <a:ea typeface="Arial Unicode MS" pitchFamily="34" charset="-122"/>
            <a:cs typeface="Arial Unicode MS"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outerShdw blurRad="38100" dist="38100" dir="2700000" algn="tl">
                <a:srgbClr val="000000">
                  <a:alpha val="43137"/>
                </a:srgbClr>
              </a:outerShdw>
            </a:effectLst>
            <a:latin typeface="Tw Cen MT" pitchFamily="34" charset="0"/>
            <a:ea typeface="Arial Unicode MS" pitchFamily="34" charset="-122"/>
            <a:cs typeface="Arial Unicode MS" pitchFamily="34" charset="-122"/>
          </a:defRPr>
        </a:defPPr>
      </a:lstStyle>
    </a:lnDef>
  </a:objectDefaults>
  <a:extraClrSchemeLst>
    <a:extraClrScheme>
      <a:clrScheme name="Chapter 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 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 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 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 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 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 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 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 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 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 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 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465</TotalTime>
  <Words>3799</Words>
  <Application>Microsoft Office PowerPoint</Application>
  <PresentationFormat>全屏显示(4:3)</PresentationFormat>
  <Paragraphs>296</Paragraphs>
  <Slides>49</Slides>
  <Notes>0</Notes>
  <HiddenSlides>0</HiddenSlides>
  <MMClips>0</MMClips>
  <ScaleCrop>false</ScaleCrop>
  <HeadingPairs>
    <vt:vector size="6" baseType="variant">
      <vt:variant>
        <vt:lpstr>已用的字体</vt:lpstr>
      </vt:variant>
      <vt:variant>
        <vt:i4>5</vt:i4>
      </vt:variant>
      <vt:variant>
        <vt:lpstr>主题</vt:lpstr>
      </vt:variant>
      <vt:variant>
        <vt:i4>3</vt:i4>
      </vt:variant>
      <vt:variant>
        <vt:lpstr>幻灯片标题</vt:lpstr>
      </vt:variant>
      <vt:variant>
        <vt:i4>49</vt:i4>
      </vt:variant>
    </vt:vector>
  </HeadingPairs>
  <TitlesOfParts>
    <vt:vector size="57" baseType="lpstr">
      <vt:lpstr>等线</vt:lpstr>
      <vt:lpstr>庞门正道标题体</vt:lpstr>
      <vt:lpstr>微软雅黑</vt:lpstr>
      <vt:lpstr>Arial</vt:lpstr>
      <vt:lpstr>Times New Roman</vt:lpstr>
      <vt:lpstr>默认设计模板</vt:lpstr>
      <vt:lpstr>1_默认设计模板</vt:lpstr>
      <vt:lpstr>Chapter 2</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Ego / self-image</vt:lpstr>
      <vt:lpstr>PowerPoint 演示文稿</vt:lpstr>
      <vt:lpstr>PowerPoint 演示文稿</vt:lpstr>
      <vt:lpstr>Difference in lifestyle</vt:lpstr>
      <vt:lpstr>In the party</vt:lpstr>
      <vt:lpstr>Friendship</vt:lpstr>
      <vt:lpstr> </vt:lpstr>
      <vt:lpstr> </vt:lpstr>
      <vt:lpstr> </vt:lpstr>
      <vt:lpstr> </vt:lpstr>
      <vt:lpstr>People in old age </vt:lpstr>
      <vt:lpstr>Life in old age </vt:lpstr>
      <vt:lpstr> </vt:lpstr>
      <vt:lpstr> </vt:lpstr>
      <vt:lpstr> </vt:lpstr>
      <vt:lpstr> </vt:lpstr>
      <vt:lpstr> </vt:lpstr>
      <vt:lpstr> </vt:lpstr>
      <vt:lpstr> </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三角形</dc:title>
  <dc:creator>第一PPT</dc:creator>
  <cp:keywords>三角形</cp:keywords>
  <cp:lastModifiedBy>Kong Hillary</cp:lastModifiedBy>
  <cp:revision>129</cp:revision>
  <dcterms:created xsi:type="dcterms:W3CDTF">2020-05-16T17:38:00Z</dcterms:created>
  <dcterms:modified xsi:type="dcterms:W3CDTF">2022-03-18T03:29:18Z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