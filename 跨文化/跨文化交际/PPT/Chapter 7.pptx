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4.jpg"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4" r:id="rId1"/>
    <p:sldMasterId id="2147483676" r:id="rId2"/>
  </p:sldMasterIdLst>
  <p:notesMasterIdLst>
    <p:notesMasterId r:id="rId93"/>
  </p:notesMasterIdLst>
  <p:sldIdLst>
    <p:sldId id="11518" r:id="rId3"/>
    <p:sldId id="11615" r:id="rId4"/>
    <p:sldId id="11519" r:id="rId5"/>
    <p:sldId id="11520" r:id="rId6"/>
    <p:sldId id="11524" r:id="rId7"/>
    <p:sldId id="11525" r:id="rId8"/>
    <p:sldId id="11526" r:id="rId9"/>
    <p:sldId id="11527" r:id="rId10"/>
    <p:sldId id="11528" r:id="rId11"/>
    <p:sldId id="11529" r:id="rId12"/>
    <p:sldId id="11530" r:id="rId13"/>
    <p:sldId id="11531" r:id="rId14"/>
    <p:sldId id="11532" r:id="rId15"/>
    <p:sldId id="11533" r:id="rId16"/>
    <p:sldId id="11534" r:id="rId17"/>
    <p:sldId id="11616" r:id="rId18"/>
    <p:sldId id="11536" r:id="rId19"/>
    <p:sldId id="11538" r:id="rId20"/>
    <p:sldId id="11537" r:id="rId21"/>
    <p:sldId id="11539" r:id="rId22"/>
    <p:sldId id="11540" r:id="rId23"/>
    <p:sldId id="11541" r:id="rId24"/>
    <p:sldId id="11542" r:id="rId25"/>
    <p:sldId id="11543" r:id="rId26"/>
    <p:sldId id="11544" r:id="rId27"/>
    <p:sldId id="11546" r:id="rId28"/>
    <p:sldId id="11547" r:id="rId29"/>
    <p:sldId id="11548" r:id="rId30"/>
    <p:sldId id="11549" r:id="rId31"/>
    <p:sldId id="11550" r:id="rId32"/>
    <p:sldId id="11551" r:id="rId33"/>
    <p:sldId id="11552" r:id="rId34"/>
    <p:sldId id="11553" r:id="rId35"/>
    <p:sldId id="11554" r:id="rId36"/>
    <p:sldId id="11565" r:id="rId37"/>
    <p:sldId id="11566" r:id="rId38"/>
    <p:sldId id="11567" r:id="rId39"/>
    <p:sldId id="11569" r:id="rId40"/>
    <p:sldId id="11570" r:id="rId41"/>
    <p:sldId id="11571" r:id="rId42"/>
    <p:sldId id="11573" r:id="rId43"/>
    <p:sldId id="11574" r:id="rId44"/>
    <p:sldId id="11575" r:id="rId45"/>
    <p:sldId id="11576" r:id="rId46"/>
    <p:sldId id="11577" r:id="rId47"/>
    <p:sldId id="11578" r:id="rId48"/>
    <p:sldId id="11579" r:id="rId49"/>
    <p:sldId id="11580" r:id="rId50"/>
    <p:sldId id="11581" r:id="rId51"/>
    <p:sldId id="11582" r:id="rId52"/>
    <p:sldId id="11583" r:id="rId53"/>
    <p:sldId id="11584" r:id="rId54"/>
    <p:sldId id="11585" r:id="rId55"/>
    <p:sldId id="11587" r:id="rId56"/>
    <p:sldId id="11586" r:id="rId57"/>
    <p:sldId id="11588" r:id="rId58"/>
    <p:sldId id="11589" r:id="rId59"/>
    <p:sldId id="11590" r:id="rId60"/>
    <p:sldId id="11591" r:id="rId61"/>
    <p:sldId id="11592" r:id="rId62"/>
    <p:sldId id="11593" r:id="rId63"/>
    <p:sldId id="11594" r:id="rId64"/>
    <p:sldId id="11595" r:id="rId65"/>
    <p:sldId id="11596" r:id="rId66"/>
    <p:sldId id="11597" r:id="rId67"/>
    <p:sldId id="11598" r:id="rId68"/>
    <p:sldId id="11599" r:id="rId69"/>
    <p:sldId id="11600" r:id="rId70"/>
    <p:sldId id="11601" r:id="rId71"/>
    <p:sldId id="11602" r:id="rId72"/>
    <p:sldId id="11603" r:id="rId73"/>
    <p:sldId id="11604" r:id="rId74"/>
    <p:sldId id="11605" r:id="rId75"/>
    <p:sldId id="11606" r:id="rId76"/>
    <p:sldId id="11607" r:id="rId77"/>
    <p:sldId id="11609" r:id="rId78"/>
    <p:sldId id="11610" r:id="rId79"/>
    <p:sldId id="11611" r:id="rId80"/>
    <p:sldId id="11612" r:id="rId81"/>
    <p:sldId id="11613" r:id="rId82"/>
    <p:sldId id="11523" r:id="rId83"/>
    <p:sldId id="11556" r:id="rId84"/>
    <p:sldId id="11557" r:id="rId85"/>
    <p:sldId id="11558" r:id="rId86"/>
    <p:sldId id="11559" r:id="rId87"/>
    <p:sldId id="11560" r:id="rId88"/>
    <p:sldId id="11561" r:id="rId89"/>
    <p:sldId id="11562" r:id="rId90"/>
    <p:sldId id="11563" r:id="rId91"/>
    <p:sldId id="11614" r:id="rId9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庞门正道标题体" charset="0"/>
        <a:ea typeface="庞门正道标题体" charset="0"/>
        <a:cs typeface="+mn-cs"/>
      </a:defRPr>
    </a:lvl1pPr>
    <a:lvl2pPr marL="457200" lvl="1"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2pPr>
    <a:lvl3pPr marL="914400" lvl="2"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3pPr>
    <a:lvl4pPr marL="1371600" lvl="3"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4pPr>
    <a:lvl5pPr marL="1828800" lvl="4"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5pPr>
    <a:lvl6pPr marL="2286000" lvl="5"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6pPr>
    <a:lvl7pPr marL="2743200" lvl="6"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7pPr>
    <a:lvl8pPr marL="3200400" lvl="7"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8pPr>
    <a:lvl9pPr marL="3657600" lvl="8"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9pPr>
  </p:defaultTextStyle>
  <p:extLst>
    <p:ext uri="{EFAFB233-063F-42B5-8137-9DF3F51BA10A}">
      <p15:sldGuideLst xmlns:p15="http://schemas.microsoft.com/office/powerpoint/2012/main">
        <p15:guide id="1" orient="horz" pos="197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7979"/>
    <a:srgbClr val="44546A"/>
    <a:srgbClr val="FECC66"/>
    <a:srgbClr val="DD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p:restoredTop sz="95317"/>
  </p:normalViewPr>
  <p:slideViewPr>
    <p:cSldViewPr snapToGrid="0" showGuides="1">
      <p:cViewPr varScale="1">
        <p:scale>
          <a:sx n="91" d="100"/>
          <a:sy n="91" d="100"/>
        </p:scale>
        <p:origin x="1128" y="44"/>
      </p:cViewPr>
      <p:guideLst>
        <p:guide orient="horz" pos="1978"/>
        <p:guide pos="2880"/>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FE26FED-0DD7-4A82-A311-86EEE75CA699}" type="datetimeFigureOut">
              <a:rPr lang="zh-CN" altLang="en-US" strike="noStrike" noProof="1" smtClean="0">
                <a:latin typeface="+mn-lt"/>
                <a:ea typeface="+mn-ea"/>
                <a:cs typeface="+mn-cs"/>
              </a:rPr>
              <a:t>2022/4/27</a:t>
            </a:fld>
            <a:endParaRPr lang="zh-CN" altLang="en-US" strike="noStrike" noProof="1"/>
          </a:p>
        </p:txBody>
      </p:sp>
      <p:sp>
        <p:nvSpPr>
          <p:cNvPr id="819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819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p>
          <a:p>
            <a:pPr lvl="1" indent="0"/>
            <a:r>
              <a:rPr lang="zh-CN" altLang="en-US"/>
              <a:t>二级</a:t>
            </a:r>
          </a:p>
          <a:p>
            <a:pPr lvl="2" indent="0"/>
            <a:r>
              <a:rPr lang="zh-CN" altLang="en-US"/>
              <a:t>三级</a:t>
            </a:r>
          </a:p>
          <a:p>
            <a:pPr lvl="3" indent="0"/>
            <a:r>
              <a:rPr lang="zh-CN" altLang="en-US"/>
              <a:t>四级</a:t>
            </a:r>
          </a:p>
          <a:p>
            <a:pPr lvl="4" indent="0"/>
            <a:r>
              <a:rPr lang="zh-CN" altLang="en-US"/>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4E61829-E50B-4091-AE21-893680968DF2}" type="slidenum">
              <a:rPr lang="zh-CN" altLang="en-US" strike="noStrike" noProof="1" smtClean="0">
                <a:latin typeface="+mn-lt"/>
                <a:ea typeface="+mn-ea"/>
                <a:cs typeface="+mn-cs"/>
              </a:rPr>
              <a:t>‹#›</a:t>
            </a:fld>
            <a:endParaRPr lang="zh-CN" altLang="en-US" strike="noStrike" noProof="1"/>
          </a:p>
        </p:txBody>
      </p:sp>
    </p:spTree>
    <p:extLst>
      <p:ext uri="{BB962C8B-B14F-4D97-AF65-F5344CB8AC3E}">
        <p14:creationId xmlns:p14="http://schemas.microsoft.com/office/powerpoint/2010/main" val="92669772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74944418"/>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704224258"/>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97149153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232438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897631335"/>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274188887"/>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534271797"/>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28637663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032057269"/>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506426801"/>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323397070"/>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4273690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114643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547255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995782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9280512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484977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0102350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833455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919452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679594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450924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517643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random/>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4348126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4.jp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14519" y="1750604"/>
            <a:ext cx="8926285" cy="2792367"/>
          </a:xfrm>
        </p:spPr>
        <p:txBody>
          <a:bodyPr vert="horz" wrap="square" lIns="91440" tIns="45720" rIns="91440" bIns="45720" anchor="ctr"/>
          <a:lstStyle/>
          <a:p>
            <a:pPr eaLnBrk="1" hangingPunct="1">
              <a:buClrTx/>
              <a:buSzTx/>
              <a:buFontTx/>
            </a:pPr>
            <a:r>
              <a:rPr lang="en-US" altLang="zh-CN" sz="4400" b="1" dirty="0">
                <a:solidFill>
                  <a:schemeClr val="tx1"/>
                </a:solidFill>
                <a:latin typeface="Times New Roman" pitchFamily="18" charset="0"/>
                <a:ea typeface="微软雅黑" panose="020B0503020204020204" charset="-122"/>
                <a:cs typeface="Times New Roman" pitchFamily="18" charset="0"/>
                <a:sym typeface="+mn-lt"/>
              </a:rPr>
              <a:t>Chapter 7</a:t>
            </a: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r>
              <a:rPr lang="en-US" altLang="zh-CN" sz="4400" b="1" dirty="0">
                <a:solidFill>
                  <a:schemeClr val="tx1"/>
                </a:solidFill>
                <a:latin typeface="Times New Roman" pitchFamily="18" charset="0"/>
                <a:ea typeface="微软雅黑" panose="020B0503020204020204" charset="-122"/>
                <a:cs typeface="Times New Roman" pitchFamily="18" charset="0"/>
                <a:sym typeface="+mn-lt"/>
              </a:rPr>
              <a:t>Nonverbal Communication: </a:t>
            </a: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r>
              <a:rPr lang="en-US" altLang="zh-CN" sz="4400" b="1" dirty="0">
                <a:solidFill>
                  <a:schemeClr val="tx1"/>
                </a:solidFill>
                <a:latin typeface="Times New Roman" pitchFamily="18" charset="0"/>
                <a:ea typeface="微软雅黑" panose="020B0503020204020204" charset="-122"/>
                <a:cs typeface="Times New Roman" pitchFamily="18" charset="0"/>
                <a:sym typeface="+mn-lt"/>
              </a:rPr>
              <a:t>The Messages of Action, Space, Time, and Silence</a:t>
            </a:r>
            <a:endParaRPr lang="zh-CN" altLang="zh-CN" sz="4400" b="1" kern="1200" dirty="0">
              <a:solidFill>
                <a:schemeClr val="tx1"/>
              </a:solidFill>
              <a:latin typeface="Times New Roman" pitchFamily="18" charset="0"/>
              <a:cs typeface="Times New Roman" pitchFamily="18" charset="0"/>
            </a:endParaRPr>
          </a:p>
        </p:txBody>
      </p:sp>
      <p:sp>
        <p:nvSpPr>
          <p:cNvPr id="2051" name="副标题 3074"/>
          <p:cNvSpPr>
            <a:spLocks noGrp="1"/>
          </p:cNvSpPr>
          <p:nvPr>
            <p:ph type="subTitle" idx="1"/>
          </p:nvPr>
        </p:nvSpPr>
        <p:spPr>
          <a:xfrm>
            <a:off x="1371600" y="3886200"/>
            <a:ext cx="6400800" cy="1033145"/>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Tree>
    <p:extLst>
      <p:ext uri="{BB962C8B-B14F-4D97-AF65-F5344CB8AC3E}">
        <p14:creationId xmlns:p14="http://schemas.microsoft.com/office/powerpoint/2010/main" val="410158609"/>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217715" y="1729179"/>
            <a:ext cx="8926285" cy="2792367"/>
          </a:xfrm>
        </p:spPr>
        <p:txBody>
          <a:bodyPr vert="horz" wrap="square" lIns="91440" tIns="45720" rIns="91440" bIns="45720" anchor="ctr"/>
          <a:lstStyle/>
          <a:p>
            <a:pPr eaLnBrk="1" hangingPunct="1">
              <a:buClrTx/>
              <a:buSzTx/>
              <a:buFontTx/>
            </a:pPr>
            <a:r>
              <a:rPr lang="en-US" altLang="zh-CN" sz="4400" b="1" dirty="0">
                <a:solidFill>
                  <a:schemeClr val="tx1"/>
                </a:solidFill>
                <a:latin typeface="Times New Roman" pitchFamily="18" charset="0"/>
                <a:ea typeface="微软雅黑" panose="020B0503020204020204" charset="-122"/>
                <a:cs typeface="Times New Roman" pitchFamily="18" charset="0"/>
                <a:sym typeface="+mn-lt"/>
              </a:rPr>
              <a:t>Video Watching</a:t>
            </a: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r>
              <a:rPr lang="en-US" altLang="zh-CN" sz="4400" b="1" dirty="0">
                <a:solidFill>
                  <a:schemeClr val="tx1"/>
                </a:solidFill>
                <a:latin typeface="Times New Roman" pitchFamily="18" charset="0"/>
                <a:ea typeface="微软雅黑" panose="020B0503020204020204" charset="-122"/>
                <a:cs typeface="Times New Roman" pitchFamily="18" charset="0"/>
                <a:sym typeface="+mn-lt"/>
              </a:rPr>
              <a:t>Importance of Nonverbal Communication </a:t>
            </a: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endParaRPr lang="zh-CN" altLang="zh-CN" sz="4400" b="1" kern="1200" dirty="0">
              <a:solidFill>
                <a:schemeClr val="tx1"/>
              </a:solidFill>
              <a:latin typeface="Times New Roman" pitchFamily="18" charset="0"/>
              <a:cs typeface="Times New Roman" pitchFamily="18" charset="0"/>
            </a:endParaRPr>
          </a:p>
        </p:txBody>
      </p:sp>
      <p:sp>
        <p:nvSpPr>
          <p:cNvPr id="2051" name="副标题 3074"/>
          <p:cNvSpPr>
            <a:spLocks noGrp="1"/>
          </p:cNvSpPr>
          <p:nvPr>
            <p:ph type="subTitle" idx="1"/>
          </p:nvPr>
        </p:nvSpPr>
        <p:spPr>
          <a:xfrm>
            <a:off x="1371600" y="3886200"/>
            <a:ext cx="6400800" cy="1033145"/>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Tree>
    <p:extLst>
      <p:ext uri="{BB962C8B-B14F-4D97-AF65-F5344CB8AC3E}">
        <p14:creationId xmlns:p14="http://schemas.microsoft.com/office/powerpoint/2010/main" val="4272234145"/>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420914" y="2452914"/>
            <a:ext cx="8461829" cy="4052520"/>
          </a:xfrm>
          <a:prstGeom prst="rect">
            <a:avLst/>
          </a:prstGeom>
          <a:noFill/>
        </p:spPr>
        <p:txBody>
          <a:bodyPr wrap="square" rtlCol="0">
            <a:spAutoFit/>
          </a:bodyPr>
          <a:lstStyle/>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Defining Nonverbal Communication</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Intentional and Unintentional Messages</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Verbal and Nonverbal Messages</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The Functions of Nonverbal Communication</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Studying Nonverbal Communication</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Nonverbal Communication and Culture</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Classifications of Nonverbal Communication</a:t>
            </a:r>
          </a:p>
          <a:p>
            <a:pPr marL="457200" indent="-457200">
              <a:lnSpc>
                <a:spcPts val="3900"/>
              </a:lnSpc>
              <a:buFont typeface="Arial" pitchFamily="34" charset="0"/>
              <a:buChar char="•"/>
            </a:pPr>
            <a:r>
              <a:rPr lang="en-US" altLang="zh-CN" sz="2800" dirty="0">
                <a:latin typeface="Times New Roman" pitchFamily="18" charset="0"/>
                <a:cs typeface="Times New Roman" pitchFamily="18" charset="0"/>
              </a:rPr>
              <a:t>Developing Nonverbal Communication Competency</a:t>
            </a:r>
            <a:endParaRPr lang="zh-CN" altLang="en-US" sz="2800" dirty="0">
              <a:latin typeface="Times New Roman" pitchFamily="18" charset="0"/>
              <a:cs typeface="Times New Roman" pitchFamily="18" charset="0"/>
            </a:endParaRPr>
          </a:p>
        </p:txBody>
      </p:sp>
      <p:sp>
        <p:nvSpPr>
          <p:cNvPr id="2" name="TextBox 1"/>
          <p:cNvSpPr txBox="1"/>
          <p:nvPr/>
        </p:nvSpPr>
        <p:spPr>
          <a:xfrm>
            <a:off x="58058" y="1507383"/>
            <a:ext cx="3585029"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Contents</a:t>
            </a:r>
            <a:endParaRPr lang="zh-CN" alt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3360291060"/>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255143"/>
            <a:ext cx="9144000" cy="5332229"/>
          </a:xfrm>
          <a:prstGeom prst="rect">
            <a:avLst/>
          </a:prstGeom>
          <a:noFill/>
        </p:spPr>
        <p:txBody>
          <a:bodyPr wrap="square" rtlCol="0">
            <a:spAutoFit/>
          </a:bodyPr>
          <a:lstStyle/>
          <a:p>
            <a:pPr indent="457200"/>
            <a:r>
              <a:rPr lang="en-US" altLang="zh-CN" sz="2800" dirty="0">
                <a:latin typeface="Times New Roman" pitchFamily="18" charset="0"/>
                <a:cs typeface="Times New Roman" pitchFamily="18" charset="0"/>
              </a:rPr>
              <a:t>Nonverbal communication involves all those </a:t>
            </a:r>
            <a:r>
              <a:rPr lang="en-US" altLang="zh-CN" sz="2800" dirty="0">
                <a:solidFill>
                  <a:srgbClr val="FF0000"/>
                </a:solidFill>
                <a:latin typeface="Times New Roman" pitchFamily="18" charset="0"/>
                <a:cs typeface="Times New Roman" pitchFamily="18" charset="0"/>
              </a:rPr>
              <a:t>nonverbal stimuli</a:t>
            </a:r>
            <a:r>
              <a:rPr lang="en-US" altLang="zh-CN" sz="2800" dirty="0">
                <a:latin typeface="Times New Roman" pitchFamily="18" charset="0"/>
                <a:cs typeface="Times New Roman" pitchFamily="18" charset="0"/>
              </a:rPr>
              <a:t> in a communication setting that are generated by both the source and use of the environment and that have potential message value for the source and/or receiver.</a:t>
            </a:r>
          </a:p>
          <a:p>
            <a:pPr indent="457200"/>
            <a:r>
              <a:rPr lang="en-US" altLang="zh-CN" sz="2800" dirty="0">
                <a:latin typeface="Times New Roman" pitchFamily="18" charset="0"/>
                <a:cs typeface="Times New Roman" pitchFamily="18" charset="0"/>
              </a:rPr>
              <a:t>The definition </a:t>
            </a:r>
            <a:r>
              <a:rPr lang="en-US" altLang="zh-CN" sz="2800" dirty="0">
                <a:solidFill>
                  <a:srgbClr val="FF0000"/>
                </a:solidFill>
                <a:latin typeface="Times New Roman" pitchFamily="18" charset="0"/>
                <a:cs typeface="Times New Roman" pitchFamily="18" charset="0"/>
              </a:rPr>
              <a:t>not only </a:t>
            </a:r>
            <a:r>
              <a:rPr lang="en-US" altLang="zh-CN" sz="2800" dirty="0">
                <a:latin typeface="Times New Roman" pitchFamily="18" charset="0"/>
                <a:cs typeface="Times New Roman" pitchFamily="18" charset="0"/>
              </a:rPr>
              <a:t>establishes the boundaries of nonverbal communication </a:t>
            </a:r>
            <a:r>
              <a:rPr lang="en-US" altLang="zh-CN" sz="2800" dirty="0">
                <a:solidFill>
                  <a:srgbClr val="FF0000"/>
                </a:solidFill>
                <a:latin typeface="Times New Roman" pitchFamily="18" charset="0"/>
                <a:cs typeface="Times New Roman" pitchFamily="18" charset="0"/>
              </a:rPr>
              <a:t>but also </a:t>
            </a:r>
            <a:r>
              <a:rPr lang="en-US" altLang="zh-CN" sz="2800" dirty="0">
                <a:latin typeface="Times New Roman" pitchFamily="18" charset="0"/>
                <a:cs typeface="Times New Roman" pitchFamily="18" charset="0"/>
              </a:rPr>
              <a:t>reflects how the process actually functions. </a:t>
            </a:r>
            <a:r>
              <a:rPr lang="en-US" altLang="zh-CN" sz="2800" dirty="0">
                <a:solidFill>
                  <a:srgbClr val="FF0000"/>
                </a:solidFill>
                <a:latin typeface="Times New Roman" pitchFamily="18" charset="0"/>
                <a:cs typeface="Times New Roman" pitchFamily="18" charset="0"/>
              </a:rPr>
              <a:t>Part of that functioning involves</a:t>
            </a:r>
            <a:r>
              <a:rPr lang="en-US" altLang="zh-CN" sz="2800" dirty="0">
                <a:latin typeface="Times New Roman" pitchFamily="18" charset="0"/>
                <a:cs typeface="Times New Roman" pitchFamily="18" charset="0"/>
              </a:rPr>
              <a:t>: </a:t>
            </a:r>
          </a:p>
          <a:p>
            <a:pPr marL="514350" indent="-514350">
              <a:buAutoNum type="arabicParenBoth"/>
            </a:pPr>
            <a:r>
              <a:rPr lang="en-US" altLang="zh-CN" sz="2800" dirty="0">
                <a:latin typeface="Times New Roman" pitchFamily="18" charset="0"/>
                <a:cs typeface="Times New Roman" pitchFamily="18" charset="0"/>
              </a:rPr>
              <a:t>intentional and unintentional messages; </a:t>
            </a:r>
          </a:p>
          <a:p>
            <a:pPr marL="514350" indent="-514350">
              <a:buAutoNum type="arabicParenBoth"/>
            </a:pPr>
            <a:r>
              <a:rPr lang="en-US" altLang="zh-CN" sz="2800" dirty="0">
                <a:latin typeface="Times New Roman" pitchFamily="18" charset="0"/>
                <a:cs typeface="Times New Roman" pitchFamily="18" charset="0"/>
              </a:rPr>
              <a:t>the reciprocal relationship between verbal and nonverbal messages.</a:t>
            </a:r>
            <a:endParaRPr lang="zh-CN" altLang="zh-CN" sz="2800" dirty="0">
              <a:latin typeface="Times New Roman" pitchFamily="18" charset="0"/>
              <a:cs typeface="Times New Roman" pitchFamily="18" charset="0"/>
            </a:endParaRPr>
          </a:p>
          <a:p>
            <a:r>
              <a:rPr lang="en-US" altLang="zh-CN" sz="2800" dirty="0"/>
              <a:t> </a:t>
            </a:r>
            <a:endParaRPr lang="zh-CN" altLang="zh-CN" sz="2800" dirty="0"/>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116114" y="1483916"/>
            <a:ext cx="8860362"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7.1 Defining Nonverbal Communication</a:t>
            </a:r>
            <a:r>
              <a:rPr lang="zh-CN" altLang="en-US" sz="3200" b="1" dirty="0">
                <a:latin typeface="Times New Roman" pitchFamily="18" charset="0"/>
                <a:cs typeface="Times New Roman" pitchFamily="18" charset="0"/>
              </a:rPr>
              <a:t> </a:t>
            </a:r>
            <a:r>
              <a:rPr lang="en-US" altLang="zh-CN" sz="3200" b="1" dirty="0">
                <a:highlight>
                  <a:srgbClr val="FFFF00"/>
                </a:highlight>
                <a:latin typeface="Times New Roman" pitchFamily="18" charset="0"/>
                <a:cs typeface="Times New Roman" pitchFamily="18" charset="0"/>
              </a:rPr>
              <a:t>P229</a:t>
            </a:r>
          </a:p>
        </p:txBody>
      </p:sp>
      <p:sp>
        <p:nvSpPr>
          <p:cNvPr id="6" name="星形: 五角 5">
            <a:extLst>
              <a:ext uri="{FF2B5EF4-FFF2-40B4-BE49-F238E27FC236}">
                <a16:creationId xmlns:a16="http://schemas.microsoft.com/office/drawing/2014/main" id="{4EE5AAC3-8A0A-46FA-A1A8-325FB55125C5}"/>
              </a:ext>
            </a:extLst>
          </p:cNvPr>
          <p:cNvSpPr/>
          <p:nvPr/>
        </p:nvSpPr>
        <p:spPr>
          <a:xfrm>
            <a:off x="5470980" y="472889"/>
            <a:ext cx="558412"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516534190"/>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465534"/>
            <a:ext cx="8911771" cy="4470455"/>
          </a:xfrm>
          <a:prstGeom prst="rect">
            <a:avLst/>
          </a:prstGeom>
          <a:noFill/>
        </p:spPr>
        <p:txBody>
          <a:bodyPr wrap="square" rtlCol="0">
            <a:spAutoFit/>
          </a:bodyPr>
          <a:lstStyle/>
          <a:p>
            <a:pPr indent="457200"/>
            <a:r>
              <a:rPr lang="en-US" altLang="zh-CN" sz="2800" dirty="0">
                <a:latin typeface="Times New Roman" pitchFamily="18" charset="0"/>
                <a:cs typeface="Times New Roman" pitchFamily="18" charset="0"/>
              </a:rPr>
              <a:t>One of the features that separate humans from most other animals is that </a:t>
            </a:r>
            <a:r>
              <a:rPr lang="en-US" altLang="zh-CN" sz="2800" dirty="0">
                <a:solidFill>
                  <a:srgbClr val="FF0000"/>
                </a:solidFill>
                <a:latin typeface="Times New Roman" pitchFamily="18" charset="0"/>
                <a:cs typeface="Times New Roman" pitchFamily="18" charset="0"/>
              </a:rPr>
              <a:t>humans can usually plan certain actions before they execute them</a:t>
            </a:r>
            <a:r>
              <a:rPr lang="en-US" altLang="zh-CN" sz="2800" dirty="0">
                <a:latin typeface="Times New Roman" pitchFamily="18" charset="0"/>
                <a:cs typeface="Times New Roman" pitchFamily="18" charset="0"/>
              </a:rPr>
              <a:t>. Observing a friend approaching, you offer a broad smile as part of your greeting. This is an </a:t>
            </a:r>
            <a:r>
              <a:rPr lang="en-US" altLang="zh-CN" sz="2800" dirty="0">
                <a:solidFill>
                  <a:srgbClr val="FF0000"/>
                </a:solidFill>
                <a:latin typeface="Times New Roman" pitchFamily="18" charset="0"/>
                <a:cs typeface="Times New Roman" pitchFamily="18" charset="0"/>
              </a:rPr>
              <a:t>intentional act</a:t>
            </a:r>
            <a:r>
              <a:rPr lang="en-US" altLang="zh-CN" sz="2800" dirty="0">
                <a:latin typeface="Times New Roman" pitchFamily="18" charset="0"/>
                <a:cs typeface="Times New Roman" pitchFamily="18" charset="0"/>
              </a:rPr>
              <a:t>. </a:t>
            </a:r>
          </a:p>
          <a:p>
            <a:pPr indent="457200"/>
            <a:r>
              <a:rPr lang="en-US" altLang="zh-CN" sz="2800" dirty="0">
                <a:latin typeface="Times New Roman" pitchFamily="18" charset="0"/>
                <a:cs typeface="Times New Roman" pitchFamily="18" charset="0"/>
              </a:rPr>
              <a:t>Yet nonverbal messages are most often produced without a conscious awareness that they may have meaning for other people. These are </a:t>
            </a:r>
            <a:r>
              <a:rPr lang="en-US" altLang="zh-CN" sz="2800" dirty="0">
                <a:solidFill>
                  <a:srgbClr val="FF0000"/>
                </a:solidFill>
                <a:latin typeface="Times New Roman" pitchFamily="18" charset="0"/>
                <a:cs typeface="Times New Roman" pitchFamily="18" charset="0"/>
              </a:rPr>
              <a:t>unintentional messages</a:t>
            </a:r>
            <a:r>
              <a:rPr lang="en-US" altLang="zh-CN" sz="2800" dirty="0">
                <a:latin typeface="Times New Roman" pitchFamily="18" charset="0"/>
                <a:cs typeface="Times New Roman" pitchFamily="18" charset="0"/>
              </a:rPr>
              <a:t>. </a:t>
            </a:r>
            <a:endParaRPr lang="zh-CN" altLang="zh-CN" sz="2800" dirty="0">
              <a:latin typeface="Times New Roman" pitchFamily="18" charset="0"/>
              <a:cs typeface="Times New Roman" pitchFamily="18" charset="0"/>
            </a:endParaRPr>
          </a:p>
          <a:p>
            <a:r>
              <a:rPr lang="en-US" altLang="zh-CN" sz="2800" dirty="0"/>
              <a:t> </a:t>
            </a:r>
            <a:endParaRPr lang="zh-CN" altLang="zh-CN" sz="2800" dirty="0"/>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9341993"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7.2 Intentional and Unintentional Messages </a:t>
            </a:r>
            <a:r>
              <a:rPr lang="en-US" altLang="zh-CN" sz="3200" b="1" dirty="0">
                <a:highlight>
                  <a:srgbClr val="FFFF00"/>
                </a:highlight>
                <a:latin typeface="Times New Roman" pitchFamily="18" charset="0"/>
                <a:cs typeface="Times New Roman" pitchFamily="18" charset="0"/>
              </a:rPr>
              <a:t>P229</a:t>
            </a:r>
          </a:p>
          <a:p>
            <a:endParaRPr lang="zh-CN" altLang="en-US" dirty="0"/>
          </a:p>
        </p:txBody>
      </p:sp>
      <p:sp>
        <p:nvSpPr>
          <p:cNvPr id="6" name="星形: 五角 5">
            <a:extLst>
              <a:ext uri="{FF2B5EF4-FFF2-40B4-BE49-F238E27FC236}">
                <a16:creationId xmlns:a16="http://schemas.microsoft.com/office/drawing/2014/main" id="{AD91D6F7-A028-40A0-8602-ECF67E2AAFEE}"/>
              </a:ext>
            </a:extLst>
          </p:cNvPr>
          <p:cNvSpPr/>
          <p:nvPr/>
        </p:nvSpPr>
        <p:spPr>
          <a:xfrm>
            <a:off x="5338357" y="444969"/>
            <a:ext cx="558412"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4242365165"/>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332497" y="2485255"/>
            <a:ext cx="8911771" cy="4214102"/>
          </a:xfrm>
          <a:prstGeom prst="rect">
            <a:avLst/>
          </a:prstGeom>
          <a:noFill/>
        </p:spPr>
        <p:txBody>
          <a:bodyPr wrap="square" rtlCol="0">
            <a:spAutoFit/>
          </a:bodyPr>
          <a:lstStyle/>
          <a:p>
            <a:pPr>
              <a:lnSpc>
                <a:spcPct val="150000"/>
              </a:lnSpc>
            </a:pPr>
            <a:r>
              <a:rPr lang="en-US" altLang="zh-CN" sz="2800" dirty="0">
                <a:latin typeface="Times New Roman" pitchFamily="18" charset="0"/>
                <a:cs typeface="Times New Roman" pitchFamily="18" charset="0"/>
              </a:rPr>
              <a:t>The expressiveness of the individual (and therefore his capacity to give impressions) appears to involve </a:t>
            </a:r>
            <a:r>
              <a:rPr lang="en-US" altLang="zh-CN" sz="2800" dirty="0">
                <a:solidFill>
                  <a:srgbClr val="FF0000"/>
                </a:solidFill>
                <a:latin typeface="Times New Roman" pitchFamily="18" charset="0"/>
                <a:cs typeface="Times New Roman" pitchFamily="18" charset="0"/>
              </a:rPr>
              <a:t>two radically different kinds of sign activity</a:t>
            </a:r>
            <a:r>
              <a:rPr lang="en-US" altLang="zh-CN" sz="2800" dirty="0">
                <a:latin typeface="Times New Roman" pitchFamily="18" charset="0"/>
                <a:cs typeface="Times New Roman" pitchFamily="18" charset="0"/>
              </a:rPr>
              <a:t>: </a:t>
            </a:r>
          </a:p>
          <a:p>
            <a:pPr marL="514350" indent="-514350">
              <a:lnSpc>
                <a:spcPct val="150000"/>
              </a:lnSpc>
              <a:buAutoNum type="arabicParenBoth"/>
            </a:pPr>
            <a:r>
              <a:rPr lang="en-US" altLang="zh-CN" sz="2800" dirty="0">
                <a:latin typeface="Times New Roman" pitchFamily="18" charset="0"/>
                <a:cs typeface="Times New Roman" pitchFamily="18" charset="0"/>
              </a:rPr>
              <a:t>the expression that he gives; </a:t>
            </a:r>
          </a:p>
          <a:p>
            <a:pPr marL="514350" indent="-514350">
              <a:lnSpc>
                <a:spcPct val="150000"/>
              </a:lnSpc>
              <a:buAutoNum type="arabicParenBoth"/>
            </a:pPr>
            <a:r>
              <a:rPr lang="en-US" altLang="zh-CN" sz="2800" dirty="0">
                <a:latin typeface="Times New Roman" pitchFamily="18" charset="0"/>
                <a:cs typeface="Times New Roman" pitchFamily="18" charset="0"/>
              </a:rPr>
              <a:t>the impression that he gives off.</a:t>
            </a:r>
            <a:endParaRPr lang="zh-CN" altLang="zh-CN" sz="2800" dirty="0">
              <a:latin typeface="Times New Roman" pitchFamily="18" charset="0"/>
              <a:cs typeface="Times New Roman" pitchFamily="18" charset="0"/>
            </a:endParaRPr>
          </a:p>
          <a:p>
            <a:r>
              <a:rPr lang="en-US" altLang="zh-CN" sz="2800" dirty="0"/>
              <a:t> </a:t>
            </a:r>
            <a:endParaRPr lang="zh-CN" altLang="zh-CN" sz="2800" dirty="0"/>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116114" y="1509484"/>
            <a:ext cx="8911770"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7.2 Intentional and Unintentional Messages </a:t>
            </a:r>
            <a:r>
              <a:rPr lang="en-US" altLang="zh-CN" sz="3200" b="1" dirty="0">
                <a:highlight>
                  <a:srgbClr val="FFFF00"/>
                </a:highlight>
                <a:latin typeface="Times New Roman" pitchFamily="18" charset="0"/>
                <a:cs typeface="Times New Roman" pitchFamily="18" charset="0"/>
              </a:rPr>
              <a:t>P229</a:t>
            </a:r>
          </a:p>
          <a:p>
            <a:endParaRPr lang="zh-CN" altLang="en-US" dirty="0"/>
          </a:p>
        </p:txBody>
      </p:sp>
      <p:sp>
        <p:nvSpPr>
          <p:cNvPr id="6" name="星形: 五角 5">
            <a:extLst>
              <a:ext uri="{FF2B5EF4-FFF2-40B4-BE49-F238E27FC236}">
                <a16:creationId xmlns:a16="http://schemas.microsoft.com/office/drawing/2014/main" id="{E5593A54-0799-4B5E-BF66-2281544FCFE9}"/>
              </a:ext>
            </a:extLst>
          </p:cNvPr>
          <p:cNvSpPr/>
          <p:nvPr/>
        </p:nvSpPr>
        <p:spPr>
          <a:xfrm>
            <a:off x="5380238" y="539949"/>
            <a:ext cx="558412"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973817479"/>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480041"/>
            <a:ext cx="8911771" cy="4429546"/>
          </a:xfrm>
          <a:prstGeom prst="rect">
            <a:avLst/>
          </a:prstGeom>
          <a:noFill/>
        </p:spPr>
        <p:txBody>
          <a:bodyPr wrap="square" rtlCol="0">
            <a:spAutoFit/>
          </a:bodyPr>
          <a:lstStyle/>
          <a:p>
            <a:pPr indent="457200"/>
            <a:r>
              <a:rPr lang="en-US" altLang="zh-CN" sz="2800" dirty="0">
                <a:solidFill>
                  <a:srgbClr val="FF0000"/>
                </a:solidFill>
                <a:latin typeface="Times New Roman" pitchFamily="18" charset="0"/>
                <a:cs typeface="Times New Roman" pitchFamily="18" charset="0"/>
              </a:rPr>
              <a:t>The first involves verbal symbols or their substitutes</a:t>
            </a:r>
            <a:r>
              <a:rPr lang="en-US" altLang="zh-CN" sz="2800" dirty="0">
                <a:latin typeface="Times New Roman" pitchFamily="18" charset="0"/>
                <a:cs typeface="Times New Roman" pitchFamily="18" charset="0"/>
              </a:rPr>
              <a:t>, which he uses admittedly and solely to convey the information that he and the other are known to attach to these symbols. This is communication in the traditional and narrow sense. </a:t>
            </a:r>
            <a:endParaRPr lang="zh-CN" altLang="zh-CN" sz="2800" dirty="0">
              <a:latin typeface="Times New Roman" pitchFamily="18" charset="0"/>
              <a:cs typeface="Times New Roman" pitchFamily="18" charset="0"/>
            </a:endParaRPr>
          </a:p>
          <a:p>
            <a:pPr indent="457200"/>
            <a:r>
              <a:rPr lang="en-US" altLang="zh-CN" sz="2800" dirty="0">
                <a:solidFill>
                  <a:srgbClr val="FF0000"/>
                </a:solidFill>
                <a:latin typeface="Times New Roman" pitchFamily="18" charset="0"/>
                <a:cs typeface="Times New Roman" pitchFamily="18" charset="0"/>
              </a:rPr>
              <a:t>The second involves a wide range of action that others can treat as symptomatic of the actor </a:t>
            </a:r>
            <a:r>
              <a:rPr lang="en-US" altLang="zh-CN" sz="2800" dirty="0">
                <a:latin typeface="Times New Roman" pitchFamily="18" charset="0"/>
                <a:cs typeface="Times New Roman" pitchFamily="18" charset="0"/>
              </a:rPr>
              <a:t>(communicator), the expectation being that the action was performed for reasons other than the information conveyed in this way.  </a:t>
            </a:r>
            <a:endParaRPr lang="zh-CN" altLang="zh-CN" sz="2800" dirty="0">
              <a:latin typeface="Times New Roman" pitchFamily="18" charset="0"/>
              <a:cs typeface="Times New Roman" pitchFamily="18" charset="0"/>
            </a:endParaRPr>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116114" y="1509484"/>
            <a:ext cx="9027886"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7.2 Intentional and Unintentional Messages </a:t>
            </a:r>
            <a:r>
              <a:rPr lang="en-US" altLang="zh-CN" sz="3200" b="1" dirty="0">
                <a:highlight>
                  <a:srgbClr val="FFFF00"/>
                </a:highlight>
                <a:latin typeface="Times New Roman" pitchFamily="18" charset="0"/>
                <a:cs typeface="Times New Roman" pitchFamily="18" charset="0"/>
              </a:rPr>
              <a:t>P229</a:t>
            </a:r>
          </a:p>
          <a:p>
            <a:endParaRPr lang="zh-CN" altLang="en-US" dirty="0"/>
          </a:p>
        </p:txBody>
      </p:sp>
    </p:spTree>
    <p:extLst>
      <p:ext uri="{BB962C8B-B14F-4D97-AF65-F5344CB8AC3E}">
        <p14:creationId xmlns:p14="http://schemas.microsoft.com/office/powerpoint/2010/main" val="1851982317"/>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581642"/>
            <a:ext cx="8911771" cy="3539430"/>
          </a:xfrm>
          <a:prstGeom prst="rect">
            <a:avLst/>
          </a:prstGeom>
          <a:noFill/>
        </p:spPr>
        <p:txBody>
          <a:bodyPr wrap="square" rtlCol="0">
            <a:spAutoFit/>
          </a:bodyPr>
          <a:lstStyle/>
          <a:p>
            <a:pPr indent="457200"/>
            <a:r>
              <a:rPr lang="en-US" altLang="zh-CN" sz="2800" dirty="0">
                <a:latin typeface="Times New Roman" pitchFamily="18" charset="0"/>
                <a:cs typeface="Times New Roman" pitchFamily="18" charset="0"/>
              </a:rPr>
              <a:t>Nonverbal communication is a </a:t>
            </a:r>
            <a:r>
              <a:rPr lang="en-US" altLang="zh-CN" sz="2800" dirty="0">
                <a:solidFill>
                  <a:srgbClr val="FF0000"/>
                </a:solidFill>
                <a:latin typeface="Times New Roman" pitchFamily="18" charset="0"/>
                <a:cs typeface="Times New Roman" pitchFamily="18" charset="0"/>
              </a:rPr>
              <a:t>multidimensional and complex</a:t>
            </a:r>
            <a:r>
              <a:rPr lang="en-US" altLang="zh-CN" sz="2800" dirty="0">
                <a:latin typeface="Times New Roman" pitchFamily="18" charset="0"/>
                <a:cs typeface="Times New Roman" pitchFamily="18" charset="0"/>
              </a:rPr>
              <a:t> activity. Nonverbal messages can serve as </a:t>
            </a:r>
            <a:r>
              <a:rPr lang="en-US" altLang="zh-CN" sz="2800" dirty="0">
                <a:solidFill>
                  <a:srgbClr val="FF0000"/>
                </a:solidFill>
                <a:latin typeface="Times New Roman" pitchFamily="18" charset="0"/>
                <a:cs typeface="Times New Roman" pitchFamily="18" charset="0"/>
              </a:rPr>
              <a:t>substitutes for verbal messages</a:t>
            </a:r>
            <a:r>
              <a:rPr lang="en-US" altLang="zh-CN" sz="2800" dirty="0">
                <a:latin typeface="Times New Roman" pitchFamily="18" charset="0"/>
                <a:cs typeface="Times New Roman" pitchFamily="18" charset="0"/>
              </a:rPr>
              <a:t>. In addition, verbal and nonverbal messages often </a:t>
            </a:r>
            <a:r>
              <a:rPr lang="en-US" altLang="zh-CN" sz="2800" dirty="0">
                <a:solidFill>
                  <a:srgbClr val="FF0000"/>
                </a:solidFill>
                <a:latin typeface="Times New Roman" pitchFamily="18" charset="0"/>
                <a:cs typeface="Times New Roman" pitchFamily="18" charset="0"/>
              </a:rPr>
              <a:t>work in unison</a:t>
            </a:r>
            <a:r>
              <a:rPr lang="en-US" altLang="zh-CN" sz="2800" dirty="0">
                <a:latin typeface="Times New Roman" pitchFamily="18" charset="0"/>
                <a:cs typeface="Times New Roman" pitchFamily="18" charset="0"/>
              </a:rPr>
              <a:t>. </a:t>
            </a:r>
          </a:p>
          <a:p>
            <a:pPr indent="457200"/>
            <a:r>
              <a:rPr lang="en-US" altLang="zh-CN" sz="2800" dirty="0">
                <a:latin typeface="Times New Roman" pitchFamily="18" charset="0"/>
                <a:cs typeface="Times New Roman" pitchFamily="18" charset="0"/>
              </a:rPr>
              <a:t>Knapp, Hall, and </a:t>
            </a:r>
            <a:r>
              <a:rPr lang="en-US" altLang="zh-CN" sz="2800" dirty="0" err="1">
                <a:latin typeface="Times New Roman" pitchFamily="18" charset="0"/>
                <a:cs typeface="Times New Roman" pitchFamily="18" charset="0"/>
              </a:rPr>
              <a:t>Horgan</a:t>
            </a:r>
            <a:r>
              <a:rPr lang="en-US" altLang="zh-CN" sz="2800" dirty="0">
                <a:latin typeface="Times New Roman" pitchFamily="18" charset="0"/>
                <a:cs typeface="Times New Roman" pitchFamily="18" charset="0"/>
              </a:rPr>
              <a:t> emphasize this idea: “We need to understand that separating verbal and nonverbal behavior into two separate and distinct categories is virtually impossible.”</a:t>
            </a:r>
            <a:endParaRPr lang="zh-CN" altLang="en-US" sz="2800" dirty="0">
              <a:latin typeface="Times New Roman" pitchFamily="18" charset="0"/>
              <a:cs typeface="Times New Roman" pitchFamily="18" charset="0"/>
            </a:endParaRPr>
          </a:p>
        </p:txBody>
      </p:sp>
      <p:sp>
        <p:nvSpPr>
          <p:cNvPr id="2" name="TextBox 1"/>
          <p:cNvSpPr txBox="1"/>
          <p:nvPr/>
        </p:nvSpPr>
        <p:spPr>
          <a:xfrm>
            <a:off x="116114" y="1509484"/>
            <a:ext cx="8911770"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7.3 Verbal and Nonverbal Messages </a:t>
            </a:r>
            <a:r>
              <a:rPr lang="en-US" altLang="zh-CN" sz="3200" b="1" dirty="0">
                <a:highlight>
                  <a:srgbClr val="FFFF00"/>
                </a:highlight>
                <a:latin typeface="Times New Roman" pitchFamily="18" charset="0"/>
                <a:cs typeface="Times New Roman" pitchFamily="18" charset="0"/>
              </a:rPr>
              <a:t>P230</a:t>
            </a:r>
          </a:p>
          <a:p>
            <a:endParaRPr lang="zh-CN" altLang="en-US" dirty="0"/>
          </a:p>
        </p:txBody>
      </p:sp>
      <p:sp>
        <p:nvSpPr>
          <p:cNvPr id="6" name="星形: 五角 5">
            <a:extLst>
              <a:ext uri="{FF2B5EF4-FFF2-40B4-BE49-F238E27FC236}">
                <a16:creationId xmlns:a16="http://schemas.microsoft.com/office/drawing/2014/main" id="{CCE61AE0-8476-41AB-AF8D-255191925933}"/>
              </a:ext>
            </a:extLst>
          </p:cNvPr>
          <p:cNvSpPr/>
          <p:nvPr/>
        </p:nvSpPr>
        <p:spPr>
          <a:xfrm>
            <a:off x="5380238" y="214624"/>
            <a:ext cx="558412"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439478908"/>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406081"/>
            <a:ext cx="8911771" cy="3970318"/>
          </a:xfrm>
          <a:prstGeom prst="rect">
            <a:avLst/>
          </a:prstGeom>
          <a:noFill/>
        </p:spPr>
        <p:txBody>
          <a:bodyPr wrap="square" rtlCol="0">
            <a:spAutoFit/>
          </a:bodyPr>
          <a:lstStyle/>
          <a:p>
            <a:pPr indent="457200"/>
            <a:r>
              <a:rPr lang="en-US" altLang="zh-CN" sz="2800" dirty="0">
                <a:latin typeface="Times New Roman" pitchFamily="18" charset="0"/>
                <a:cs typeface="Times New Roman" pitchFamily="18" charset="0"/>
              </a:rPr>
              <a:t>The </a:t>
            </a:r>
            <a:r>
              <a:rPr lang="en-US" altLang="zh-CN" sz="2800" dirty="0">
                <a:solidFill>
                  <a:srgbClr val="FF0000"/>
                </a:solidFill>
                <a:latin typeface="Times New Roman" pitchFamily="18" charset="0"/>
                <a:cs typeface="Times New Roman" pitchFamily="18" charset="0"/>
              </a:rPr>
              <a:t>interfacing</a:t>
            </a:r>
            <a:r>
              <a:rPr lang="en-US" altLang="zh-CN" sz="2800" dirty="0">
                <a:latin typeface="Times New Roman" pitchFamily="18" charset="0"/>
                <a:cs typeface="Times New Roman" pitchFamily="18" charset="0"/>
              </a:rPr>
              <a:t> of the verbal with the nonverbal is reflected in a number of ways. </a:t>
            </a:r>
            <a:r>
              <a:rPr lang="en-US" altLang="zh-CN" sz="2800" dirty="0">
                <a:solidFill>
                  <a:srgbClr val="FF0000"/>
                </a:solidFill>
                <a:latin typeface="Times New Roman" pitchFamily="18" charset="0"/>
                <a:cs typeface="Times New Roman" pitchFamily="18" charset="0"/>
              </a:rPr>
              <a:t>For example</a:t>
            </a:r>
            <a:r>
              <a:rPr lang="en-US" altLang="zh-CN" sz="2800" dirty="0">
                <a:latin typeface="Times New Roman" pitchFamily="18" charset="0"/>
                <a:cs typeface="Times New Roman" pitchFamily="18" charset="0"/>
              </a:rPr>
              <a:t>, you often use nonverbal messages to repeat a point you are trying to make verbally. You could place your index finger over your lips while whispering, “Please don’t yell”, to someone who was shouting. You can also observe the reciprocal relationship between words and actions if you tell someone you are pleased with his or her performance while patting him or her on the shoulder.</a:t>
            </a: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9341993"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7.3 Verbal and Nonverbal Messages </a:t>
            </a:r>
            <a:r>
              <a:rPr lang="en-US" altLang="zh-CN" sz="3200" b="1" dirty="0">
                <a:highlight>
                  <a:srgbClr val="FFFF00"/>
                </a:highlight>
                <a:latin typeface="Times New Roman" pitchFamily="18" charset="0"/>
                <a:cs typeface="Times New Roman" pitchFamily="18" charset="0"/>
              </a:rPr>
              <a:t>P230</a:t>
            </a:r>
          </a:p>
          <a:p>
            <a:endParaRPr lang="zh-CN" altLang="en-US" dirty="0"/>
          </a:p>
        </p:txBody>
      </p:sp>
      <p:sp>
        <p:nvSpPr>
          <p:cNvPr id="6" name="星形: 五角 5">
            <a:extLst>
              <a:ext uri="{FF2B5EF4-FFF2-40B4-BE49-F238E27FC236}">
                <a16:creationId xmlns:a16="http://schemas.microsoft.com/office/drawing/2014/main" id="{45BBE544-DA76-406C-AA8D-97EB28269F6A}"/>
              </a:ext>
            </a:extLst>
          </p:cNvPr>
          <p:cNvSpPr/>
          <p:nvPr/>
        </p:nvSpPr>
        <p:spPr>
          <a:xfrm>
            <a:off x="5053629" y="539949"/>
            <a:ext cx="501111"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1575736764"/>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435428" y="2910790"/>
            <a:ext cx="8911771" cy="2677656"/>
          </a:xfrm>
          <a:prstGeom prst="rect">
            <a:avLst/>
          </a:prstGeom>
          <a:noFill/>
        </p:spPr>
        <p:txBody>
          <a:bodyPr wrap="square" rtlCol="0">
            <a:spAutoFit/>
          </a:bodyPr>
          <a:lstStyle/>
          <a:p>
            <a:pPr>
              <a:lnSpc>
                <a:spcPct val="150000"/>
              </a:lnSpc>
            </a:pPr>
            <a:r>
              <a:rPr lang="en-US" altLang="zh-CN" sz="2800" dirty="0">
                <a:latin typeface="Times New Roman" pitchFamily="18" charset="0"/>
                <a:cs typeface="Times New Roman" pitchFamily="18" charset="0"/>
              </a:rPr>
              <a:t>1. Convey internal states</a:t>
            </a:r>
            <a:endParaRPr lang="zh-CN" altLang="zh-CN" sz="2800" dirty="0">
              <a:latin typeface="Times New Roman" pitchFamily="18" charset="0"/>
              <a:cs typeface="Times New Roman" pitchFamily="18" charset="0"/>
            </a:endParaRPr>
          </a:p>
          <a:p>
            <a:pPr>
              <a:lnSpc>
                <a:spcPct val="150000"/>
              </a:lnSpc>
            </a:pPr>
            <a:r>
              <a:rPr lang="en-US" altLang="zh-CN" sz="2800" dirty="0">
                <a:latin typeface="Times New Roman" pitchFamily="18" charset="0"/>
                <a:cs typeface="Times New Roman" pitchFamily="18" charset="0"/>
              </a:rPr>
              <a:t>2. Create identity</a:t>
            </a:r>
          </a:p>
          <a:p>
            <a:pPr>
              <a:lnSpc>
                <a:spcPct val="150000"/>
              </a:lnSpc>
            </a:pPr>
            <a:r>
              <a:rPr lang="en-US" altLang="zh-CN" sz="2800" dirty="0">
                <a:latin typeface="Times New Roman" pitchFamily="18" charset="0"/>
                <a:cs typeface="Times New Roman" pitchFamily="18" charset="0"/>
              </a:rPr>
              <a:t>3. Regulate interaction</a:t>
            </a:r>
          </a:p>
          <a:p>
            <a:pPr>
              <a:lnSpc>
                <a:spcPct val="150000"/>
              </a:lnSpc>
            </a:pPr>
            <a:r>
              <a:rPr lang="en-US" altLang="zh-CN" sz="2800" dirty="0">
                <a:latin typeface="Times New Roman" pitchFamily="18" charset="0"/>
                <a:cs typeface="Times New Roman" pitchFamily="18" charset="0"/>
              </a:rPr>
              <a:t>4. Substitute for words</a:t>
            </a:r>
            <a:endParaRPr lang="zh-CN" altLang="en-US" sz="2800" dirty="0">
              <a:latin typeface="Times New Roman" pitchFamily="18" charset="0"/>
              <a:cs typeface="Times New Roman" pitchFamily="18" charset="0"/>
            </a:endParaRPr>
          </a:p>
        </p:txBody>
      </p:sp>
      <p:sp>
        <p:nvSpPr>
          <p:cNvPr id="2" name="TextBox 1"/>
          <p:cNvSpPr txBox="1"/>
          <p:nvPr/>
        </p:nvSpPr>
        <p:spPr>
          <a:xfrm>
            <a:off x="116113" y="1476221"/>
            <a:ext cx="9691002"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7.4 The Functions of Nonverbal Communication </a:t>
            </a:r>
          </a:p>
          <a:p>
            <a:endParaRPr lang="zh-CN" altLang="en-US" dirty="0"/>
          </a:p>
        </p:txBody>
      </p:sp>
      <p:sp>
        <p:nvSpPr>
          <p:cNvPr id="6" name="星形: 五角 5">
            <a:extLst>
              <a:ext uri="{FF2B5EF4-FFF2-40B4-BE49-F238E27FC236}">
                <a16:creationId xmlns:a16="http://schemas.microsoft.com/office/drawing/2014/main" id="{8989FDBA-786D-4767-B0D0-4D4B6F735A10}"/>
              </a:ext>
            </a:extLst>
          </p:cNvPr>
          <p:cNvSpPr/>
          <p:nvPr/>
        </p:nvSpPr>
        <p:spPr>
          <a:xfrm>
            <a:off x="5359297" y="410068"/>
            <a:ext cx="558412"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3553006218"/>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75767" y="2783451"/>
            <a:ext cx="8911771" cy="2600199"/>
          </a:xfrm>
          <a:prstGeom prst="rect">
            <a:avLst/>
          </a:prstGeom>
          <a:noFill/>
        </p:spPr>
        <p:txBody>
          <a:bodyPr wrap="square" rtlCol="0">
            <a:spAutoFit/>
          </a:bodyPr>
          <a:lstStyle/>
          <a:p>
            <a:pPr>
              <a:lnSpc>
                <a:spcPct val="150000"/>
              </a:lnSpc>
            </a:pPr>
            <a:r>
              <a:rPr lang="en-US" altLang="zh-CN" sz="2800" dirty="0">
                <a:latin typeface="Times New Roman" pitchFamily="18" charset="0"/>
                <a:cs typeface="Times New Roman" pitchFamily="18" charset="0"/>
              </a:rPr>
              <a:t>    Consciously and unconsciously, intentionally and unintentionally, people make important judgments about each other through </a:t>
            </a:r>
            <a:r>
              <a:rPr lang="en-US" altLang="zh-CN" sz="2800" dirty="0">
                <a:solidFill>
                  <a:srgbClr val="FF0000"/>
                </a:solidFill>
                <a:latin typeface="Times New Roman" pitchFamily="18" charset="0"/>
                <a:cs typeface="Times New Roman" pitchFamily="18" charset="0"/>
              </a:rPr>
              <a:t>nonverbal symbols</a:t>
            </a:r>
            <a:r>
              <a:rPr lang="en-US" altLang="zh-CN" sz="2800" dirty="0">
                <a:latin typeface="Times New Roman" pitchFamily="18" charset="0"/>
                <a:cs typeface="Times New Roman" pitchFamily="18" charset="0"/>
              </a:rPr>
              <a:t>. These symbols </a:t>
            </a:r>
            <a:r>
              <a:rPr lang="en-US" altLang="zh-CN" sz="2800" dirty="0">
                <a:solidFill>
                  <a:srgbClr val="FF0000"/>
                </a:solidFill>
                <a:latin typeface="Times New Roman" pitchFamily="18" charset="0"/>
                <a:cs typeface="Times New Roman" pitchFamily="18" charset="0"/>
              </a:rPr>
              <a:t>express attitudes, feelings, values, and emotions</a:t>
            </a:r>
            <a:r>
              <a:rPr lang="en-US" altLang="zh-CN" sz="2800" dirty="0">
                <a:latin typeface="Times New Roman" pitchFamily="18" charset="0"/>
                <a:cs typeface="Times New Roman" pitchFamily="18" charset="0"/>
              </a:rPr>
              <a:t>.</a:t>
            </a:r>
          </a:p>
        </p:txBody>
      </p:sp>
      <p:sp>
        <p:nvSpPr>
          <p:cNvPr id="2" name="TextBox 1"/>
          <p:cNvSpPr txBox="1"/>
          <p:nvPr/>
        </p:nvSpPr>
        <p:spPr>
          <a:xfrm>
            <a:off x="116113" y="1541623"/>
            <a:ext cx="8476343" cy="1608133"/>
          </a:xfrm>
          <a:prstGeom prst="rect">
            <a:avLst/>
          </a:prstGeom>
          <a:noFill/>
        </p:spPr>
        <p:txBody>
          <a:bodyPr wrap="square" rtlCol="0">
            <a:spAutoFit/>
          </a:bodyPr>
          <a:lstStyle/>
          <a:p>
            <a:pPr marL="0" marR="0" lvl="0" indent="0" algn="l" defTabSz="914400" rtl="0" eaLnBrk="1" fontAlgn="base" latinLnBrk="0" hangingPunct="1">
              <a:lnSpc>
                <a:spcPts val="3900"/>
              </a:lnSpc>
              <a:spcBef>
                <a:spcPct val="0"/>
              </a:spcBef>
              <a:spcAft>
                <a:spcPct val="0"/>
              </a:spcAft>
              <a:buClrTx/>
              <a:buSzTx/>
              <a:buFontTx/>
              <a:buNone/>
              <a:tabLst/>
              <a:defRPr/>
            </a:pPr>
            <a:r>
              <a:rPr lang="en-US" altLang="zh-CN" sz="3200" b="1" dirty="0">
                <a:latin typeface="Times New Roman" pitchFamily="18" charset="0"/>
                <a:cs typeface="Times New Roman" pitchFamily="18" charset="0"/>
              </a:rPr>
              <a:t>7.4.1 Conveying Internal States </a:t>
            </a:r>
            <a:r>
              <a:rPr kumimoji="0" lang="en-US" altLang="zh-CN" sz="3200" b="1" i="0" u="none" strike="noStrike" kern="1200" cap="none" spc="0" normalizeH="0" baseline="0" noProof="0" dirty="0">
                <a:ln>
                  <a:noFill/>
                </a:ln>
                <a:solidFill>
                  <a:srgbClr val="000000"/>
                </a:solidFill>
                <a:effectLst/>
                <a:highlight>
                  <a:srgbClr val="FFFF00"/>
                </a:highlight>
                <a:uLnTx/>
                <a:uFillTx/>
                <a:latin typeface="Times New Roman" pitchFamily="18" charset="0"/>
                <a:cs typeface="Times New Roman" pitchFamily="18" charset="0"/>
              </a:rPr>
              <a:t>P230</a:t>
            </a:r>
          </a:p>
          <a:p>
            <a:pPr>
              <a:lnSpc>
                <a:spcPct val="150000"/>
              </a:lnSpc>
            </a:pPr>
            <a:r>
              <a:rPr lang="en-US" altLang="zh-CN" sz="3200" b="1" dirty="0">
                <a:latin typeface="Times New Roman" pitchFamily="18" charset="0"/>
                <a:cs typeface="Times New Roman" pitchFamily="18" charset="0"/>
              </a:rPr>
              <a:t> </a:t>
            </a:r>
          </a:p>
          <a:p>
            <a:endParaRPr lang="zh-CN" altLang="en-US" dirty="0"/>
          </a:p>
        </p:txBody>
      </p:sp>
    </p:spTree>
    <p:extLst>
      <p:ext uri="{BB962C8B-B14F-4D97-AF65-F5344CB8AC3E}">
        <p14:creationId xmlns:p14="http://schemas.microsoft.com/office/powerpoint/2010/main" val="236306691"/>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23428" y="2255106"/>
            <a:ext cx="8904459" cy="5616409"/>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Be it fear, joy, anger, or sadness, your posture, face, and eyes can convey your feelings without you ever uttering a word. For this reason</a:t>
            </a:r>
            <a:r>
              <a:rPr lang="en-US" altLang="zh-CN" sz="2800" dirty="0">
                <a:solidFill>
                  <a:srgbClr val="FF0000"/>
                </a:solidFill>
                <a:latin typeface="Times New Roman" pitchFamily="18" charset="0"/>
                <a:cs typeface="Times New Roman" pitchFamily="18" charset="0"/>
              </a:rPr>
              <a:t>, the interpretations assigned to nonverbal messages influence how one assesses the quality of a relationship.</a:t>
            </a:r>
            <a:r>
              <a:rPr lang="en-US" altLang="zh-CN" sz="2800" dirty="0">
                <a:latin typeface="Times New Roman" pitchFamily="18" charset="0"/>
                <a:cs typeface="Times New Roman" pitchFamily="18" charset="0"/>
              </a:rPr>
              <a:t> From the amount of touching that takes place, to the tone of voice being used, to the distance between you and your partner, </a:t>
            </a:r>
            <a:r>
              <a:rPr lang="en-US" altLang="zh-CN" sz="2800" dirty="0">
                <a:solidFill>
                  <a:srgbClr val="FF0000"/>
                </a:solidFill>
                <a:latin typeface="Times New Roman" pitchFamily="18" charset="0"/>
                <a:cs typeface="Times New Roman" pitchFamily="18" charset="0"/>
              </a:rPr>
              <a:t>you can gather clues to the closeness of your relationship</a:t>
            </a:r>
            <a:r>
              <a:rPr lang="en-US" altLang="zh-CN" sz="2800" dirty="0">
                <a:latin typeface="Times New Roman" pitchFamily="18" charset="0"/>
                <a:cs typeface="Times New Roman" pitchFamily="18" charset="0"/>
              </a:rPr>
              <a:t>. In short, people use nonverbal cues to </a:t>
            </a:r>
            <a:r>
              <a:rPr lang="en-US" altLang="zh-CN" sz="2800" dirty="0">
                <a:solidFill>
                  <a:srgbClr val="C00000"/>
                </a:solidFill>
                <a:latin typeface="Times New Roman" pitchFamily="18" charset="0"/>
                <a:cs typeface="Times New Roman" pitchFamily="18" charset="0"/>
              </a:rPr>
              <a:t>define the social and emotional nature of their relationships and interactions</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a:p>
            <a:pPr marL="514350" indent="-514350">
              <a:lnSpc>
                <a:spcPct val="150000"/>
              </a:lnSpc>
              <a:buAutoNum type="arabicPeriod"/>
            </a:pPr>
            <a:endParaRPr lang="en-US" altLang="zh-CN" sz="2800" dirty="0">
              <a:latin typeface="Times New Roman" pitchFamily="18" charset="0"/>
              <a:cs typeface="Times New Roman" pitchFamily="18" charset="0"/>
            </a:endParaRPr>
          </a:p>
          <a:p>
            <a:pPr marL="457200" indent="-457200">
              <a:lnSpc>
                <a:spcPct val="150000"/>
              </a:lnSpc>
              <a:buFont typeface="Arial" pitchFamily="34" charset="0"/>
              <a:buChar char="•"/>
            </a:pPr>
            <a:endParaRPr lang="zh-CN" altLang="zh-CN" sz="2800" dirty="0">
              <a:latin typeface="Times New Roman" pitchFamily="18" charset="0"/>
              <a:cs typeface="Times New Roman" pitchFamily="18" charset="0"/>
            </a:endParaRPr>
          </a:p>
        </p:txBody>
      </p:sp>
      <p:sp>
        <p:nvSpPr>
          <p:cNvPr id="7" name="TextBox 6"/>
          <p:cNvSpPr txBox="1"/>
          <p:nvPr/>
        </p:nvSpPr>
        <p:spPr>
          <a:xfrm>
            <a:off x="116113" y="1364341"/>
            <a:ext cx="8476343" cy="1107996"/>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7.4.1 Conveying Internal States </a:t>
            </a:r>
            <a:r>
              <a:rPr lang="en-US" altLang="zh-CN" sz="3200" b="1" dirty="0">
                <a:highlight>
                  <a:srgbClr val="FFFF00"/>
                </a:highlight>
                <a:latin typeface="Times New Roman" pitchFamily="18" charset="0"/>
                <a:cs typeface="Times New Roman" pitchFamily="18" charset="0"/>
              </a:rPr>
              <a:t>P230</a:t>
            </a:r>
          </a:p>
          <a:p>
            <a:endParaRPr lang="zh-CN" altLang="en-US" dirty="0"/>
          </a:p>
        </p:txBody>
      </p:sp>
    </p:spTree>
    <p:extLst>
      <p:ext uri="{BB962C8B-B14F-4D97-AF65-F5344CB8AC3E}">
        <p14:creationId xmlns:p14="http://schemas.microsoft.com/office/powerpoint/2010/main" val="3470475726"/>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303636" y="2433099"/>
            <a:ext cx="8536727" cy="3246530"/>
          </a:xfrm>
          <a:prstGeom prst="rect">
            <a:avLst/>
          </a:prstGeom>
          <a:noFill/>
        </p:spPr>
        <p:txBody>
          <a:bodyPr wrap="square" rtlCol="0">
            <a:spAutoFit/>
          </a:bodyPr>
          <a:lstStyle/>
          <a:p>
            <a:pPr>
              <a:lnSpc>
                <a:spcPct val="150000"/>
              </a:lnSpc>
            </a:pPr>
            <a:r>
              <a:rPr lang="en-US" altLang="zh-CN" sz="2800" dirty="0">
                <a:latin typeface="Times New Roman" pitchFamily="18" charset="0"/>
                <a:cs typeface="Times New Roman" pitchFamily="18" charset="0"/>
              </a:rPr>
              <a:t>    Not only do you use nonverbal communication to tell others about what you are thinking and feeling, but you also </a:t>
            </a:r>
            <a:r>
              <a:rPr lang="en-US" altLang="zh-CN" sz="2800" dirty="0">
                <a:solidFill>
                  <a:srgbClr val="FF0000"/>
                </a:solidFill>
                <a:latin typeface="Times New Roman" pitchFamily="18" charset="0"/>
                <a:cs typeface="Times New Roman" pitchFamily="18" charset="0"/>
              </a:rPr>
              <a:t>utilize nonverbal symbols to tell yourself and others who you are</a:t>
            </a:r>
            <a:r>
              <a:rPr lang="en-US" altLang="zh-CN" sz="2800" dirty="0">
                <a:latin typeface="Times New Roman" pitchFamily="18" charset="0"/>
                <a:cs typeface="Times New Roman" pitchFamily="18" charset="0"/>
              </a:rPr>
              <a:t>. In this sense, nonverbal messages are partially responsible for establishing your identity. </a:t>
            </a:r>
            <a:endParaRPr lang="zh-CN" altLang="zh-CN" sz="2800" dirty="0">
              <a:latin typeface="Times New Roman" pitchFamily="18" charset="0"/>
              <a:cs typeface="Times New Roman" pitchFamily="18" charset="0"/>
            </a:endParaRPr>
          </a:p>
        </p:txBody>
      </p:sp>
      <p:sp>
        <p:nvSpPr>
          <p:cNvPr id="2" name="TextBox 1"/>
          <p:cNvSpPr txBox="1"/>
          <p:nvPr/>
        </p:nvSpPr>
        <p:spPr>
          <a:xfrm>
            <a:off x="151014" y="1483916"/>
            <a:ext cx="8476343" cy="861774"/>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7.4.2. Creating Identity </a:t>
            </a:r>
            <a:r>
              <a:rPr lang="en-US" altLang="zh-CN" sz="3200" b="1" dirty="0">
                <a:highlight>
                  <a:srgbClr val="FFFF00"/>
                </a:highlight>
                <a:latin typeface="Times New Roman" pitchFamily="18" charset="0"/>
                <a:cs typeface="Times New Roman" pitchFamily="18" charset="0"/>
              </a:rPr>
              <a:t>P230</a:t>
            </a:r>
            <a:r>
              <a:rPr lang="en-US" altLang="zh-CN" sz="2800" b="1" dirty="0">
                <a:latin typeface="Times New Roman" pitchFamily="18" charset="0"/>
                <a:cs typeface="Times New Roman" pitchFamily="18" charset="0"/>
              </a:rPr>
              <a:t>  </a:t>
            </a:r>
            <a:endParaRPr lang="en-US" altLang="zh-CN" sz="3200" b="1" dirty="0">
              <a:latin typeface="Times New Roman" pitchFamily="18" charset="0"/>
              <a:cs typeface="Times New Roman" pitchFamily="18" charset="0"/>
            </a:endParaRPr>
          </a:p>
          <a:p>
            <a:endParaRPr lang="zh-CN" altLang="en-US" dirty="0"/>
          </a:p>
        </p:txBody>
      </p:sp>
    </p:spTree>
    <p:extLst>
      <p:ext uri="{BB962C8B-B14F-4D97-AF65-F5344CB8AC3E}">
        <p14:creationId xmlns:p14="http://schemas.microsoft.com/office/powerpoint/2010/main" val="196360638"/>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74505" y="2364439"/>
            <a:ext cx="8767072"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Nonverbal actions offer clues regarding how people navigate conversation. </a:t>
            </a:r>
            <a:r>
              <a:rPr lang="en-US" altLang="zh-CN" sz="2800" dirty="0">
                <a:latin typeface="Times New Roman" pitchFamily="18" charset="0"/>
                <a:cs typeface="Times New Roman" pitchFamily="18" charset="0"/>
              </a:rPr>
              <a:t>As you approach someone you do not want to visit with, you may </a:t>
            </a:r>
            <a:r>
              <a:rPr lang="en-US" altLang="zh-CN" sz="2800" dirty="0">
                <a:solidFill>
                  <a:srgbClr val="FF0000"/>
                </a:solidFill>
                <a:latin typeface="Times New Roman" pitchFamily="18" charset="0"/>
                <a:cs typeface="Times New Roman" pitchFamily="18" charset="0"/>
              </a:rPr>
              <a:t>look down </a:t>
            </a:r>
            <a:r>
              <a:rPr lang="en-US" altLang="zh-CN" sz="2800" dirty="0">
                <a:latin typeface="Times New Roman" pitchFamily="18" charset="0"/>
                <a:cs typeface="Times New Roman" pitchFamily="18" charset="0"/>
              </a:rPr>
              <a:t>to indicate your lack of willingness to interact. Conversely, </a:t>
            </a:r>
            <a:r>
              <a:rPr lang="en-US" altLang="zh-CN" sz="2800" dirty="0">
                <a:solidFill>
                  <a:srgbClr val="FF0000"/>
                </a:solidFill>
                <a:latin typeface="Times New Roman" pitchFamily="18" charset="0"/>
                <a:cs typeface="Times New Roman" pitchFamily="18" charset="0"/>
              </a:rPr>
              <a:t>direct eye contact and a smile </a:t>
            </a:r>
            <a:r>
              <a:rPr lang="en-US" altLang="zh-CN" sz="2800" dirty="0">
                <a:latin typeface="Times New Roman" pitchFamily="18" charset="0"/>
                <a:cs typeface="Times New Roman" pitchFamily="18" charset="0"/>
              </a:rPr>
              <a:t>could send a message that you want to talk with the person who is approaching you</a:t>
            </a:r>
            <a:r>
              <a:rPr lang="en-US" altLang="zh-CN" sz="2800" dirty="0">
                <a:solidFill>
                  <a:srgbClr val="FF0000"/>
                </a:solidFill>
                <a:latin typeface="Times New Roman" pitchFamily="18" charset="0"/>
                <a:cs typeface="Times New Roman" pitchFamily="18" charset="0"/>
              </a:rPr>
              <a:t>. These and other actions can regulate everything from when the conversation can begin, when it is your time to speak, and even when it is time for the interaction to conclude.</a:t>
            </a:r>
            <a:endParaRPr lang="zh-CN" altLang="zh-CN" sz="2800" dirty="0">
              <a:solidFill>
                <a:srgbClr val="FF0000"/>
              </a:solidFill>
              <a:latin typeface="Times New Roman" pitchFamily="18" charset="0"/>
              <a:cs typeface="Times New Roman" pitchFamily="18" charset="0"/>
            </a:endParaRPr>
          </a:p>
        </p:txBody>
      </p:sp>
      <p:sp>
        <p:nvSpPr>
          <p:cNvPr id="2" name="TextBox 1"/>
          <p:cNvSpPr txBox="1"/>
          <p:nvPr/>
        </p:nvSpPr>
        <p:spPr>
          <a:xfrm>
            <a:off x="116113" y="1509484"/>
            <a:ext cx="8476343" cy="861774"/>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7.4.3. Regulating Interaction </a:t>
            </a:r>
            <a:r>
              <a:rPr lang="en-US" altLang="zh-CN" sz="3200" b="1" dirty="0">
                <a:highlight>
                  <a:srgbClr val="FFFF00"/>
                </a:highlight>
                <a:latin typeface="Times New Roman" pitchFamily="18" charset="0"/>
                <a:cs typeface="Times New Roman" pitchFamily="18" charset="0"/>
              </a:rPr>
              <a:t>P231</a:t>
            </a:r>
          </a:p>
          <a:p>
            <a:endParaRPr lang="zh-CN" altLang="en-US" dirty="0"/>
          </a:p>
        </p:txBody>
      </p:sp>
    </p:spTree>
    <p:extLst>
      <p:ext uri="{BB962C8B-B14F-4D97-AF65-F5344CB8AC3E}">
        <p14:creationId xmlns:p14="http://schemas.microsoft.com/office/powerpoint/2010/main" val="2978424858"/>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300147" y="2696879"/>
            <a:ext cx="8641429"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Another function of nonverbal messages is that they can be </a:t>
            </a:r>
            <a:r>
              <a:rPr lang="en-US" altLang="zh-CN" sz="2800" dirty="0">
                <a:solidFill>
                  <a:srgbClr val="FF0000"/>
                </a:solidFill>
                <a:latin typeface="Times New Roman" pitchFamily="18" charset="0"/>
                <a:cs typeface="Times New Roman" pitchFamily="18" charset="0"/>
              </a:rPr>
              <a:t>used as substitutes for words</a:t>
            </a:r>
            <a:r>
              <a:rPr lang="en-US" altLang="zh-CN" sz="2800" dirty="0">
                <a:latin typeface="Times New Roman" pitchFamily="18" charset="0"/>
                <a:cs typeface="Times New Roman" pitchFamily="18" charset="0"/>
              </a:rPr>
              <a:t>. For example, a teacher may </a:t>
            </a:r>
            <a:r>
              <a:rPr lang="en-US" altLang="zh-CN" sz="2800" dirty="0">
                <a:solidFill>
                  <a:srgbClr val="FF0000"/>
                </a:solidFill>
                <a:latin typeface="Times New Roman" pitchFamily="18" charset="0"/>
                <a:cs typeface="Times New Roman" pitchFamily="18" charset="0"/>
              </a:rPr>
              <a:t>place an index finger to the lips </a:t>
            </a:r>
            <a:r>
              <a:rPr lang="en-US" altLang="zh-CN" sz="2800" dirty="0">
                <a:latin typeface="Times New Roman" pitchFamily="18" charset="0"/>
                <a:cs typeface="Times New Roman" pitchFamily="18" charset="0"/>
              </a:rPr>
              <a:t>as an alternative to saying, “Please be quiet”. People often use the hands to beckon someone to come closer or use the same hands to say good-bye. In each of these examples, </a:t>
            </a:r>
            <a:r>
              <a:rPr lang="en-US" altLang="zh-CN" sz="2800" dirty="0">
                <a:solidFill>
                  <a:srgbClr val="FF0000"/>
                </a:solidFill>
                <a:latin typeface="Times New Roman" pitchFamily="18" charset="0"/>
                <a:cs typeface="Times New Roman" pitchFamily="18" charset="0"/>
              </a:rPr>
              <a:t>an action is replacing a verbal utterance, and that action becomes the language.</a:t>
            </a:r>
            <a:endParaRPr lang="zh-CN" altLang="zh-CN" sz="2800" dirty="0">
              <a:solidFill>
                <a:srgbClr val="FF0000"/>
              </a:solidFill>
              <a:latin typeface="Times New Roman" pitchFamily="18" charset="0"/>
              <a:cs typeface="Times New Roman" pitchFamily="18" charset="0"/>
            </a:endParaRPr>
          </a:p>
        </p:txBody>
      </p:sp>
      <p:sp>
        <p:nvSpPr>
          <p:cNvPr id="2" name="TextBox 1"/>
          <p:cNvSpPr txBox="1"/>
          <p:nvPr/>
        </p:nvSpPr>
        <p:spPr>
          <a:xfrm>
            <a:off x="116113" y="1407884"/>
            <a:ext cx="8476343" cy="1107996"/>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7.4.4. Substituting for Words 	</a:t>
            </a:r>
            <a:r>
              <a:rPr lang="en-US" altLang="zh-CN" sz="3200" b="1" dirty="0">
                <a:highlight>
                  <a:srgbClr val="FFFF00"/>
                </a:highlight>
                <a:latin typeface="Times New Roman" pitchFamily="18" charset="0"/>
                <a:cs typeface="Times New Roman" pitchFamily="18" charset="0"/>
              </a:rPr>
              <a:t>P232</a:t>
            </a:r>
            <a:endParaRPr lang="zh-CN" altLang="en-US" sz="3200" b="1" dirty="0">
              <a:highlight>
                <a:srgbClr val="FFFF00"/>
              </a:highlight>
              <a:latin typeface="Times New Roman" pitchFamily="18" charset="0"/>
              <a:cs typeface="Times New Roman" pitchFamily="18" charset="0"/>
            </a:endParaRPr>
          </a:p>
          <a:p>
            <a:endParaRPr lang="zh-CN" altLang="en-US" dirty="0"/>
          </a:p>
        </p:txBody>
      </p:sp>
      <p:pic>
        <p:nvPicPr>
          <p:cNvPr id="3" name="图片 2"/>
          <p:cNvPicPr>
            <a:picLocks noChangeAspect="1"/>
          </p:cNvPicPr>
          <p:nvPr/>
        </p:nvPicPr>
        <p:blipFill rotWithShape="1">
          <a:blip r:embed="rId3">
            <a:extLst>
              <a:ext uri="{BEBA8EAE-BF5A-486C-A8C5-ECC9F3942E4B}">
                <a14:imgProps xmlns:a14="http://schemas.microsoft.com/office/drawing/2010/main">
                  <a14:imgLayer r:embed="rId4">
                    <a14:imgEffect>
                      <a14:backgroundRemoval t="13226" b="58387" l="32581" r="67742"/>
                    </a14:imgEffect>
                  </a14:imgLayer>
                </a14:imgProps>
              </a:ext>
              <a:ext uri="{28A0092B-C50C-407E-A947-70E740481C1C}">
                <a14:useLocalDpi xmlns:a14="http://schemas.microsoft.com/office/drawing/2010/main" val="0"/>
              </a:ext>
            </a:extLst>
          </a:blip>
          <a:srcRect l="28583" t="12829" r="27607" b="40960"/>
          <a:stretch/>
        </p:blipFill>
        <p:spPr>
          <a:xfrm>
            <a:off x="5870753" y="5677509"/>
            <a:ext cx="1059541" cy="1117600"/>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4603" y="5677509"/>
            <a:ext cx="1025072" cy="1025072"/>
          </a:xfrm>
          <a:prstGeom prst="rect">
            <a:avLst/>
          </a:prstGeom>
        </p:spPr>
      </p:pic>
    </p:spTree>
    <p:extLst>
      <p:ext uri="{BB962C8B-B14F-4D97-AF65-F5344CB8AC3E}">
        <p14:creationId xmlns:p14="http://schemas.microsoft.com/office/powerpoint/2010/main" val="2822319884"/>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0" y="1960009"/>
            <a:ext cx="8926285" cy="2792367"/>
          </a:xfrm>
        </p:spPr>
        <p:txBody>
          <a:bodyPr vert="horz" wrap="square" lIns="91440" tIns="45720" rIns="91440" bIns="45720" anchor="ctr"/>
          <a:lstStyle/>
          <a:p>
            <a:pPr eaLnBrk="1" hangingPunct="1">
              <a:lnSpc>
                <a:spcPct val="200000"/>
              </a:lnSpc>
              <a:buClrTx/>
              <a:buSzTx/>
              <a:buFontTx/>
            </a:pP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r>
              <a:rPr lang="en-US" altLang="zh-CN" sz="4400" b="1" dirty="0">
                <a:solidFill>
                  <a:schemeClr val="tx1"/>
                </a:solidFill>
                <a:latin typeface="Times New Roman" pitchFamily="18" charset="0"/>
                <a:ea typeface="微软雅黑" panose="020B0503020204020204" charset="-122"/>
                <a:cs typeface="Times New Roman" pitchFamily="18" charset="0"/>
                <a:sym typeface="+mn-lt"/>
              </a:rPr>
              <a:t>7.5 Studying Nonverbal Communication</a:t>
            </a:r>
            <a:br>
              <a:rPr lang="en-US" altLang="zh-CN" sz="4400" b="1" dirty="0">
                <a:solidFill>
                  <a:schemeClr val="tx1"/>
                </a:solidFill>
                <a:latin typeface="Times New Roman" pitchFamily="18" charset="0"/>
                <a:ea typeface="微软雅黑" panose="020B0503020204020204" charset="-122"/>
                <a:cs typeface="Times New Roman" pitchFamily="18" charset="0"/>
                <a:sym typeface="+mn-lt"/>
              </a:rPr>
            </a:br>
            <a:endParaRPr lang="zh-CN" altLang="zh-CN" sz="4400" b="1" kern="1200" dirty="0">
              <a:solidFill>
                <a:schemeClr val="tx1"/>
              </a:solidFill>
              <a:latin typeface="Times New Roman" pitchFamily="18" charset="0"/>
              <a:cs typeface="Times New Roman" pitchFamily="18" charset="0"/>
            </a:endParaRPr>
          </a:p>
        </p:txBody>
      </p:sp>
      <p:sp>
        <p:nvSpPr>
          <p:cNvPr id="2051" name="副标题 3074"/>
          <p:cNvSpPr>
            <a:spLocks noGrp="1"/>
          </p:cNvSpPr>
          <p:nvPr>
            <p:ph type="subTitle" idx="1"/>
          </p:nvPr>
        </p:nvSpPr>
        <p:spPr>
          <a:xfrm>
            <a:off x="1371600" y="3886200"/>
            <a:ext cx="6400800" cy="1033145"/>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星形: 五角 3">
            <a:extLst>
              <a:ext uri="{FF2B5EF4-FFF2-40B4-BE49-F238E27FC236}">
                <a16:creationId xmlns:a16="http://schemas.microsoft.com/office/drawing/2014/main" id="{18DF82CB-B3A8-4C82-BA58-C9ABA162D953}"/>
              </a:ext>
            </a:extLst>
          </p:cNvPr>
          <p:cNvSpPr/>
          <p:nvPr/>
        </p:nvSpPr>
        <p:spPr>
          <a:xfrm>
            <a:off x="984200" y="3356192"/>
            <a:ext cx="501111" cy="551432"/>
          </a:xfrm>
          <a:prstGeom prst="star5">
            <a:avLst/>
          </a:prstGeom>
          <a:solidFill>
            <a:srgbClr val="FF0000"/>
          </a:solidFill>
          <a:ln w="12700" cap="flat" cmpd="sng" algn="ctr">
            <a:solidFill>
              <a:srgbClr val="BBE0E3">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Tree>
    <p:extLst>
      <p:ext uri="{BB962C8B-B14F-4D97-AF65-F5344CB8AC3E}">
        <p14:creationId xmlns:p14="http://schemas.microsoft.com/office/powerpoint/2010/main" val="2168115395"/>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9739" y="2839182"/>
            <a:ext cx="8911771"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Nonverbal communication usually </a:t>
            </a:r>
            <a:r>
              <a:rPr lang="en-US" altLang="zh-CN" sz="2800" dirty="0">
                <a:solidFill>
                  <a:srgbClr val="FF0000"/>
                </a:solidFill>
                <a:latin typeface="Times New Roman" pitchFamily="18" charset="0"/>
                <a:cs typeface="Times New Roman" pitchFamily="18" charset="0"/>
              </a:rPr>
              <a:t>involves more than one message being sent at a time</a:t>
            </a:r>
            <a:r>
              <a:rPr lang="en-US" altLang="zh-CN" sz="2800" dirty="0">
                <a:latin typeface="Times New Roman" pitchFamily="18" charset="0"/>
                <a:cs typeface="Times New Roman" pitchFamily="18" charset="0"/>
              </a:rPr>
              <a:t>. The problems associated with the multichannel nature of nonverbal communication often show themselves </a:t>
            </a:r>
            <a:r>
              <a:rPr lang="en-US" altLang="zh-CN" sz="2800" dirty="0">
                <a:solidFill>
                  <a:srgbClr val="FF0000"/>
                </a:solidFill>
                <a:latin typeface="Times New Roman" pitchFamily="18" charset="0"/>
                <a:cs typeface="Times New Roman" pitchFamily="18" charset="0"/>
              </a:rPr>
              <a:t>when people focus on one channel and forget the others</a:t>
            </a:r>
            <a:r>
              <a:rPr lang="en-US" altLang="zh-CN" sz="2800" dirty="0">
                <a:latin typeface="Times New Roman" pitchFamily="18" charset="0"/>
                <a:cs typeface="Times New Roman" pitchFamily="18" charset="0"/>
              </a:rPr>
              <a:t>. In short, a great amount of information is exchanged during an interaction, and not being aware of that fact can cause confusion.</a:t>
            </a:r>
            <a:endParaRPr lang="zh-CN" altLang="zh-CN" sz="2800" dirty="0">
              <a:latin typeface="Times New Roman" pitchFamily="18" charset="0"/>
              <a:cs typeface="Times New Roman" pitchFamily="18" charset="0"/>
            </a:endParaRPr>
          </a:p>
          <a:p>
            <a:endParaRPr lang="zh-CN" altLang="en-US" sz="2800" dirty="0">
              <a:latin typeface="Times New Roman" pitchFamily="18" charset="0"/>
              <a:cs typeface="Times New Roman" pitchFamily="18" charset="0"/>
            </a:endParaRPr>
          </a:p>
        </p:txBody>
      </p:sp>
      <p:sp>
        <p:nvSpPr>
          <p:cNvPr id="2" name="TextBox 1"/>
          <p:cNvSpPr txBox="1"/>
          <p:nvPr/>
        </p:nvSpPr>
        <p:spPr>
          <a:xfrm>
            <a:off x="116112" y="1552508"/>
            <a:ext cx="8979026" cy="1369606"/>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7.5.1 Nonverbal communication is a multichannel activity </a:t>
            </a:r>
            <a:r>
              <a:rPr lang="en-US" altLang="zh-CN" sz="3200" b="1" dirty="0">
                <a:highlight>
                  <a:srgbClr val="FFFF00"/>
                </a:highlight>
                <a:latin typeface="Times New Roman" pitchFamily="18" charset="0"/>
                <a:cs typeface="Times New Roman" pitchFamily="18" charset="0"/>
              </a:rPr>
              <a:t>P232</a:t>
            </a:r>
          </a:p>
          <a:p>
            <a:endParaRPr lang="zh-CN" altLang="en-US" dirty="0"/>
          </a:p>
        </p:txBody>
      </p:sp>
    </p:spTree>
    <p:extLst>
      <p:ext uri="{BB962C8B-B14F-4D97-AF65-F5344CB8AC3E}">
        <p14:creationId xmlns:p14="http://schemas.microsoft.com/office/powerpoint/2010/main" val="2105778982"/>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853621"/>
            <a:ext cx="8911771" cy="3754874"/>
          </a:xfrm>
          <a:prstGeom prst="rect">
            <a:avLst/>
          </a:prstGeom>
          <a:noFill/>
        </p:spPr>
        <p:txBody>
          <a:bodyPr wrap="square" rtlCol="0">
            <a:spAutoFit/>
          </a:bodyPr>
          <a:lstStyle/>
          <a:p>
            <a:pPr>
              <a:lnSpc>
                <a:spcPct val="150000"/>
              </a:lnSpc>
            </a:pPr>
            <a:r>
              <a:rPr lang="en-US" altLang="zh-CN" sz="2800" dirty="0">
                <a:solidFill>
                  <a:srgbClr val="FF0000"/>
                </a:solidFill>
                <a:latin typeface="Times New Roman" pitchFamily="18" charset="0"/>
                <a:cs typeface="Times New Roman" pitchFamily="18" charset="0"/>
              </a:rPr>
              <a:t>The potential for ambiguity increases when the variable of culture is introduced. </a:t>
            </a:r>
            <a:r>
              <a:rPr lang="en-US" altLang="zh-CN" sz="2800" dirty="0">
                <a:latin typeface="Times New Roman" pitchFamily="18" charset="0"/>
                <a:cs typeface="Times New Roman" pitchFamily="18" charset="0"/>
              </a:rPr>
              <a:t>For example, a lack of eye contact in the dominant U.S. American culture often carries a negative connotation. In China, a reluctance to make eye contact may be seen as a sign of respect. </a:t>
            </a:r>
          </a:p>
          <a:p>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9083728" cy="1063753"/>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7.5.2  Nonverbal communication is often ambiguous </a:t>
            </a:r>
            <a:r>
              <a:rPr lang="en-US" altLang="zh-CN" sz="3200" b="1" dirty="0">
                <a:highlight>
                  <a:srgbClr val="FFFF00"/>
                </a:highlight>
                <a:latin typeface="Times New Roman" pitchFamily="18" charset="0"/>
                <a:cs typeface="Times New Roman" pitchFamily="18" charset="0"/>
              </a:rPr>
              <a:t>P233</a:t>
            </a:r>
            <a:endParaRPr lang="zh-CN" altLang="en-US"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643509991"/>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693076"/>
            <a:ext cx="9027888" cy="3108543"/>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Ambiguity can also be linked to the context. </a:t>
            </a:r>
            <a:r>
              <a:rPr lang="en-US" altLang="zh-CN" sz="2800" dirty="0">
                <a:latin typeface="Times New Roman" pitchFamily="18" charset="0"/>
                <a:cs typeface="Times New Roman" pitchFamily="18" charset="0"/>
              </a:rPr>
              <a:t>The ambiguity of setting is seen if someone brushes your leg on an elevator was it merely an accident or an aggressive sexual act? </a:t>
            </a:r>
          </a:p>
          <a:p>
            <a:r>
              <a:rPr lang="en-US" altLang="zh-CN" sz="2800" dirty="0">
                <a:latin typeface="Times New Roman" pitchFamily="18" charset="0"/>
                <a:cs typeface="Times New Roman" pitchFamily="18" charset="0"/>
              </a:rPr>
              <a:t>    Our point should be obvious: </a:t>
            </a:r>
            <a:r>
              <a:rPr lang="en-US" altLang="zh-CN" sz="2800" dirty="0">
                <a:solidFill>
                  <a:srgbClr val="FF0000"/>
                </a:solidFill>
                <a:latin typeface="Times New Roman" pitchFamily="18" charset="0"/>
                <a:cs typeface="Times New Roman" pitchFamily="18" charset="0"/>
              </a:rPr>
              <a:t>When you use nonverbal communication, you need to be aware of the ambiguous nature of this form of interaction</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a:p>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8476343" cy="1369606"/>
          </a:xfrm>
          <a:prstGeom prst="rect">
            <a:avLst/>
          </a:prstGeom>
          <a:noFill/>
        </p:spPr>
        <p:txBody>
          <a:bodyPr wrap="square" rtlCol="0">
            <a:spAutoFit/>
          </a:bodyPr>
          <a:lstStyle/>
          <a:p>
            <a:pPr marL="0" marR="0" lvl="0" indent="0" algn="l" defTabSz="914400" rtl="0" eaLnBrk="1" fontAlgn="base" latinLnBrk="0" hangingPunct="1">
              <a:lnSpc>
                <a:spcPts val="3900"/>
              </a:lnSpc>
              <a:spcBef>
                <a:spcPct val="0"/>
              </a:spcBef>
              <a:spcAft>
                <a:spcPct val="0"/>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Times New Roman" pitchFamily="18" charset="0"/>
                <a:cs typeface="Times New Roman" pitchFamily="18" charset="0"/>
              </a:rPr>
              <a:t>7.5.2  Nonverbal communication is often ambiguous </a:t>
            </a:r>
            <a:r>
              <a:rPr kumimoji="0" lang="en-US" altLang="zh-CN" sz="3200" b="1" i="0" u="none" strike="noStrike" kern="1200" cap="none" spc="0" normalizeH="0" baseline="0" noProof="0" dirty="0">
                <a:ln>
                  <a:noFill/>
                </a:ln>
                <a:solidFill>
                  <a:srgbClr val="000000"/>
                </a:solidFill>
                <a:effectLst/>
                <a:highlight>
                  <a:srgbClr val="FFFF00"/>
                </a:highlight>
                <a:uLnTx/>
                <a:uFillTx/>
                <a:latin typeface="Times New Roman" pitchFamily="18" charset="0"/>
                <a:cs typeface="Times New Roman" pitchFamily="18" charset="0"/>
              </a:rPr>
              <a:t>P233</a:t>
            </a:r>
            <a:endParaRPr kumimoji="0" lang="zh-CN" altLang="en-US" sz="3200" b="1" i="0" u="none" strike="noStrike" kern="1200" cap="none" spc="0" normalizeH="0" baseline="0" noProof="0" dirty="0">
              <a:ln>
                <a:noFill/>
              </a:ln>
              <a:solidFill>
                <a:srgbClr val="000000"/>
              </a:solidFill>
              <a:effectLst/>
              <a:highlight>
                <a:srgbClr val="FFFF00"/>
              </a:highlight>
              <a:uLnTx/>
              <a:uFillTx/>
              <a:latin typeface="Times New Roman" pitchFamily="18" charset="0"/>
              <a:cs typeface="Times New Roman" pitchFamily="18" charset="0"/>
            </a:endParaRPr>
          </a:p>
          <a:p>
            <a:endParaRPr lang="zh-CN" altLang="en-US" dirty="0"/>
          </a:p>
        </p:txBody>
      </p:sp>
    </p:spTree>
    <p:extLst>
      <p:ext uri="{BB962C8B-B14F-4D97-AF65-F5344CB8AC3E}">
        <p14:creationId xmlns:p14="http://schemas.microsoft.com/office/powerpoint/2010/main" val="905035601"/>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319312" y="2717169"/>
            <a:ext cx="8824688"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As noted elsewhere, people are the products not only of their culture, but also of their gender, region, occupation, political affiliation, educational background, and countless other factors that have shaped their perceptions, values, attitudes, beliefs, and nonverbal communication. We are suggesting that </a:t>
            </a:r>
            <a:r>
              <a:rPr lang="en-US" altLang="zh-CN" sz="2800" dirty="0">
                <a:solidFill>
                  <a:srgbClr val="FF0000"/>
                </a:solidFill>
                <a:latin typeface="Times New Roman" pitchFamily="18" charset="0"/>
                <a:cs typeface="Times New Roman" pitchFamily="18" charset="0"/>
              </a:rPr>
              <a:t>nonverbal communication, like much behavior, is produced by a host of variables, and culture is but one of them. </a:t>
            </a:r>
            <a:endParaRPr lang="zh-CN" altLang="en-US" sz="2800" dirty="0">
              <a:solidFill>
                <a:srgbClr val="FF0000"/>
              </a:solidFill>
              <a:latin typeface="Times New Roman" pitchFamily="18" charset="0"/>
              <a:cs typeface="Times New Roman" pitchFamily="18" charset="0"/>
            </a:endParaRPr>
          </a:p>
        </p:txBody>
      </p:sp>
      <p:sp>
        <p:nvSpPr>
          <p:cNvPr id="2" name="TextBox 1"/>
          <p:cNvSpPr txBox="1"/>
          <p:nvPr/>
        </p:nvSpPr>
        <p:spPr>
          <a:xfrm>
            <a:off x="116113" y="1509484"/>
            <a:ext cx="8476343" cy="1369606"/>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7.5.3 Numerous variables influence nonverbal communication </a:t>
            </a:r>
            <a:r>
              <a:rPr lang="en-US" altLang="zh-CN" sz="3200" b="1" dirty="0">
                <a:highlight>
                  <a:srgbClr val="FFFF00"/>
                </a:highlight>
                <a:latin typeface="Times New Roman" pitchFamily="18" charset="0"/>
                <a:cs typeface="Times New Roman" pitchFamily="18" charset="0"/>
              </a:rPr>
              <a:t>P233</a:t>
            </a:r>
          </a:p>
          <a:p>
            <a:endParaRPr lang="zh-CN" altLang="en-US" dirty="0"/>
          </a:p>
        </p:txBody>
      </p:sp>
    </p:spTree>
    <p:extLst>
      <p:ext uri="{BB962C8B-B14F-4D97-AF65-F5344CB8AC3E}">
        <p14:creationId xmlns:p14="http://schemas.microsoft.com/office/powerpoint/2010/main" val="3208371689"/>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88683" y="2865858"/>
            <a:ext cx="8824688" cy="3108543"/>
          </a:xfrm>
          <a:prstGeom prst="rect">
            <a:avLst/>
          </a:prstGeom>
          <a:noFill/>
        </p:spPr>
        <p:txBody>
          <a:bodyPr wrap="square" rtlCol="0">
            <a:spAutoFit/>
          </a:bodyPr>
          <a:lstStyle/>
          <a:p>
            <a:r>
              <a:rPr lang="en-US" altLang="zh-CN" sz="2800" dirty="0"/>
              <a:t>    </a:t>
            </a:r>
            <a:r>
              <a:rPr lang="en-US" altLang="zh-CN" sz="2800" dirty="0">
                <a:solidFill>
                  <a:srgbClr val="FF0000"/>
                </a:solidFill>
                <a:latin typeface="Times New Roman" pitchFamily="18" charset="0"/>
                <a:cs typeface="Times New Roman" pitchFamily="18" charset="0"/>
              </a:rPr>
              <a:t>Nonverbal communication mirrors the learned behaviors embedded in a culture</a:t>
            </a:r>
            <a:r>
              <a:rPr lang="en-US" altLang="zh-CN" sz="2800" dirty="0">
                <a:latin typeface="Times New Roman" pitchFamily="18" charset="0"/>
                <a:cs typeface="Times New Roman" pitchFamily="18" charset="0"/>
              </a:rPr>
              <a:t>. It is part of the socialization process and presents the members of each culture with cultural rules. These rules </a:t>
            </a:r>
            <a:r>
              <a:rPr lang="it-IT" altLang="zh-CN" sz="2800" dirty="0">
                <a:latin typeface="Times New Roman" pitchFamily="18" charset="0"/>
                <a:cs typeface="Times New Roman" pitchFamily="18" charset="0"/>
              </a:rPr>
              <a:t>are manifested</a:t>
            </a:r>
            <a:r>
              <a:rPr lang="en-US" altLang="zh-CN" sz="2800" dirty="0">
                <a:latin typeface="Times New Roman" pitchFamily="18" charset="0"/>
                <a:cs typeface="Times New Roman" pitchFamily="18" charset="0"/>
              </a:rPr>
              <a:t> in norms, values, attitudes, traditions, customs, and heritage and are communicated across generations.</a:t>
            </a:r>
          </a:p>
          <a:p>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8958085"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7.6 Nonverbal Communication and Culture </a:t>
            </a:r>
            <a:r>
              <a:rPr lang="en-US" altLang="zh-CN" sz="3200" b="1" dirty="0">
                <a:highlight>
                  <a:srgbClr val="FFFF00"/>
                </a:highlight>
                <a:latin typeface="Times New Roman" pitchFamily="18" charset="0"/>
                <a:cs typeface="Times New Roman" pitchFamily="18" charset="0"/>
              </a:rPr>
              <a:t>P233</a:t>
            </a:r>
          </a:p>
          <a:p>
            <a:endParaRPr lang="zh-CN" altLang="en-US" dirty="0"/>
          </a:p>
        </p:txBody>
      </p:sp>
      <p:pic>
        <p:nvPicPr>
          <p:cNvPr id="3" name="图片 2">
            <a:extLst>
              <a:ext uri="{FF2B5EF4-FFF2-40B4-BE49-F238E27FC236}">
                <a16:creationId xmlns:a16="http://schemas.microsoft.com/office/drawing/2014/main" id="{9B423703-354C-4400-97D8-04137C0861C6}"/>
              </a:ext>
            </a:extLst>
          </p:cNvPr>
          <p:cNvPicPr>
            <a:picLocks noChangeAspect="1"/>
          </p:cNvPicPr>
          <p:nvPr/>
        </p:nvPicPr>
        <p:blipFill>
          <a:blip r:embed="rId3"/>
          <a:stretch>
            <a:fillRect/>
          </a:stretch>
        </p:blipFill>
        <p:spPr>
          <a:xfrm>
            <a:off x="4677632" y="587917"/>
            <a:ext cx="542591" cy="591363"/>
          </a:xfrm>
          <a:prstGeom prst="rect">
            <a:avLst/>
          </a:prstGeom>
        </p:spPr>
      </p:pic>
    </p:spTree>
    <p:extLst>
      <p:ext uri="{BB962C8B-B14F-4D97-AF65-F5344CB8AC3E}">
        <p14:creationId xmlns:p14="http://schemas.microsoft.com/office/powerpoint/2010/main" val="1170696740"/>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88683" y="2604601"/>
            <a:ext cx="8694060" cy="3539430"/>
          </a:xfrm>
          <a:prstGeom prst="rect">
            <a:avLst/>
          </a:prstGeom>
          <a:noFill/>
        </p:spPr>
        <p:txBody>
          <a:bodyPr wrap="square" rtlCol="0">
            <a:spAutoFit/>
          </a:bodyPr>
          <a:lstStyle/>
          <a:p>
            <a:r>
              <a:rPr lang="en-US" altLang="zh-CN" sz="2800" dirty="0"/>
              <a:t>    </a:t>
            </a:r>
            <a:r>
              <a:rPr lang="en-US" altLang="zh-CN" sz="2800" dirty="0">
                <a:solidFill>
                  <a:srgbClr val="FF0000"/>
                </a:solidFill>
                <a:latin typeface="Times New Roman" pitchFamily="18" charset="0"/>
                <a:cs typeface="Times New Roman" pitchFamily="18" charset="0"/>
              </a:rPr>
              <a:t>Rosenblatt links these cultural rules to nonverbal communication</a:t>
            </a:r>
            <a:r>
              <a:rPr lang="en-US" altLang="zh-CN" sz="2800" dirty="0">
                <a:latin typeface="Times New Roman" pitchFamily="18" charset="0"/>
                <a:cs typeface="Times New Roman" pitchFamily="18" charset="0"/>
              </a:rPr>
              <a:t>, as he writes, “What emotions are felt, how they are expressed, and how they are understood are matters of culture.” </a:t>
            </a:r>
            <a:r>
              <a:rPr lang="en-US" altLang="zh-CN" sz="2800" dirty="0">
                <a:solidFill>
                  <a:srgbClr val="FF0000"/>
                </a:solidFill>
                <a:latin typeface="Times New Roman" pitchFamily="18" charset="0"/>
                <a:cs typeface="Times New Roman" pitchFamily="18" charset="0"/>
              </a:rPr>
              <a:t>Key in Rosenblatt’s sentence </a:t>
            </a:r>
            <a:r>
              <a:rPr lang="en-US" altLang="zh-CN" sz="2800" dirty="0">
                <a:latin typeface="Times New Roman" pitchFamily="18" charset="0"/>
                <a:cs typeface="Times New Roman" pitchFamily="18" charset="0"/>
              </a:rPr>
              <a:t>is that culture has taught you which nonverbal actions to display (crying or laughing), the meaning of those actions (sadness or happiness), and the contextual backdrop (funeral or wedding). </a:t>
            </a: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9027887"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7.6 Nonverbal Communication and Culture </a:t>
            </a:r>
            <a:r>
              <a:rPr lang="en-US" altLang="zh-CN" sz="3200" b="1" dirty="0">
                <a:highlight>
                  <a:srgbClr val="FFFF00"/>
                </a:highlight>
                <a:latin typeface="Times New Roman" pitchFamily="18" charset="0"/>
                <a:cs typeface="Times New Roman" pitchFamily="18" charset="0"/>
              </a:rPr>
              <a:t>P233</a:t>
            </a:r>
          </a:p>
          <a:p>
            <a:endParaRPr lang="zh-CN" altLang="en-US" dirty="0"/>
          </a:p>
        </p:txBody>
      </p:sp>
    </p:spTree>
    <p:extLst>
      <p:ext uri="{BB962C8B-B14F-4D97-AF65-F5344CB8AC3E}">
        <p14:creationId xmlns:p14="http://schemas.microsoft.com/office/powerpoint/2010/main" val="2234302344"/>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24970" y="2593632"/>
            <a:ext cx="8694060" cy="3108543"/>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As a student of intercultural communication, learning about the connection between culture and nonverbal behavior will </a:t>
            </a:r>
            <a:r>
              <a:rPr lang="en-US" altLang="zh-CN" sz="2800" dirty="0">
                <a:solidFill>
                  <a:srgbClr val="FF0000"/>
                </a:solidFill>
                <a:latin typeface="Times New Roman" pitchFamily="18" charset="0"/>
                <a:cs typeface="Times New Roman" pitchFamily="18" charset="0"/>
              </a:rPr>
              <a:t>help to improve the manner </a:t>
            </a:r>
            <a:r>
              <a:rPr lang="en-US" altLang="zh-CN" sz="2800" dirty="0">
                <a:latin typeface="Times New Roman" pitchFamily="18" charset="0"/>
                <a:cs typeface="Times New Roman" pitchFamily="18" charset="0"/>
              </a:rPr>
              <a:t>in which you engage in intercultural interactions. By understanding cultural differences in nonverbal behavior you will also be able </a:t>
            </a:r>
            <a:r>
              <a:rPr lang="en-US" altLang="zh-CN" sz="2800" dirty="0">
                <a:solidFill>
                  <a:srgbClr val="FF0000"/>
                </a:solidFill>
                <a:latin typeface="Times New Roman" pitchFamily="18" charset="0"/>
                <a:cs typeface="Times New Roman" pitchFamily="18" charset="0"/>
              </a:rPr>
              <a:t>to gather clues about underlying attitudes and values </a:t>
            </a:r>
            <a:r>
              <a:rPr lang="en-US" altLang="zh-CN" sz="2800" dirty="0">
                <a:latin typeface="Times New Roman" pitchFamily="18" charset="0"/>
                <a:cs typeface="Times New Roman" pitchFamily="18" charset="0"/>
              </a:rPr>
              <a:t>being expressed by your communication partner.</a:t>
            </a: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9027887" cy="869469"/>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7.6 Nonverbal Communication and Culture </a:t>
            </a:r>
            <a:r>
              <a:rPr lang="en-US" altLang="zh-CN" sz="3200" b="1" dirty="0">
                <a:highlight>
                  <a:srgbClr val="FFFF00"/>
                </a:highlight>
                <a:latin typeface="Times New Roman" pitchFamily="18" charset="0"/>
                <a:cs typeface="Times New Roman" pitchFamily="18" charset="0"/>
              </a:rPr>
              <a:t>P234</a:t>
            </a:r>
          </a:p>
          <a:p>
            <a:endParaRPr lang="zh-CN" altLang="en-US" dirty="0"/>
          </a:p>
        </p:txBody>
      </p:sp>
    </p:spTree>
    <p:extLst>
      <p:ext uri="{BB962C8B-B14F-4D97-AF65-F5344CB8AC3E}">
        <p14:creationId xmlns:p14="http://schemas.microsoft.com/office/powerpoint/2010/main" val="338109081"/>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32225" y="2503000"/>
            <a:ext cx="8694060" cy="3970318"/>
          </a:xfrm>
          <a:prstGeom prst="rect">
            <a:avLst/>
          </a:prstGeom>
          <a:noFill/>
        </p:spPr>
        <p:txBody>
          <a:bodyPr wrap="square" rtlCol="0">
            <a:spAutoFit/>
          </a:bodyPr>
          <a:lstStyle/>
          <a:p>
            <a:pPr marL="514350" indent="-514350">
              <a:lnSpc>
                <a:spcPct val="150000"/>
              </a:lnSpc>
              <a:buAutoNum type="arabicPeriod"/>
            </a:pPr>
            <a:r>
              <a:rPr lang="en-US" altLang="zh-CN" sz="2800" dirty="0">
                <a:latin typeface="Times New Roman" pitchFamily="18" charset="0"/>
                <a:cs typeface="Times New Roman" pitchFamily="18" charset="0"/>
              </a:rPr>
              <a:t>Messages of the body</a:t>
            </a:r>
          </a:p>
          <a:p>
            <a:pPr marL="514350" indent="-514350">
              <a:lnSpc>
                <a:spcPct val="150000"/>
              </a:lnSpc>
              <a:buAutoNum type="arabicPeriod"/>
            </a:pPr>
            <a:r>
              <a:rPr lang="en-US" altLang="zh-CN" sz="2800" dirty="0">
                <a:latin typeface="Times New Roman" pitchFamily="18" charset="0"/>
                <a:cs typeface="Times New Roman" pitchFamily="18" charset="0"/>
              </a:rPr>
              <a:t>Appearance</a:t>
            </a:r>
          </a:p>
          <a:p>
            <a:pPr marL="514350" indent="-514350">
              <a:lnSpc>
                <a:spcPct val="150000"/>
              </a:lnSpc>
              <a:buAutoNum type="arabicPeriod"/>
            </a:pPr>
            <a:r>
              <a:rPr lang="en-US" altLang="zh-CN" sz="2800" dirty="0">
                <a:latin typeface="Times New Roman" pitchFamily="18" charset="0"/>
                <a:cs typeface="Times New Roman" pitchFamily="18" charset="0"/>
              </a:rPr>
              <a:t>Body movement</a:t>
            </a:r>
            <a:endParaRPr lang="zh-CN" altLang="zh-CN" sz="2800" dirty="0">
              <a:latin typeface="Times New Roman" pitchFamily="18" charset="0"/>
              <a:cs typeface="Times New Roman" pitchFamily="18" charset="0"/>
            </a:endParaRPr>
          </a:p>
          <a:p>
            <a:pPr marL="514350" indent="-514350">
              <a:lnSpc>
                <a:spcPct val="150000"/>
              </a:lnSpc>
              <a:buAutoNum type="arabicPeriod"/>
            </a:pPr>
            <a:r>
              <a:rPr lang="en-US" altLang="zh-CN" sz="2800" dirty="0">
                <a:latin typeface="Times New Roman" pitchFamily="18" charset="0"/>
                <a:cs typeface="Times New Roman" pitchFamily="18" charset="0"/>
              </a:rPr>
              <a:t>Space and Distance</a:t>
            </a:r>
          </a:p>
          <a:p>
            <a:pPr marL="514350" indent="-514350">
              <a:lnSpc>
                <a:spcPct val="150000"/>
              </a:lnSpc>
              <a:buAutoNum type="arabicPeriod"/>
            </a:pPr>
            <a:r>
              <a:rPr lang="en-US" altLang="zh-CN" sz="2800" dirty="0">
                <a:latin typeface="Times New Roman" pitchFamily="18" charset="0"/>
                <a:cs typeface="Times New Roman" pitchFamily="18" charset="0"/>
              </a:rPr>
              <a:t>Time</a:t>
            </a:r>
          </a:p>
          <a:p>
            <a:pPr marL="514350" indent="-514350">
              <a:lnSpc>
                <a:spcPct val="150000"/>
              </a:lnSpc>
              <a:buAutoNum type="arabicPeriod"/>
            </a:pPr>
            <a:r>
              <a:rPr lang="en-US" altLang="zh-CN" sz="2800" dirty="0">
                <a:latin typeface="Times New Roman" pitchFamily="18" charset="0"/>
                <a:cs typeface="Times New Roman" pitchFamily="18" charset="0"/>
              </a:rPr>
              <a:t>Silence</a:t>
            </a: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4"/>
            <a:ext cx="8958085" cy="1063753"/>
          </a:xfrm>
          <a:prstGeom prst="rect">
            <a:avLst/>
          </a:prstGeom>
          <a:noFill/>
        </p:spPr>
        <p:txBody>
          <a:bodyPr wrap="square" rtlCol="0">
            <a:spAutoFit/>
          </a:bodyPr>
          <a:lstStyle/>
          <a:p>
            <a:pPr>
              <a:lnSpc>
                <a:spcPts val="3900"/>
              </a:lnSpc>
            </a:pPr>
            <a:r>
              <a:rPr lang="en-US" altLang="zh-CN" sz="3200" b="1" dirty="0">
                <a:latin typeface="Times New Roman" pitchFamily="18" charset="0"/>
                <a:cs typeface="Times New Roman" pitchFamily="18" charset="0"/>
              </a:rPr>
              <a:t>7.7 Classifications of Nonverbal Communication</a:t>
            </a:r>
          </a:p>
          <a:p>
            <a:pPr>
              <a:lnSpc>
                <a:spcPts val="3900"/>
              </a:lnSpc>
            </a:pPr>
            <a:r>
              <a:rPr lang="en-US" altLang="zh-CN" sz="3200" b="1" dirty="0">
                <a:highlight>
                  <a:srgbClr val="FFFF00"/>
                </a:highlight>
                <a:latin typeface="Times New Roman" pitchFamily="18" charset="0"/>
                <a:cs typeface="Times New Roman" pitchFamily="18" charset="0"/>
              </a:rPr>
              <a:t>P234</a:t>
            </a:r>
          </a:p>
        </p:txBody>
      </p:sp>
      <p:pic>
        <p:nvPicPr>
          <p:cNvPr id="3" name="图片 2">
            <a:extLst>
              <a:ext uri="{FF2B5EF4-FFF2-40B4-BE49-F238E27FC236}">
                <a16:creationId xmlns:a16="http://schemas.microsoft.com/office/drawing/2014/main" id="{90065E5D-1857-4D12-B11E-E2046161E38A}"/>
              </a:ext>
            </a:extLst>
          </p:cNvPr>
          <p:cNvPicPr>
            <a:picLocks noChangeAspect="1"/>
          </p:cNvPicPr>
          <p:nvPr/>
        </p:nvPicPr>
        <p:blipFill>
          <a:blip r:embed="rId3"/>
          <a:stretch>
            <a:fillRect/>
          </a:stretch>
        </p:blipFill>
        <p:spPr>
          <a:xfrm>
            <a:off x="4824216" y="606503"/>
            <a:ext cx="542591" cy="591363"/>
          </a:xfrm>
          <a:prstGeom prst="rect">
            <a:avLst/>
          </a:prstGeom>
        </p:spPr>
      </p:pic>
    </p:spTree>
    <p:extLst>
      <p:ext uri="{BB962C8B-B14F-4D97-AF65-F5344CB8AC3E}">
        <p14:creationId xmlns:p14="http://schemas.microsoft.com/office/powerpoint/2010/main" val="2482579321"/>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364404"/>
            <a:ext cx="8911775"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The messages you produce do not take place as individual units. Rather, </a:t>
            </a:r>
            <a:r>
              <a:rPr lang="en-US" altLang="zh-CN" sz="2800" dirty="0">
                <a:solidFill>
                  <a:srgbClr val="FF0000"/>
                </a:solidFill>
                <a:latin typeface="Times New Roman" pitchFamily="18" charset="0"/>
                <a:cs typeface="Times New Roman" pitchFamily="18" charset="0"/>
              </a:rPr>
              <a:t>there are usually many messages being sent</a:t>
            </a:r>
            <a:r>
              <a:rPr lang="en-US" altLang="zh-CN" sz="2800" dirty="0">
                <a:latin typeface="Times New Roman" pitchFamily="18" charset="0"/>
                <a:cs typeface="Times New Roman" pitchFamily="18" charset="0"/>
              </a:rPr>
              <a:t>. Keeping this notion in mind, most classifications divide nonverbal messages into </a:t>
            </a:r>
            <a:r>
              <a:rPr lang="en-US" altLang="zh-CN" sz="2800" dirty="0">
                <a:solidFill>
                  <a:srgbClr val="FF0000"/>
                </a:solidFill>
                <a:latin typeface="Times New Roman" pitchFamily="18" charset="0"/>
                <a:cs typeface="Times New Roman" pitchFamily="18" charset="0"/>
              </a:rPr>
              <a:t>two comprehensive categories</a:t>
            </a:r>
            <a:r>
              <a:rPr lang="en-US" altLang="zh-CN" sz="2800" dirty="0">
                <a:latin typeface="Times New Roman" pitchFamily="18" charset="0"/>
                <a:cs typeface="Times New Roman" pitchFamily="18" charset="0"/>
              </a:rPr>
              <a:t>: </a:t>
            </a:r>
          </a:p>
          <a:p>
            <a:pPr marL="514350" indent="-514350">
              <a:buAutoNum type="arabicParenBoth"/>
            </a:pPr>
            <a:r>
              <a:rPr lang="en-US" altLang="zh-CN" sz="2800" dirty="0">
                <a:latin typeface="Times New Roman" pitchFamily="18" charset="0"/>
                <a:cs typeface="Times New Roman" pitchFamily="18" charset="0"/>
              </a:rPr>
              <a:t>those that are primarily produced by the body (appearance, movement, facial expressions, eye contact, touch, and paralanguage); </a:t>
            </a:r>
          </a:p>
          <a:p>
            <a:pPr marL="514350" indent="-514350">
              <a:buAutoNum type="arabicParenBoth"/>
            </a:pPr>
            <a:r>
              <a:rPr lang="en-US" altLang="zh-CN" sz="2800" dirty="0">
                <a:latin typeface="Times New Roman" pitchFamily="18" charset="0"/>
                <a:cs typeface="Times New Roman" pitchFamily="18" charset="0"/>
              </a:rPr>
              <a:t>those that the individual combines with the setting (space, time, and silence).</a:t>
            </a:r>
            <a:endParaRPr lang="zh-CN" altLang="en-US" sz="2800" dirty="0">
              <a:latin typeface="Times New Roman" pitchFamily="18" charset="0"/>
              <a:cs typeface="Times New Roman" pitchFamily="18" charset="0"/>
            </a:endParaRPr>
          </a:p>
        </p:txBody>
      </p:sp>
      <p:sp>
        <p:nvSpPr>
          <p:cNvPr id="2" name="TextBox 1"/>
          <p:cNvSpPr txBox="1"/>
          <p:nvPr/>
        </p:nvSpPr>
        <p:spPr>
          <a:xfrm>
            <a:off x="116113" y="1364343"/>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7.7.1 Messages of the Body </a:t>
            </a:r>
            <a:r>
              <a:rPr lang="en-US" altLang="zh-CN" sz="3200" b="1" dirty="0">
                <a:highlight>
                  <a:srgbClr val="FFFF00"/>
                </a:highlight>
                <a:latin typeface="Times New Roman" pitchFamily="18" charset="0"/>
                <a:cs typeface="Times New Roman" pitchFamily="18" charset="0"/>
              </a:rPr>
              <a:t>P234</a:t>
            </a:r>
          </a:p>
        </p:txBody>
      </p:sp>
    </p:spTree>
    <p:extLst>
      <p:ext uri="{BB962C8B-B14F-4D97-AF65-F5344CB8AC3E}">
        <p14:creationId xmlns:p14="http://schemas.microsoft.com/office/powerpoint/2010/main" val="647027606"/>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5138" y="2872405"/>
            <a:ext cx="8911775" cy="2677656"/>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The importance of appearance can be seen daily of your personal interactions. Whom you approach and whom you avoid, particularly in regard to first impressions, might well determine future interaction or, indeed, if there will be any interaction. </a:t>
            </a:r>
            <a:r>
              <a:rPr lang="en-US" altLang="zh-CN" sz="2800" dirty="0">
                <a:solidFill>
                  <a:srgbClr val="FF0000"/>
                </a:solidFill>
                <a:latin typeface="Times New Roman" pitchFamily="18" charset="0"/>
                <a:cs typeface="Times New Roman" pitchFamily="18" charset="0"/>
              </a:rPr>
              <a:t>It can be found in every culture that people are concerned with their appearance</a:t>
            </a:r>
            <a:r>
              <a:rPr lang="en-US" altLang="zh-CN" sz="2800" dirty="0">
                <a:latin typeface="Times New Roman" pitchFamily="18" charset="0"/>
                <a:cs typeface="Times New Roman" pitchFamily="18" charset="0"/>
              </a:rPr>
              <a:t>. </a:t>
            </a:r>
            <a:endParaRPr lang="zh-CN" altLang="en-US" sz="2800" dirty="0">
              <a:latin typeface="Times New Roman" pitchFamily="18" charset="0"/>
              <a:cs typeface="Times New Roman" pitchFamily="18" charset="0"/>
            </a:endParaRPr>
          </a:p>
        </p:txBody>
      </p:sp>
      <p:sp>
        <p:nvSpPr>
          <p:cNvPr id="2" name="TextBox 1"/>
          <p:cNvSpPr txBox="1"/>
          <p:nvPr/>
        </p:nvSpPr>
        <p:spPr>
          <a:xfrm>
            <a:off x="116113" y="1364343"/>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7.7.2 Appearance </a:t>
            </a:r>
            <a:r>
              <a:rPr lang="en-US" altLang="zh-CN" sz="3200" b="1" dirty="0">
                <a:highlight>
                  <a:srgbClr val="FFFF00"/>
                </a:highlight>
                <a:latin typeface="Times New Roman" pitchFamily="18" charset="0"/>
                <a:cs typeface="Times New Roman" pitchFamily="18" charset="0"/>
              </a:rPr>
              <a:t>P234</a:t>
            </a:r>
          </a:p>
        </p:txBody>
      </p:sp>
    </p:spTree>
    <p:extLst>
      <p:ext uri="{BB962C8B-B14F-4D97-AF65-F5344CB8AC3E}">
        <p14:creationId xmlns:p14="http://schemas.microsoft.com/office/powerpoint/2010/main" val="4079098474"/>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32225" y="2958066"/>
            <a:ext cx="8911775" cy="2677656"/>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People from around the globe have been altering the way they appear for thousands of years</a:t>
            </a:r>
            <a:r>
              <a:rPr lang="en-US" altLang="zh-CN" sz="2800" dirty="0">
                <a:latin typeface="Times New Roman" pitchFamily="18" charset="0"/>
                <a:cs typeface="Times New Roman" pitchFamily="18" charset="0"/>
              </a:rPr>
              <a:t>. From that period to the present, historical and archaeological evidence has shown that people are fixated on their bodies. The alterations to their bodies have helped them tell others about whom they are and where they belong.</a:t>
            </a:r>
            <a:endParaRPr lang="zh-CN" altLang="en-US" sz="2800" dirty="0">
              <a:latin typeface="Times New Roman" pitchFamily="18" charset="0"/>
              <a:cs typeface="Times New Roman" pitchFamily="18" charset="0"/>
            </a:endParaRPr>
          </a:p>
        </p:txBody>
      </p:sp>
      <p:sp>
        <p:nvSpPr>
          <p:cNvPr id="2" name="TextBox 1"/>
          <p:cNvSpPr txBox="1"/>
          <p:nvPr/>
        </p:nvSpPr>
        <p:spPr>
          <a:xfrm>
            <a:off x="74232" y="1296991"/>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7.7.2  Appearance </a:t>
            </a:r>
            <a:r>
              <a:rPr lang="en-US" altLang="zh-CN" sz="3200" b="1" dirty="0">
                <a:highlight>
                  <a:srgbClr val="FFFF00"/>
                </a:highlight>
                <a:latin typeface="Times New Roman" pitchFamily="18" charset="0"/>
                <a:cs typeface="Times New Roman" pitchFamily="18" charset="0"/>
              </a:rPr>
              <a:t>P234</a:t>
            </a:r>
          </a:p>
        </p:txBody>
      </p:sp>
    </p:spTree>
    <p:extLst>
      <p:ext uri="{BB962C8B-B14F-4D97-AF65-F5344CB8AC3E}">
        <p14:creationId xmlns:p14="http://schemas.microsoft.com/office/powerpoint/2010/main" val="2671362973"/>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609722"/>
            <a:ext cx="891177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An important component of appearance is the perception of beauty. </a:t>
            </a:r>
            <a:r>
              <a:rPr lang="en-US" altLang="zh-CN" sz="2800" dirty="0">
                <a:solidFill>
                  <a:srgbClr val="FF0000"/>
                </a:solidFill>
                <a:latin typeface="Times New Roman" pitchFamily="18" charset="0"/>
                <a:cs typeface="Times New Roman" pitchFamily="18" charset="0"/>
              </a:rPr>
              <a:t>Ethnocentrism often heavily influences perceptions of attractiveness. </a:t>
            </a:r>
            <a:r>
              <a:rPr lang="en-US" altLang="zh-CN" sz="2800" dirty="0">
                <a:latin typeface="Times New Roman" pitchFamily="18" charset="0"/>
                <a:cs typeface="Times New Roman" pitchFamily="18" charset="0"/>
              </a:rPr>
              <a:t>A person usually internalizes the definitions of attractiveness related to the particular culture in which they live. Hence, </a:t>
            </a:r>
            <a:r>
              <a:rPr lang="en-US" altLang="zh-CN" sz="2800" dirty="0">
                <a:solidFill>
                  <a:srgbClr val="FF0000"/>
                </a:solidFill>
                <a:latin typeface="Times New Roman" pitchFamily="18" charset="0"/>
                <a:cs typeface="Times New Roman" pitchFamily="18" charset="0"/>
              </a:rPr>
              <a:t>what is called beauty in one culture may appear repugnant to people of another culture. </a:t>
            </a:r>
            <a:endParaRPr lang="zh-CN" altLang="zh-CN" sz="2800" dirty="0">
              <a:solidFill>
                <a:srgbClr val="FF0000"/>
              </a:solidFill>
              <a:latin typeface="Times New Roman" pitchFamily="18" charset="0"/>
              <a:cs typeface="Times New Roman" pitchFamily="18" charset="0"/>
            </a:endParaRPr>
          </a:p>
          <a:p>
            <a:endParaRPr lang="zh-CN" altLang="en-US"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dirty="0">
                <a:latin typeface="Times New Roman" pitchFamily="18" charset="0"/>
                <a:cs typeface="Times New Roman" pitchFamily="18" charset="0"/>
              </a:rPr>
              <a:t> </a:t>
            </a:r>
            <a:r>
              <a:rPr lang="en-US" altLang="zh-CN" sz="3200" b="1" dirty="0">
                <a:latin typeface="Times New Roman" pitchFamily="18" charset="0"/>
                <a:cs typeface="Times New Roman" pitchFamily="18" charset="0"/>
              </a:rPr>
              <a:t>7.7.2.1 Judgment of Beauty </a:t>
            </a:r>
            <a:r>
              <a:rPr lang="en-US" altLang="zh-CN" sz="3200" b="1" dirty="0">
                <a:highlight>
                  <a:srgbClr val="FFFF00"/>
                </a:highlight>
                <a:latin typeface="Times New Roman" pitchFamily="18" charset="0"/>
                <a:cs typeface="Times New Roman" pitchFamily="18" charset="0"/>
              </a:rPr>
              <a:t>P235-236</a:t>
            </a:r>
          </a:p>
        </p:txBody>
      </p:sp>
    </p:spTree>
    <p:extLst>
      <p:ext uri="{BB962C8B-B14F-4D97-AF65-F5344CB8AC3E}">
        <p14:creationId xmlns:p14="http://schemas.microsoft.com/office/powerpoint/2010/main" val="3904777979"/>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88683" y="2653262"/>
            <a:ext cx="891177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Skin color is the first characteristic people notice when they approach a stranger and the one that has the greatest impact on perception and interaction. </a:t>
            </a:r>
            <a:r>
              <a:rPr lang="en-US" altLang="zh-CN" sz="2800" dirty="0">
                <a:latin typeface="Times New Roman" pitchFamily="18" charset="0"/>
                <a:cs typeface="Times New Roman" pitchFamily="18" charset="0"/>
              </a:rPr>
              <a:t>For centuries and in nearly every culture, the lightest-skinned individuals were perceived to have the greatest social status and power. Even today, within the United States, skin color is the first racial marker children recognize and can be considered the most salient of phenotypic attributes.</a:t>
            </a: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dirty="0">
                <a:latin typeface="Times New Roman" pitchFamily="18" charset="0"/>
                <a:cs typeface="Times New Roman" pitchFamily="18" charset="0"/>
              </a:rPr>
              <a:t> </a:t>
            </a:r>
            <a:r>
              <a:rPr lang="en-US" altLang="zh-CN" sz="3200" b="1" dirty="0">
                <a:latin typeface="Times New Roman" pitchFamily="18" charset="0"/>
                <a:cs typeface="Times New Roman" pitchFamily="18" charset="0"/>
              </a:rPr>
              <a:t>7.7.2.2 Skin Color </a:t>
            </a:r>
            <a:r>
              <a:rPr lang="en-US" altLang="zh-CN" sz="3200" b="1" dirty="0">
                <a:highlight>
                  <a:srgbClr val="FFFF00"/>
                </a:highlight>
                <a:latin typeface="Times New Roman" pitchFamily="18" charset="0"/>
                <a:cs typeface="Times New Roman" pitchFamily="18" charset="0"/>
              </a:rPr>
              <a:t>P236</a:t>
            </a:r>
          </a:p>
        </p:txBody>
      </p:sp>
    </p:spTree>
    <p:extLst>
      <p:ext uri="{BB962C8B-B14F-4D97-AF65-F5344CB8AC3E}">
        <p14:creationId xmlns:p14="http://schemas.microsoft.com/office/powerpoint/2010/main" val="4232895573"/>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59655" y="2769379"/>
            <a:ext cx="8911775" cy="2677656"/>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Skin color may also be </a:t>
            </a:r>
            <a:r>
              <a:rPr lang="en-US" altLang="zh-CN" sz="2800" dirty="0">
                <a:solidFill>
                  <a:srgbClr val="FF0000"/>
                </a:solidFill>
                <a:latin typeface="Times New Roman" pitchFamily="18" charset="0"/>
                <a:cs typeface="Times New Roman" pitchFamily="18" charset="0"/>
              </a:rPr>
              <a:t>the basis of the allocation of economic and psychological privileges to individuals </a:t>
            </a:r>
            <a:r>
              <a:rPr lang="en-US" altLang="zh-CN" sz="2800" dirty="0">
                <a:latin typeface="Times New Roman" pitchFamily="18" charset="0"/>
                <a:cs typeface="Times New Roman" pitchFamily="18" charset="0"/>
              </a:rPr>
              <a:t>relative to the degree those privileges are awarded to valued members of the dominant culture. The “awards” are so large that many advertisers are accused of using digital manipulation to lighten ethnic models’ skin tone in their ads.</a:t>
            </a:r>
            <a:endParaRPr lang="zh-CN" altLang="en-US"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dirty="0">
                <a:latin typeface="Times New Roman" pitchFamily="18" charset="0"/>
                <a:cs typeface="Times New Roman" pitchFamily="18" charset="0"/>
              </a:rPr>
              <a:t> </a:t>
            </a:r>
            <a:r>
              <a:rPr lang="en-US" altLang="zh-CN" sz="3200" b="1" dirty="0">
                <a:latin typeface="Times New Roman" pitchFamily="18" charset="0"/>
                <a:cs typeface="Times New Roman" pitchFamily="18" charset="0"/>
              </a:rPr>
              <a:t>7.7.2.2 Skin Color </a:t>
            </a:r>
            <a:r>
              <a:rPr lang="en-US" altLang="zh-CN" sz="3200" b="1" dirty="0">
                <a:highlight>
                  <a:srgbClr val="FFFF00"/>
                </a:highlight>
                <a:latin typeface="Times New Roman" pitchFamily="18" charset="0"/>
                <a:cs typeface="Times New Roman" pitchFamily="18" charset="0"/>
              </a:rPr>
              <a:t>P237</a:t>
            </a:r>
          </a:p>
        </p:txBody>
      </p:sp>
    </p:spTree>
    <p:extLst>
      <p:ext uri="{BB962C8B-B14F-4D97-AF65-F5344CB8AC3E}">
        <p14:creationId xmlns:p14="http://schemas.microsoft.com/office/powerpoint/2010/main" val="3407728935"/>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74169" y="2508119"/>
            <a:ext cx="8911775"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Clothing can be used to </a:t>
            </a:r>
            <a:r>
              <a:rPr lang="en-US" altLang="zh-CN" sz="2800" dirty="0">
                <a:solidFill>
                  <a:srgbClr val="FF0000"/>
                </a:solidFill>
                <a:latin typeface="Times New Roman" pitchFamily="18" charset="0"/>
                <a:cs typeface="Times New Roman" pitchFamily="18" charset="0"/>
              </a:rPr>
              <a:t>tell others about </a:t>
            </a:r>
            <a:r>
              <a:rPr lang="en-US" altLang="zh-CN" sz="2800" dirty="0">
                <a:latin typeface="Times New Roman" pitchFamily="18" charset="0"/>
                <a:cs typeface="Times New Roman" pitchFamily="18" charset="0"/>
              </a:rPr>
              <a:t>economic status, educational level, social position, current status, occupation, interests, public and private affiliations, and the like. </a:t>
            </a:r>
            <a:r>
              <a:rPr lang="en-US" altLang="zh-CN" sz="2800" dirty="0">
                <a:solidFill>
                  <a:srgbClr val="FF0000"/>
                </a:solidFill>
                <a:latin typeface="Times New Roman" pitchFamily="18" charset="0"/>
                <a:cs typeface="Times New Roman" pitchFamily="18" charset="0"/>
              </a:rPr>
              <a:t>The link between cultural values and clothing can be seen in nearly every culture.</a:t>
            </a:r>
            <a:r>
              <a:rPr lang="en-US" altLang="zh-CN" sz="2800" dirty="0">
                <a:latin typeface="Times New Roman" pitchFamily="18" charset="0"/>
                <a:cs typeface="Times New Roman" pitchFamily="18" charset="0"/>
              </a:rPr>
              <a:t> For example, as a symbolic gesture of their faith, the Amish dress in clothing that demonstrates humility and severance from the dominant culture. Both males and females wear clothing that is simple, unadorned, and predominantly dark in color.</a:t>
            </a:r>
            <a:endParaRPr lang="zh-CN" altLang="en-US" sz="2800" dirty="0">
              <a:latin typeface="Times New Roman" pitchFamily="18" charset="0"/>
              <a:cs typeface="Times New Roman" pitchFamily="18" charset="0"/>
            </a:endParaRPr>
          </a:p>
        </p:txBody>
      </p:sp>
      <p:sp>
        <p:nvSpPr>
          <p:cNvPr id="2" name="TextBox 1"/>
          <p:cNvSpPr txBox="1"/>
          <p:nvPr/>
        </p:nvSpPr>
        <p:spPr>
          <a:xfrm>
            <a:off x="116113" y="1364343"/>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7.7.2.3 Attire </a:t>
            </a:r>
            <a:r>
              <a:rPr lang="en-US" altLang="zh-CN" sz="3200" b="1" dirty="0">
                <a:highlight>
                  <a:srgbClr val="FFFF00"/>
                </a:highlight>
                <a:latin typeface="Times New Roman" pitchFamily="18" charset="0"/>
                <a:cs typeface="Times New Roman" pitchFamily="18" charset="0"/>
              </a:rPr>
              <a:t>P237, 239</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9551" y="-189648"/>
            <a:ext cx="4610280" cy="25783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528482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59655" y="2377492"/>
            <a:ext cx="8911775"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Here is an </a:t>
            </a:r>
            <a:r>
              <a:rPr lang="en-US" altLang="zh-CN" sz="2800" dirty="0">
                <a:solidFill>
                  <a:srgbClr val="FF0000"/>
                </a:solidFill>
                <a:latin typeface="Times New Roman" pitchFamily="18" charset="0"/>
                <a:cs typeface="Times New Roman" pitchFamily="18" charset="0"/>
              </a:rPr>
              <a:t>admonition</a:t>
            </a:r>
            <a:r>
              <a:rPr lang="en-US" altLang="zh-CN" sz="2800" dirty="0">
                <a:latin typeface="Times New Roman" pitchFamily="18" charset="0"/>
                <a:cs typeface="Times New Roman" pitchFamily="18" charset="0"/>
              </a:rPr>
              <a:t>: whether it be the women of Guatemala wearing their colorful tunics (</a:t>
            </a:r>
            <a:r>
              <a:rPr lang="en-US" altLang="zh-CN" sz="2800" dirty="0" err="1">
                <a:latin typeface="Times New Roman" pitchFamily="18" charset="0"/>
                <a:cs typeface="Times New Roman" pitchFamily="18" charset="0"/>
              </a:rPr>
              <a:t>huípiles</a:t>
            </a:r>
            <a:r>
              <a:rPr lang="en-US" altLang="zh-CN" sz="2800" dirty="0">
                <a:latin typeface="Times New Roman" pitchFamily="18" charset="0"/>
                <a:cs typeface="Times New Roman" pitchFamily="18" charset="0"/>
              </a:rPr>
              <a:t>) or African men in white dashikis, traditional garments are still common in many cultures. Whether they are Sikhs in white turbans, women in Iran wearing their hijabs, Japanese in kimonos, Hasidic Jews in black yarmulkes, or the dark attire of the Amish in the United States, </a:t>
            </a:r>
            <a:r>
              <a:rPr lang="en-US" altLang="zh-CN" sz="2800" dirty="0">
                <a:solidFill>
                  <a:srgbClr val="FF0000"/>
                </a:solidFill>
                <a:latin typeface="Times New Roman" pitchFamily="18" charset="0"/>
                <a:cs typeface="Times New Roman" pitchFamily="18" charset="0"/>
              </a:rPr>
              <a:t>you need to learn to be tolerant of others external differences and not let them impede communication.</a:t>
            </a:r>
            <a:endParaRPr lang="zh-CN" altLang="zh-CN" sz="2800" dirty="0">
              <a:solidFill>
                <a:srgbClr val="FF0000"/>
              </a:solidFill>
              <a:latin typeface="Times New Roman" pitchFamily="18" charset="0"/>
              <a:cs typeface="Times New Roman" pitchFamily="18" charset="0"/>
            </a:endParaRPr>
          </a:p>
        </p:txBody>
      </p:sp>
      <p:sp>
        <p:nvSpPr>
          <p:cNvPr id="2" name="TextBox 1"/>
          <p:cNvSpPr txBox="1"/>
          <p:nvPr/>
        </p:nvSpPr>
        <p:spPr>
          <a:xfrm>
            <a:off x="116113" y="1364343"/>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7.7.2.3 Attire </a:t>
            </a:r>
            <a:r>
              <a:rPr lang="en-US" altLang="zh-CN" sz="3200" b="1" dirty="0">
                <a:highlight>
                  <a:srgbClr val="FFFF00"/>
                </a:highlight>
                <a:latin typeface="Times New Roman" pitchFamily="18" charset="0"/>
                <a:cs typeface="Times New Roman" pitchFamily="18" charset="0"/>
              </a:rPr>
              <a:t>P239</a:t>
            </a:r>
          </a:p>
        </p:txBody>
      </p:sp>
    </p:spTree>
    <p:extLst>
      <p:ext uri="{BB962C8B-B14F-4D97-AF65-F5344CB8AC3E}">
        <p14:creationId xmlns:p14="http://schemas.microsoft.com/office/powerpoint/2010/main" val="3351364936"/>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5141" y="2348466"/>
            <a:ext cx="8911775" cy="4401205"/>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The study of how movement communicates is called </a:t>
            </a:r>
            <a:r>
              <a:rPr lang="en-US" altLang="zh-CN" sz="2800" dirty="0">
                <a:solidFill>
                  <a:srgbClr val="FF0000"/>
                </a:solidFill>
                <a:latin typeface="Times New Roman" pitchFamily="18" charset="0"/>
                <a:cs typeface="Times New Roman" pitchFamily="18" charset="0"/>
              </a:rPr>
              <a:t>kinesics (</a:t>
            </a:r>
            <a:r>
              <a:rPr lang="zh-CN" altLang="en-US" sz="2800" dirty="0">
                <a:solidFill>
                  <a:srgbClr val="FF0000"/>
                </a:solidFill>
                <a:latin typeface="Times New Roman" pitchFamily="18" charset="0"/>
                <a:cs typeface="Times New Roman" pitchFamily="18" charset="0"/>
              </a:rPr>
              <a:t>举止神态学）</a:t>
            </a:r>
            <a:r>
              <a:rPr lang="en-US" altLang="zh-CN" sz="2800" dirty="0">
                <a:latin typeface="Times New Roman" pitchFamily="18" charset="0"/>
                <a:cs typeface="Times New Roman" pitchFamily="18" charset="0"/>
              </a:rPr>
              <a:t>, which are those visible body shifts and movements that can send both intentional and unintentional messages.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In attempting to understand the influence of body movement, </a:t>
            </a:r>
            <a:r>
              <a:rPr lang="en-US" altLang="zh-CN" sz="2800" dirty="0">
                <a:solidFill>
                  <a:srgbClr val="FF0000"/>
                </a:solidFill>
                <a:latin typeface="Times New Roman" pitchFamily="18" charset="0"/>
                <a:cs typeface="Times New Roman" pitchFamily="18" charset="0"/>
              </a:rPr>
              <a:t>a few points need clarification</a:t>
            </a:r>
            <a:r>
              <a:rPr lang="en-US" altLang="zh-CN" sz="2800" dirty="0">
                <a:latin typeface="Times New Roman" pitchFamily="18" charset="0"/>
                <a:cs typeface="Times New Roman" pitchFamily="18" charset="0"/>
              </a:rPr>
              <a:t>:</a:t>
            </a: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First</a:t>
            </a:r>
            <a:r>
              <a:rPr lang="en-US" altLang="zh-CN" sz="2800" dirty="0">
                <a:latin typeface="Times New Roman" pitchFamily="18" charset="0"/>
                <a:cs typeface="Times New Roman" pitchFamily="18" charset="0"/>
              </a:rPr>
              <a:t>, in most instances, the messages the body generates </a:t>
            </a:r>
            <a:r>
              <a:rPr lang="en-US" altLang="zh-CN" sz="2800" dirty="0">
                <a:solidFill>
                  <a:srgbClr val="FF0000"/>
                </a:solidFill>
                <a:latin typeface="Times New Roman" pitchFamily="18" charset="0"/>
                <a:cs typeface="Times New Roman" pitchFamily="18" charset="0"/>
              </a:rPr>
              <a:t>operate in combination with other messages </a:t>
            </a:r>
            <a:r>
              <a:rPr lang="en-US" altLang="zh-CN" sz="2800" dirty="0">
                <a:latin typeface="Times New Roman" pitchFamily="18" charset="0"/>
                <a:cs typeface="Times New Roman" pitchFamily="18" charset="0"/>
              </a:rPr>
              <a:t>in somewhat instantaneous fashion. People may greet a friend by smiling, saying hello, and even hugging all at the same time.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364343"/>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7.7.3 Body Movement </a:t>
            </a:r>
            <a:r>
              <a:rPr lang="en-US" altLang="zh-CN" sz="3200" b="1" dirty="0">
                <a:highlight>
                  <a:srgbClr val="FFFF00"/>
                </a:highlight>
                <a:latin typeface="Times New Roman" pitchFamily="18" charset="0"/>
                <a:cs typeface="Times New Roman" pitchFamily="18" charset="0"/>
              </a:rPr>
              <a:t>P240</a:t>
            </a:r>
          </a:p>
        </p:txBody>
      </p:sp>
    </p:spTree>
    <p:extLst>
      <p:ext uri="{BB962C8B-B14F-4D97-AF65-F5344CB8AC3E}">
        <p14:creationId xmlns:p14="http://schemas.microsoft.com/office/powerpoint/2010/main" val="1771370240"/>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5141" y="2348465"/>
            <a:ext cx="8911775" cy="4401205"/>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Second</a:t>
            </a:r>
            <a:r>
              <a:rPr lang="en-US" altLang="zh-CN" sz="2800" dirty="0">
                <a:latin typeface="Times New Roman" pitchFamily="18" charset="0"/>
                <a:cs typeface="Times New Roman" pitchFamily="18" charset="0"/>
              </a:rPr>
              <a:t>, it is often </a:t>
            </a:r>
            <a:r>
              <a:rPr lang="en-US" altLang="zh-CN" sz="2800" dirty="0">
                <a:solidFill>
                  <a:srgbClr val="FF0000"/>
                </a:solidFill>
                <a:latin typeface="Times New Roman" pitchFamily="18" charset="0"/>
                <a:cs typeface="Times New Roman" pitchFamily="18" charset="0"/>
              </a:rPr>
              <a:t>difficult to control</a:t>
            </a: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kinesic</a:t>
            </a:r>
            <a:r>
              <a:rPr lang="en-US" altLang="zh-CN" sz="2800" dirty="0">
                <a:latin typeface="Times New Roman" pitchFamily="18" charset="0"/>
                <a:cs typeface="Times New Roman" pitchFamily="18" charset="0"/>
              </a:rPr>
              <a:t> behavior. In most instances, you have at least a fraction of a second to think about what you are going to say, but a great deal of body action is </a:t>
            </a:r>
            <a:r>
              <a:rPr lang="en-US" altLang="zh-CN" sz="2800" dirty="0">
                <a:solidFill>
                  <a:srgbClr val="FF0000"/>
                </a:solidFill>
                <a:latin typeface="Times New Roman" pitchFamily="18" charset="0"/>
                <a:cs typeface="Times New Roman" pitchFamily="18" charset="0"/>
              </a:rPr>
              <a:t>spontaneous</a:t>
            </a:r>
            <a:r>
              <a:rPr lang="en-US" altLang="zh-CN" sz="2800" dirty="0">
                <a:latin typeface="Times New Roman" pitchFamily="18" charset="0"/>
                <a:cs typeface="Times New Roman" pitchFamily="18" charset="0"/>
              </a:rPr>
              <a:t> and linked to the moment.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Finally</a:t>
            </a:r>
            <a:r>
              <a:rPr lang="en-US" altLang="zh-CN" sz="2800" dirty="0">
                <a:latin typeface="Times New Roman" pitchFamily="18" charset="0"/>
                <a:cs typeface="Times New Roman" pitchFamily="18" charset="0"/>
              </a:rPr>
              <a:t>, there are </a:t>
            </a:r>
            <a:r>
              <a:rPr lang="en-US" altLang="zh-CN" sz="2800" dirty="0">
                <a:solidFill>
                  <a:srgbClr val="FF0000"/>
                </a:solidFill>
                <a:latin typeface="Times New Roman" pitchFamily="18" charset="0"/>
                <a:cs typeface="Times New Roman" pitchFamily="18" charset="0"/>
              </a:rPr>
              <a:t>thousands of distinct physical signs </a:t>
            </a:r>
            <a:r>
              <a:rPr lang="en-US" altLang="zh-CN" sz="2800" dirty="0">
                <a:latin typeface="Times New Roman" pitchFamily="18" charset="0"/>
                <a:cs typeface="Times New Roman" pitchFamily="18" charset="0"/>
              </a:rPr>
              <a:t>that a person can make. Therefore, any attempt at cataloging them would be both frustrating and fruitless.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It is important to point out that although all people use movements to communicate, </a:t>
            </a:r>
            <a:r>
              <a:rPr lang="en-US" altLang="zh-CN" sz="2800" dirty="0">
                <a:solidFill>
                  <a:srgbClr val="FF0000"/>
                </a:solidFill>
                <a:latin typeface="Times New Roman" pitchFamily="18" charset="0"/>
                <a:cs typeface="Times New Roman" pitchFamily="18" charset="0"/>
              </a:rPr>
              <a:t>culture teaches them how to use and interpret the movements</a:t>
            </a:r>
            <a:r>
              <a:rPr lang="en-US" altLang="zh-CN" sz="2800" dirty="0">
                <a:latin typeface="Times New Roman" pitchFamily="18" charset="0"/>
                <a:cs typeface="Times New Roman" pitchFamily="18" charset="0"/>
              </a:rPr>
              <a:t>.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364343"/>
            <a:ext cx="8476343" cy="742511"/>
          </a:xfrm>
          <a:prstGeom prst="rect">
            <a:avLst/>
          </a:prstGeom>
          <a:noFill/>
        </p:spPr>
        <p:txBody>
          <a:bodyPr wrap="square" rtlCol="0">
            <a:spAutoFit/>
          </a:bodyPr>
          <a:lstStyle/>
          <a:p>
            <a:pPr>
              <a:lnSpc>
                <a:spcPct val="150000"/>
              </a:lnSpc>
            </a:pPr>
            <a:r>
              <a:rPr lang="en-US" altLang="zh-CN" sz="3200" b="1" dirty="0">
                <a:latin typeface="Times New Roman" pitchFamily="18" charset="0"/>
                <a:cs typeface="Times New Roman" pitchFamily="18" charset="0"/>
              </a:rPr>
              <a:t>7.7.3 Body Movement </a:t>
            </a:r>
            <a:r>
              <a:rPr lang="en-US" altLang="zh-CN" sz="3200" b="1" dirty="0">
                <a:highlight>
                  <a:srgbClr val="FFFF00"/>
                </a:highlight>
                <a:latin typeface="Times New Roman" pitchFamily="18" charset="0"/>
                <a:cs typeface="Times New Roman" pitchFamily="18" charset="0"/>
              </a:rPr>
              <a:t>P240</a:t>
            </a:r>
          </a:p>
        </p:txBody>
      </p:sp>
    </p:spTree>
    <p:extLst>
      <p:ext uri="{BB962C8B-B14F-4D97-AF65-F5344CB8AC3E}">
        <p14:creationId xmlns:p14="http://schemas.microsoft.com/office/powerpoint/2010/main" val="1923418084"/>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679445"/>
            <a:ext cx="891177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A person’s posture can send a multiplicity of messages</a:t>
            </a:r>
            <a:r>
              <a:rPr lang="en-US" altLang="zh-CN" sz="2800" dirty="0">
                <a:latin typeface="Times New Roman" pitchFamily="18" charset="0"/>
                <a:cs typeface="Times New Roman" pitchFamily="18" charset="0"/>
              </a:rPr>
              <a:t>. Posture can be a sign of whether people are paying attention, the level of status in the encounter, if people are friends or strangers, if they like or dislike each other, and it can provide a variety of other information about the relationship.</a:t>
            </a:r>
            <a:r>
              <a:rPr lang="en-US" altLang="zh-CN" sz="2800" dirty="0"/>
              <a:t> </a:t>
            </a:r>
            <a:r>
              <a:rPr lang="en-US" altLang="zh-CN" sz="2800" dirty="0">
                <a:solidFill>
                  <a:srgbClr val="FF0000"/>
                </a:solidFill>
                <a:latin typeface="Times New Roman" pitchFamily="18" charset="0"/>
                <a:cs typeface="Times New Roman" pitchFamily="18" charset="0"/>
              </a:rPr>
              <a:t>On an intercultural level, posture can offer insight into a culture’s value system.</a:t>
            </a:r>
            <a:endParaRPr lang="zh-CN" altLang="zh-CN" sz="2800" dirty="0">
              <a:solidFill>
                <a:srgbClr val="FF0000"/>
              </a:solidFill>
              <a:latin typeface="Times New Roman" pitchFamily="18" charset="0"/>
              <a:cs typeface="Times New Roman" pitchFamily="18" charset="0"/>
            </a:endParaRPr>
          </a:p>
          <a:p>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7.7.3.1 Posture </a:t>
            </a:r>
            <a:r>
              <a:rPr lang="en-US" altLang="zh-CN" sz="3200" b="1" dirty="0">
                <a:highlight>
                  <a:srgbClr val="FFFF00"/>
                </a:highlight>
                <a:latin typeface="Times New Roman" pitchFamily="18" charset="0"/>
                <a:cs typeface="Times New Roman" pitchFamily="18" charset="0"/>
              </a:rPr>
              <a:t>P241</a:t>
            </a:r>
          </a:p>
        </p:txBody>
      </p:sp>
    </p:spTree>
    <p:extLst>
      <p:ext uri="{BB962C8B-B14F-4D97-AF65-F5344CB8AC3E}">
        <p14:creationId xmlns:p14="http://schemas.microsoft.com/office/powerpoint/2010/main" val="2238921806"/>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295539"/>
            <a:ext cx="8911775" cy="4832092"/>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For example, </a:t>
            </a:r>
            <a:r>
              <a:rPr lang="en-US" altLang="zh-CN" sz="2800" dirty="0">
                <a:solidFill>
                  <a:srgbClr val="FF0000"/>
                </a:solidFill>
                <a:latin typeface="Times New Roman" pitchFamily="18" charset="0"/>
                <a:cs typeface="Times New Roman" pitchFamily="18" charset="0"/>
              </a:rPr>
              <a:t>the way people sit </a:t>
            </a:r>
            <a:r>
              <a:rPr lang="en-US" altLang="zh-CN" sz="2800" dirty="0">
                <a:latin typeface="Times New Roman" pitchFamily="18" charset="0"/>
                <a:cs typeface="Times New Roman" pitchFamily="18" charset="0"/>
              </a:rPr>
              <a:t>is often a reflection of important cultural characteristics. </a:t>
            </a:r>
            <a:r>
              <a:rPr lang="en-US" altLang="zh-CN" sz="2800" dirty="0">
                <a:solidFill>
                  <a:srgbClr val="FF0000"/>
                </a:solidFill>
                <a:latin typeface="Times New Roman" pitchFamily="18" charset="0"/>
                <a:cs typeface="Times New Roman" pitchFamily="18" charset="0"/>
              </a:rPr>
              <a:t>In the United States</a:t>
            </a:r>
            <a:r>
              <a:rPr lang="en-US" altLang="zh-CN" sz="2800" dirty="0">
                <a:latin typeface="Times New Roman" pitchFamily="18" charset="0"/>
                <a:cs typeface="Times New Roman" pitchFamily="18" charset="0"/>
              </a:rPr>
              <a:t>, being casual and friendly is valued, and people often demonstrate this through their manner of sitting. For males, it is usually a casual sitting position that might include slouching and leaning back. American males often, consciously or unconsciously, sit with their feet up on their desk as a sign of being relaxed. In many countries, such as </a:t>
            </a:r>
            <a:r>
              <a:rPr lang="en-US" altLang="zh-CN" sz="2800" dirty="0">
                <a:solidFill>
                  <a:srgbClr val="FF0000"/>
                </a:solidFill>
                <a:latin typeface="Times New Roman" pitchFamily="18" charset="0"/>
                <a:cs typeface="Times New Roman" pitchFamily="18" charset="0"/>
              </a:rPr>
              <a:t>Germany and Sweden</a:t>
            </a:r>
            <a:r>
              <a:rPr lang="en-US" altLang="zh-CN" sz="2800" dirty="0">
                <a:latin typeface="Times New Roman" pitchFamily="18" charset="0"/>
                <a:cs typeface="Times New Roman" pitchFamily="18" charset="0"/>
              </a:rPr>
              <a:t>, where lifestyles tend to be more formal, </a:t>
            </a:r>
            <a:r>
              <a:rPr lang="en-US" altLang="zh-CN" sz="2800" dirty="0">
                <a:solidFill>
                  <a:srgbClr val="FF0000"/>
                </a:solidFill>
                <a:latin typeface="Times New Roman" pitchFamily="18" charset="0"/>
                <a:cs typeface="Times New Roman" pitchFamily="18" charset="0"/>
              </a:rPr>
              <a:t>slouching is considered a sign of rudeness and poor manners</a:t>
            </a:r>
            <a:r>
              <a:rPr lang="en-US" altLang="zh-CN" sz="2800" dirty="0">
                <a:latin typeface="Times New Roman" pitchFamily="18" charset="0"/>
                <a:cs typeface="Times New Roman" pitchFamily="18" charset="0"/>
              </a:rPr>
              <a:t>. </a:t>
            </a:r>
            <a:endParaRPr lang="zh-CN" altLang="zh-CN" sz="2800" dirty="0">
              <a:latin typeface="Times New Roman" pitchFamily="18" charset="0"/>
              <a:cs typeface="Times New Roman" pitchFamily="18" charset="0"/>
            </a:endParaRPr>
          </a:p>
          <a:p>
            <a:endParaRPr lang="zh-CN" altLang="zh-CN" sz="2800" dirty="0">
              <a:latin typeface="Times New Roman" pitchFamily="18" charset="0"/>
              <a:cs typeface="Times New Roman" pitchFamily="18" charset="0"/>
            </a:endParaRPr>
          </a:p>
        </p:txBody>
      </p:sp>
      <p:sp>
        <p:nvSpPr>
          <p:cNvPr id="2" name="TextBox 1"/>
          <p:cNvSpPr txBox="1"/>
          <p:nvPr/>
        </p:nvSpPr>
        <p:spPr>
          <a:xfrm>
            <a:off x="116112" y="1509484"/>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7.7.3.1 Posture </a:t>
            </a:r>
            <a:r>
              <a:rPr lang="en-US" altLang="zh-CN" sz="3200" b="1" dirty="0">
                <a:highlight>
                  <a:srgbClr val="FFFF00"/>
                </a:highlight>
                <a:latin typeface="Times New Roman" pitchFamily="18" charset="0"/>
                <a:cs typeface="Times New Roman" pitchFamily="18" charset="0"/>
              </a:rPr>
              <a:t>P241</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23999"/>
            <a:ext cx="2194317" cy="1563076"/>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9962" y="13817"/>
            <a:ext cx="2389763" cy="1619123"/>
          </a:xfrm>
          <a:prstGeom prst="rect">
            <a:avLst/>
          </a:prstGeom>
        </p:spPr>
      </p:pic>
    </p:spTree>
    <p:extLst>
      <p:ext uri="{BB962C8B-B14F-4D97-AF65-F5344CB8AC3E}">
        <p14:creationId xmlns:p14="http://schemas.microsoft.com/office/powerpoint/2010/main" val="27914748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890622"/>
            <a:ext cx="8911775" cy="2246769"/>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Gestures are a nonverbal vocabulary that people use, both intentionally and unintentionally, to share their internal states. </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An inability to read the meaning of a gesture, particularly in an intercultural communication setting, has the potential for confusion and awkwardness.</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23997"/>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7.7.3.2 Gestures </a:t>
            </a:r>
            <a:r>
              <a:rPr lang="en-US" altLang="zh-CN" sz="3200" b="1" dirty="0">
                <a:highlight>
                  <a:srgbClr val="FFFF00"/>
                </a:highlight>
                <a:latin typeface="Times New Roman" pitchFamily="18" charset="0"/>
                <a:cs typeface="Times New Roman" pitchFamily="18" charset="0"/>
              </a:rPr>
              <a:t>P242</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594390033"/>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776791"/>
            <a:ext cx="8911775" cy="3108543"/>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Examples of the uncertainty of intercultural gestures </a:t>
            </a:r>
            <a:r>
              <a:rPr lang="en-US" altLang="zh-CN" sz="2800" dirty="0">
                <a:latin typeface="Times New Roman" pitchFamily="18" charset="0"/>
                <a:cs typeface="Times New Roman" pitchFamily="18" charset="0"/>
              </a:rPr>
              <a:t>in the following example: </a:t>
            </a: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The thumbs-up gesture </a:t>
            </a:r>
            <a:r>
              <a:rPr lang="en-US" altLang="zh-CN" sz="2800" dirty="0">
                <a:latin typeface="Times New Roman" pitchFamily="18" charset="0"/>
                <a:cs typeface="Times New Roman" pitchFamily="18" charset="0"/>
              </a:rPr>
              <a:t>in the United States has positive connotations because it indicates that everything is okay or you are doing very well. However, in Australia, Bangladesh, Iran, and Nigeria, it is seen as a rude gesture. And in Turkey, it actually represents a political party.</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7.7.3.2 Gestures </a:t>
            </a:r>
            <a:r>
              <a:rPr lang="en-US" altLang="zh-CN" sz="3200" b="1" dirty="0">
                <a:highlight>
                  <a:srgbClr val="FFFF00"/>
                </a:highlight>
                <a:latin typeface="Times New Roman" pitchFamily="18" charset="0"/>
                <a:cs typeface="Times New Roman" pitchFamily="18" charset="0"/>
              </a:rPr>
              <a:t>P242</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27153854"/>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87085" y="2515533"/>
            <a:ext cx="9144004"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There are limitless idiosyncratic gestures found in each culture. These are the distinctive gestures whose meanings are usually the feature and property of a particular culture. </a:t>
            </a:r>
            <a:r>
              <a:rPr lang="en-US" altLang="zh-CN" sz="2800" dirty="0">
                <a:solidFill>
                  <a:srgbClr val="FF0000"/>
                </a:solidFill>
                <a:latin typeface="Times New Roman" pitchFamily="18" charset="0"/>
                <a:cs typeface="Times New Roman" pitchFamily="18" charset="0"/>
              </a:rPr>
              <a:t>Even gesturing with the same specific part of the body can differ from culture to culture. </a:t>
            </a:r>
            <a:r>
              <a:rPr lang="en-US" altLang="zh-CN" sz="2800" dirty="0">
                <a:latin typeface="Times New Roman" pitchFamily="18" charset="0"/>
                <a:cs typeface="Times New Roman" pitchFamily="18" charset="0"/>
              </a:rPr>
              <a:t>For example, in Nepal, pulling both earlobes is a form of apology for offending someone. Yet pulling one earlobe in China means a person is “saying” that he or she touched something that was very hot.</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Idiosyncratic Gestures </a:t>
            </a:r>
            <a:r>
              <a:rPr lang="en-US" altLang="zh-CN" sz="3200" b="1" dirty="0">
                <a:highlight>
                  <a:srgbClr val="FFFF00"/>
                </a:highlight>
                <a:latin typeface="Times New Roman" pitchFamily="18" charset="0"/>
                <a:cs typeface="Times New Roman" pitchFamily="18" charset="0"/>
              </a:rPr>
              <a:t>P243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473413792"/>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344564"/>
            <a:ext cx="8911775" cy="4401205"/>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The sign used for beckoning is also attached to culture. For example</a:t>
            </a:r>
            <a:r>
              <a:rPr lang="en-US" altLang="zh-CN" sz="2800" dirty="0">
                <a:solidFill>
                  <a:srgbClr val="FF0000"/>
                </a:solidFill>
                <a:latin typeface="Times New Roman" pitchFamily="18" charset="0"/>
                <a:cs typeface="Times New Roman" pitchFamily="18" charset="0"/>
              </a:rPr>
              <a:t>, in the United States</a:t>
            </a:r>
            <a:r>
              <a:rPr lang="en-US" altLang="zh-CN" sz="2800" dirty="0">
                <a:latin typeface="Times New Roman" pitchFamily="18" charset="0"/>
                <a:cs typeface="Times New Roman" pitchFamily="18" charset="0"/>
              </a:rPr>
              <a:t>, when a person wants to signal a friend to come, he or she usually makes the gesture with one hand, palm up, fingers more or less together, and moving toward the body. </a:t>
            </a:r>
            <a:r>
              <a:rPr lang="en-US" altLang="zh-CN" sz="2800" dirty="0">
                <a:solidFill>
                  <a:srgbClr val="FF0000"/>
                </a:solidFill>
                <a:latin typeface="Times New Roman" pitchFamily="18" charset="0"/>
                <a:cs typeface="Times New Roman" pitchFamily="18" charset="0"/>
              </a:rPr>
              <a:t>In much of Latin America</a:t>
            </a:r>
            <a:r>
              <a:rPr lang="en-US" altLang="zh-CN" sz="2800" dirty="0">
                <a:latin typeface="Times New Roman" pitchFamily="18" charset="0"/>
                <a:cs typeface="Times New Roman" pitchFamily="18" charset="0"/>
              </a:rPr>
              <a:t>, this gesture takes on romantic connotations. And </a:t>
            </a:r>
            <a:r>
              <a:rPr lang="en-US" altLang="zh-CN" sz="2800" dirty="0">
                <a:solidFill>
                  <a:srgbClr val="FF0000"/>
                </a:solidFill>
                <a:latin typeface="Times New Roman" pitchFamily="18" charset="0"/>
                <a:cs typeface="Times New Roman" pitchFamily="18" charset="0"/>
              </a:rPr>
              <a:t>in the Philippines</a:t>
            </a:r>
            <a:r>
              <a:rPr lang="en-US" altLang="zh-CN" sz="2800" dirty="0">
                <a:latin typeface="Times New Roman" pitchFamily="18" charset="0"/>
                <a:cs typeface="Times New Roman" pitchFamily="18" charset="0"/>
              </a:rPr>
              <a:t>, that same gesture is often used to call one’s dog. </a:t>
            </a:r>
            <a:r>
              <a:rPr lang="en-US" altLang="zh-CN" sz="2800" dirty="0">
                <a:solidFill>
                  <a:srgbClr val="FF0000"/>
                </a:solidFill>
                <a:latin typeface="Times New Roman" pitchFamily="18" charset="0"/>
                <a:cs typeface="Times New Roman" pitchFamily="18" charset="0"/>
              </a:rPr>
              <a:t>Chinese and Koreans </a:t>
            </a:r>
            <a:r>
              <a:rPr lang="en-US" altLang="zh-CN" sz="2800" dirty="0">
                <a:latin typeface="Times New Roman" pitchFamily="18" charset="0"/>
                <a:cs typeface="Times New Roman" pitchFamily="18" charset="0"/>
              </a:rPr>
              <a:t>signal someone to come by cupping the hand with the palm down and drawing the fingers toward the palm.</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Beckoning Gestures </a:t>
            </a:r>
            <a:r>
              <a:rPr lang="en-US" altLang="zh-CN" sz="3200" b="1" dirty="0">
                <a:highlight>
                  <a:srgbClr val="FFFF00"/>
                </a:highlight>
                <a:latin typeface="Times New Roman" pitchFamily="18" charset="0"/>
                <a:cs typeface="Times New Roman" pitchFamily="18" charset="0"/>
              </a:rPr>
              <a:t>P244</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037887677"/>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881592"/>
            <a:ext cx="8911775" cy="2246769"/>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There are also cultural differences that regulate the frequency and intensity of gestures. Italians, Africans, and people from the Middle East are more outwardly expressive and utilize gestures with greater frequency and intensity than do Japanese, Chinese, and Scandinavians.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1077218"/>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Frequency and Intensity for Gestures</a:t>
            </a:r>
            <a:endParaRPr lang="zh-CN" altLang="zh-CN" sz="3200" b="1" dirty="0">
              <a:latin typeface="Times New Roman" pitchFamily="18" charset="0"/>
              <a:cs typeface="Times New Roman" pitchFamily="18" charset="0"/>
            </a:endParaRPr>
          </a:p>
          <a:p>
            <a:endParaRPr lang="zh-CN" altLang="zh-CN"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3992665230"/>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305220"/>
            <a:ext cx="8911775" cy="4154984"/>
          </a:xfrm>
          <a:prstGeom prst="rect">
            <a:avLst/>
          </a:prstGeom>
          <a:noFill/>
        </p:spPr>
        <p:txBody>
          <a:bodyPr wrap="square" rtlCol="0">
            <a:spAutoFit/>
          </a:bodyPr>
          <a:lstStyle/>
          <a:p>
            <a:r>
              <a:rPr lang="en-US" altLang="zh-CN" sz="2400" dirty="0"/>
              <a:t>    </a:t>
            </a:r>
            <a:r>
              <a:rPr lang="en-US" altLang="zh-CN" sz="2400" dirty="0">
                <a:latin typeface="Times New Roman" pitchFamily="18" charset="0"/>
                <a:cs typeface="Times New Roman" pitchFamily="18" charset="0"/>
              </a:rPr>
              <a:t>What is intriguing is that we are talking about </a:t>
            </a:r>
            <a:r>
              <a:rPr lang="en-US" altLang="zh-CN" sz="2400" dirty="0">
                <a:highlight>
                  <a:srgbClr val="FFFF00"/>
                </a:highlight>
                <a:latin typeface="Times New Roman" pitchFamily="18" charset="0"/>
                <a:cs typeface="Times New Roman" pitchFamily="18" charset="0"/>
              </a:rPr>
              <a:t>three faces</a:t>
            </a:r>
            <a:r>
              <a:rPr lang="en-US" altLang="zh-CN" sz="2400" dirty="0">
                <a:latin typeface="Times New Roman" pitchFamily="18" charset="0"/>
                <a:cs typeface="Times New Roman" pitchFamily="18" charset="0"/>
              </a:rPr>
              <a:t>. </a:t>
            </a:r>
          </a:p>
          <a:p>
            <a:r>
              <a:rPr lang="en-US" altLang="zh-CN" sz="2400" dirty="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First</a:t>
            </a:r>
            <a:r>
              <a:rPr lang="en-US" altLang="zh-CN" sz="2400" dirty="0">
                <a:latin typeface="Times New Roman" pitchFamily="18" charset="0"/>
                <a:cs typeface="Times New Roman" pitchFamily="18" charset="0"/>
              </a:rPr>
              <a:t>, there is your assigned face, </a:t>
            </a:r>
            <a:r>
              <a:rPr lang="en-US" altLang="zh-CN" sz="2400" dirty="0">
                <a:solidFill>
                  <a:srgbClr val="FF0000"/>
                </a:solidFill>
                <a:latin typeface="Times New Roman" pitchFamily="18" charset="0"/>
                <a:cs typeface="Times New Roman" pitchFamily="18" charset="0"/>
              </a:rPr>
              <a:t>the one you are born with</a:t>
            </a:r>
            <a:r>
              <a:rPr lang="en-US" altLang="zh-CN" sz="2400" dirty="0">
                <a:latin typeface="Times New Roman" pitchFamily="18" charset="0"/>
                <a:cs typeface="Times New Roman" pitchFamily="18" charset="0"/>
              </a:rPr>
              <a:t>. Although it is altered by age, health, and even cosmetics and surgery, this is your </a:t>
            </a:r>
            <a:r>
              <a:rPr lang="en-US" altLang="zh-CN" sz="2400" dirty="0">
                <a:solidFill>
                  <a:srgbClr val="FF0000"/>
                </a:solidFill>
                <a:latin typeface="Times New Roman" pitchFamily="18" charset="0"/>
                <a:cs typeface="Times New Roman" pitchFamily="18" charset="0"/>
              </a:rPr>
              <a:t>basic face</a:t>
            </a:r>
            <a:r>
              <a:rPr lang="en-US" altLang="zh-CN" sz="2400" dirty="0">
                <a:latin typeface="Times New Roman" pitchFamily="18" charset="0"/>
                <a:cs typeface="Times New Roman" pitchFamily="18" charset="0"/>
              </a:rPr>
              <a:t>. </a:t>
            </a:r>
          </a:p>
          <a:p>
            <a:r>
              <a:rPr lang="en-US" altLang="zh-CN" sz="2400" dirty="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Second</a:t>
            </a:r>
            <a:r>
              <a:rPr lang="en-US" altLang="zh-CN" sz="2400" dirty="0">
                <a:latin typeface="Times New Roman" pitchFamily="18" charset="0"/>
                <a:cs typeface="Times New Roman" pitchFamily="18" charset="0"/>
              </a:rPr>
              <a:t> is the face that can be manipulated at will, often called the </a:t>
            </a:r>
            <a:r>
              <a:rPr lang="en-US" altLang="zh-CN" sz="2400" dirty="0">
                <a:solidFill>
                  <a:srgbClr val="FF0000"/>
                </a:solidFill>
                <a:latin typeface="Times New Roman" pitchFamily="18" charset="0"/>
                <a:cs typeface="Times New Roman" pitchFamily="18" charset="0"/>
              </a:rPr>
              <a:t>voluntary face</a:t>
            </a:r>
            <a:r>
              <a:rPr lang="en-US" altLang="zh-CN" sz="2400" dirty="0">
                <a:latin typeface="Times New Roman" pitchFamily="18" charset="0"/>
                <a:cs typeface="Times New Roman" pitchFamily="18" charset="0"/>
              </a:rPr>
              <a:t>. Here is where you can deliberately hide or reveal your true feeling regarding the person and/or situation you are confronting. This second face is the one you control. </a:t>
            </a:r>
          </a:p>
          <a:p>
            <a:r>
              <a:rPr lang="en-US" altLang="zh-CN" sz="2400" dirty="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Finally</a:t>
            </a:r>
            <a:r>
              <a:rPr lang="en-US" altLang="zh-CN" sz="2400" dirty="0">
                <a:latin typeface="Times New Roman" pitchFamily="18" charset="0"/>
                <a:cs typeface="Times New Roman" pitchFamily="18" charset="0"/>
              </a:rPr>
              <a:t>, you have </a:t>
            </a:r>
            <a:r>
              <a:rPr lang="en-US" altLang="zh-CN" sz="2400" dirty="0">
                <a:solidFill>
                  <a:srgbClr val="FF0000"/>
                </a:solidFill>
                <a:latin typeface="Times New Roman" pitchFamily="18" charset="0"/>
                <a:cs typeface="Times New Roman" pitchFamily="18" charset="0"/>
              </a:rPr>
              <a:t>the face </a:t>
            </a:r>
            <a:r>
              <a:rPr lang="en-US" altLang="zh-CN" sz="2400" dirty="0">
                <a:latin typeface="Times New Roman" pitchFamily="18" charset="0"/>
                <a:cs typeface="Times New Roman" pitchFamily="18" charset="0"/>
              </a:rPr>
              <a:t>that is </a:t>
            </a:r>
            <a:r>
              <a:rPr lang="en-US" altLang="zh-CN" sz="2400" dirty="0">
                <a:solidFill>
                  <a:srgbClr val="FF0000"/>
                </a:solidFill>
                <a:latin typeface="Times New Roman" pitchFamily="18" charset="0"/>
                <a:cs typeface="Times New Roman" pitchFamily="18" charset="0"/>
              </a:rPr>
              <a:t>changed by your surroundings and the messages you receive</a:t>
            </a:r>
            <a:r>
              <a:rPr lang="en-US" altLang="zh-CN" sz="2400" dirty="0">
                <a:latin typeface="Times New Roman" pitchFamily="18" charset="0"/>
                <a:cs typeface="Times New Roman" pitchFamily="18" charset="0"/>
              </a:rPr>
              <a:t>, such as when you involuntarily blush after receiving a compliment.</a:t>
            </a:r>
            <a:endParaRPr lang="zh-CN" altLang="zh-CN" sz="2400" dirty="0">
              <a:latin typeface="Times New Roman" pitchFamily="18" charset="0"/>
              <a:cs typeface="Times New Roman" pitchFamily="18" charset="0"/>
            </a:endParaRPr>
          </a:p>
        </p:txBody>
      </p:sp>
      <p:sp>
        <p:nvSpPr>
          <p:cNvPr id="2" name="TextBox 1"/>
          <p:cNvSpPr txBox="1"/>
          <p:nvPr/>
        </p:nvSpPr>
        <p:spPr>
          <a:xfrm>
            <a:off x="116113" y="148854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7.7.3.3 Facial Expressions </a:t>
            </a:r>
            <a:r>
              <a:rPr lang="en-US" altLang="zh-CN" sz="3200" b="1" dirty="0">
                <a:highlight>
                  <a:srgbClr val="FFFF00"/>
                </a:highlight>
                <a:latin typeface="Times New Roman" pitchFamily="18" charset="0"/>
                <a:cs typeface="Times New Roman" pitchFamily="18" charset="0"/>
              </a:rPr>
              <a:t>P244-245</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4214169232"/>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711619"/>
            <a:ext cx="8911775" cy="3108543"/>
          </a:xfrm>
          <a:prstGeom prst="rect">
            <a:avLst/>
          </a:prstGeom>
          <a:noFill/>
        </p:spPr>
        <p:txBody>
          <a:bodyPr wrap="square" rtlCol="0">
            <a:spAutoFit/>
          </a:bodyPr>
          <a:lstStyle/>
          <a:p>
            <a:r>
              <a:rPr lang="en-US" altLang="zh-CN" sz="2400" dirty="0"/>
              <a:t>    </a:t>
            </a:r>
            <a:r>
              <a:rPr lang="en-US" altLang="zh-CN" sz="2800" dirty="0">
                <a:solidFill>
                  <a:srgbClr val="FF0000"/>
                </a:solidFill>
                <a:latin typeface="Times New Roman" pitchFamily="18" charset="0"/>
                <a:cs typeface="Times New Roman" pitchFamily="18" charset="0"/>
              </a:rPr>
              <a:t>Different cultures create their own rules </a:t>
            </a:r>
            <a:r>
              <a:rPr lang="en-US" altLang="zh-CN" sz="2800" dirty="0">
                <a:latin typeface="Times New Roman" pitchFamily="18" charset="0"/>
                <a:cs typeface="Times New Roman" pitchFamily="18" charset="0"/>
              </a:rPr>
              <a:t>for what are appropriate facial expressions and how those expressions are to be interpreted. </a:t>
            </a: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Each culture teaches its members </a:t>
            </a:r>
            <a:r>
              <a:rPr lang="en-US" altLang="zh-CN" sz="2800" dirty="0">
                <a:latin typeface="Times New Roman" pitchFamily="18" charset="0"/>
                <a:cs typeface="Times New Roman" pitchFamily="18" charset="0"/>
              </a:rPr>
              <a:t>what nonverbal actions to exhibit (crying or laughing), the meaning of those actions (sadness or happiness), and the contextual setting of those actions (funeral or wedding).</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7.7.3.3 Facial Expressions </a:t>
            </a:r>
            <a:r>
              <a:rPr lang="en-US" altLang="zh-CN" sz="3200" b="1" dirty="0">
                <a:highlight>
                  <a:srgbClr val="FFFF00"/>
                </a:highlight>
                <a:latin typeface="Times New Roman" pitchFamily="18" charset="0"/>
                <a:cs typeface="Times New Roman" pitchFamily="18" charset="0"/>
              </a:rPr>
              <a:t>P245</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852210801"/>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88682" y="2348764"/>
            <a:ext cx="8911775" cy="3970318"/>
          </a:xfrm>
          <a:prstGeom prst="rect">
            <a:avLst/>
          </a:prstGeom>
          <a:noFill/>
        </p:spPr>
        <p:txBody>
          <a:bodyPr wrap="square" rtlCol="0">
            <a:spAutoFit/>
          </a:bodyPr>
          <a:lstStyle/>
          <a:p>
            <a:r>
              <a:rPr lang="en-US" altLang="zh-CN" sz="2400" dirty="0"/>
              <a:t>    </a:t>
            </a:r>
            <a:r>
              <a:rPr lang="en-US" altLang="zh-CN" sz="2800" dirty="0">
                <a:latin typeface="Times New Roman" pitchFamily="18" charset="0"/>
                <a:cs typeface="Times New Roman" pitchFamily="18" charset="0"/>
              </a:rPr>
              <a:t>Eye contact and gaze are </a:t>
            </a:r>
            <a:r>
              <a:rPr lang="en-US" altLang="zh-CN" sz="2800" dirty="0">
                <a:solidFill>
                  <a:srgbClr val="FF0000"/>
                </a:solidFill>
                <a:latin typeface="Times New Roman" pitchFamily="18" charset="0"/>
                <a:cs typeface="Times New Roman" pitchFamily="18" charset="0"/>
              </a:rPr>
              <a:t>essential</a:t>
            </a:r>
            <a:r>
              <a:rPr lang="en-US" altLang="zh-CN" sz="2800" dirty="0">
                <a:latin typeface="Times New Roman" pitchFamily="18" charset="0"/>
                <a:cs typeface="Times New Roman" pitchFamily="18" charset="0"/>
              </a:rPr>
              <a:t> to the study of human communication for a number of </a:t>
            </a:r>
            <a:r>
              <a:rPr lang="en-US" altLang="zh-CN" sz="2800" dirty="0">
                <a:solidFill>
                  <a:srgbClr val="FF0000"/>
                </a:solidFill>
                <a:latin typeface="Times New Roman" pitchFamily="18" charset="0"/>
                <a:cs typeface="Times New Roman" pitchFamily="18" charset="0"/>
              </a:rPr>
              <a:t>reasons</a:t>
            </a:r>
            <a:r>
              <a:rPr lang="en-US" altLang="zh-CN" sz="2800" dirty="0">
                <a:latin typeface="Times New Roman" pitchFamily="18" charset="0"/>
                <a:cs typeface="Times New Roman" pitchFamily="18" charset="0"/>
              </a:rPr>
              <a:t>. </a:t>
            </a: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First</a:t>
            </a:r>
            <a:r>
              <a:rPr lang="en-US" altLang="zh-CN" sz="2800" dirty="0">
                <a:latin typeface="Times New Roman" pitchFamily="18" charset="0"/>
                <a:cs typeface="Times New Roman" pitchFamily="18" charset="0"/>
              </a:rPr>
              <a:t>, eyes can </a:t>
            </a:r>
            <a:r>
              <a:rPr lang="en-US" altLang="zh-CN" sz="2800" dirty="0">
                <a:solidFill>
                  <a:srgbClr val="FF0000"/>
                </a:solidFill>
                <a:latin typeface="Times New Roman" pitchFamily="18" charset="0"/>
                <a:cs typeface="Times New Roman" pitchFamily="18" charset="0"/>
              </a:rPr>
              <a:t>give clues to </a:t>
            </a:r>
            <a:r>
              <a:rPr lang="en-US" altLang="zh-CN" sz="2800" dirty="0">
                <a:latin typeface="Times New Roman" pitchFamily="18" charset="0"/>
                <a:cs typeface="Times New Roman" pitchFamily="18" charset="0"/>
              </a:rPr>
              <a:t>the nature of the relationship, </a:t>
            </a:r>
            <a:r>
              <a:rPr lang="en-US" altLang="zh-CN" sz="2800" dirty="0">
                <a:solidFill>
                  <a:srgbClr val="FF0000"/>
                </a:solidFill>
                <a:latin typeface="Times New Roman" pitchFamily="18" charset="0"/>
                <a:cs typeface="Times New Roman" pitchFamily="18" charset="0"/>
              </a:rPr>
              <a:t>indicate</a:t>
            </a:r>
            <a:r>
              <a:rPr lang="en-US" altLang="zh-CN" sz="2800" dirty="0">
                <a:latin typeface="Times New Roman" pitchFamily="18" charset="0"/>
                <a:cs typeface="Times New Roman" pitchFamily="18" charset="0"/>
              </a:rPr>
              <a:t> if the channels of communication are open or closed, </a:t>
            </a:r>
            <a:r>
              <a:rPr lang="en-US" altLang="zh-CN" sz="2800" dirty="0">
                <a:solidFill>
                  <a:srgbClr val="FF0000"/>
                </a:solidFill>
                <a:latin typeface="Times New Roman" pitchFamily="18" charset="0"/>
                <a:cs typeface="Times New Roman" pitchFamily="18" charset="0"/>
              </a:rPr>
              <a:t>assist</a:t>
            </a:r>
            <a:r>
              <a:rPr lang="en-US" altLang="zh-CN" sz="2800" dirty="0">
                <a:latin typeface="Times New Roman" pitchFamily="18" charset="0"/>
                <a:cs typeface="Times New Roman" pitchFamily="18" charset="0"/>
              </a:rPr>
              <a:t> in monitoring feedback, indicate degrees of attentiveness and interest in the interaction, </a:t>
            </a:r>
            <a:r>
              <a:rPr lang="en-US" altLang="zh-CN" sz="2800" dirty="0">
                <a:solidFill>
                  <a:srgbClr val="FF0000"/>
                </a:solidFill>
                <a:latin typeface="Times New Roman" pitchFamily="18" charset="0"/>
                <a:cs typeface="Times New Roman" pitchFamily="18" charset="0"/>
              </a:rPr>
              <a:t>regulate</a:t>
            </a:r>
            <a:r>
              <a:rPr lang="en-US" altLang="zh-CN" sz="2800" dirty="0">
                <a:latin typeface="Times New Roman" pitchFamily="18" charset="0"/>
                <a:cs typeface="Times New Roman" pitchFamily="18" charset="0"/>
              </a:rPr>
              <a:t> the flow of the conversation, </a:t>
            </a:r>
            <a:r>
              <a:rPr lang="en-US" altLang="zh-CN" sz="2800" dirty="0">
                <a:solidFill>
                  <a:srgbClr val="FF0000"/>
                </a:solidFill>
                <a:latin typeface="Times New Roman" pitchFamily="18" charset="0"/>
                <a:cs typeface="Times New Roman" pitchFamily="18" charset="0"/>
              </a:rPr>
              <a:t>reflect</a:t>
            </a:r>
            <a:r>
              <a:rPr lang="en-US" altLang="zh-CN" sz="2800" dirty="0">
                <a:latin typeface="Times New Roman" pitchFamily="18" charset="0"/>
                <a:cs typeface="Times New Roman" pitchFamily="18" charset="0"/>
              </a:rPr>
              <a:t> positive or negative emotions, and </a:t>
            </a:r>
            <a:r>
              <a:rPr lang="en-US" altLang="zh-CN" sz="2800" dirty="0">
                <a:solidFill>
                  <a:srgbClr val="FF0000"/>
                </a:solidFill>
                <a:latin typeface="Times New Roman" pitchFamily="18" charset="0"/>
                <a:cs typeface="Times New Roman" pitchFamily="18" charset="0"/>
              </a:rPr>
              <a:t>help define </a:t>
            </a:r>
            <a:r>
              <a:rPr lang="en-US" altLang="zh-CN" sz="2800" dirty="0">
                <a:latin typeface="Times New Roman" pitchFamily="18" charset="0"/>
                <a:cs typeface="Times New Roman" pitchFamily="18" charset="0"/>
              </a:rPr>
              <a:t>power and status relationships between the participants.</a:t>
            </a:r>
            <a:endParaRPr lang="zh-CN" altLang="zh-CN" sz="3200" dirty="0">
              <a:latin typeface="Times New Roman" pitchFamily="18" charset="0"/>
              <a:cs typeface="Times New Roman" pitchFamily="18" charset="0"/>
            </a:endParaRPr>
          </a:p>
        </p:txBody>
      </p:sp>
      <p:sp>
        <p:nvSpPr>
          <p:cNvPr id="2" name="TextBox 1"/>
          <p:cNvSpPr txBox="1"/>
          <p:nvPr/>
        </p:nvSpPr>
        <p:spPr>
          <a:xfrm>
            <a:off x="95172" y="150250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7.7.3.4 Eye Contact and Gaze </a:t>
            </a:r>
            <a:r>
              <a:rPr lang="en-US" altLang="zh-CN" sz="3200" b="1" dirty="0">
                <a:highlight>
                  <a:srgbClr val="FFFF00"/>
                </a:highlight>
                <a:latin typeface="Times New Roman" pitchFamily="18" charset="0"/>
                <a:cs typeface="Times New Roman" pitchFamily="18" charset="0"/>
              </a:rPr>
              <a:t>P247</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71545320"/>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74169" y="2522938"/>
            <a:ext cx="8911775" cy="3970318"/>
          </a:xfrm>
          <a:prstGeom prst="rect">
            <a:avLst/>
          </a:prstGeom>
          <a:noFill/>
        </p:spPr>
        <p:txBody>
          <a:bodyPr wrap="square" rtlCol="0">
            <a:spAutoFit/>
          </a:bodyPr>
          <a:lstStyle/>
          <a:p>
            <a:r>
              <a:rPr lang="en-US" altLang="zh-CN" sz="2400" dirty="0"/>
              <a:t>    </a:t>
            </a:r>
            <a:r>
              <a:rPr lang="en-US" altLang="zh-CN" sz="2800" dirty="0">
                <a:solidFill>
                  <a:srgbClr val="FF0000"/>
                </a:solidFill>
                <a:latin typeface="Times New Roman" pitchFamily="18" charset="0"/>
                <a:cs typeface="Times New Roman" pitchFamily="18" charset="0"/>
              </a:rPr>
              <a:t>Second</a:t>
            </a:r>
            <a:r>
              <a:rPr lang="en-US" altLang="zh-CN" sz="2800" dirty="0">
                <a:latin typeface="Times New Roman" pitchFamily="18" charset="0"/>
                <a:cs typeface="Times New Roman" pitchFamily="18" charset="0"/>
              </a:rPr>
              <a:t>, eyes are </a:t>
            </a:r>
            <a:r>
              <a:rPr lang="en-US" altLang="zh-CN" sz="2800" dirty="0">
                <a:solidFill>
                  <a:srgbClr val="FF0000"/>
                </a:solidFill>
                <a:latin typeface="Times New Roman" pitchFamily="18" charset="0"/>
                <a:cs typeface="Times New Roman" pitchFamily="18" charset="0"/>
              </a:rPr>
              <a:t>significant to the communication process </a:t>
            </a:r>
            <a:r>
              <a:rPr lang="en-US" altLang="zh-CN" sz="2800" dirty="0">
                <a:latin typeface="Times New Roman" pitchFamily="18" charset="0"/>
                <a:cs typeface="Times New Roman" pitchFamily="18" charset="0"/>
              </a:rPr>
              <a:t>because of the abundance of messages they can send.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Finally</a:t>
            </a:r>
            <a:r>
              <a:rPr lang="en-US" altLang="zh-CN" sz="2800" dirty="0">
                <a:latin typeface="Times New Roman" pitchFamily="18" charset="0"/>
                <a:cs typeface="Times New Roman" pitchFamily="18" charset="0"/>
              </a:rPr>
              <a:t>, much of eye contact is </a:t>
            </a:r>
            <a:r>
              <a:rPr lang="en-US" altLang="zh-CN" sz="2800" dirty="0">
                <a:solidFill>
                  <a:srgbClr val="FF0000"/>
                </a:solidFill>
                <a:latin typeface="Times New Roman" pitchFamily="18" charset="0"/>
                <a:cs typeface="Times New Roman" pitchFamily="18" charset="0"/>
              </a:rPr>
              <a:t>directly related to culture</a:t>
            </a:r>
            <a:r>
              <a:rPr lang="en-US" altLang="zh-CN" sz="2800" dirty="0">
                <a:latin typeface="Times New Roman" pitchFamily="18" charset="0"/>
                <a:cs typeface="Times New Roman" pitchFamily="18" charset="0"/>
              </a:rPr>
              <a:t>. On both a conscious and an unconscious level, you have learned the significance of eye contact and the rules for employing (or not employing) eye contact. These rules become quite evident when people are </a:t>
            </a:r>
            <a:r>
              <a:rPr lang="en-US" altLang="zh-CN" sz="2800" dirty="0">
                <a:solidFill>
                  <a:srgbClr val="FF0000"/>
                </a:solidFill>
                <a:latin typeface="Times New Roman" pitchFamily="18" charset="0"/>
                <a:cs typeface="Times New Roman" pitchFamily="18" charset="0"/>
              </a:rPr>
              <a:t>in an elevator with strangers</a:t>
            </a:r>
            <a:r>
              <a:rPr lang="en-US" altLang="zh-CN" sz="2800" dirty="0">
                <a:latin typeface="Times New Roman" pitchFamily="18" charset="0"/>
                <a:cs typeface="Times New Roman" pitchFamily="18" charset="0"/>
              </a:rPr>
              <a:t>. Also, reflect on the discomfort felt when </a:t>
            </a:r>
            <a:r>
              <a:rPr lang="en-US" altLang="zh-CN" sz="2800" dirty="0">
                <a:solidFill>
                  <a:srgbClr val="FF0000"/>
                </a:solidFill>
                <a:latin typeface="Times New Roman" pitchFamily="18" charset="0"/>
                <a:cs typeface="Times New Roman" pitchFamily="18" charset="0"/>
              </a:rPr>
              <a:t>someone stares at you</a:t>
            </a:r>
            <a:r>
              <a:rPr lang="en-US" altLang="zh-CN" sz="2800" dirty="0">
                <a:latin typeface="Times New Roman" pitchFamily="18" charset="0"/>
                <a:cs typeface="Times New Roman" pitchFamily="18" charset="0"/>
              </a:rPr>
              <a:t> for a long period of time.</a:t>
            </a:r>
            <a:endParaRPr lang="zh-CN" altLang="zh-CN" sz="36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7.7.3.4 Eye Contact and Gaze </a:t>
            </a:r>
            <a:r>
              <a:rPr lang="en-US" altLang="zh-CN" sz="3200" b="1" dirty="0">
                <a:highlight>
                  <a:srgbClr val="FFFF00"/>
                </a:highlight>
                <a:latin typeface="Times New Roman" pitchFamily="18" charset="0"/>
                <a:cs typeface="Times New Roman" pitchFamily="18" charset="0"/>
              </a:rPr>
              <a:t>P247</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4074797805"/>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30627" y="2392308"/>
            <a:ext cx="8911775" cy="3970318"/>
          </a:xfrm>
          <a:prstGeom prst="rect">
            <a:avLst/>
          </a:prstGeom>
          <a:noFill/>
        </p:spPr>
        <p:txBody>
          <a:bodyPr wrap="square" rtlCol="0">
            <a:spAutoFit/>
          </a:bodyPr>
          <a:lstStyle/>
          <a:p>
            <a:r>
              <a:rPr lang="en-US" altLang="zh-CN" sz="2400" dirty="0"/>
              <a:t>    </a:t>
            </a:r>
            <a:r>
              <a:rPr lang="en-US" altLang="zh-CN" sz="2800" dirty="0">
                <a:latin typeface="Times New Roman" pitchFamily="18" charset="0"/>
                <a:cs typeface="Times New Roman" pitchFamily="18" charset="0"/>
              </a:rPr>
              <a:t>Eye contact is an important consideration when communicating with members of the </a:t>
            </a:r>
            <a:r>
              <a:rPr lang="en-US" altLang="zh-CN" sz="2800" dirty="0">
                <a:solidFill>
                  <a:srgbClr val="FF0000"/>
                </a:solidFill>
                <a:latin typeface="Times New Roman" pitchFamily="18" charset="0"/>
                <a:cs typeface="Times New Roman" pitchFamily="18" charset="0"/>
              </a:rPr>
              <a:t>deaf community </a:t>
            </a:r>
            <a:r>
              <a:rPr lang="en-US" altLang="zh-CN" sz="2800" dirty="0">
                <a:latin typeface="Times New Roman" pitchFamily="18" charset="0"/>
                <a:cs typeface="Times New Roman" pitchFamily="18" charset="0"/>
              </a:rPr>
              <a:t>who are employing ASL. Among members of the deaf co-culture who are “signing”, there is a belief that eye contact is an especially important part of their communication process. Turning your back to people who are “signing” is essentially the same as ignoring them. </a:t>
            </a:r>
            <a:r>
              <a:rPr lang="en-US" altLang="zh-CN" sz="2800" dirty="0">
                <a:solidFill>
                  <a:srgbClr val="FF0000"/>
                </a:solidFill>
                <a:latin typeface="Times New Roman" pitchFamily="18" charset="0"/>
                <a:cs typeface="Times New Roman" pitchFamily="18" charset="0"/>
              </a:rPr>
              <a:t>So delicate is the use of eye contact that you seldom realize the modifications you make when communicating. </a:t>
            </a:r>
            <a:endParaRPr lang="zh-CN" altLang="zh-CN" sz="3600" dirty="0">
              <a:solidFill>
                <a:srgbClr val="FF0000"/>
              </a:solidFill>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7.7.3.4 Eye contact and gaze </a:t>
            </a:r>
            <a:r>
              <a:rPr lang="en-US" altLang="zh-CN" sz="3200" b="1" dirty="0">
                <a:highlight>
                  <a:srgbClr val="FFFF00"/>
                </a:highlight>
                <a:latin typeface="Times New Roman" pitchFamily="18" charset="0"/>
                <a:cs typeface="Times New Roman" pitchFamily="18" charset="0"/>
              </a:rPr>
              <a:t>P249</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960306658"/>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525595"/>
            <a:ext cx="8911775" cy="3892861"/>
          </a:xfrm>
          <a:prstGeom prst="rect">
            <a:avLst/>
          </a:prstGeom>
          <a:noFill/>
        </p:spPr>
        <p:txBody>
          <a:bodyPr wrap="square" rtlCol="0">
            <a:spAutoFit/>
          </a:bodyPr>
          <a:lstStyle/>
          <a:p>
            <a:pPr>
              <a:lnSpc>
                <a:spcPct val="150000"/>
              </a:lnSpc>
            </a:pPr>
            <a:r>
              <a:rPr lang="en-US" altLang="zh-CN" sz="2400" dirty="0"/>
              <a:t>    </a:t>
            </a:r>
            <a:r>
              <a:rPr lang="en-US" altLang="zh-CN" sz="2800" dirty="0">
                <a:latin typeface="Times New Roman" pitchFamily="18" charset="0"/>
                <a:cs typeface="Times New Roman" pitchFamily="18" charset="0"/>
              </a:rPr>
              <a:t>Touch as a form of communication can be as </a:t>
            </a:r>
            <a:r>
              <a:rPr lang="en-US" altLang="zh-CN" sz="2800" dirty="0">
                <a:solidFill>
                  <a:srgbClr val="FF0000"/>
                </a:solidFill>
                <a:latin typeface="Times New Roman" pitchFamily="18" charset="0"/>
                <a:cs typeface="Times New Roman" pitchFamily="18" charset="0"/>
              </a:rPr>
              <a:t>effortless and rewarding </a:t>
            </a:r>
            <a:r>
              <a:rPr lang="en-US" altLang="zh-CN" sz="2800" dirty="0">
                <a:latin typeface="Times New Roman" pitchFamily="18" charset="0"/>
                <a:cs typeface="Times New Roman" pitchFamily="18" charset="0"/>
              </a:rPr>
              <a:t>as holding your partners’ hand or as powerful and </a:t>
            </a:r>
            <a:r>
              <a:rPr lang="en-US" altLang="zh-CN" sz="2800" dirty="0">
                <a:solidFill>
                  <a:srgbClr val="FF0000"/>
                </a:solidFill>
                <a:latin typeface="Times New Roman" pitchFamily="18" charset="0"/>
                <a:cs typeface="Times New Roman" pitchFamily="18" charset="0"/>
              </a:rPr>
              <a:t>frightening</a:t>
            </a:r>
            <a:r>
              <a:rPr lang="en-US" altLang="zh-CN" sz="2800" dirty="0">
                <a:latin typeface="Times New Roman" pitchFamily="18" charset="0"/>
                <a:cs typeface="Times New Roman" pitchFamily="18" charset="0"/>
              </a:rPr>
              <a:t> as being touched in a sexual manner by a stranger. </a:t>
            </a:r>
            <a:r>
              <a:rPr lang="en-US" altLang="zh-CN" sz="2800" dirty="0">
                <a:solidFill>
                  <a:srgbClr val="FF0000"/>
                </a:solidFill>
                <a:latin typeface="Times New Roman" pitchFamily="18" charset="0"/>
                <a:cs typeface="Times New Roman" pitchFamily="18" charset="0"/>
              </a:rPr>
              <a:t>The meanings you assign to being touched and your reasons for touching others offer insights into the communication encounter</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7.7.3.5 Touch </a:t>
            </a:r>
            <a:r>
              <a:rPr lang="en-US" altLang="zh-CN" sz="3200" b="1" dirty="0">
                <a:highlight>
                  <a:srgbClr val="FFFF00"/>
                </a:highlight>
                <a:latin typeface="Times New Roman" pitchFamily="18" charset="0"/>
                <a:cs typeface="Times New Roman" pitchFamily="18" charset="0"/>
              </a:rPr>
              <a:t>P249 </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680602168"/>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580993"/>
            <a:ext cx="8911775" cy="3847207"/>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400" dirty="0">
                <a:latin typeface="Times New Roman" pitchFamily="18" charset="0"/>
                <a:cs typeface="Times New Roman" pitchFamily="18" charset="0"/>
              </a:rPr>
              <a:t>Touch is often considered </a:t>
            </a:r>
            <a:r>
              <a:rPr lang="en-US" altLang="zh-CN" sz="2400" dirty="0">
                <a:solidFill>
                  <a:srgbClr val="FF0000"/>
                </a:solidFill>
                <a:latin typeface="Times New Roman" pitchFamily="18" charset="0"/>
                <a:cs typeface="Times New Roman" pitchFamily="18" charset="0"/>
              </a:rPr>
              <a:t>the most fundamental and primitive </a:t>
            </a:r>
            <a:r>
              <a:rPr lang="en-US" altLang="zh-CN" sz="2400" dirty="0">
                <a:latin typeface="Times New Roman" pitchFamily="18" charset="0"/>
                <a:cs typeface="Times New Roman" pitchFamily="18" charset="0"/>
              </a:rPr>
              <a:t>of all the senses. As you move from infancy into childhood, you learn the rules of touching, you are taught whom to touch and where they may be touched. By the time you reach adolescence, your culture has taught you the “rules” of touch behavior. </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Culture has also “taught you” what occasions (greeting, expression of affection, etc.) call for a hug.</a:t>
            </a:r>
            <a:r>
              <a:rPr lang="en-US" altLang="zh-CN" sz="2400" dirty="0">
                <a:latin typeface="Times New Roman" pitchFamily="18" charset="0"/>
                <a:cs typeface="Times New Roman" pitchFamily="18" charset="0"/>
              </a:rPr>
              <a:t> Because of all the contextual and relational variables involved with touching, you have also been “informed” about sexual harassment and what constitutes inappropriate touching.</a:t>
            </a:r>
            <a:endParaRPr lang="zh-CN" altLang="zh-CN" sz="24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7.7.3.5 Touch </a:t>
            </a:r>
            <a:r>
              <a:rPr lang="en-US" altLang="zh-CN" sz="3200" b="1" dirty="0">
                <a:highlight>
                  <a:srgbClr val="FFFF00"/>
                </a:highlight>
                <a:latin typeface="Times New Roman" pitchFamily="18" charset="0"/>
                <a:cs typeface="Times New Roman" pitchFamily="18" charset="0"/>
              </a:rPr>
              <a:t>P249</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767623890"/>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450365"/>
            <a:ext cx="8911775" cy="3970318"/>
          </a:xfrm>
          <a:prstGeom prst="rect">
            <a:avLst/>
          </a:prstGeom>
          <a:noFill/>
        </p:spPr>
        <p:txBody>
          <a:bodyPr wrap="square" rtlCol="0">
            <a:spAutoFit/>
          </a:bodyPr>
          <a:lstStyle/>
          <a:p>
            <a:r>
              <a:rPr lang="en-US" altLang="zh-CN" sz="2800" dirty="0"/>
              <a:t>    </a:t>
            </a:r>
            <a:r>
              <a:rPr lang="en-US" altLang="zh-CN" sz="2800" dirty="0">
                <a:solidFill>
                  <a:srgbClr val="FF0000"/>
                </a:solidFill>
                <a:latin typeface="Times New Roman" pitchFamily="18" charset="0"/>
                <a:cs typeface="Times New Roman" pitchFamily="18" charset="0"/>
              </a:rPr>
              <a:t>Gender differences also occur in the use of touch as a form of communication. </a:t>
            </a:r>
            <a:r>
              <a:rPr lang="en-US" altLang="zh-CN" sz="2800" dirty="0">
                <a:latin typeface="Times New Roman" pitchFamily="18" charset="0"/>
                <a:cs typeface="Times New Roman" pitchFamily="18" charset="0"/>
              </a:rPr>
              <a:t>Women, for example, tend to welcome touch more than do men, especially when it is from the same sex. They initiate touch behavior more than men.</a:t>
            </a:r>
          </a:p>
          <a:p>
            <a:r>
              <a:rPr lang="en-US" altLang="zh-CN" sz="2800" dirty="0">
                <a:latin typeface="Times New Roman" pitchFamily="18" charset="0"/>
                <a:cs typeface="Times New Roman" pitchFamily="18" charset="0"/>
              </a:rPr>
              <a:t>    Gender differences as they apply to touch, particularly in the workplace, have become the source of many </a:t>
            </a:r>
            <a:r>
              <a:rPr lang="en-US" altLang="zh-CN" sz="2800" dirty="0">
                <a:solidFill>
                  <a:srgbClr val="FF0000"/>
                </a:solidFill>
                <a:latin typeface="Times New Roman" pitchFamily="18" charset="0"/>
                <a:cs typeface="Times New Roman" pitchFamily="18" charset="0"/>
              </a:rPr>
              <a:t>sexual harassment</a:t>
            </a:r>
            <a:r>
              <a:rPr lang="en-US" altLang="zh-CN" sz="2800" dirty="0">
                <a:latin typeface="Times New Roman" pitchFamily="18" charset="0"/>
                <a:cs typeface="Times New Roman" pitchFamily="18" charset="0"/>
              </a:rPr>
              <a:t> cases. A male colleague who strokes a female coworker on the arm or even pats her on the back might be perceived as engaging in sexual or condescending behavior.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7.7.3.5 Touch </a:t>
            </a:r>
            <a:r>
              <a:rPr lang="en-US" altLang="zh-CN" sz="3200" b="1" dirty="0">
                <a:highlight>
                  <a:srgbClr val="FFFF00"/>
                </a:highlight>
                <a:latin typeface="Times New Roman" pitchFamily="18" charset="0"/>
                <a:cs typeface="Times New Roman" pitchFamily="18" charset="0"/>
              </a:rPr>
              <a:t>P251</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486864621"/>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702535"/>
            <a:ext cx="8911775" cy="3246530"/>
          </a:xfrm>
          <a:prstGeom prst="rect">
            <a:avLst/>
          </a:prstGeom>
          <a:noFill/>
        </p:spPr>
        <p:txBody>
          <a:bodyPr wrap="square" rtlCol="0">
            <a:spAutoFit/>
          </a:bodyPr>
          <a:lstStyle/>
          <a:p>
            <a:pPr>
              <a:lnSpc>
                <a:spcPct val="150000"/>
              </a:lnSpc>
            </a:pPr>
            <a:r>
              <a:rPr lang="en-US" altLang="zh-CN" sz="2800" dirty="0">
                <a:latin typeface="Times New Roman" pitchFamily="18" charset="0"/>
                <a:cs typeface="Times New Roman" pitchFamily="18" charset="0"/>
              </a:rPr>
              <a:t>    Hence, you need to remember that </a:t>
            </a:r>
            <a:r>
              <a:rPr lang="en-US" altLang="zh-CN" sz="2800" dirty="0">
                <a:solidFill>
                  <a:srgbClr val="FF0000"/>
                </a:solidFill>
                <a:latin typeface="Times New Roman" pitchFamily="18" charset="0"/>
                <a:cs typeface="Times New Roman" pitchFamily="18" charset="0"/>
              </a:rPr>
              <a:t>touching is contextual and often carries multiple meanings. </a:t>
            </a:r>
            <a:r>
              <a:rPr lang="en-US" altLang="zh-CN" sz="2800" dirty="0">
                <a:latin typeface="Times New Roman" pitchFamily="18" charset="0"/>
                <a:cs typeface="Times New Roman" pitchFamily="18" charset="0"/>
              </a:rPr>
              <a:t>While being greeted with a hug at a party with friends might seem appropriate, that same contact may be highly inappropriate in the workplace, especially between supervisors and subordinates.</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7.7.3.5 Touch </a:t>
            </a:r>
            <a:r>
              <a:rPr lang="en-US" altLang="zh-CN" sz="3200" b="1" dirty="0">
                <a:highlight>
                  <a:srgbClr val="FFFF00"/>
                </a:highlight>
                <a:latin typeface="Times New Roman" pitchFamily="18" charset="0"/>
                <a:cs typeface="Times New Roman" pitchFamily="18" charset="0"/>
              </a:rPr>
              <a:t>P251 </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585863866"/>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389756"/>
            <a:ext cx="8911775" cy="3970318"/>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What makes scent part of the communication experience is that </a:t>
            </a:r>
            <a:r>
              <a:rPr lang="en-US" altLang="zh-CN" sz="2800" dirty="0">
                <a:solidFill>
                  <a:srgbClr val="FF0000"/>
                </a:solidFill>
                <a:latin typeface="Times New Roman" pitchFamily="18" charset="0"/>
                <a:cs typeface="Times New Roman" pitchFamily="18" charset="0"/>
              </a:rPr>
              <a:t>people attach meaning to how we smell</a:t>
            </a:r>
            <a:r>
              <a:rPr lang="en-US" altLang="zh-CN" sz="2800" dirty="0">
                <a:latin typeface="Times New Roman" pitchFamily="18" charset="0"/>
                <a:cs typeface="Times New Roman" pitchFamily="18" charset="0"/>
              </a:rPr>
              <a:t>. A number of </a:t>
            </a:r>
            <a:r>
              <a:rPr lang="en-US" altLang="zh-CN" sz="2800" dirty="0">
                <a:solidFill>
                  <a:srgbClr val="FF0000"/>
                </a:solidFill>
                <a:latin typeface="Times New Roman" pitchFamily="18" charset="0"/>
                <a:cs typeface="Times New Roman" pitchFamily="18" charset="0"/>
              </a:rPr>
              <a:t>elements</a:t>
            </a:r>
            <a:r>
              <a:rPr lang="en-US" altLang="zh-CN" sz="2800" dirty="0">
                <a:latin typeface="Times New Roman" pitchFamily="18" charset="0"/>
                <a:cs typeface="Times New Roman" pitchFamily="18" charset="0"/>
              </a:rPr>
              <a:t> affect the meaning we give to a smell: </a:t>
            </a:r>
          </a:p>
          <a:p>
            <a:pPr marL="514350" indent="-514350">
              <a:buAutoNum type="arabicParenBoth"/>
            </a:pPr>
            <a:r>
              <a:rPr lang="en-US" altLang="zh-CN" sz="2800" dirty="0">
                <a:latin typeface="Times New Roman" pitchFamily="18" charset="0"/>
                <a:cs typeface="Times New Roman" pitchFamily="18" charset="0"/>
              </a:rPr>
              <a:t>the strength of the smell in relation to competing fragrances and odors (French perfume vs. an inexpensive aftershave lotion);</a:t>
            </a:r>
          </a:p>
          <a:p>
            <a:r>
              <a:rPr lang="en-US" altLang="zh-CN" sz="2800" dirty="0">
                <a:latin typeface="Times New Roman" pitchFamily="18" charset="0"/>
                <a:cs typeface="Times New Roman" pitchFamily="18" charset="0"/>
              </a:rPr>
              <a:t>(2) smell’s distance from the other person;</a:t>
            </a:r>
          </a:p>
          <a:p>
            <a:r>
              <a:rPr lang="en-US" altLang="zh-CN" sz="2800" dirty="0">
                <a:latin typeface="Times New Roman" pitchFamily="18" charset="0"/>
                <a:cs typeface="Times New Roman" pitchFamily="18" charset="0"/>
              </a:rPr>
              <a:t>(3) the perceived relationship between the parties involved;</a:t>
            </a:r>
          </a:p>
          <a:p>
            <a:r>
              <a:rPr lang="en-US" altLang="zh-CN" sz="2800" dirty="0">
                <a:latin typeface="Times New Roman" pitchFamily="18" charset="0"/>
                <a:cs typeface="Times New Roman" pitchFamily="18" charset="0"/>
              </a:rPr>
              <a:t>(4) the context of the encounter.</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7.7.3.6 Scents </a:t>
            </a:r>
            <a:r>
              <a:rPr lang="en-US" altLang="zh-CN" sz="3200" b="1" dirty="0">
                <a:highlight>
                  <a:srgbClr val="FFFF00"/>
                </a:highlight>
                <a:latin typeface="Times New Roman" pitchFamily="18" charset="0"/>
                <a:cs typeface="Times New Roman" pitchFamily="18" charset="0"/>
              </a:rPr>
              <a:t>P252</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822364621"/>
      </p:ext>
    </p:ext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331699"/>
            <a:ext cx="8911775" cy="4401205"/>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Although everyone experiences the world of smell through the same sense organ, </a:t>
            </a:r>
            <a:r>
              <a:rPr lang="en-US" altLang="zh-CN" sz="2800" dirty="0">
                <a:solidFill>
                  <a:srgbClr val="FF0000"/>
                </a:solidFill>
                <a:latin typeface="Times New Roman" pitchFamily="18" charset="0"/>
                <a:cs typeface="Times New Roman" pitchFamily="18" charset="0"/>
              </a:rPr>
              <a:t>culture also plays a part in how that scent is perceived and responded to</a:t>
            </a:r>
            <a:r>
              <a:rPr lang="en-US" altLang="zh-CN" sz="2800" dirty="0">
                <a:latin typeface="Times New Roman" pitchFamily="18" charset="0"/>
                <a:cs typeface="Times New Roman" pitchFamily="18" charset="0"/>
              </a:rPr>
              <a:t>. For example, </a:t>
            </a:r>
            <a:r>
              <a:rPr lang="en-US" altLang="zh-CN" sz="2800" dirty="0">
                <a:solidFill>
                  <a:srgbClr val="FF0000"/>
                </a:solidFill>
                <a:latin typeface="Times New Roman" pitchFamily="18" charset="0"/>
                <a:cs typeface="Times New Roman" pitchFamily="18" charset="0"/>
              </a:rPr>
              <a:t>in Bali</a:t>
            </a:r>
            <a:r>
              <a:rPr lang="en-US" altLang="zh-CN" sz="2800" dirty="0">
                <a:latin typeface="Times New Roman" pitchFamily="18" charset="0"/>
                <a:cs typeface="Times New Roman" pitchFamily="18" charset="0"/>
              </a:rPr>
              <a:t>, when lovers greet one another, they often breathe deeply in a kind of friendly sniffing. </a:t>
            </a:r>
            <a:r>
              <a:rPr lang="en-US" altLang="zh-CN" sz="2800" dirty="0">
                <a:solidFill>
                  <a:srgbClr val="FF0000"/>
                </a:solidFill>
                <a:latin typeface="Times New Roman" pitchFamily="18" charset="0"/>
                <a:cs typeface="Times New Roman" pitchFamily="18" charset="0"/>
              </a:rPr>
              <a:t>Americans</a:t>
            </a:r>
            <a:r>
              <a:rPr lang="en-US" altLang="zh-CN" sz="2800" dirty="0">
                <a:latin typeface="Times New Roman" pitchFamily="18" charset="0"/>
                <a:cs typeface="Times New Roman" pitchFamily="18" charset="0"/>
              </a:rPr>
              <a:t> represent an example of a culture that tends to be uncomfortable with natural body smells and, therefore, attempts to cover up innate smells with perfumes and lotions. </a:t>
            </a:r>
            <a:r>
              <a:rPr lang="en-US" altLang="zh-CN" sz="2800" dirty="0">
                <a:solidFill>
                  <a:srgbClr val="FF0000"/>
                </a:solidFill>
                <a:latin typeface="Times New Roman" pitchFamily="18" charset="0"/>
                <a:cs typeface="Times New Roman" pitchFamily="18" charset="0"/>
              </a:rPr>
              <a:t>Many</a:t>
            </a:r>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other cultures </a:t>
            </a:r>
            <a:r>
              <a:rPr lang="en-US" altLang="zh-CN" sz="2800" dirty="0">
                <a:latin typeface="Times New Roman" pitchFamily="18" charset="0"/>
                <a:cs typeface="Times New Roman" pitchFamily="18" charset="0"/>
              </a:rPr>
              <a:t>regard natural odors as normal. For example, most Italians do not mask their scents with other aromas.</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7.7.3.6 Scents </a:t>
            </a:r>
            <a:r>
              <a:rPr lang="en-US" altLang="zh-CN" sz="3200" b="1" dirty="0">
                <a:highlight>
                  <a:srgbClr val="FFFF00"/>
                </a:highlight>
                <a:latin typeface="Times New Roman" pitchFamily="18" charset="0"/>
                <a:cs typeface="Times New Roman" pitchFamily="18" charset="0"/>
              </a:rPr>
              <a:t>P252</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488451476"/>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32225" y="2602369"/>
            <a:ext cx="891177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Paralanguage includes all oral cues in the stream of spoken utterances except the words themselves. </a:t>
            </a:r>
            <a:r>
              <a:rPr lang="en-US" altLang="zh-CN" sz="2800" dirty="0">
                <a:latin typeface="Times New Roman" pitchFamily="18" charset="0"/>
                <a:cs typeface="Times New Roman" pitchFamily="18" charset="0"/>
              </a:rPr>
              <a:t>Research reveals that most utterances can influence perceptions related to the individual’s emotional state, social class and status, personality traits, ethnicity, educational level, credibility, comprehension, and personality. Most classifications divide paralanguage into </a:t>
            </a:r>
            <a:r>
              <a:rPr lang="en-US" altLang="zh-CN" sz="2800" dirty="0">
                <a:solidFill>
                  <a:srgbClr val="FF0000"/>
                </a:solidFill>
                <a:latin typeface="Times New Roman" pitchFamily="18" charset="0"/>
                <a:cs typeface="Times New Roman" pitchFamily="18" charset="0"/>
              </a:rPr>
              <a:t>three categories</a:t>
            </a:r>
            <a:r>
              <a:rPr lang="en-US" altLang="zh-CN" sz="2800" dirty="0">
                <a:latin typeface="Times New Roman" pitchFamily="18" charset="0"/>
                <a:cs typeface="Times New Roman" pitchFamily="18" charset="0"/>
              </a:rPr>
              <a:t>: (1) vocal qualities, (2) vocal characterizers, and (3) vocal segregates.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7.7.3.7 Paralanguage </a:t>
            </a:r>
            <a:r>
              <a:rPr lang="en-US" altLang="zh-CN" sz="3200" b="1" dirty="0">
                <a:highlight>
                  <a:srgbClr val="FFFF00"/>
                </a:highlight>
                <a:latin typeface="Times New Roman" pitchFamily="18" charset="0"/>
                <a:cs typeface="Times New Roman" pitchFamily="18" charset="0"/>
              </a:rPr>
              <a:t>P253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318528734"/>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32225" y="2776541"/>
            <a:ext cx="891177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Although vocal qualities have numerous components, </a:t>
            </a:r>
            <a:r>
              <a:rPr lang="en-US" altLang="zh-CN" sz="2800" dirty="0">
                <a:solidFill>
                  <a:srgbClr val="FF0000"/>
                </a:solidFill>
                <a:latin typeface="Times New Roman" pitchFamily="18" charset="0"/>
                <a:cs typeface="Times New Roman" pitchFamily="18" charset="0"/>
              </a:rPr>
              <a:t>cultural differences are most apparent in the use of volume</a:t>
            </a:r>
            <a:r>
              <a:rPr lang="en-US" altLang="zh-CN" sz="2800" dirty="0">
                <a:latin typeface="Times New Roman" pitchFamily="18" charset="0"/>
                <a:cs typeface="Times New Roman" pitchFamily="18" charset="0"/>
              </a:rPr>
              <a:t>. Arabs speak with high levels of volume. It might even appear to be theatrical to outsiders. Germans conduct their business with a commanding tone that projects authority and self-confidence. Speaking in soft tones is also valued in Thailand. </a:t>
            </a:r>
            <a:endParaRPr lang="zh-CN" altLang="zh-CN" sz="2800" dirty="0">
              <a:latin typeface="Times New Roman" pitchFamily="18" charset="0"/>
              <a:cs typeface="Times New Roman" pitchFamily="18" charset="0"/>
            </a:endParaRPr>
          </a:p>
          <a:p>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Vocal Qualities </a:t>
            </a:r>
            <a:r>
              <a:rPr lang="zh-CN" altLang="en-US" sz="3200" dirty="0">
                <a:latin typeface="Times New Roman" pitchFamily="18" charset="0"/>
                <a:cs typeface="Times New Roman" pitchFamily="18" charset="0"/>
              </a:rPr>
              <a:t>音质</a:t>
            </a:r>
            <a:r>
              <a:rPr lang="zh-CN" altLang="en-US" sz="3200" b="1" dirty="0">
                <a:latin typeface="Times New Roman" pitchFamily="18" charset="0"/>
                <a:cs typeface="Times New Roman" pitchFamily="18" charset="0"/>
              </a:rPr>
              <a:t> </a:t>
            </a:r>
            <a:r>
              <a:rPr lang="en-US" altLang="zh-CN" sz="3200" b="1" dirty="0">
                <a:highlight>
                  <a:srgbClr val="FFFF00"/>
                </a:highlight>
                <a:latin typeface="Times New Roman" pitchFamily="18" charset="0"/>
                <a:cs typeface="Times New Roman" pitchFamily="18" charset="0"/>
              </a:rPr>
              <a:t>P253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63608797"/>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529797"/>
            <a:ext cx="8911775" cy="3970318"/>
          </a:xfrm>
          <a:prstGeom prst="rect">
            <a:avLst/>
          </a:prstGeom>
          <a:noFill/>
        </p:spPr>
        <p:txBody>
          <a:bodyPr wrap="square" rtlCol="0">
            <a:spAutoFit/>
          </a:bodyPr>
          <a:lstStyle/>
          <a:p>
            <a:r>
              <a:rPr lang="en-US" altLang="zh-CN" sz="2800" dirty="0"/>
              <a:t>    </a:t>
            </a:r>
            <a:r>
              <a:rPr lang="en-US" altLang="zh-CN" sz="2800" dirty="0">
                <a:solidFill>
                  <a:srgbClr val="FF0000"/>
                </a:solidFill>
                <a:latin typeface="Times New Roman" pitchFamily="18" charset="0"/>
                <a:cs typeface="Times New Roman" pitchFamily="18" charset="0"/>
              </a:rPr>
              <a:t>Differences in paralanguage also mark the communication patterns of males and females. </a:t>
            </a:r>
            <a:r>
              <a:rPr lang="en-US" altLang="zh-CN" sz="2800" dirty="0">
                <a:latin typeface="Times New Roman" pitchFamily="18" charset="0"/>
                <a:cs typeface="Times New Roman" pitchFamily="18" charset="0"/>
              </a:rPr>
              <a:t>Research indicates that men’s voices tend to have louder volume, lower pitch, and less inflection. Notice that these features are likely to conform to cultural perceptions of </a:t>
            </a:r>
            <a:r>
              <a:rPr lang="en-US" altLang="zh-CN" sz="2800" dirty="0">
                <a:solidFill>
                  <a:srgbClr val="FF0000"/>
                </a:solidFill>
                <a:latin typeface="Times New Roman" pitchFamily="18" charset="0"/>
                <a:cs typeface="Times New Roman" pitchFamily="18" charset="0"/>
              </a:rPr>
              <a:t>men</a:t>
            </a:r>
            <a:r>
              <a:rPr lang="en-US" altLang="zh-CN" sz="2800" dirty="0">
                <a:latin typeface="Times New Roman" pitchFamily="18" charset="0"/>
                <a:cs typeface="Times New Roman" pitchFamily="18" charset="0"/>
              </a:rPr>
              <a:t> as assertive and emotionally controlled. </a:t>
            </a:r>
            <a:r>
              <a:rPr lang="en-US" altLang="zh-CN" sz="2800" dirty="0">
                <a:solidFill>
                  <a:srgbClr val="FF0000"/>
                </a:solidFill>
                <a:latin typeface="Times New Roman" pitchFamily="18" charset="0"/>
                <a:cs typeface="Times New Roman" pitchFamily="18" charset="0"/>
              </a:rPr>
              <a:t>Women’s</a:t>
            </a:r>
            <a:r>
              <a:rPr lang="en-US" altLang="zh-CN" sz="2800" dirty="0">
                <a:latin typeface="Times New Roman" pitchFamily="18" charset="0"/>
                <a:cs typeface="Times New Roman" pitchFamily="18" charset="0"/>
              </a:rPr>
              <a:t> voices typically have higher pitch, softer volume, and more inflection(</a:t>
            </a:r>
            <a:r>
              <a:rPr lang="zh-CN" altLang="en-US" sz="2800" dirty="0">
                <a:latin typeface="Times New Roman" pitchFamily="18" charset="0"/>
                <a:cs typeface="Times New Roman" pitchFamily="18" charset="0"/>
              </a:rPr>
              <a:t>语调的抑扬变化）</a:t>
            </a:r>
            <a:r>
              <a:rPr lang="en-US" altLang="zh-CN" sz="2800" dirty="0">
                <a:latin typeface="Times New Roman" pitchFamily="18" charset="0"/>
                <a:cs typeface="Times New Roman" pitchFamily="18" charset="0"/>
              </a:rPr>
              <a:t>. Again, these are characteristics associated with cultural views of women as emotional and polite.</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Vocal Qualities </a:t>
            </a:r>
            <a:r>
              <a:rPr lang="en-US" altLang="zh-CN" sz="3200" b="1" dirty="0">
                <a:highlight>
                  <a:srgbClr val="FFFF00"/>
                </a:highlight>
                <a:latin typeface="Times New Roman" pitchFamily="18" charset="0"/>
                <a:cs typeface="Times New Roman" pitchFamily="18" charset="0"/>
              </a:rPr>
              <a:t>P254</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85951413"/>
      </p:ext>
    </p:extLst>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32224" y="2674940"/>
            <a:ext cx="8911775" cy="3108543"/>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Vocal characteristics are vocalizations that convey a meaning for members of a specific culture. In both France and Argentina, it is considered rude to </a:t>
            </a:r>
            <a:r>
              <a:rPr lang="en-US" altLang="zh-CN" sz="2800" dirty="0">
                <a:solidFill>
                  <a:srgbClr val="FF0000"/>
                </a:solidFill>
                <a:latin typeface="Times New Roman" pitchFamily="18" charset="0"/>
                <a:cs typeface="Times New Roman" pitchFamily="18" charset="0"/>
              </a:rPr>
              <a:t>yawn in public</a:t>
            </a:r>
            <a:r>
              <a:rPr lang="en-US" altLang="zh-CN" sz="2800" dirty="0">
                <a:latin typeface="Times New Roman" pitchFamily="18" charset="0"/>
                <a:cs typeface="Times New Roman" pitchFamily="18" charset="0"/>
              </a:rPr>
              <a:t>. And in much of Europe, </a:t>
            </a:r>
            <a:r>
              <a:rPr lang="en-US" altLang="zh-CN" sz="2800" dirty="0">
                <a:solidFill>
                  <a:srgbClr val="FF0000"/>
                </a:solidFill>
                <a:latin typeface="Times New Roman" pitchFamily="18" charset="0"/>
                <a:cs typeface="Times New Roman" pitchFamily="18" charset="0"/>
              </a:rPr>
              <a:t>whistling</a:t>
            </a:r>
            <a:r>
              <a:rPr lang="en-US" altLang="zh-CN" sz="2800" dirty="0">
                <a:latin typeface="Times New Roman" pitchFamily="18" charset="0"/>
                <a:cs typeface="Times New Roman" pitchFamily="18" charset="0"/>
              </a:rPr>
              <a:t> during a public performance is a message of disapproval and ridicule.</a:t>
            </a: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Laughing</a:t>
            </a:r>
            <a:r>
              <a:rPr lang="en-US" altLang="zh-CN" sz="2800" dirty="0">
                <a:latin typeface="Times New Roman" pitchFamily="18" charset="0"/>
                <a:cs typeface="Times New Roman" pitchFamily="18" charset="0"/>
              </a:rPr>
              <a:t> also sends different messages, depending on the culture.</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Vocal Characteristics </a:t>
            </a:r>
            <a:r>
              <a:rPr lang="zh-CN" altLang="en-US" sz="3200" dirty="0">
                <a:latin typeface="Times New Roman" pitchFamily="18" charset="0"/>
                <a:cs typeface="Times New Roman" pitchFamily="18" charset="0"/>
              </a:rPr>
              <a:t>声音特点 </a:t>
            </a:r>
            <a:r>
              <a:rPr lang="en-US" altLang="zh-CN" sz="3200" b="1" dirty="0">
                <a:highlight>
                  <a:srgbClr val="FFFF00"/>
                </a:highlight>
                <a:latin typeface="Times New Roman" pitchFamily="18" charset="0"/>
                <a:cs typeface="Times New Roman" pitchFamily="18" charset="0"/>
              </a:rPr>
              <a:t>P254</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331394199"/>
      </p:ext>
    </p:extLst>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32225" y="2500769"/>
            <a:ext cx="8911775"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Vocal segregates are sounds that are audible but are not actual words. </a:t>
            </a:r>
            <a:r>
              <a:rPr lang="en-US" altLang="zh-CN" sz="2800" dirty="0">
                <a:latin typeface="Times New Roman" pitchFamily="18" charset="0"/>
                <a:cs typeface="Times New Roman" pitchFamily="18" charset="0"/>
              </a:rPr>
              <a:t>These sounds are used as </a:t>
            </a:r>
            <a:r>
              <a:rPr lang="en-US" altLang="zh-CN" sz="2800" dirty="0">
                <a:solidFill>
                  <a:srgbClr val="FF0000"/>
                </a:solidFill>
                <a:latin typeface="Times New Roman" pitchFamily="18" charset="0"/>
                <a:cs typeface="Times New Roman" pitchFamily="18" charset="0"/>
              </a:rPr>
              <a:t>substitutes for words</a:t>
            </a:r>
            <a:r>
              <a:rPr lang="en-US" altLang="zh-CN" sz="2800" dirty="0">
                <a:latin typeface="Times New Roman" pitchFamily="18" charset="0"/>
                <a:cs typeface="Times New Roman" pitchFamily="18" charset="0"/>
              </a:rPr>
              <a:t>. A case in point is </a:t>
            </a:r>
            <a:r>
              <a:rPr lang="en-US" altLang="zh-CN" sz="2800" dirty="0">
                <a:solidFill>
                  <a:srgbClr val="FF0000"/>
                </a:solidFill>
                <a:latin typeface="Times New Roman" pitchFamily="18" charset="0"/>
                <a:cs typeface="Times New Roman" pitchFamily="18" charset="0"/>
              </a:rPr>
              <a:t>the “</a:t>
            </a:r>
            <a:r>
              <a:rPr lang="en-US" altLang="zh-CN" sz="2800" dirty="0" err="1">
                <a:solidFill>
                  <a:srgbClr val="FF0000"/>
                </a:solidFill>
                <a:latin typeface="Times New Roman" pitchFamily="18" charset="0"/>
                <a:cs typeface="Times New Roman" pitchFamily="18" charset="0"/>
              </a:rPr>
              <a:t>shh</a:t>
            </a:r>
            <a:r>
              <a:rPr lang="en-US" altLang="zh-CN" sz="2800" dirty="0">
                <a:solidFill>
                  <a:srgbClr val="FF0000"/>
                </a:solidFill>
                <a:latin typeface="Times New Roman" pitchFamily="18" charset="0"/>
                <a:cs typeface="Times New Roman" pitchFamily="18" charset="0"/>
              </a:rPr>
              <a:t>” sound </a:t>
            </a:r>
            <a:r>
              <a:rPr lang="en-US" altLang="zh-CN" sz="2800" dirty="0">
                <a:latin typeface="Times New Roman" pitchFamily="18" charset="0"/>
                <a:cs typeface="Times New Roman" pitchFamily="18" charset="0"/>
              </a:rPr>
              <a:t>produced by Americans when they are asking someone to be silent. In many cultures certain sounds also take on special meanings. For instance, </a:t>
            </a:r>
            <a:r>
              <a:rPr lang="en-US" altLang="zh-CN" sz="2800" dirty="0">
                <a:solidFill>
                  <a:srgbClr val="FF0000"/>
                </a:solidFill>
                <a:latin typeface="Times New Roman" pitchFamily="18" charset="0"/>
                <a:cs typeface="Times New Roman" pitchFamily="18" charset="0"/>
              </a:rPr>
              <a:t>the </a:t>
            </a:r>
            <a:r>
              <a:rPr lang="en-US" altLang="zh-CN" sz="2800" dirty="0" err="1">
                <a:solidFill>
                  <a:srgbClr val="FF0000"/>
                </a:solidFill>
                <a:latin typeface="Times New Roman" pitchFamily="18" charset="0"/>
                <a:cs typeface="Times New Roman" pitchFamily="18" charset="0"/>
              </a:rPr>
              <a:t>Maasai</a:t>
            </a:r>
            <a:r>
              <a:rPr lang="en-US" altLang="zh-CN" sz="2800" dirty="0">
                <a:solidFill>
                  <a:srgbClr val="FF0000"/>
                </a:solidFill>
                <a:latin typeface="Times New Roman" pitchFamily="18" charset="0"/>
                <a:cs typeface="Times New Roman" pitchFamily="18" charset="0"/>
              </a:rPr>
              <a:t> in Africa </a:t>
            </a:r>
            <a:r>
              <a:rPr lang="en-US" altLang="zh-CN" sz="2800" dirty="0">
                <a:latin typeface="Times New Roman" pitchFamily="18" charset="0"/>
                <a:cs typeface="Times New Roman" pitchFamily="18" charset="0"/>
              </a:rPr>
              <a:t>use a number of sounds that have significance. The most common one is </a:t>
            </a:r>
            <a:r>
              <a:rPr lang="en-US" altLang="zh-CN" sz="2800" dirty="0">
                <a:solidFill>
                  <a:srgbClr val="FF0000"/>
                </a:solidFill>
                <a:latin typeface="Times New Roman" pitchFamily="18" charset="0"/>
                <a:cs typeface="Times New Roman" pitchFamily="18" charset="0"/>
              </a:rPr>
              <a:t>the “eh” sound</a:t>
            </a:r>
            <a:r>
              <a:rPr lang="en-US" altLang="zh-CN" sz="2800" dirty="0">
                <a:latin typeface="Times New Roman" pitchFamily="18" charset="0"/>
                <a:cs typeface="Times New Roman" pitchFamily="18" charset="0"/>
              </a:rPr>
              <a:t>, which the Maasai draw out and which can mean “yes”, “I understand”, or “continue”.</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Vocal Segregates </a:t>
            </a:r>
            <a:r>
              <a:rPr lang="zh-CN" altLang="en-US" sz="3200" dirty="0">
                <a:latin typeface="Times New Roman" pitchFamily="18" charset="0"/>
                <a:cs typeface="Times New Roman" pitchFamily="18" charset="0"/>
              </a:rPr>
              <a:t>语音分隔符号 </a:t>
            </a:r>
            <a:r>
              <a:rPr lang="en-US" altLang="zh-CN" sz="3200" b="1" dirty="0">
                <a:highlight>
                  <a:srgbClr val="FFFF00"/>
                </a:highlight>
                <a:latin typeface="Times New Roman" pitchFamily="18" charset="0"/>
                <a:cs typeface="Times New Roman" pitchFamily="18" charset="0"/>
              </a:rPr>
              <a:t>P254</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471387477"/>
      </p:ext>
    </p:ext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558825"/>
            <a:ext cx="8911775" cy="3970318"/>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The variation in distance between you and other people is as much a part of the communication experience as the words being exchanged. The study of this message system is called proxemics(</a:t>
            </a:r>
            <a:r>
              <a:rPr lang="zh-CN" altLang="en-US" sz="2800" dirty="0">
                <a:latin typeface="Times New Roman" pitchFamily="18" charset="0"/>
                <a:cs typeface="Times New Roman" pitchFamily="18" charset="0"/>
              </a:rPr>
              <a:t>人际距离学）</a:t>
            </a:r>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Hall defines proxemics as the interrelated observations and theories of man’s use of space as a specialized elaboration of culture.</a:t>
            </a:r>
            <a:r>
              <a:rPr lang="en-US" altLang="zh-CN" sz="2800" dirty="0">
                <a:latin typeface="Times New Roman" pitchFamily="18" charset="0"/>
                <a:cs typeface="Times New Roman" pitchFamily="18" charset="0"/>
              </a:rPr>
              <a:t> Expanding on Hall’s analysis, today proxemics is concerned with such things as (1) personal space, (2) seating, and (3) furniture arrangement.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 Space and Distance </a:t>
            </a:r>
            <a:r>
              <a:rPr lang="en-US" altLang="zh-CN" sz="3200" b="1" dirty="0">
                <a:highlight>
                  <a:srgbClr val="FFFF00"/>
                </a:highlight>
                <a:latin typeface="Times New Roman" pitchFamily="18" charset="0"/>
                <a:cs typeface="Times New Roman" pitchFamily="18" charset="0"/>
              </a:rPr>
              <a:t>P255</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27659326"/>
      </p:ext>
    </p:extLst>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544311"/>
            <a:ext cx="8911775" cy="3970318"/>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    Personal space is often thought of as a kind of “</a:t>
            </a:r>
            <a:r>
              <a:rPr lang="it-IT" altLang="zh-CN" sz="2800" dirty="0">
                <a:solidFill>
                  <a:srgbClr val="FF0000"/>
                </a:solidFill>
                <a:latin typeface="Times New Roman" pitchFamily="18" charset="0"/>
                <a:cs typeface="Times New Roman" pitchFamily="18" charset="0"/>
              </a:rPr>
              <a:t>bubble</a:t>
            </a:r>
            <a:r>
              <a:rPr lang="en-US" altLang="zh-CN" sz="2800" dirty="0">
                <a:solidFill>
                  <a:srgbClr val="FF0000"/>
                </a:solidFill>
                <a:latin typeface="Times New Roman" pitchFamily="18" charset="0"/>
                <a:cs typeface="Times New Roman" pitchFamily="18" charset="0"/>
              </a:rPr>
              <a:t>” that encircles each individual. </a:t>
            </a:r>
            <a:r>
              <a:rPr lang="en-US" altLang="zh-CN" sz="2800" dirty="0">
                <a:latin typeface="Times New Roman" pitchFamily="18" charset="0"/>
                <a:cs typeface="Times New Roman" pitchFamily="18" charset="0"/>
              </a:rPr>
              <a:t>This “</a:t>
            </a:r>
            <a:r>
              <a:rPr lang="it-IT" altLang="zh-CN" sz="2800" dirty="0">
                <a:latin typeface="Times New Roman" pitchFamily="18" charset="0"/>
                <a:cs typeface="Times New Roman" pitchFamily="18" charset="0"/>
              </a:rPr>
              <a:t>bubble</a:t>
            </a:r>
            <a:r>
              <a:rPr lang="en-US" altLang="zh-CN" sz="2800" dirty="0">
                <a:latin typeface="Times New Roman" pitchFamily="18" charset="0"/>
                <a:cs typeface="Times New Roman" pitchFamily="18" charset="0"/>
              </a:rPr>
              <a:t>” increases and decreases depending on the person’s reaction to the setting and the person invading his or her space.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As the owner of this area, you usually decide who may enter and who may not. When your space is invaded, you react in a variety of ways. You may retreat, stand your ground, or sometimes react violently. </a:t>
            </a:r>
            <a:r>
              <a:rPr lang="en-US" altLang="zh-CN" sz="2800" dirty="0">
                <a:solidFill>
                  <a:srgbClr val="FF0000"/>
                </a:solidFill>
                <a:latin typeface="Times New Roman" pitchFamily="18" charset="0"/>
                <a:cs typeface="Times New Roman" pitchFamily="18" charset="0"/>
              </a:rPr>
              <a:t>Use of personal space is learned on both the conscious and unconscious levels.</a:t>
            </a:r>
            <a:endParaRPr lang="zh-CN" altLang="zh-CN" sz="2800" dirty="0">
              <a:solidFill>
                <a:srgbClr val="FF0000"/>
              </a:solidFill>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7.7.4.1 Personal Space </a:t>
            </a:r>
            <a:r>
              <a:rPr lang="en-US" altLang="zh-CN" sz="3200" b="1" dirty="0">
                <a:highlight>
                  <a:srgbClr val="FFFF00"/>
                </a:highlight>
                <a:latin typeface="Times New Roman" pitchFamily="18" charset="0"/>
                <a:cs typeface="Times New Roman" pitchFamily="18" charset="0"/>
              </a:rPr>
              <a:t>P255</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661003401"/>
      </p:ext>
    </p:extLst>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03198" y="2674940"/>
            <a:ext cx="8882746" cy="3416320"/>
          </a:xfrm>
          <a:prstGeom prst="rect">
            <a:avLst/>
          </a:prstGeom>
          <a:noFill/>
        </p:spPr>
        <p:txBody>
          <a:bodyPr wrap="square" rtlCol="0">
            <a:spAutoFit/>
          </a:bodyPr>
          <a:lstStyle/>
          <a:p>
            <a:r>
              <a:rPr lang="en-US" altLang="zh-CN" sz="2400" dirty="0">
                <a:latin typeface="Times New Roman" pitchFamily="18" charset="0"/>
                <a:cs typeface="Times New Roman" pitchFamily="18" charset="0"/>
              </a:rPr>
              <a:t>    As with most forms of communication, </a:t>
            </a:r>
            <a:r>
              <a:rPr lang="en-US" altLang="zh-CN" sz="2400" dirty="0">
                <a:solidFill>
                  <a:srgbClr val="FF0000"/>
                </a:solidFill>
                <a:latin typeface="Times New Roman" pitchFamily="18" charset="0"/>
                <a:cs typeface="Times New Roman" pitchFamily="18" charset="0"/>
              </a:rPr>
              <a:t>space is associated with cultural values.</a:t>
            </a:r>
            <a:r>
              <a:rPr lang="en-US" altLang="zh-CN" sz="2400" dirty="0">
                <a:latin typeface="Times New Roman" pitchFamily="18" charset="0"/>
                <a:cs typeface="Times New Roman" pitchFamily="18" charset="0"/>
              </a:rPr>
              <a:t> A good example of the link between the use of space and culture can be seen in </a:t>
            </a:r>
            <a:r>
              <a:rPr lang="en-US" altLang="zh-CN" sz="2400" dirty="0">
                <a:solidFill>
                  <a:srgbClr val="FF0000"/>
                </a:solidFill>
                <a:latin typeface="Times New Roman" pitchFamily="18" charset="0"/>
                <a:cs typeface="Times New Roman" pitchFamily="18" charset="0"/>
              </a:rPr>
              <a:t>the values of individualism and collectivism</a:t>
            </a:r>
            <a:r>
              <a:rPr lang="en-US" altLang="zh-CN" sz="2400" dirty="0">
                <a:latin typeface="Times New Roman" pitchFamily="18" charset="0"/>
                <a:cs typeface="Times New Roman" pitchFamily="18" charset="0"/>
              </a:rPr>
              <a:t>. Cultures that stress individualism and privacy (England, the U.S., Sweden, Germany, and Australia) generally demand more space than do collective cultures. According to Arabs, Latin Americans, and U.S. Hispanics fall into this collective category. These are cultures in which people are interdependent and often work, play, live, and even sleep in close proximity to one another.</a:t>
            </a:r>
            <a:endParaRPr lang="zh-CN" altLang="zh-CN" sz="24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7.7.4.1 Personal Space </a:t>
            </a:r>
            <a:r>
              <a:rPr lang="en-US" altLang="zh-CN" sz="3200" b="1" dirty="0">
                <a:highlight>
                  <a:srgbClr val="FFFF00"/>
                </a:highlight>
                <a:latin typeface="Times New Roman" pitchFamily="18" charset="0"/>
                <a:cs typeface="Times New Roman" pitchFamily="18" charset="0"/>
              </a:rPr>
              <a:t>P256</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134452117"/>
      </p:ext>
    </p:ext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486254"/>
            <a:ext cx="8882746"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Differences in personal space can even be seen in how cultures perceive and respond to standing in lines. </a:t>
            </a:r>
            <a:r>
              <a:rPr lang="en-US" altLang="zh-CN" sz="2800" dirty="0">
                <a:solidFill>
                  <a:srgbClr val="FF0000"/>
                </a:solidFill>
                <a:latin typeface="Times New Roman" pitchFamily="18" charset="0"/>
                <a:cs typeface="Times New Roman" pitchFamily="18" charset="0"/>
              </a:rPr>
              <a:t>For most U.S. Americans</a:t>
            </a:r>
            <a:r>
              <a:rPr lang="en-US" altLang="zh-CN" sz="2800" dirty="0">
                <a:latin typeface="Times New Roman" pitchFamily="18" charset="0"/>
                <a:cs typeface="Times New Roman" pitchFamily="18" charset="0"/>
              </a:rPr>
              <a:t>, regulations for standing in line are simple. The line should be straight and people are expected to wait their turn. When waiting for a bus or an elevator, </a:t>
            </a:r>
            <a:r>
              <a:rPr lang="en-US" altLang="zh-CN" sz="2800" dirty="0">
                <a:solidFill>
                  <a:srgbClr val="FF0000"/>
                </a:solidFill>
                <a:latin typeface="Times New Roman" pitchFamily="18" charset="0"/>
                <a:cs typeface="Times New Roman" pitchFamily="18" charset="0"/>
              </a:rPr>
              <a:t>most Arabs </a:t>
            </a:r>
            <a:r>
              <a:rPr lang="en-US" altLang="zh-CN" sz="2800" dirty="0">
                <a:latin typeface="Times New Roman" pitchFamily="18" charset="0"/>
                <a:cs typeface="Times New Roman" pitchFamily="18" charset="0"/>
              </a:rPr>
              <a:t>will not stand in neat straight lines. There is often a degree of pushing as they work their way toward the front of the crowd. For them, this is not considered rude, but simply a reflection of their perception of personal space.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7.7.4.1 Personal Space </a:t>
            </a:r>
            <a:r>
              <a:rPr lang="en-US" altLang="zh-CN" sz="3200" b="1" dirty="0">
                <a:highlight>
                  <a:srgbClr val="FFFF00"/>
                </a:highlight>
                <a:latin typeface="Times New Roman" pitchFamily="18" charset="0"/>
                <a:cs typeface="Times New Roman" pitchFamily="18" charset="0"/>
              </a:rPr>
              <a:t>P256 </a:t>
            </a:r>
            <a:endParaRPr lang="zh-CN" altLang="zh-CN" sz="3200" b="1" dirty="0">
              <a:highlight>
                <a:srgbClr val="FFFF00"/>
              </a:highlight>
              <a:latin typeface="Times New Roman" pitchFamily="18" charset="0"/>
              <a:cs typeface="Times New Roman" pitchFamily="18"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5511" y="64866"/>
            <a:ext cx="4048489" cy="20189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1145984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272850"/>
            <a:ext cx="8882746" cy="4524315"/>
          </a:xfrm>
          <a:prstGeom prst="rect">
            <a:avLst/>
          </a:prstGeom>
          <a:noFill/>
        </p:spPr>
        <p:txBody>
          <a:bodyPr wrap="square" rtlCol="0">
            <a:spAutoFit/>
          </a:bodyPr>
          <a:lstStyle/>
          <a:p>
            <a:r>
              <a:rPr lang="en-US" altLang="zh-CN" sz="2400" dirty="0"/>
              <a:t>    </a:t>
            </a:r>
            <a:r>
              <a:rPr lang="en-US" altLang="zh-CN" sz="2400" dirty="0">
                <a:solidFill>
                  <a:srgbClr val="FF0000"/>
                </a:solidFill>
                <a:latin typeface="Times New Roman" pitchFamily="18" charset="0"/>
                <a:cs typeface="Times New Roman" pitchFamily="18" charset="0"/>
              </a:rPr>
              <a:t>Women and men also use space differently.</a:t>
            </a:r>
            <a:r>
              <a:rPr lang="en-US" altLang="zh-CN" sz="2400" dirty="0">
                <a:latin typeface="Times New Roman" pitchFamily="18" charset="0"/>
                <a:cs typeface="Times New Roman" pitchFamily="18" charset="0"/>
              </a:rPr>
              <a:t> For example, women normally establish closer proximity to others than do men. Years of research have also revealed other gender differences in the use of space: (1) men claim more personal space than women;</a:t>
            </a:r>
          </a:p>
          <a:p>
            <a:r>
              <a:rPr lang="en-US" altLang="zh-CN" sz="2400" dirty="0">
                <a:latin typeface="Times New Roman" pitchFamily="18" charset="0"/>
                <a:cs typeface="Times New Roman" pitchFamily="18" charset="0"/>
              </a:rPr>
              <a:t>(2) women manifest less discomfort than men when confronted with a small amount of space;</a:t>
            </a:r>
          </a:p>
          <a:p>
            <a:r>
              <a:rPr lang="en-US" altLang="zh-CN" sz="2400" dirty="0">
                <a:latin typeface="Times New Roman" pitchFamily="18" charset="0"/>
                <a:cs typeface="Times New Roman" pitchFamily="18" charset="0"/>
              </a:rPr>
              <a:t>(3) men seem to approach females more closely than females who move toward men;</a:t>
            </a:r>
          </a:p>
          <a:p>
            <a:r>
              <a:rPr lang="en-US" altLang="zh-CN" sz="2400" dirty="0">
                <a:latin typeface="Times New Roman" pitchFamily="18" charset="0"/>
                <a:cs typeface="Times New Roman" pitchFamily="18" charset="0"/>
              </a:rPr>
              <a:t>(4) women, when given the opportunity, seek to interact at a closer distance than do men;</a:t>
            </a:r>
          </a:p>
          <a:p>
            <a:r>
              <a:rPr lang="en-US" altLang="zh-CN" sz="2400" dirty="0">
                <a:latin typeface="Times New Roman" pitchFamily="18" charset="0"/>
                <a:cs typeface="Times New Roman" pitchFamily="18" charset="0"/>
              </a:rPr>
              <a:t>(5) men more frequently walk in front of their female partner than vice versa.</a:t>
            </a:r>
            <a:endParaRPr lang="zh-CN" altLang="zh-CN" sz="24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7.7.4.1 Personal Space </a:t>
            </a:r>
            <a:r>
              <a:rPr lang="en-US" altLang="zh-CN" sz="3200" b="1" dirty="0">
                <a:highlight>
                  <a:srgbClr val="FFFF00"/>
                </a:highlight>
                <a:latin typeface="Times New Roman" pitchFamily="18" charset="0"/>
                <a:cs typeface="Times New Roman" pitchFamily="18" charset="0"/>
              </a:rPr>
              <a:t>P257</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24617605"/>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3" y="2867936"/>
            <a:ext cx="8882746" cy="2677656"/>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Space distance is also a variable when interacting with members of the deaf culture. When using ASL, it is necessary for the person signing to sit far enough away from the other person so that they can be seen. It would not be uncommon for two signers to sit across from one another at a distance that hearing people might perceive as impersonal.</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7.7.4.1 Personal Space </a:t>
            </a:r>
            <a:r>
              <a:rPr lang="en-US" altLang="zh-CN" sz="3200" b="1" dirty="0">
                <a:highlight>
                  <a:srgbClr val="FFFF00"/>
                </a:highlight>
                <a:latin typeface="Times New Roman" pitchFamily="18" charset="0"/>
                <a:cs typeface="Times New Roman" pitchFamily="18" charset="0"/>
              </a:rPr>
              <a:t>P257</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365021008"/>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5141" y="2284250"/>
            <a:ext cx="8882746" cy="4524315"/>
          </a:xfrm>
          <a:prstGeom prst="rect">
            <a:avLst/>
          </a:prstGeom>
          <a:noFill/>
        </p:spPr>
        <p:txBody>
          <a:bodyPr wrap="square" rtlCol="0">
            <a:spAutoFit/>
          </a:bodyPr>
          <a:lstStyle/>
          <a:p>
            <a:r>
              <a:rPr lang="en-US" altLang="zh-CN" sz="2400" dirty="0">
                <a:latin typeface="Times New Roman" pitchFamily="18" charset="0"/>
                <a:cs typeface="Times New Roman" pitchFamily="18" charset="0"/>
              </a:rPr>
              <a:t>    </a:t>
            </a:r>
            <a:r>
              <a:rPr lang="en-US" altLang="zh-CN" sz="2400" dirty="0">
                <a:solidFill>
                  <a:srgbClr val="FF0000"/>
                </a:solidFill>
                <a:latin typeface="Times New Roman" pitchFamily="18" charset="0"/>
                <a:cs typeface="Times New Roman" pitchFamily="18" charset="0"/>
              </a:rPr>
              <a:t>Seating arrangements are frequently dictated by cultural and historical norms, particularly at formal events such as banquets, and diplomatic and business meetings.</a:t>
            </a:r>
            <a:r>
              <a:rPr lang="en-US" altLang="zh-CN" sz="2400" dirty="0">
                <a:latin typeface="Times New Roman" pitchFamily="18" charset="0"/>
                <a:cs typeface="Times New Roman" pitchFamily="18" charset="0"/>
              </a:rPr>
              <a:t> At banquets, which are </a:t>
            </a:r>
            <a:r>
              <a:rPr lang="en-US" altLang="zh-CN" sz="2400" dirty="0">
                <a:solidFill>
                  <a:srgbClr val="FF0000"/>
                </a:solidFill>
                <a:latin typeface="Times New Roman" pitchFamily="18" charset="0"/>
                <a:cs typeface="Times New Roman" pitchFamily="18" charset="0"/>
              </a:rPr>
              <a:t>very common in China</a:t>
            </a:r>
            <a:r>
              <a:rPr lang="en-US" altLang="zh-CN" sz="2400" dirty="0">
                <a:latin typeface="Times New Roman" pitchFamily="18" charset="0"/>
                <a:cs typeface="Times New Roman" pitchFamily="18" charset="0"/>
              </a:rPr>
              <a:t>, seating arrangements place the honored person (often decided by seniority and age) facing east or facing the entrance to the hall. The higher a person’s status is, the closer they sit to the person of honor. At business meetings, the Chinese experience alienation and uneasiness when they face someone directly or sit opposite them at a desk or table. If you view a news story about American diplomats meeting with government officials from China, you might observe that the meeting is taking place with people sitting side by side frequently on couches.</a:t>
            </a:r>
            <a:endParaRPr lang="zh-CN" altLang="zh-CN" sz="24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7.7.4.2 Seating</a:t>
            </a:r>
            <a:endParaRPr lang="zh-CN" altLang="zh-CN" sz="3200" b="1" dirty="0">
              <a:latin typeface="Times New Roman" pitchFamily="18" charset="0"/>
              <a:cs typeface="Times New Roman" pitchFamily="18"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1150" y="0"/>
            <a:ext cx="3662850" cy="20854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8430817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61254" y="2530993"/>
            <a:ext cx="8882746" cy="3970318"/>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The importance of seating arrangement as a form of communication, and the role it occupies within a specific culture can be observed in the Chinese traditional philosophy of</a:t>
            </a:r>
            <a:r>
              <a:rPr lang="en-US" altLang="zh-CN" sz="2800" i="1" dirty="0">
                <a:latin typeface="Times New Roman" pitchFamily="18" charset="0"/>
                <a:cs typeface="Times New Roman" pitchFamily="18" charset="0"/>
              </a:rPr>
              <a:t> </a:t>
            </a:r>
            <a:r>
              <a:rPr lang="en-US" altLang="zh-CN" sz="2800" i="1" dirty="0" err="1">
                <a:solidFill>
                  <a:srgbClr val="FF0000"/>
                </a:solidFill>
                <a:latin typeface="Times New Roman" pitchFamily="18" charset="0"/>
                <a:cs typeface="Times New Roman" pitchFamily="18" charset="0"/>
              </a:rPr>
              <a:t>feng</a:t>
            </a:r>
            <a:r>
              <a:rPr lang="en-US" altLang="zh-CN" sz="2800" i="1" dirty="0">
                <a:solidFill>
                  <a:srgbClr val="FF0000"/>
                </a:solidFill>
                <a:latin typeface="Times New Roman" pitchFamily="18" charset="0"/>
                <a:cs typeface="Times New Roman" pitchFamily="18" charset="0"/>
              </a:rPr>
              <a:t> </a:t>
            </a:r>
            <a:r>
              <a:rPr lang="en-US" altLang="zh-CN" sz="2800" i="1" dirty="0" err="1">
                <a:solidFill>
                  <a:srgbClr val="FF0000"/>
                </a:solidFill>
                <a:latin typeface="Times New Roman" pitchFamily="18" charset="0"/>
                <a:cs typeface="Times New Roman" pitchFamily="18" charset="0"/>
              </a:rPr>
              <a:t>shui</a:t>
            </a:r>
            <a:r>
              <a:rPr lang="en-US" altLang="zh-CN" sz="2800" i="1" dirty="0">
                <a:solidFill>
                  <a:srgbClr val="FF0000"/>
                </a:solidFill>
                <a:latin typeface="Times New Roman" pitchFamily="18" charset="0"/>
                <a:cs typeface="Times New Roman" pitchFamily="18" charset="0"/>
              </a:rPr>
              <a:t> </a:t>
            </a:r>
            <a:r>
              <a:rPr lang="en-US" altLang="zh-CN" sz="2800" dirty="0">
                <a:latin typeface="Times New Roman" pitchFamily="18" charset="0"/>
                <a:cs typeface="Times New Roman" pitchFamily="18" charset="0"/>
              </a:rPr>
              <a:t>that dates back over 3,000 years. Just as </a:t>
            </a:r>
            <a:r>
              <a:rPr lang="en-US" altLang="zh-CN" sz="2800" i="1" dirty="0" err="1">
                <a:latin typeface="Times New Roman" pitchFamily="18" charset="0"/>
                <a:cs typeface="Times New Roman" pitchFamily="18" charset="0"/>
              </a:rPr>
              <a:t>feng</a:t>
            </a:r>
            <a:r>
              <a:rPr lang="en-US" altLang="zh-CN" sz="2800" i="1" dirty="0">
                <a:latin typeface="Times New Roman" pitchFamily="18" charset="0"/>
                <a:cs typeface="Times New Roman" pitchFamily="18" charset="0"/>
              </a:rPr>
              <a:t> </a:t>
            </a:r>
            <a:r>
              <a:rPr lang="en-US" altLang="zh-CN" sz="2800" i="1" dirty="0" err="1">
                <a:latin typeface="Times New Roman" pitchFamily="18" charset="0"/>
                <a:cs typeface="Times New Roman" pitchFamily="18" charset="0"/>
              </a:rPr>
              <a:t>shui</a:t>
            </a:r>
            <a:r>
              <a:rPr lang="en-US" altLang="zh-CN" sz="2800" dirty="0">
                <a:latin typeface="Times New Roman" pitchFamily="18" charset="0"/>
                <a:cs typeface="Times New Roman" pitchFamily="18" charset="0"/>
              </a:rPr>
              <a:t> reflects some of the history and values of China, furniture arrangement can also mirror some of the values found in the United States, where furniture is often arranged to achieve privacy and interpersonal isolation. It is a way of circumventing interaction.</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7.7.4.3 Furniture Arrangement </a:t>
            </a:r>
            <a:r>
              <a:rPr lang="en-US" altLang="zh-CN" sz="3200" b="1" dirty="0">
                <a:highlight>
                  <a:srgbClr val="FFFF00"/>
                </a:highlight>
                <a:latin typeface="Times New Roman" pitchFamily="18" charset="0"/>
                <a:cs typeface="Times New Roman" pitchFamily="18" charset="0"/>
              </a:rPr>
              <a:t>P258</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268223783"/>
      </p:ext>
    </p:extLst>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70" y="2342306"/>
            <a:ext cx="8984345" cy="4401205"/>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The arrangement of furniture in offices can also give you a clue to the character of a people</a:t>
            </a:r>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French</a:t>
            </a:r>
            <a:r>
              <a:rPr lang="en-US" altLang="zh-CN" sz="2800" dirty="0">
                <a:latin typeface="Times New Roman" pitchFamily="18" charset="0"/>
                <a:cs typeface="Times New Roman" pitchFamily="18" charset="0"/>
              </a:rPr>
              <a:t> space is a reflection of French culture and French institutions. Everything is centralized, and spatially the entire country is laid out around centers. Hence, offices are organized around the manager, who is at the center. </a:t>
            </a:r>
            <a:r>
              <a:rPr lang="en-US" altLang="zh-CN" sz="2800" dirty="0">
                <a:solidFill>
                  <a:srgbClr val="FF0000"/>
                </a:solidFill>
                <a:latin typeface="Times New Roman" pitchFamily="18" charset="0"/>
                <a:cs typeface="Times New Roman" pitchFamily="18" charset="0"/>
              </a:rPr>
              <a:t>In Germany</a:t>
            </a:r>
            <a:r>
              <a:rPr lang="en-US" altLang="zh-CN" sz="2800" dirty="0">
                <a:latin typeface="Times New Roman" pitchFamily="18" charset="0"/>
                <a:cs typeface="Times New Roman" pitchFamily="18" charset="0"/>
              </a:rPr>
              <a:t>, where privacy is stressed, seating is dispersed throughout the office. By comparison, </a:t>
            </a:r>
            <a:r>
              <a:rPr lang="en-US" altLang="zh-CN" sz="2800" dirty="0">
                <a:solidFill>
                  <a:srgbClr val="FF0000"/>
                </a:solidFill>
                <a:latin typeface="Times New Roman" pitchFamily="18" charset="0"/>
                <a:cs typeface="Times New Roman" pitchFamily="18" charset="0"/>
              </a:rPr>
              <a:t>in Japan</a:t>
            </a:r>
            <a:r>
              <a:rPr lang="en-US" altLang="zh-CN" sz="2800" dirty="0">
                <a:latin typeface="Times New Roman" pitchFamily="18" charset="0"/>
                <a:cs typeface="Times New Roman" pitchFamily="18" charset="0"/>
              </a:rPr>
              <a:t>, where group effort and hierarchy are important, office seating is arranged according to seniority, with desks abutting each other.</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7.7.4.3 Furniture Arrangement </a:t>
            </a:r>
            <a:r>
              <a:rPr lang="en-US" altLang="zh-CN" sz="3200" b="1" dirty="0">
                <a:highlight>
                  <a:srgbClr val="FFFF00"/>
                </a:highlight>
                <a:latin typeface="Times New Roman" pitchFamily="18" charset="0"/>
                <a:cs typeface="Times New Roman" pitchFamily="18" charset="0"/>
              </a:rPr>
              <a:t>P258</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599901244"/>
      </p:ext>
    </p:extLst>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70" y="2632591"/>
            <a:ext cx="8984345" cy="1815882"/>
          </a:xfrm>
          <a:prstGeom prst="rect">
            <a:avLst/>
          </a:prstGeom>
          <a:noFill/>
        </p:spPr>
        <p:txBody>
          <a:bodyPr wrap="square" rtlCol="0">
            <a:spAutoFit/>
          </a:bodyPr>
          <a:lstStyle/>
          <a:p>
            <a:r>
              <a:rPr lang="en-US" altLang="zh-CN" sz="2800" dirty="0">
                <a:latin typeface="Times New Roman" pitchFamily="18" charset="0"/>
                <a:cs typeface="Times New Roman" pitchFamily="18" charset="0"/>
              </a:rPr>
              <a:t>5.1 Informal Time</a:t>
            </a:r>
          </a:p>
          <a:p>
            <a:r>
              <a:rPr lang="en-US" altLang="zh-CN" sz="2800" dirty="0">
                <a:latin typeface="Times New Roman" pitchFamily="18" charset="0"/>
                <a:cs typeface="Times New Roman" pitchFamily="18" charset="0"/>
              </a:rPr>
              <a:t>    Informal time is usually composed of two interrelated components punctuality and pace. </a:t>
            </a:r>
            <a:endParaRPr lang="zh-CN" altLang="zh-CN" sz="2800" dirty="0">
              <a:latin typeface="Times New Roman" pitchFamily="18" charset="0"/>
              <a:cs typeface="Times New Roman" pitchFamily="18" charset="0"/>
            </a:endParaRPr>
          </a:p>
          <a:p>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 Time </a:t>
            </a:r>
            <a:r>
              <a:rPr lang="en-US" altLang="zh-CN" sz="3200" b="1" dirty="0">
                <a:highlight>
                  <a:srgbClr val="FFFF00"/>
                </a:highlight>
                <a:latin typeface="Times New Roman" pitchFamily="18" charset="0"/>
                <a:cs typeface="Times New Roman" pitchFamily="18" charset="0"/>
              </a:rPr>
              <a:t>P260</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074809289"/>
      </p:ext>
    </p:ext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69" y="2667125"/>
            <a:ext cx="8984345" cy="2677656"/>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Rules that apply to punctuality are </a:t>
            </a:r>
            <a:r>
              <a:rPr lang="en-US" altLang="zh-CN" sz="2800" dirty="0">
                <a:solidFill>
                  <a:srgbClr val="FF0000"/>
                </a:solidFill>
                <a:latin typeface="Times New Roman" pitchFamily="18" charset="0"/>
                <a:cs typeface="Times New Roman" pitchFamily="18" charset="0"/>
              </a:rPr>
              <a:t>taught implicitly and explicitly.</a:t>
            </a:r>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On a conscious level</a:t>
            </a:r>
            <a:r>
              <a:rPr lang="en-US" altLang="zh-CN" sz="2800" dirty="0">
                <a:latin typeface="Times New Roman" pitchFamily="18" charset="0"/>
                <a:cs typeface="Times New Roman" pitchFamily="18" charset="0"/>
              </a:rPr>
              <a:t>, young children are taught the importance of being prompt. They are told that a lack of punctuality equals being inconsiderate, lazy, and discourteous. In addition to these conscious messages, there are numerous messages sent and learned </a:t>
            </a:r>
            <a:r>
              <a:rPr lang="en-US" altLang="zh-CN" sz="2800" dirty="0">
                <a:solidFill>
                  <a:srgbClr val="FF0000"/>
                </a:solidFill>
                <a:latin typeface="Times New Roman" pitchFamily="18" charset="0"/>
                <a:cs typeface="Times New Roman" pitchFamily="18" charset="0"/>
              </a:rPr>
              <a:t>on an unconscious level</a:t>
            </a:r>
            <a:r>
              <a:rPr lang="en-US" altLang="zh-CN" sz="2800" dirty="0">
                <a:latin typeface="Times New Roman" pitchFamily="18" charset="0"/>
                <a:cs typeface="Times New Roman" pitchFamily="18" charset="0"/>
              </a:rPr>
              <a:t>. </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7.7.5.1.1 Punctuality </a:t>
            </a:r>
            <a:r>
              <a:rPr lang="en-US" altLang="zh-CN" sz="3200" b="1" dirty="0">
                <a:highlight>
                  <a:srgbClr val="FFFF00"/>
                </a:highlight>
                <a:latin typeface="Times New Roman" pitchFamily="18" charset="0"/>
                <a:cs typeface="Times New Roman" pitchFamily="18" charset="0"/>
              </a:rPr>
              <a:t>P260</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780792490"/>
      </p:ext>
    </p:extLst>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69" y="2521982"/>
            <a:ext cx="8984345" cy="3970318"/>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The imperatives about time are also often linked to a culture’s worldview. Cultures vary in their punctuality standards. In Britain and America, one may be 5 minutes late for a business appointment, but not 15 and certainly not 30 minutes late, which is perfectly normal in Arab countries. On the other hand, </a:t>
            </a:r>
            <a:r>
              <a:rPr lang="en-US" altLang="zh-CN" sz="2800" dirty="0">
                <a:solidFill>
                  <a:srgbClr val="FF0000"/>
                </a:solidFill>
                <a:latin typeface="Times New Roman" pitchFamily="18" charset="0"/>
                <a:cs typeface="Times New Roman" pitchFamily="18" charset="0"/>
              </a:rPr>
              <a:t>in Britain </a:t>
            </a:r>
            <a:r>
              <a:rPr lang="en-US" altLang="zh-CN" sz="2800" dirty="0">
                <a:latin typeface="Times New Roman" pitchFamily="18" charset="0"/>
                <a:cs typeface="Times New Roman" pitchFamily="18" charset="0"/>
              </a:rPr>
              <a:t>it is correct to be 5 to 15 minutes late for an invitation to dinner. An </a:t>
            </a:r>
            <a:r>
              <a:rPr lang="en-US" altLang="zh-CN" sz="2800" dirty="0">
                <a:solidFill>
                  <a:srgbClr val="FF0000"/>
                </a:solidFill>
                <a:latin typeface="Times New Roman" pitchFamily="18" charset="0"/>
                <a:cs typeface="Times New Roman" pitchFamily="18" charset="0"/>
              </a:rPr>
              <a:t>Italian</a:t>
            </a:r>
            <a:r>
              <a:rPr lang="en-US" altLang="zh-CN" sz="2800" dirty="0">
                <a:latin typeface="Times New Roman" pitchFamily="18" charset="0"/>
                <a:cs typeface="Times New Roman" pitchFamily="18" charset="0"/>
              </a:rPr>
              <a:t> might arrive 2 hours late, an Ethiopian after, and a Japanese not at all—he had accepted only to prevent his host from losing face.</a:t>
            </a:r>
            <a:endParaRPr lang="zh-CN" altLang="zh-CN" sz="28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7.7.5.1.1 Punctuality </a:t>
            </a:r>
            <a:r>
              <a:rPr lang="en-US" altLang="zh-CN" sz="3200" b="1" dirty="0">
                <a:highlight>
                  <a:srgbClr val="FFFF00"/>
                </a:highlight>
                <a:latin typeface="Times New Roman" pitchFamily="18" charset="0"/>
                <a:cs typeface="Times New Roman" pitchFamily="18" charset="0"/>
              </a:rPr>
              <a:t>P260</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985707723"/>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2" y="2536496"/>
            <a:ext cx="8984345" cy="3785652"/>
          </a:xfrm>
          <a:prstGeom prst="rect">
            <a:avLst/>
          </a:prstGeom>
          <a:noFill/>
        </p:spPr>
        <p:txBody>
          <a:bodyPr wrap="square" rtlCol="0">
            <a:spAutoFit/>
          </a:bodyPr>
          <a:lstStyle/>
          <a:p>
            <a:r>
              <a:rPr lang="en-US" altLang="zh-CN" sz="2400" dirty="0"/>
              <a:t>    </a:t>
            </a:r>
            <a:r>
              <a:rPr lang="en-US" altLang="zh-CN" sz="2400" dirty="0">
                <a:solidFill>
                  <a:srgbClr val="FF0000"/>
                </a:solidFill>
                <a:latin typeface="Times New Roman" pitchFamily="18" charset="0"/>
                <a:cs typeface="Times New Roman" pitchFamily="18" charset="0"/>
              </a:rPr>
              <a:t>Because of the tempo of life in the United States, to out-siders U.S. citizens always appear to be in a hurry. </a:t>
            </a:r>
            <a:r>
              <a:rPr lang="en-US" altLang="zh-CN" sz="2400" dirty="0">
                <a:latin typeface="Times New Roman" pitchFamily="18" charset="0"/>
                <a:cs typeface="Times New Roman" pitchFamily="18" charset="0"/>
              </a:rPr>
              <a:t>From fast-food restaurants to gas stations where you can do your shopping while putting gas in your car, to microwave cooking, to computers that use the fastest available processors, U.S. Americans live life at a frenzied pace. </a:t>
            </a:r>
          </a:p>
          <a:p>
            <a:r>
              <a:rPr lang="en-US" altLang="zh-CN" sz="2400" dirty="0">
                <a:latin typeface="Times New Roman" pitchFamily="18" charset="0"/>
                <a:cs typeface="Times New Roman" pitchFamily="18" charset="0"/>
              </a:rPr>
              <a:t>    However, </a:t>
            </a:r>
            <a:r>
              <a:rPr lang="en-US" altLang="zh-CN" sz="2400" dirty="0">
                <a:solidFill>
                  <a:srgbClr val="FF0000"/>
                </a:solidFill>
                <a:latin typeface="Times New Roman" pitchFamily="18" charset="0"/>
                <a:cs typeface="Times New Roman" pitchFamily="18" charset="0"/>
              </a:rPr>
              <a:t>the Chinese value a slow pace</a:t>
            </a:r>
            <a:r>
              <a:rPr lang="en-US" altLang="zh-CN" sz="2400" dirty="0">
                <a:latin typeface="Times New Roman" pitchFamily="18" charset="0"/>
                <a:cs typeface="Times New Roman" pitchFamily="18" charset="0"/>
              </a:rPr>
              <a:t>. For them, the completion of the mission is what matters, regardless of the amount of time it takes. The Chinese proverb “With time and patience the mulberry leaf becomes a silk gown” captures the notion of time being unhurried. </a:t>
            </a:r>
            <a:endParaRPr lang="zh-CN" altLang="zh-CN" sz="2400" dirty="0">
              <a:latin typeface="Times New Roman" pitchFamily="18" charset="0"/>
              <a:cs typeface="Times New Roman" pitchFamily="18" charset="0"/>
            </a:endParaRPr>
          </a:p>
          <a:p>
            <a:endParaRPr lang="zh-CN" altLang="zh-CN" sz="2400" dirty="0">
              <a:latin typeface="Times New Roman" pitchFamily="18" charset="0"/>
              <a:cs typeface="Times New Roman" pitchFamily="18" charset="0"/>
            </a:endParaRPr>
          </a:p>
        </p:txBody>
      </p:sp>
      <p:sp>
        <p:nvSpPr>
          <p:cNvPr id="2" name="TextBox 1"/>
          <p:cNvSpPr txBox="1"/>
          <p:nvPr/>
        </p:nvSpPr>
        <p:spPr>
          <a:xfrm>
            <a:off x="116113" y="1509483"/>
            <a:ext cx="8476343"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7.7.5.1.2 Pace </a:t>
            </a:r>
            <a:r>
              <a:rPr lang="en-US" altLang="zh-CN" sz="3200" b="1" dirty="0">
                <a:highlight>
                  <a:srgbClr val="FFFF00"/>
                </a:highlight>
                <a:latin typeface="Times New Roman" pitchFamily="18" charset="0"/>
                <a:cs typeface="Times New Roman" pitchFamily="18" charset="0"/>
              </a:rPr>
              <a:t>P261</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677093783"/>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1" y="2547506"/>
            <a:ext cx="8984345" cy="4154984"/>
          </a:xfrm>
          <a:prstGeom prst="rect">
            <a:avLst/>
          </a:prstGeom>
          <a:noFill/>
        </p:spPr>
        <p:txBody>
          <a:bodyPr wrap="square" rtlCol="0">
            <a:spAutoFit/>
          </a:bodyPr>
          <a:lstStyle/>
          <a:p>
            <a:r>
              <a:rPr lang="en-US" altLang="zh-CN" sz="2400" dirty="0">
                <a:latin typeface="Times New Roman" pitchFamily="18" charset="0"/>
                <a:cs typeface="Times New Roman" pitchFamily="18" charset="0"/>
              </a:rPr>
              <a:t>    Hall established a classic taxonomy for examining the link between culture and time. He proposed that cultures organize time in one of two ways either </a:t>
            </a:r>
            <a:r>
              <a:rPr lang="en-US" altLang="zh-CN" sz="2400" dirty="0" err="1">
                <a:solidFill>
                  <a:srgbClr val="FF0000"/>
                </a:solidFill>
                <a:latin typeface="Times New Roman" pitchFamily="18" charset="0"/>
                <a:cs typeface="Times New Roman" pitchFamily="18" charset="0"/>
              </a:rPr>
              <a:t>monochronic</a:t>
            </a:r>
            <a:r>
              <a:rPr lang="en-US" altLang="zh-CN" sz="2400" dirty="0">
                <a:solidFill>
                  <a:srgbClr val="FF0000"/>
                </a:solidFill>
                <a:latin typeface="Times New Roman" pitchFamily="18" charset="0"/>
                <a:cs typeface="Times New Roman" pitchFamily="18" charset="0"/>
              </a:rPr>
              <a:t> (M-Time) or </a:t>
            </a:r>
            <a:r>
              <a:rPr lang="en-US" altLang="zh-CN" sz="2400" dirty="0" err="1">
                <a:solidFill>
                  <a:srgbClr val="FF0000"/>
                </a:solidFill>
                <a:latin typeface="Times New Roman" pitchFamily="18" charset="0"/>
                <a:cs typeface="Times New Roman" pitchFamily="18" charset="0"/>
              </a:rPr>
              <a:t>polychronic</a:t>
            </a:r>
            <a:r>
              <a:rPr lang="en-US" altLang="zh-CN" sz="2400" dirty="0">
                <a:solidFill>
                  <a:srgbClr val="FF0000"/>
                </a:solidFill>
                <a:latin typeface="Times New Roman" pitchFamily="18" charset="0"/>
                <a:cs typeface="Times New Roman" pitchFamily="18" charset="0"/>
              </a:rPr>
              <a:t> (P-Time), </a:t>
            </a:r>
            <a:r>
              <a:rPr lang="en-US" altLang="zh-CN" sz="2400" dirty="0">
                <a:latin typeface="Times New Roman" pitchFamily="18" charset="0"/>
                <a:cs typeface="Times New Roman" pitchFamily="18" charset="0"/>
              </a:rPr>
              <a:t>which represents two approaches to perceiving and utilizing time. </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In reference to Hall’s classifications, we should add that although M-time and P-time are presented as two distinct categories, </a:t>
            </a:r>
            <a:r>
              <a:rPr lang="en-US" altLang="zh-CN" sz="2400" dirty="0">
                <a:solidFill>
                  <a:srgbClr val="FF0000"/>
                </a:solidFill>
                <a:latin typeface="Times New Roman" pitchFamily="18" charset="0"/>
                <a:cs typeface="Times New Roman" pitchFamily="18" charset="0"/>
              </a:rPr>
              <a:t>it is much more realistic to perceive the two classifications as points along a continuum.</a:t>
            </a:r>
            <a:r>
              <a:rPr lang="en-US" altLang="zh-CN" sz="2400" dirty="0">
                <a:latin typeface="Times New Roman" pitchFamily="18" charset="0"/>
                <a:cs typeface="Times New Roman" pitchFamily="18" charset="0"/>
              </a:rPr>
              <a:t> There are many cultures that do not fall precisely into one of the two categories but instead contain degrees of both M-time and P-time.</a:t>
            </a:r>
            <a:endParaRPr lang="zh-CN" altLang="zh-CN" sz="2400" dirty="0">
              <a:latin typeface="Times New Roman" pitchFamily="18" charset="0"/>
              <a:cs typeface="Times New Roman" pitchFamily="18" charset="0"/>
            </a:endParaRPr>
          </a:p>
          <a:p>
            <a:endParaRPr lang="zh-CN" altLang="zh-CN" sz="2400" dirty="0">
              <a:latin typeface="Times New Roman" pitchFamily="18" charset="0"/>
              <a:cs typeface="Times New Roman" pitchFamily="18" charset="0"/>
            </a:endParaRPr>
          </a:p>
        </p:txBody>
      </p:sp>
      <p:sp>
        <p:nvSpPr>
          <p:cNvPr id="2" name="TextBox 1"/>
          <p:cNvSpPr txBox="1"/>
          <p:nvPr/>
        </p:nvSpPr>
        <p:spPr>
          <a:xfrm>
            <a:off x="-43543" y="1553025"/>
            <a:ext cx="9840685" cy="954107"/>
          </a:xfrm>
          <a:prstGeom prst="rect">
            <a:avLst/>
          </a:prstGeom>
          <a:noFill/>
        </p:spPr>
        <p:txBody>
          <a:bodyPr wrap="square" rtlCol="0">
            <a:spAutoFit/>
          </a:bodyPr>
          <a:lstStyle/>
          <a:p>
            <a:r>
              <a:rPr lang="en-US" altLang="zh-CN" sz="2800" b="1" dirty="0">
                <a:latin typeface="Times New Roman" pitchFamily="18" charset="0"/>
                <a:cs typeface="Times New Roman" pitchFamily="18" charset="0"/>
              </a:rPr>
              <a:t>7.7.5.2 Monochronic (M-Time) and polychronic (P-Time)</a:t>
            </a:r>
          </a:p>
          <a:p>
            <a:r>
              <a:rPr lang="en-US" altLang="zh-CN" sz="2800" b="1" dirty="0">
                <a:highlight>
                  <a:srgbClr val="FFFF00"/>
                </a:highlight>
                <a:latin typeface="Times New Roman" pitchFamily="18" charset="0"/>
                <a:cs typeface="Times New Roman" pitchFamily="18" charset="0"/>
              </a:rPr>
              <a:t>P262</a:t>
            </a:r>
            <a:endParaRPr lang="zh-CN" altLang="zh-CN" sz="28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686159491"/>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1" y="2271734"/>
            <a:ext cx="8984345" cy="4401205"/>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 </a:t>
            </a:r>
            <a:r>
              <a:rPr lang="en-US" altLang="zh-CN" sz="2800" dirty="0" err="1">
                <a:latin typeface="Times New Roman" pitchFamily="18" charset="0"/>
                <a:cs typeface="Times New Roman" pitchFamily="18" charset="0"/>
              </a:rPr>
              <a:t>monochronic</a:t>
            </a:r>
            <a:r>
              <a:rPr lang="en-US" altLang="zh-CN" sz="2800" dirty="0">
                <a:latin typeface="Times New Roman" pitchFamily="18" charset="0"/>
                <a:cs typeface="Times New Roman" pitchFamily="18" charset="0"/>
              </a:rPr>
              <a:t> view of time believes time is a scarce resource which must be rationed and controlled through the use of schedules and appointments, and through aiming to do only one thing at any one time. Cultures with this orientation perceive time as being </a:t>
            </a:r>
            <a:r>
              <a:rPr lang="en-US" altLang="zh-CN" sz="2800" dirty="0">
                <a:solidFill>
                  <a:srgbClr val="FF0000"/>
                </a:solidFill>
                <a:latin typeface="Times New Roman" pitchFamily="18" charset="0"/>
                <a:cs typeface="Times New Roman" pitchFamily="18" charset="0"/>
              </a:rPr>
              <a:t>tangible</a:t>
            </a:r>
            <a:r>
              <a:rPr lang="en-US" altLang="zh-CN" sz="2800" dirty="0">
                <a:latin typeface="Times New Roman" pitchFamily="18" charset="0"/>
                <a:cs typeface="Times New Roman" pitchFamily="18" charset="0"/>
              </a:rPr>
              <a:t>. When speaking of the M-Time orientation Hall states, “People talk about time as though it were money, as something that can be ‘spent’, ‘saved’, ‘wasted’, and ‘lost’”. </a:t>
            </a:r>
            <a:r>
              <a:rPr lang="en-US" altLang="zh-CN" sz="2800" dirty="0">
                <a:solidFill>
                  <a:srgbClr val="FF0000"/>
                </a:solidFill>
                <a:latin typeface="Times New Roman" pitchFamily="18" charset="0"/>
                <a:cs typeface="Times New Roman" pitchFamily="18" charset="0"/>
              </a:rPr>
              <a:t>Acting out this view of time, a person would value punctuality, product over process, and the judicious use of time</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7.7.5.2.1 M-Time </a:t>
            </a:r>
            <a:r>
              <a:rPr lang="en-US" altLang="zh-CN" sz="3200" b="1" dirty="0">
                <a:highlight>
                  <a:srgbClr val="FFFF00"/>
                </a:highlight>
                <a:latin typeface="Times New Roman" pitchFamily="18" charset="0"/>
                <a:cs typeface="Times New Roman" pitchFamily="18" charset="0"/>
              </a:rPr>
              <a:t>P262</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518056104"/>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1" y="2503962"/>
            <a:ext cx="898434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Cultures</a:t>
            </a:r>
            <a:r>
              <a:rPr lang="en-US" altLang="zh-CN" sz="2800" dirty="0">
                <a:latin typeface="Times New Roman" pitchFamily="18" charset="0"/>
                <a:cs typeface="Times New Roman" pitchFamily="18" charset="0"/>
              </a:rPr>
              <a:t> that can be </a:t>
            </a:r>
            <a:r>
              <a:rPr lang="en-US" altLang="zh-CN" sz="2800" dirty="0">
                <a:solidFill>
                  <a:srgbClr val="FF0000"/>
                </a:solidFill>
                <a:latin typeface="Times New Roman" pitchFamily="18" charset="0"/>
                <a:cs typeface="Times New Roman" pitchFamily="18" charset="0"/>
              </a:rPr>
              <a:t>classified as M-time include </a:t>
            </a:r>
            <a:r>
              <a:rPr lang="en-US" altLang="zh-CN" sz="2800" dirty="0">
                <a:latin typeface="Times New Roman" pitchFamily="18" charset="0"/>
                <a:cs typeface="Times New Roman" pitchFamily="18" charset="0"/>
              </a:rPr>
              <a:t>Germany, Austria, Sweden, Norway, England, Finland, Canada, Switzerland, and the dominant U.S. culture. </a:t>
            </a:r>
            <a:r>
              <a:rPr lang="en-US" altLang="zh-CN" sz="2800" dirty="0">
                <a:solidFill>
                  <a:srgbClr val="FF0000"/>
                </a:solidFill>
                <a:latin typeface="Times New Roman" pitchFamily="18" charset="0"/>
                <a:cs typeface="Times New Roman" pitchFamily="18" charset="0"/>
              </a:rPr>
              <a:t>In the business or educational setting</a:t>
            </a:r>
            <a:r>
              <a:rPr lang="en-US" altLang="zh-CN" sz="2800" dirty="0">
                <a:latin typeface="Times New Roman" pitchFamily="18" charset="0"/>
                <a:cs typeface="Times New Roman" pitchFamily="18" charset="0"/>
              </a:rPr>
              <a:t>, M-Time culture people would schedule appointments in advance, try to be on time to meetings, be concise in making presentations, and have a strong penchant for following initial plans. When those plans are not adhered to, they are apt to become frustrated.</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7.7.5.2.1 M-Time </a:t>
            </a:r>
            <a:r>
              <a:rPr lang="en-US" altLang="zh-CN" sz="3200" b="1" dirty="0">
                <a:highlight>
                  <a:srgbClr val="FFFF00"/>
                </a:highlight>
                <a:latin typeface="Times New Roman" pitchFamily="18" charset="0"/>
                <a:cs typeface="Times New Roman" pitchFamily="18" charset="0"/>
              </a:rPr>
              <a:t>P262</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159726006"/>
      </p:ext>
    </p:ext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1" y="2649105"/>
            <a:ext cx="898434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The pace for P-time cultures (Arab, African, Indian, Latin American, South Asian, and Southeast Asian) is more leisurely than the one found in M-time cultures. In P-time cultures, human relationships, not tasks, are important.  A </a:t>
            </a:r>
            <a:r>
              <a:rPr lang="en-US" altLang="zh-CN" sz="2800" dirty="0" err="1">
                <a:latin typeface="Times New Roman" pitchFamily="18" charset="0"/>
                <a:cs typeface="Times New Roman" pitchFamily="18" charset="0"/>
              </a:rPr>
              <a:t>polychronic</a:t>
            </a:r>
            <a:r>
              <a:rPr lang="en-US" altLang="zh-CN" sz="2800" dirty="0">
                <a:latin typeface="Times New Roman" pitchFamily="18" charset="0"/>
                <a:cs typeface="Times New Roman" pitchFamily="18" charset="0"/>
              </a:rPr>
              <a:t> view of time sees the maintenance of harmonious relationships as the important agenda, so that use of time needs to be flexible in order that we do right by the various people to whom we have obligations.</a:t>
            </a:r>
            <a:endParaRPr lang="zh-CN" altLang="zh-CN" sz="2800" dirty="0">
              <a:latin typeface="Times New Roman" pitchFamily="18" charset="0"/>
              <a:cs typeface="Times New Roman" pitchFamily="18" charset="0"/>
            </a:endParaRPr>
          </a:p>
        </p:txBody>
      </p:sp>
      <p:sp>
        <p:nvSpPr>
          <p:cNvPr id="2" name="TextBox 1"/>
          <p:cNvSpPr txBox="1"/>
          <p:nvPr/>
        </p:nvSpPr>
        <p:spPr>
          <a:xfrm>
            <a:off x="209405" y="153042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7.7.5.2.2 P-Time </a:t>
            </a:r>
            <a:r>
              <a:rPr lang="en-US" altLang="zh-CN" sz="3200" b="1" dirty="0">
                <a:highlight>
                  <a:srgbClr val="FFFF00"/>
                </a:highlight>
                <a:latin typeface="Times New Roman" pitchFamily="18" charset="0"/>
                <a:cs typeface="Times New Roman" pitchFamily="18" charset="0"/>
              </a:rPr>
              <a:t>P262-263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983714081"/>
      </p:ext>
    </p:ext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0" y="2329790"/>
            <a:ext cx="8984345" cy="4401205"/>
          </a:xfrm>
          <a:prstGeom prst="rect">
            <a:avLst/>
          </a:prstGeom>
          <a:noFill/>
        </p:spPr>
        <p:txBody>
          <a:bodyPr wrap="square" rtlCol="0">
            <a:spAutoFit/>
          </a:bodyPr>
          <a:lstStyle/>
          <a:p>
            <a:r>
              <a:rPr lang="en-US" altLang="zh-CN" sz="2800" dirty="0"/>
              <a:t>    </a:t>
            </a:r>
            <a:r>
              <a:rPr lang="en-US" altLang="zh-CN" sz="2800" dirty="0">
                <a:solidFill>
                  <a:srgbClr val="FF0000"/>
                </a:solidFill>
                <a:latin typeface="Times New Roman" pitchFamily="18" charset="0"/>
                <a:cs typeface="Times New Roman" pitchFamily="18" charset="0"/>
              </a:rPr>
              <a:t>These cultures are normally collective and deal with life holistically. </a:t>
            </a:r>
            <a:r>
              <a:rPr lang="en-US" altLang="zh-CN" sz="2800" dirty="0">
                <a:latin typeface="Times New Roman" pitchFamily="18" charset="0"/>
                <a:cs typeface="Times New Roman" pitchFamily="18" charset="0"/>
              </a:rPr>
              <a:t>For P-time cultures, time is </a:t>
            </a:r>
            <a:r>
              <a:rPr lang="en-US" altLang="zh-CN" sz="2800" dirty="0">
                <a:solidFill>
                  <a:srgbClr val="FF0000"/>
                </a:solidFill>
                <a:latin typeface="Times New Roman" pitchFamily="18" charset="0"/>
                <a:cs typeface="Times New Roman" pitchFamily="18" charset="0"/>
              </a:rPr>
              <a:t>less tangible</a:t>
            </a:r>
            <a:r>
              <a:rPr lang="en-US" altLang="zh-CN" sz="2800" dirty="0">
                <a:latin typeface="Times New Roman" pitchFamily="18" charset="0"/>
                <a:cs typeface="Times New Roman" pitchFamily="18" charset="0"/>
              </a:rPr>
              <a:t>, and people are usually not in a hurry to finish an assignment or chore. In addition, P-time participants can interact with more than one person or do more than one thing at a time. Because P-time has this characteristic of engaging in several activities at once, people of these cultures often find it easier to employ “</a:t>
            </a:r>
            <a:r>
              <a:rPr lang="it-IT" altLang="zh-CN" sz="2800" dirty="0">
                <a:solidFill>
                  <a:srgbClr val="FF0000"/>
                </a:solidFill>
                <a:latin typeface="Times New Roman" pitchFamily="18" charset="0"/>
                <a:cs typeface="Times New Roman" pitchFamily="18" charset="0"/>
              </a:rPr>
              <a:t>multitasking</a:t>
            </a:r>
            <a:r>
              <a:rPr lang="en-US" altLang="zh-CN" sz="2800" dirty="0">
                <a:latin typeface="Times New Roman" pitchFamily="18" charset="0"/>
                <a:cs typeface="Times New Roman" pitchFamily="18" charset="0"/>
              </a:rPr>
              <a:t>”. As Dresser notes, this trait explains why there is more interrupting in conversations carried on by people from Arabic, Asian, and Latin American cultures.</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5.2.2 P-Time </a:t>
            </a:r>
            <a:r>
              <a:rPr lang="en-US" altLang="zh-CN" sz="3200" b="1" dirty="0">
                <a:highlight>
                  <a:srgbClr val="FFFF00"/>
                </a:highlight>
                <a:latin typeface="Times New Roman" pitchFamily="18" charset="0"/>
                <a:cs typeface="Times New Roman" pitchFamily="18" charset="0"/>
              </a:rPr>
              <a:t>P263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2718249851"/>
      </p:ext>
    </p:extLst>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69" y="2939390"/>
            <a:ext cx="8984345" cy="2677656"/>
          </a:xfrm>
          <a:prstGeom prst="rect">
            <a:avLst/>
          </a:prstGeom>
          <a:noFill/>
        </p:spPr>
        <p:txBody>
          <a:bodyPr wrap="square" rtlCol="0">
            <a:spAutoFit/>
          </a:bodyPr>
          <a:lstStyle/>
          <a:p>
            <a:r>
              <a:rPr lang="en-US" altLang="zh-CN" sz="2800" dirty="0"/>
              <a:t>    </a:t>
            </a:r>
            <a:r>
              <a:rPr lang="en-US" altLang="zh-CN" sz="2800" dirty="0">
                <a:latin typeface="Times New Roman" pitchFamily="18" charset="0"/>
                <a:cs typeface="Times New Roman" pitchFamily="18" charset="0"/>
              </a:rPr>
              <a:t>Hall offers another instance of how the setting can determine which orientation a person utilizes: “</a:t>
            </a:r>
            <a:r>
              <a:rPr lang="en-US" altLang="zh-CN" sz="2800" dirty="0">
                <a:solidFill>
                  <a:srgbClr val="FF0000"/>
                </a:solidFill>
                <a:latin typeface="Times New Roman" pitchFamily="18" charset="0"/>
                <a:cs typeface="Times New Roman" pitchFamily="18" charset="0"/>
              </a:rPr>
              <a:t>The Japanese time system combines both M-time and P-time. </a:t>
            </a:r>
            <a:r>
              <a:rPr lang="en-US" altLang="zh-CN" sz="2800" dirty="0">
                <a:latin typeface="Times New Roman" pitchFamily="18" charset="0"/>
                <a:cs typeface="Times New Roman" pitchFamily="18" charset="0"/>
              </a:rPr>
              <a:t>In their dealings with foreigners and their use of technology, they are </a:t>
            </a:r>
            <a:r>
              <a:rPr lang="en-US" altLang="zh-CN" sz="2800" dirty="0" err="1">
                <a:latin typeface="Times New Roman" pitchFamily="18" charset="0"/>
                <a:cs typeface="Times New Roman" pitchFamily="18" charset="0"/>
              </a:rPr>
              <a:t>monochronic</a:t>
            </a:r>
            <a:r>
              <a:rPr lang="en-US" altLang="zh-CN" sz="2800" dirty="0">
                <a:latin typeface="Times New Roman" pitchFamily="18" charset="0"/>
                <a:cs typeface="Times New Roman" pitchFamily="18" charset="0"/>
              </a:rPr>
              <a:t>; in every other way, especially in interpersonal relationships, they are </a:t>
            </a:r>
            <a:r>
              <a:rPr lang="en-US" altLang="zh-CN" sz="2800" dirty="0" err="1">
                <a:latin typeface="Times New Roman" pitchFamily="18" charset="0"/>
                <a:cs typeface="Times New Roman" pitchFamily="18" charset="0"/>
              </a:rPr>
              <a:t>polychronic</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7.7.5.2 M-Time and P-Time </a:t>
            </a:r>
            <a:r>
              <a:rPr lang="en-US" altLang="zh-CN" sz="3200" b="1" dirty="0">
                <a:highlight>
                  <a:srgbClr val="FFFF00"/>
                </a:highlight>
                <a:latin typeface="Times New Roman" pitchFamily="18" charset="0"/>
                <a:cs typeface="Times New Roman" pitchFamily="18" charset="0"/>
              </a:rPr>
              <a:t>P263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053414788"/>
      </p:ext>
    </p:extLst>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69" y="2634590"/>
            <a:ext cx="8984345" cy="3539430"/>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Within the interpersonal setting, </a:t>
            </a:r>
            <a:r>
              <a:rPr lang="en-US" altLang="zh-CN" sz="2800" dirty="0">
                <a:solidFill>
                  <a:srgbClr val="FF0000"/>
                </a:solidFill>
                <a:latin typeface="Times New Roman" pitchFamily="18" charset="0"/>
                <a:cs typeface="Times New Roman" pitchFamily="18" charset="0"/>
              </a:rPr>
              <a:t>silence can provide </a:t>
            </a:r>
            <a:r>
              <a:rPr lang="en-US" altLang="zh-CN" sz="2800" dirty="0">
                <a:latin typeface="Times New Roman" pitchFamily="18" charset="0"/>
                <a:cs typeface="Times New Roman" pitchFamily="18" charset="0"/>
              </a:rPr>
              <a:t>an interval in an ongoing interaction during which the participants have time to think, check or suppress an emotion, encode a lengthy response, inaugurate another line of thought, call attention to certain words, express various emotions, or indicate thoughtfulness. </a:t>
            </a:r>
            <a:r>
              <a:rPr lang="en-US" altLang="zh-CN" sz="2800" dirty="0">
                <a:solidFill>
                  <a:srgbClr val="FF0000"/>
                </a:solidFill>
                <a:latin typeface="Times New Roman" pitchFamily="18" charset="0"/>
                <a:cs typeface="Times New Roman" pitchFamily="18" charset="0"/>
              </a:rPr>
              <a:t>Silence also provides </a:t>
            </a:r>
            <a:r>
              <a:rPr lang="en-US" altLang="zh-CN" sz="2800" dirty="0">
                <a:latin typeface="Times New Roman" pitchFamily="18" charset="0"/>
                <a:cs typeface="Times New Roman" pitchFamily="18" charset="0"/>
              </a:rPr>
              <a:t>feedback, informing both sender and receiver about the clarity of an idea or its significance in the overall interpersonal exchange.</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7.7.6 Silence </a:t>
            </a:r>
            <a:r>
              <a:rPr lang="en-US" altLang="zh-CN" sz="3200" b="1" dirty="0">
                <a:highlight>
                  <a:srgbClr val="FFFF00"/>
                </a:highlight>
                <a:latin typeface="Times New Roman" pitchFamily="18" charset="0"/>
                <a:cs typeface="Times New Roman" pitchFamily="18" charset="0"/>
              </a:rPr>
              <a:t>P263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3160258596"/>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72569" y="2794247"/>
            <a:ext cx="8984345" cy="2677656"/>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In most Western cultures</a:t>
            </a:r>
            <a:r>
              <a:rPr lang="en-US" altLang="zh-CN" sz="2800" dirty="0">
                <a:latin typeface="Times New Roman" pitchFamily="18" charset="0"/>
                <a:cs typeface="Times New Roman" pitchFamily="18" charset="0"/>
              </a:rPr>
              <a:t>, talk is highly valued, and as such, </a:t>
            </a:r>
            <a:r>
              <a:rPr lang="en-US" altLang="zh-CN" sz="2800" dirty="0">
                <a:solidFill>
                  <a:srgbClr val="FF0000"/>
                </a:solidFill>
                <a:latin typeface="Times New Roman" pitchFamily="18" charset="0"/>
                <a:cs typeface="Times New Roman" pitchFamily="18" charset="0"/>
              </a:rPr>
              <a:t>it is often difficult to determine the meaning behind someone’s silence</a:t>
            </a:r>
            <a:r>
              <a:rPr lang="en-US" altLang="zh-CN" sz="2800" dirty="0">
                <a:latin typeface="Times New Roman" pitchFamily="18" charset="0"/>
                <a:cs typeface="Times New Roman" pitchFamily="18" charset="0"/>
              </a:rPr>
              <a:t>. It can be interpreted as an indication of agreement, anger, lack of interest, injured feelings, shyness, a means of showing respect, contempt, or even a way concealing the truth. </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7.7.6 Silence </a:t>
            </a:r>
            <a:r>
              <a:rPr lang="en-US" altLang="zh-CN" sz="3200" b="1" dirty="0">
                <a:highlight>
                  <a:srgbClr val="FFFF00"/>
                </a:highlight>
                <a:latin typeface="Times New Roman" pitchFamily="18" charset="0"/>
                <a:cs typeface="Times New Roman" pitchFamily="18" charset="0"/>
              </a:rPr>
              <a:t>P263</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975068544"/>
      </p:ext>
    </p:extLst>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59655" y="2286247"/>
            <a:ext cx="8984345" cy="4401205"/>
          </a:xfrm>
          <a:prstGeom prst="rect">
            <a:avLst/>
          </a:prstGeom>
          <a:noFill/>
        </p:spPr>
        <p:txBody>
          <a:bodyPr wrap="square" rtlCol="0">
            <a:spAutoFit/>
          </a:bodyPr>
          <a:lstStyle/>
          <a:p>
            <a:r>
              <a:rPr lang="en-US" altLang="zh-CN" sz="2800" dirty="0">
                <a:latin typeface="Times New Roman" pitchFamily="18" charset="0"/>
                <a:cs typeface="Times New Roman" pitchFamily="18" charset="0"/>
              </a:rPr>
              <a:t>    In the Eastern tradition, the view of silence is much different from the Western view. Buddhists feel comfortable with the absence of noise or talk and actually believe that words can contaminate an experience. They maintain that inner peace and wisdom come only through silence. Silence is also used by many Asian people as a means of avoiding conflict. A typical practice among many Asian people is to refuse to speak any further in conversation if they cannot personally accept the speaker’s attitude, opinion, or way of thinking about particular issues or subjects.</a:t>
            </a:r>
            <a:endParaRPr lang="zh-CN" altLang="zh-CN" sz="28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7.7.6 Silence </a:t>
            </a:r>
            <a:r>
              <a:rPr lang="en-US" altLang="zh-CN" sz="3200" b="1" dirty="0">
                <a:highlight>
                  <a:srgbClr val="FFFF00"/>
                </a:highlight>
                <a:latin typeface="Times New Roman" pitchFamily="18" charset="0"/>
                <a:cs typeface="Times New Roman" pitchFamily="18" charset="0"/>
              </a:rPr>
              <a:t>P265</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471238634"/>
      </p:ext>
    </p:ext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5139" y="2257615"/>
            <a:ext cx="8984345" cy="4585871"/>
          </a:xfrm>
          <a:prstGeom prst="rect">
            <a:avLst/>
          </a:prstGeom>
          <a:noFill/>
        </p:spPr>
        <p:txBody>
          <a:bodyPr wrap="square" rtlCol="0">
            <a:spAutoFit/>
          </a:bodyPr>
          <a:lstStyle/>
          <a:p>
            <a:r>
              <a:rPr lang="en-US" altLang="zh-CN" sz="2800" dirty="0"/>
              <a:t>    </a:t>
            </a:r>
            <a:r>
              <a:rPr lang="en-US" altLang="zh-CN" sz="2400" dirty="0">
                <a:solidFill>
                  <a:srgbClr val="FF0000"/>
                </a:solidFill>
                <a:latin typeface="Times New Roman" pitchFamily="18" charset="0"/>
                <a:cs typeface="Times New Roman" pitchFamily="18" charset="0"/>
              </a:rPr>
              <a:t>Some co-cultures in the United States also use silence differently than does the dominant culture. </a:t>
            </a:r>
            <a:r>
              <a:rPr lang="en-US" altLang="zh-CN" sz="2400" dirty="0">
                <a:latin typeface="Times New Roman" pitchFamily="18" charset="0"/>
                <a:cs typeface="Times New Roman" pitchFamily="18" charset="0"/>
              </a:rPr>
              <a:t>A good example is </a:t>
            </a:r>
            <a:r>
              <a:rPr lang="en-US" altLang="zh-CN" sz="2400" dirty="0">
                <a:solidFill>
                  <a:srgbClr val="FF0000"/>
                </a:solidFill>
                <a:latin typeface="Times New Roman" pitchFamily="18" charset="0"/>
                <a:cs typeface="Times New Roman" pitchFamily="18" charset="0"/>
              </a:rPr>
              <a:t>American Indians</a:t>
            </a:r>
            <a:r>
              <a:rPr lang="en-US" altLang="zh-CN" sz="2400" dirty="0">
                <a:latin typeface="Times New Roman" pitchFamily="18" charset="0"/>
                <a:cs typeface="Times New Roman" pitchFamily="18" charset="0"/>
              </a:rPr>
              <a:t>. Silence for them is a major value. It can be a sign of acceptance or a manifestation of group harmony or used as a marker for a person of great wisdom or as a means of showing respect to persons of authority and age. In fact, for American Indians, the tendency to respond too quickly when asked a question is considered immature, as it indicates that the person did not have the insight to use a period of silence to think about their response. The lack of speaking can create intercultural communication difficulties.</a:t>
            </a:r>
            <a:r>
              <a:rPr lang="en-US" altLang="zh-CN" sz="2400" dirty="0"/>
              <a:t> </a:t>
            </a:r>
            <a:r>
              <a:rPr lang="en-US" altLang="zh-CN" sz="2400" dirty="0">
                <a:latin typeface="Times New Roman" pitchFamily="18" charset="0"/>
                <a:cs typeface="Times New Roman" pitchFamily="18" charset="0"/>
              </a:rPr>
              <a:t>Plank points out that these difficulties are often seen during employment interviews, in doctor-patient relationships, and in the classroom. </a:t>
            </a:r>
            <a:endParaRPr lang="zh-CN" altLang="zh-CN" sz="2400" dirty="0">
              <a:latin typeface="Times New Roman" pitchFamily="18" charset="0"/>
              <a:cs typeface="Times New Roman" pitchFamily="18" charset="0"/>
            </a:endParaRPr>
          </a:p>
        </p:txBody>
      </p:sp>
      <p:sp>
        <p:nvSpPr>
          <p:cNvPr id="2" name="TextBox 1"/>
          <p:cNvSpPr txBox="1"/>
          <p:nvPr/>
        </p:nvSpPr>
        <p:spPr>
          <a:xfrm>
            <a:off x="72569" y="1509483"/>
            <a:ext cx="9840685"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7.7.6 Silence </a:t>
            </a:r>
            <a:r>
              <a:rPr lang="en-US" altLang="zh-CN" sz="3200" b="1" dirty="0">
                <a:highlight>
                  <a:srgbClr val="FFFF00"/>
                </a:highlight>
                <a:latin typeface="Times New Roman" pitchFamily="18" charset="0"/>
                <a:cs typeface="Times New Roman" pitchFamily="18" charset="0"/>
              </a:rPr>
              <a:t>P265</a:t>
            </a:r>
            <a:endParaRPr lang="zh-CN" altLang="zh-CN" sz="3200" b="1" dirty="0">
              <a:highlight>
                <a:srgbClr val="FFFF00"/>
              </a:highlight>
              <a:latin typeface="Times New Roman" pitchFamily="18" charset="0"/>
              <a:cs typeface="Times New Roman" pitchFamily="18" charset="0"/>
            </a:endParaRPr>
          </a:p>
        </p:txBody>
      </p:sp>
    </p:spTree>
    <p:extLst>
      <p:ext uri="{BB962C8B-B14F-4D97-AF65-F5344CB8AC3E}">
        <p14:creationId xmlns:p14="http://schemas.microsoft.com/office/powerpoint/2010/main" val="142215734"/>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0" y="2844799"/>
            <a:ext cx="9173030" cy="2316019"/>
          </a:xfrm>
          <a:prstGeom prst="rect">
            <a:avLst/>
          </a:prstGeom>
          <a:noFill/>
        </p:spPr>
        <p:txBody>
          <a:bodyPr wrap="square" rtlCol="0">
            <a:spAutoFit/>
          </a:bodyPr>
          <a:lstStyle/>
          <a:p>
            <a:pPr marL="514350" indent="-514350">
              <a:buAutoNum type="arabicPeriod"/>
            </a:pPr>
            <a:r>
              <a:rPr lang="en-US" altLang="zh-CN" sz="2800" dirty="0">
                <a:solidFill>
                  <a:srgbClr val="FF0000"/>
                </a:solidFill>
                <a:latin typeface="Times New Roman" pitchFamily="18" charset="0"/>
                <a:cs typeface="Times New Roman" pitchFamily="18" charset="0"/>
              </a:rPr>
              <a:t>Your interpretations should be tentative. </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Nonverbal messages are subject to a great deal of ambiguity. This potential for ambiguity can be partially minimized by making your conclusions tentative.</a:t>
            </a:r>
            <a:endParaRPr lang="zh-CN" altLang="zh-CN" sz="2800" dirty="0">
              <a:latin typeface="Times New Roman" pitchFamily="18" charset="0"/>
              <a:cs typeface="Times New Roman" pitchFamily="18" charset="0"/>
            </a:endParaRPr>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43542" y="1511067"/>
            <a:ext cx="9811657" cy="1077218"/>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7.8 Developing Nonverbal Communication Competency</a:t>
            </a:r>
            <a:endParaRPr lang="zh-CN" altLang="en-US" sz="3200" b="1" dirty="0"/>
          </a:p>
        </p:txBody>
      </p:sp>
    </p:spTree>
    <p:extLst>
      <p:ext uri="{BB962C8B-B14F-4D97-AF65-F5344CB8AC3E}">
        <p14:creationId xmlns:p14="http://schemas.microsoft.com/office/powerpoint/2010/main" val="3800468538"/>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45140" y="2355881"/>
            <a:ext cx="8897257" cy="4429546"/>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2. Be conscious of the context. </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When trying to improve nonverbal communication skills, you need to understand how each situation might influence the meaning given to a specific action.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Culturally, you can also observe vast differences in how people respond nonverbally when thrust into an unfamiliar environment. When trying to improve your ability to read nonverbal behaviors, ask yourself if the observed actions are appropriate for the setting.</a:t>
            </a:r>
            <a:endParaRPr lang="zh-CN" altLang="zh-CN" sz="2800" dirty="0">
              <a:latin typeface="Times New Roman" pitchFamily="18" charset="0"/>
              <a:cs typeface="Times New Roman" pitchFamily="18" charset="0"/>
            </a:endParaRPr>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984636741"/>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737820"/>
            <a:ext cx="8897257" cy="2677656"/>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3. Utilize feedback</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Utilizing feedback means being aware of the interactive nature of communication; that is, the recipients of your messages are not passive observers. They receive your verbal and nonverbal symbols and respond in a variety of ways. </a:t>
            </a:r>
            <a:endParaRPr lang="zh-CN" altLang="en-US"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1003655022"/>
      </p:ext>
    </p:ext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29028" y="2297822"/>
            <a:ext cx="9144000" cy="4901342"/>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3. Utilize feedback</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The suggestion </a:t>
            </a:r>
            <a:r>
              <a:rPr lang="en-US" altLang="zh-CN" sz="2800" dirty="0">
                <a:latin typeface="Times New Roman" pitchFamily="18" charset="0"/>
                <a:cs typeface="Times New Roman" pitchFamily="18" charset="0"/>
              </a:rPr>
              <a:t>is that you </a:t>
            </a:r>
            <a:r>
              <a:rPr lang="en-US" altLang="zh-CN" sz="2800" dirty="0">
                <a:solidFill>
                  <a:srgbClr val="FF0000"/>
                </a:solidFill>
                <a:latin typeface="Times New Roman" pitchFamily="18" charset="0"/>
                <a:cs typeface="Times New Roman" pitchFamily="18" charset="0"/>
              </a:rPr>
              <a:t>encourage feedback </a:t>
            </a:r>
            <a:r>
              <a:rPr lang="en-US" altLang="zh-CN" sz="2800" dirty="0">
                <a:latin typeface="Times New Roman" pitchFamily="18" charset="0"/>
                <a:cs typeface="Times New Roman" pitchFamily="18" charset="0"/>
              </a:rPr>
              <a:t>as a way of improving the accuracy of your perceptions of the communication encounter. Utilizing both verbal and nonverbal feedback devices allows you to make qualitative judgments about the communication encounter. Feedback also affords you the opportunity to immediately correct and adjust your next message. When appropriate, it even means that you can ask questions of your communication partners so that you can better understand the nonverbal messages they are sending.</a:t>
            </a:r>
            <a:endParaRPr lang="zh-CN" altLang="zh-CN" sz="2800" dirty="0">
              <a:latin typeface="Times New Roman" pitchFamily="18" charset="0"/>
              <a:cs typeface="Times New Roman" pitchFamily="18" charset="0"/>
            </a:endParaRPr>
          </a:p>
          <a:p>
            <a:pPr>
              <a:lnSpc>
                <a:spcPts val="3900"/>
              </a:lnSpc>
            </a:pPr>
            <a:endParaRPr lang="zh-CN" altLang="en-US"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4224742694"/>
      </p:ext>
    </p:extLst>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5" y="2326031"/>
            <a:ext cx="8911771" cy="4401205"/>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3. Utilize feedback</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Because feedback is critical, you need to create an atmosphere that encourages it. Communication skills that promote feedback include smiling, head nodding, leaning forward, and even laughing. Although the nonverbal actions just mentioned are found in Western cultures, they often produce positive reactions in other cultures as well. Each of these nonverbal activities contributes to a relaxed atmosphere that fosters an accurate reading of your receivers’ nonverbal response to your messages.</a:t>
            </a:r>
            <a:endParaRPr lang="zh-CN" altLang="en-US"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368022172"/>
      </p:ext>
    </p:extLst>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384091"/>
            <a:ext cx="8911771" cy="3970318"/>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4. Know your culture</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That you need to know your own culture should be obvious, as at this stage, you have learned that perceptions of how you and other people use nonverbal communication is colored by culture. A certain degree of introspection about your own culture is an important step in improving nonverbal behavior. A cultural accounting can provide you with important insights regarding how you might be presenting yourself and judging other people.</a:t>
            </a:r>
            <a:endParaRPr lang="zh-CN" altLang="zh-CN"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1077678719"/>
      </p:ext>
    </p:ext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514720"/>
            <a:ext cx="8911771" cy="3539430"/>
          </a:xfrm>
          <a:prstGeom prst="rect">
            <a:avLst/>
          </a:prstGeom>
          <a:noFill/>
        </p:spPr>
        <p:txBody>
          <a:bodyPr wrap="square" rtlCol="0">
            <a:spAutoFit/>
          </a:bodyPr>
          <a:lstStyle/>
          <a:p>
            <a:r>
              <a:rPr lang="en-US" altLang="zh-CN" sz="2800" dirty="0">
                <a:solidFill>
                  <a:srgbClr val="FF0000"/>
                </a:solidFill>
                <a:latin typeface="Times New Roman" pitchFamily="18" charset="0"/>
                <a:cs typeface="Times New Roman" pitchFamily="18" charset="0"/>
              </a:rPr>
              <a:t>5. Monitor your nonverbal actions</a:t>
            </a:r>
            <a:endParaRPr lang="zh-CN" altLang="zh-CN" sz="2800" dirty="0">
              <a:solidFill>
                <a:srgbClr val="FF0000"/>
              </a:solidFill>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r>
              <a:rPr lang="en-US" altLang="zh-CN" sz="2800" dirty="0">
                <a:solidFill>
                  <a:srgbClr val="FF0000"/>
                </a:solidFill>
                <a:latin typeface="Times New Roman" pitchFamily="18" charset="0"/>
                <a:cs typeface="Times New Roman" pitchFamily="18" charset="0"/>
              </a:rPr>
              <a:t>To understand others, you need to monitor your actions in order to better understand the experiences of others. </a:t>
            </a:r>
            <a:r>
              <a:rPr lang="en-US" altLang="zh-CN" sz="2800" dirty="0">
                <a:latin typeface="Times New Roman" pitchFamily="18" charset="0"/>
                <a:cs typeface="Times New Roman" pitchFamily="18" charset="0"/>
              </a:rPr>
              <a:t>By knowing how you present yourself, you can gain insight into how people are reacting to the messages you are sending. You can consider some of the following questions that will help you understand the responses displayed by your intercultural communication partner: </a:t>
            </a:r>
            <a:endParaRPr lang="zh-CN" altLang="zh-CN"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2094768169"/>
      </p:ext>
    </p:ext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116114" y="2630832"/>
            <a:ext cx="8911771" cy="3477875"/>
          </a:xfrm>
          <a:prstGeom prst="rect">
            <a:avLst/>
          </a:prstGeom>
          <a:noFill/>
        </p:spPr>
        <p:txBody>
          <a:bodyPr wrap="square" rtlCol="0">
            <a:spAutoFit/>
          </a:bodyPr>
          <a:lstStyle/>
          <a:p>
            <a:pPr marL="457200" indent="-457200">
              <a:buFont typeface="Arial" pitchFamily="34" charset="0"/>
              <a:buChar char="•"/>
            </a:pPr>
            <a:r>
              <a:rPr lang="en-US" altLang="zh-CN" sz="2400" dirty="0">
                <a:latin typeface="Times New Roman" pitchFamily="18" charset="0"/>
                <a:cs typeface="Times New Roman" pitchFamily="18" charset="0"/>
              </a:rPr>
              <a:t>Is my behavior making people feel comfortable or uncomfortable? Am I smiling or glaring at the other person? Am I standing so close that I am making him or her feel uncomfortable? Does my body appear relaxed, or do I appear stiff and nervous?</a:t>
            </a:r>
            <a:endParaRPr lang="zh-CN" altLang="zh-CN" sz="2400" dirty="0">
              <a:latin typeface="Times New Roman" pitchFamily="18" charset="0"/>
              <a:cs typeface="Times New Roman" pitchFamily="18" charset="0"/>
            </a:endParaRPr>
          </a:p>
          <a:p>
            <a:pPr marL="457200" indent="-457200">
              <a:buFont typeface="Arial" pitchFamily="34" charset="0"/>
              <a:buChar char="•"/>
            </a:pPr>
            <a:r>
              <a:rPr lang="en-US" altLang="zh-CN" sz="2400" dirty="0">
                <a:latin typeface="Times New Roman" pitchFamily="18" charset="0"/>
                <a:cs typeface="Times New Roman" pitchFamily="18" charset="0"/>
              </a:rPr>
              <a:t>Am I adjusting my nonverbal messages to the feedback I am receiving from my communication partner? Does it appear that I am talking at such a rapid pace that I am confusing him or her? Am I pausing often enough to allow the other person to talk?</a:t>
            </a:r>
            <a:endParaRPr lang="zh-CN" altLang="zh-CN" sz="2400" dirty="0">
              <a:latin typeface="Times New Roman" pitchFamily="18" charset="0"/>
              <a:cs typeface="Times New Roman" pitchFamily="18" charset="0"/>
            </a:endParaRPr>
          </a:p>
          <a:p>
            <a:endParaRPr lang="zh-CN" altLang="zh-CN"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537622324"/>
      </p:ext>
    </p:extLst>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5" name="TextBox 4"/>
          <p:cNvSpPr txBox="1"/>
          <p:nvPr/>
        </p:nvSpPr>
        <p:spPr>
          <a:xfrm>
            <a:off x="0" y="2364998"/>
            <a:ext cx="9260114" cy="4585871"/>
          </a:xfrm>
          <a:prstGeom prst="rect">
            <a:avLst/>
          </a:prstGeom>
          <a:noFill/>
        </p:spPr>
        <p:txBody>
          <a:bodyPr wrap="square" rtlCol="0">
            <a:spAutoFit/>
          </a:bodyPr>
          <a:lstStyle/>
          <a:p>
            <a:pPr marL="457200" indent="-457200">
              <a:buFont typeface="Arial" pitchFamily="34" charset="0"/>
              <a:buChar char="•"/>
            </a:pPr>
            <a:r>
              <a:rPr lang="en-US" altLang="zh-CN" sz="2400" dirty="0">
                <a:latin typeface="Times New Roman" pitchFamily="18" charset="0"/>
                <a:cs typeface="Times New Roman" pitchFamily="18" charset="0"/>
              </a:rPr>
              <a:t>If my messages are being misinterpreted, is it because my unintentional messages, rather than my intentional messages, are confusing my communication partner?</a:t>
            </a:r>
            <a:endParaRPr lang="zh-CN" altLang="zh-CN" sz="2400" dirty="0">
              <a:latin typeface="Times New Roman" pitchFamily="18" charset="0"/>
              <a:cs typeface="Times New Roman" pitchFamily="18" charset="0"/>
            </a:endParaRPr>
          </a:p>
          <a:p>
            <a:pPr marL="457200" indent="-457200">
              <a:buFont typeface="Arial" pitchFamily="34" charset="0"/>
              <a:buChar char="•"/>
            </a:pPr>
            <a:r>
              <a:rPr lang="en-US" altLang="zh-CN" sz="2400" dirty="0">
                <a:latin typeface="Times New Roman" pitchFamily="18" charset="0"/>
                <a:cs typeface="Times New Roman" pitchFamily="18" charset="0"/>
              </a:rPr>
              <a:t> Am I positioning my body as if I want to end the conversation and move on to someone or something else? Am I standing such that I appear to be seeking a power position? Am I observing and respecting cultural rules as they apply to the use of space?</a:t>
            </a:r>
            <a:endParaRPr lang="zh-CN" altLang="zh-CN" sz="2400" dirty="0">
              <a:latin typeface="Times New Roman" pitchFamily="18" charset="0"/>
              <a:cs typeface="Times New Roman" pitchFamily="18" charset="0"/>
            </a:endParaRPr>
          </a:p>
          <a:p>
            <a:pPr marL="457200" indent="-457200">
              <a:buFont typeface="Arial" pitchFamily="34" charset="0"/>
              <a:buChar char="•"/>
            </a:pPr>
            <a:r>
              <a:rPr lang="en-US" altLang="zh-CN" sz="2400" dirty="0">
                <a:latin typeface="Times New Roman" pitchFamily="18" charset="0"/>
                <a:cs typeface="Times New Roman" pitchFamily="18" charset="0"/>
              </a:rPr>
              <a:t> Am I engaging in touching behavior that is inappropriate because of gender or cultural reasons?</a:t>
            </a:r>
            <a:endParaRPr lang="zh-CN" altLang="zh-CN" sz="2400" dirty="0">
              <a:latin typeface="Times New Roman" pitchFamily="18" charset="0"/>
              <a:cs typeface="Times New Roman" pitchFamily="18" charset="0"/>
            </a:endParaRPr>
          </a:p>
          <a:p>
            <a:pPr marL="457200" indent="-457200">
              <a:buFont typeface="Arial" pitchFamily="34" charset="0"/>
              <a:buChar char="•"/>
            </a:pPr>
            <a:r>
              <a:rPr lang="en-US" altLang="zh-CN" sz="2400" dirty="0">
                <a:latin typeface="Times New Roman" pitchFamily="18" charset="0"/>
                <a:cs typeface="Times New Roman" pitchFamily="18" charset="0"/>
              </a:rPr>
              <a:t> Am I yielding to physical distractions in the setting instead of focusing on the other person?</a:t>
            </a:r>
            <a:endParaRPr lang="zh-CN" altLang="zh-CN" sz="2400" dirty="0">
              <a:latin typeface="Times New Roman" pitchFamily="18" charset="0"/>
              <a:cs typeface="Times New Roman" pitchFamily="18" charset="0"/>
            </a:endParaRPr>
          </a:p>
          <a:p>
            <a:endParaRPr lang="zh-CN" altLang="zh-CN" sz="2800" dirty="0">
              <a:latin typeface="Times New Roman" pitchFamily="18" charset="0"/>
              <a:cs typeface="Times New Roman" pitchFamily="18" charset="0"/>
            </a:endParaRPr>
          </a:p>
        </p:txBody>
      </p:sp>
      <p:sp>
        <p:nvSpPr>
          <p:cNvPr id="2" name="TextBox 1"/>
          <p:cNvSpPr txBox="1"/>
          <p:nvPr/>
        </p:nvSpPr>
        <p:spPr>
          <a:xfrm>
            <a:off x="-43542" y="1511067"/>
            <a:ext cx="9811657" cy="584775"/>
          </a:xfrm>
          <a:prstGeom prst="rect">
            <a:avLst/>
          </a:prstGeom>
          <a:noFill/>
        </p:spPr>
        <p:txBody>
          <a:bodyPr wrap="square" rtlCol="0">
            <a:spAutoFit/>
          </a:bodyPr>
          <a:lstStyle/>
          <a:p>
            <a:r>
              <a:rPr lang="en-US" altLang="zh-CN" sz="3200" b="1" dirty="0">
                <a:latin typeface="Times New Roman" pitchFamily="18" charset="0"/>
                <a:cs typeface="Times New Roman" pitchFamily="18" charset="0"/>
              </a:rPr>
              <a:t>Developing Nonverbal Communication Competency</a:t>
            </a:r>
            <a:endParaRPr lang="zh-CN" altLang="en-US" sz="3200" b="1" dirty="0"/>
          </a:p>
        </p:txBody>
      </p:sp>
    </p:spTree>
    <p:extLst>
      <p:ext uri="{BB962C8B-B14F-4D97-AF65-F5344CB8AC3E}">
        <p14:creationId xmlns:p14="http://schemas.microsoft.com/office/powerpoint/2010/main" val="4008667048"/>
      </p:ext>
    </p:extLst>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626" y="3687417"/>
            <a:ext cx="8229600" cy="4525963"/>
          </a:xfrm>
        </p:spPr>
        <p:txBody>
          <a:bodyPr/>
          <a:lstStyle/>
          <a:p>
            <a:pPr marL="0" indent="0" algn="ctr">
              <a:spcBef>
                <a:spcPct val="0"/>
              </a:spcBef>
              <a:buNone/>
            </a:pPr>
            <a:r>
              <a:rPr lang="en-US" altLang="zh-CN" sz="5400" dirty="0">
                <a:solidFill>
                  <a:schemeClr val="tx2"/>
                </a:solidFill>
                <a:latin typeface="Times New Roman" panose="02020603050405020304" pitchFamily="18" charset="0"/>
                <a:ea typeface="+mj-ea"/>
                <a:cs typeface="Times New Roman" panose="02020603050405020304" pitchFamily="18" charset="0"/>
              </a:rPr>
              <a:t>Thanks for watching</a:t>
            </a:r>
            <a:endParaRPr lang="zh-CN" altLang="en-US" sz="5400"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04530736"/>
      </p:ext>
    </p:extLst>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自定义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0000"/>
      </a:hlink>
      <a:folHlink>
        <a:srgbClr val="0070C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1674</TotalTime>
  <Words>7367</Words>
  <Application>Microsoft Office PowerPoint</Application>
  <PresentationFormat>全屏显示(4:3)</PresentationFormat>
  <Paragraphs>336</Paragraphs>
  <Slides>90</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90</vt:i4>
      </vt:variant>
    </vt:vector>
  </HeadingPairs>
  <TitlesOfParts>
    <vt:vector size="97" baseType="lpstr">
      <vt:lpstr>等线</vt:lpstr>
      <vt:lpstr>庞门正道标题体</vt:lpstr>
      <vt:lpstr>微软雅黑</vt:lpstr>
      <vt:lpstr>Arial</vt:lpstr>
      <vt:lpstr>Times New Roman</vt:lpstr>
      <vt:lpstr>默认设计模板</vt:lpstr>
      <vt:lpstr>1_默认设计模板</vt:lpstr>
      <vt:lpstr>Chapter 7  Nonverbal Communication:  The Messages of Action, Space, Time, and Silence</vt:lpstr>
      <vt:lpstr>Video Watching  Importance of Nonverbal Communication  </vt:lpstr>
      <vt:lpstr> </vt:lpstr>
      <vt:lpstr> </vt:lpstr>
      <vt:lpstr> </vt:lpstr>
      <vt:lpstr> </vt:lpstr>
      <vt:lpstr> </vt:lpstr>
      <vt:lpstr> </vt:lpstr>
      <vt:lpstr> </vt:lpstr>
      <vt:lpstr> </vt:lpstr>
      <vt:lpstr> </vt:lpstr>
      <vt:lpstr> </vt:lpstr>
      <vt:lpstr> </vt:lpstr>
      <vt:lpstr> </vt:lpstr>
      <vt:lpstr> </vt:lpstr>
      <vt:lpstr> 7.5 Studying Nonverbal Communication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三角形</dc:title>
  <dc:creator>第一PPT</dc:creator>
  <cp:keywords>三角形</cp:keywords>
  <cp:lastModifiedBy>Kong Hillary</cp:lastModifiedBy>
  <cp:revision>179</cp:revision>
  <dcterms:created xsi:type="dcterms:W3CDTF">2020-05-16T17:38:09Z</dcterms:created>
  <dcterms:modified xsi:type="dcterms:W3CDTF">2022-04-27T03:37:56Z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2052-2.2.0.3563</vt:lpwstr>
  </property>
</Properties>
</file>