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4" r:id="rId1"/>
  </p:sldMasterIdLst>
  <p:notesMasterIdLst>
    <p:notesMasterId r:id="rId85"/>
  </p:notesMasterIdLst>
  <p:sldIdLst>
    <p:sldId id="11524" r:id="rId2"/>
    <p:sldId id="11525" r:id="rId3"/>
    <p:sldId id="11529" r:id="rId4"/>
    <p:sldId id="11535" r:id="rId5"/>
    <p:sldId id="11542" r:id="rId6"/>
    <p:sldId id="11540" r:id="rId7"/>
    <p:sldId id="11541" r:id="rId8"/>
    <p:sldId id="11544" r:id="rId9"/>
    <p:sldId id="11530" r:id="rId10"/>
    <p:sldId id="11547" r:id="rId11"/>
    <p:sldId id="11537" r:id="rId12"/>
    <p:sldId id="11545" r:id="rId13"/>
    <p:sldId id="11548" r:id="rId14"/>
    <p:sldId id="11550" r:id="rId15"/>
    <p:sldId id="11551" r:id="rId16"/>
    <p:sldId id="11549" r:id="rId17"/>
    <p:sldId id="11552" r:id="rId18"/>
    <p:sldId id="11553" r:id="rId19"/>
    <p:sldId id="11531" r:id="rId20"/>
    <p:sldId id="11538" r:id="rId21"/>
    <p:sldId id="11556" r:id="rId22"/>
    <p:sldId id="11606" r:id="rId23"/>
    <p:sldId id="11557" r:id="rId24"/>
    <p:sldId id="11554" r:id="rId25"/>
    <p:sldId id="11559" r:id="rId26"/>
    <p:sldId id="11567" r:id="rId27"/>
    <p:sldId id="11560" r:id="rId28"/>
    <p:sldId id="11568" r:id="rId29"/>
    <p:sldId id="11561" r:id="rId30"/>
    <p:sldId id="11569" r:id="rId31"/>
    <p:sldId id="11562" r:id="rId32"/>
    <p:sldId id="11570" r:id="rId33"/>
    <p:sldId id="11565" r:id="rId34"/>
    <p:sldId id="11566" r:id="rId35"/>
    <p:sldId id="11558" r:id="rId36"/>
    <p:sldId id="11555" r:id="rId37"/>
    <p:sldId id="11572" r:id="rId38"/>
    <p:sldId id="11577" r:id="rId39"/>
    <p:sldId id="11578" r:id="rId40"/>
    <p:sldId id="11573" r:id="rId41"/>
    <p:sldId id="11579" r:id="rId42"/>
    <p:sldId id="11574" r:id="rId43"/>
    <p:sldId id="11580" r:id="rId44"/>
    <p:sldId id="11546" r:id="rId45"/>
    <p:sldId id="11610" r:id="rId46"/>
    <p:sldId id="11586" r:id="rId47"/>
    <p:sldId id="11581" r:id="rId48"/>
    <p:sldId id="11582" r:id="rId49"/>
    <p:sldId id="11583" r:id="rId50"/>
    <p:sldId id="11584" r:id="rId51"/>
    <p:sldId id="11587" r:id="rId52"/>
    <p:sldId id="11588" r:id="rId53"/>
    <p:sldId id="11589" r:id="rId54"/>
    <p:sldId id="11607" r:id="rId55"/>
    <p:sldId id="11609" r:id="rId56"/>
    <p:sldId id="11575" r:id="rId57"/>
    <p:sldId id="11608" r:id="rId58"/>
    <p:sldId id="11576" r:id="rId59"/>
    <p:sldId id="11611" r:id="rId60"/>
    <p:sldId id="11612" r:id="rId61"/>
    <p:sldId id="11532" r:id="rId62"/>
    <p:sldId id="11590" r:id="rId63"/>
    <p:sldId id="11591" r:id="rId64"/>
    <p:sldId id="11592" r:id="rId65"/>
    <p:sldId id="11613" r:id="rId66"/>
    <p:sldId id="11539" r:id="rId67"/>
    <p:sldId id="11593" r:id="rId68"/>
    <p:sldId id="11521" r:id="rId69"/>
    <p:sldId id="11522" r:id="rId70"/>
    <p:sldId id="11523" r:id="rId71"/>
    <p:sldId id="11594" r:id="rId72"/>
    <p:sldId id="11595" r:id="rId73"/>
    <p:sldId id="11596" r:id="rId74"/>
    <p:sldId id="11597" r:id="rId75"/>
    <p:sldId id="11598" r:id="rId76"/>
    <p:sldId id="11599" r:id="rId77"/>
    <p:sldId id="11600" r:id="rId78"/>
    <p:sldId id="11601" r:id="rId79"/>
    <p:sldId id="11602" r:id="rId80"/>
    <p:sldId id="11603" r:id="rId81"/>
    <p:sldId id="11605" r:id="rId82"/>
    <p:sldId id="11604" r:id="rId83"/>
    <p:sldId id="11520" r:id="rId84"/>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庞门正道标题体" charset="0"/>
        <a:ea typeface="庞门正道标题体" charset="0"/>
        <a:cs typeface="+mn-cs"/>
      </a:defRPr>
    </a:lvl1pPr>
    <a:lvl2pPr marL="457200" lvl="1"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2pPr>
    <a:lvl3pPr marL="914400" lvl="2"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3pPr>
    <a:lvl4pPr marL="1371600" lvl="3"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4pPr>
    <a:lvl5pPr marL="1828800" lvl="4"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5pPr>
    <a:lvl6pPr marL="2286000" lvl="5"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6pPr>
    <a:lvl7pPr marL="2743200" lvl="6"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7pPr>
    <a:lvl8pPr marL="3200400" lvl="7"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8pPr>
    <a:lvl9pPr marL="3657600" lvl="8" indent="0" algn="l" defTabSz="914400" rtl="0" eaLnBrk="1" fontAlgn="base" latinLnBrk="0" hangingPunct="1">
      <a:lnSpc>
        <a:spcPct val="100000"/>
      </a:lnSpc>
      <a:spcBef>
        <a:spcPct val="0"/>
      </a:spcBef>
      <a:spcAft>
        <a:spcPct val="0"/>
      </a:spcAft>
      <a:buNone/>
      <a:defRPr sz="1800" kern="1200">
        <a:solidFill>
          <a:schemeClr val="tx1"/>
        </a:solidFill>
        <a:latin typeface="庞门正道标题体" charset="0"/>
        <a:ea typeface="庞门正道标题体" charset="0"/>
        <a:cs typeface="+mn-cs"/>
      </a:defRPr>
    </a:lvl9pPr>
  </p:defaultTextStyle>
  <p:extLst>
    <p:ext uri="{EFAFB233-063F-42B5-8137-9DF3F51BA10A}">
      <p15:sldGuideLst xmlns:p15="http://schemas.microsoft.com/office/powerpoint/2012/main">
        <p15:guide id="1" orient="horz" pos="197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7979"/>
    <a:srgbClr val="44546A"/>
    <a:srgbClr val="FECC66"/>
    <a:srgbClr val="DD79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p:restoredTop sz="95317"/>
  </p:normalViewPr>
  <p:slideViewPr>
    <p:cSldViewPr snapToGrid="0" showGuides="1">
      <p:cViewPr varScale="1">
        <p:scale>
          <a:sx n="91" d="100"/>
          <a:sy n="91" d="100"/>
        </p:scale>
        <p:origin x="1128" y="64"/>
      </p:cViewPr>
      <p:guideLst>
        <p:guide orient="horz" pos="1978"/>
        <p:guide pos="2880"/>
      </p:guideLst>
    </p:cSldViewPr>
  </p:slideViewPr>
  <p:notesTextViewPr>
    <p:cViewPr>
      <p:scale>
        <a:sx n="1" d="1"/>
        <a:sy n="1" d="1"/>
      </p:scale>
      <p:origin x="0" y="0"/>
    </p:cViewPr>
  </p:notesTextViewPr>
  <p:sorterViewPr>
    <p:cViewPr>
      <p:scale>
        <a:sx n="139" d="100"/>
        <a:sy n="139" d="100"/>
      </p:scale>
      <p:origin x="0" y="0"/>
    </p:cViewPr>
  </p:sorterViewPr>
  <p:gridSpacing cx="72005" cy="720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auto"/>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auto"/>
            <a:fld id="{3FE26FED-0DD7-4A82-A311-86EEE75CA699}" type="datetimeFigureOut">
              <a:rPr lang="zh-CN" altLang="en-US" strike="noStrike" noProof="1" smtClean="0">
                <a:latin typeface="+mn-lt"/>
                <a:ea typeface="+mn-ea"/>
                <a:cs typeface="+mn-cs"/>
              </a:rPr>
              <a:t>2022/4/20</a:t>
            </a:fld>
            <a:endParaRPr lang="zh-CN" altLang="en-US" strike="noStrike" noProof="1"/>
          </a:p>
        </p:txBody>
      </p:sp>
      <p:sp>
        <p:nvSpPr>
          <p:cNvPr id="8196"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8197"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lstStyle/>
          <a:p>
            <a:pPr lvl="0"/>
            <a:r>
              <a:rPr lang="zh-CN" altLang="en-US"/>
              <a:t>单击此处编辑母版文本样式</a:t>
            </a:r>
          </a:p>
          <a:p>
            <a:pPr lvl="1" indent="0"/>
            <a:r>
              <a:rPr lang="zh-CN" altLang="en-US"/>
              <a:t>二级</a:t>
            </a:r>
          </a:p>
          <a:p>
            <a:pPr lvl="2" indent="0"/>
            <a:r>
              <a:rPr lang="zh-CN" altLang="en-US"/>
              <a:t>三级</a:t>
            </a:r>
          </a:p>
          <a:p>
            <a:pPr lvl="3" indent="0"/>
            <a:r>
              <a:rPr lang="zh-CN" altLang="en-US"/>
              <a:t>四级</a:t>
            </a:r>
          </a:p>
          <a:p>
            <a:pPr lvl="4" indent="0"/>
            <a:r>
              <a:rPr lang="zh-CN" altLang="en-US"/>
              <a:t>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auto"/>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auto"/>
            <a:fld id="{64E61829-E50B-4091-AE21-893680968DF2}" type="slidenum">
              <a:rPr lang="zh-CN" altLang="en-US" strike="noStrike" noProof="1" smtClean="0">
                <a:latin typeface="+mn-lt"/>
                <a:ea typeface="+mn-ea"/>
                <a:cs typeface="+mn-cs"/>
              </a:rPr>
              <a:t>‹#›</a:t>
            </a:fld>
            <a:endParaRPr lang="zh-CN" altLang="en-US" strike="noStrike" noProof="1"/>
          </a:p>
        </p:txBody>
      </p:sp>
    </p:spTree>
    <p:extLst>
      <p:ext uri="{BB962C8B-B14F-4D97-AF65-F5344CB8AC3E}">
        <p14:creationId xmlns:p14="http://schemas.microsoft.com/office/powerpoint/2010/main" val="92669772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30262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74944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70422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971491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54296" y="1600200"/>
            <a:ext cx="4032504" cy="45259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2324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a:defRPr/>
            </a:pPr>
            <a:endParaRPr lang="zh-CN" altLang="en-US">
              <a:solidFill>
                <a:srgbClr val="000000"/>
              </a:solidFill>
            </a:endParaRPr>
          </a:p>
        </p:txBody>
      </p:sp>
      <p:sp>
        <p:nvSpPr>
          <p:cNvPr id="8" name="页脚占位符 7"/>
          <p:cNvSpPr>
            <a:spLocks noGrp="1"/>
          </p:cNvSpPr>
          <p:nvPr>
            <p:ph type="ftr" sz="quarter" idx="11"/>
          </p:nvPr>
        </p:nvSpPr>
        <p:spPr/>
        <p:txBody>
          <a:bodyPr/>
          <a:lstStyle/>
          <a:p>
            <a:pPr>
              <a:defRPr/>
            </a:pPr>
            <a:endParaRPr lang="zh-CN" altLang="en-US">
              <a:solidFill>
                <a:srgbClr val="000000"/>
              </a:solidFill>
            </a:endParaRPr>
          </a:p>
        </p:txBody>
      </p:sp>
      <p:sp>
        <p:nvSpPr>
          <p:cNvPr id="9" name="灯片编号占位符 8"/>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897631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a:defRPr/>
            </a:pPr>
            <a:endParaRPr lang="zh-CN" altLang="en-US">
              <a:solidFill>
                <a:srgbClr val="000000"/>
              </a:solidFill>
            </a:endParaRPr>
          </a:p>
        </p:txBody>
      </p:sp>
      <p:sp>
        <p:nvSpPr>
          <p:cNvPr id="4" name="页脚占位符 3"/>
          <p:cNvSpPr>
            <a:spLocks noGrp="1"/>
          </p:cNvSpPr>
          <p:nvPr>
            <p:ph type="ftr" sz="quarter" idx="11"/>
          </p:nvPr>
        </p:nvSpPr>
        <p:spPr/>
        <p:txBody>
          <a:bodyPr/>
          <a:lstStyle/>
          <a:p>
            <a:pPr>
              <a:defRPr/>
            </a:pPr>
            <a:endParaRPr lang="zh-CN" altLang="en-US">
              <a:solidFill>
                <a:srgbClr val="000000"/>
              </a:solidFill>
            </a:endParaRPr>
          </a:p>
        </p:txBody>
      </p:sp>
      <p:sp>
        <p:nvSpPr>
          <p:cNvPr id="5" name="灯片编号占位符 4"/>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227418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zh-CN" altLang="en-US">
              <a:solidFill>
                <a:srgbClr val="000000"/>
              </a:solidFill>
            </a:endParaRPr>
          </a:p>
        </p:txBody>
      </p:sp>
      <p:sp>
        <p:nvSpPr>
          <p:cNvPr id="3" name="页脚占位符 2"/>
          <p:cNvSpPr>
            <a:spLocks noGrp="1"/>
          </p:cNvSpPr>
          <p:nvPr>
            <p:ph type="ftr" sz="quarter" idx="11"/>
          </p:nvPr>
        </p:nvSpPr>
        <p:spPr/>
        <p:txBody>
          <a:bodyPr/>
          <a:lstStyle/>
          <a:p>
            <a:pPr>
              <a:defRPr/>
            </a:pPr>
            <a:endParaRPr lang="zh-CN" altLang="en-US">
              <a:solidFill>
                <a:srgbClr val="000000"/>
              </a:solidFill>
            </a:endParaRPr>
          </a:p>
        </p:txBody>
      </p:sp>
      <p:sp>
        <p:nvSpPr>
          <p:cNvPr id="4" name="灯片编号占位符 3"/>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534271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286376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a:defRPr/>
            </a:pPr>
            <a:endParaRPr lang="zh-CN" altLang="en-US">
              <a:solidFill>
                <a:srgbClr val="000000"/>
              </a:solidFill>
            </a:endParaRPr>
          </a:p>
        </p:txBody>
      </p:sp>
      <p:sp>
        <p:nvSpPr>
          <p:cNvPr id="6" name="页脚占位符 5"/>
          <p:cNvSpPr>
            <a:spLocks noGrp="1"/>
          </p:cNvSpPr>
          <p:nvPr>
            <p:ph type="ftr" sz="quarter" idx="11"/>
          </p:nvPr>
        </p:nvSpPr>
        <p:spPr/>
        <p:txBody>
          <a:bodyPr/>
          <a:lstStyle/>
          <a:p>
            <a:pPr>
              <a:defRPr/>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032057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3506426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a:defRPr/>
            </a:pPr>
            <a:endParaRPr lang="zh-CN" altLang="en-US">
              <a:solidFill>
                <a:srgbClr val="000000"/>
              </a:solidFill>
            </a:endParaRPr>
          </a:p>
        </p:txBody>
      </p:sp>
      <p:sp>
        <p:nvSpPr>
          <p:cNvPr id="5" name="页脚占位符 4"/>
          <p:cNvSpPr>
            <a:spLocks noGrp="1"/>
          </p:cNvSpPr>
          <p:nvPr>
            <p:ph type="ftr" sz="quarter" idx="11"/>
          </p:nvPr>
        </p:nvSpPr>
        <p:spPr/>
        <p:txBody>
          <a:bodyPr/>
          <a:lstStyle/>
          <a:p>
            <a:pPr>
              <a:defRPr/>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a:defRPr/>
            </a:pPr>
            <a:fld id="{894EEF7A-21E7-4D0D-8777-62C63046F42F}" type="slidenum">
              <a:rPr lang="zh-CN" altLang="en-US">
                <a:solidFill>
                  <a:srgbClr val="000000"/>
                </a:solidFill>
              </a:rPr>
              <a:pPr>
                <a:defRPr/>
              </a:pPr>
              <a:t>‹#›</a:t>
            </a:fld>
            <a:endParaRPr lang="zh-CN" altLang="en-US">
              <a:solidFill>
                <a:srgbClr val="000000"/>
              </a:solidFill>
            </a:endParaRPr>
          </a:p>
        </p:txBody>
      </p:sp>
    </p:spTree>
    <p:extLst>
      <p:ext uri="{BB962C8B-B14F-4D97-AF65-F5344CB8AC3E}">
        <p14:creationId xmlns:p14="http://schemas.microsoft.com/office/powerpoint/2010/main" val="1323397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eaLnBrk="1" hangingPunct="1">
              <a:defRPr sz="1400" noProof="1"/>
            </a:lvl1pPr>
          </a:lstStyle>
          <a:p>
            <a:pPr>
              <a:defRPr/>
            </a:pPr>
            <a:endParaRPr lang="zh-CN" altLang="en-US">
              <a:solidFill>
                <a:srgbClr val="000000"/>
              </a:solidFill>
              <a:latin typeface="Arial" panose="020B0604020202020204" pitchFamily="34" charset="0"/>
              <a:ea typeface="宋体" panose="02010600030101010101" pitchFamily="2" charset="-122"/>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eaLnBrk="1" hangingPunct="1">
              <a:defRPr sz="1400" noProof="1"/>
            </a:lvl1pPr>
          </a:lstStyle>
          <a:p>
            <a:pPr>
              <a:defRPr/>
            </a:pPr>
            <a:fld id="{894EEF7A-21E7-4D0D-8777-62C63046F42F}" type="slidenum">
              <a:rPr lang="zh-CN" altLang="en-US">
                <a:solidFill>
                  <a:srgbClr val="000000"/>
                </a:solidFill>
                <a:latin typeface="Arial" panose="020B0604020202020204" pitchFamily="34" charset="0"/>
                <a:ea typeface="宋体" panose="02010600030101010101" pitchFamily="2" charset="-122"/>
              </a:rPr>
              <a:pPr>
                <a:defRPr/>
              </a:pPr>
              <a:t>‹#›</a:t>
            </a:fld>
            <a:endParaRPr lang="zh-CN" altLang="en-US">
              <a:solidFill>
                <a:srgbClr val="000000"/>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865176438"/>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lvl="1"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lvl="2"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lvl="3"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lvl="4"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slide" Target="slide61.xml"/><Relationship Id="rId5" Type="http://schemas.openxmlformats.org/officeDocument/2006/relationships/slide" Target="slide19.xml"/><Relationship Id="rId4"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5.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2.xml"/><Relationship Id="rId4" Type="http://schemas.openxmlformats.org/officeDocument/2006/relationships/slide" Target="slide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1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2.xml"/><Relationship Id="rId4" Type="http://schemas.openxmlformats.org/officeDocument/2006/relationships/slide" Target="slide16.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slide" Target="slide2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2.xml"/><Relationship Id="rId4" Type="http://schemas.openxmlformats.org/officeDocument/2006/relationships/slide" Target="slide3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slide" Target="slide27.xml"/><Relationship Id="rId7" Type="http://schemas.openxmlformats.org/officeDocument/2006/relationships/slide" Target="slide34.xml"/><Relationship Id="rId2" Type="http://schemas.openxmlformats.org/officeDocument/2006/relationships/slide" Target="slide25.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slide" Target="slide31.xml"/><Relationship Id="rId4" Type="http://schemas.openxmlformats.org/officeDocument/2006/relationships/slide" Target="slide29.xml"/><Relationship Id="rId9"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 Target="slide40.xml"/><Relationship Id="rId7" Type="http://schemas.openxmlformats.org/officeDocument/2006/relationships/slide" Target="slide57.xml"/><Relationship Id="rId2" Type="http://schemas.openxmlformats.org/officeDocument/2006/relationships/slide" Target="slide37.xml"/><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44.xml"/><Relationship Id="rId4" Type="http://schemas.openxmlformats.org/officeDocument/2006/relationships/slide" Target="slide42.xml"/><Relationship Id="rId9"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slide" Target="slide49.xml"/><Relationship Id="rId2" Type="http://schemas.openxmlformats.org/officeDocument/2006/relationships/slide" Target="slide4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slide" Target="slide36.xml"/><Relationship Id="rId4" Type="http://schemas.openxmlformats.org/officeDocument/2006/relationships/slide" Target="slide5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3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3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slide" Target="slide67.xml"/><Relationship Id="rId1" Type="http://schemas.openxmlformats.org/officeDocument/2006/relationships/slideLayout" Target="../slideLayouts/slideLayout2.xml"/><Relationship Id="rId5" Type="http://schemas.openxmlformats.org/officeDocument/2006/relationships/slide" Target="slide73.xml"/><Relationship Id="rId4" Type="http://schemas.openxmlformats.org/officeDocument/2006/relationships/slide" Target="slide72.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6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6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slide" Target="slide80.xml"/><Relationship Id="rId3" Type="http://schemas.openxmlformats.org/officeDocument/2006/relationships/slide" Target="slide75.xml"/><Relationship Id="rId7" Type="http://schemas.openxmlformats.org/officeDocument/2006/relationships/slide" Target="slide79.xml"/><Relationship Id="rId2" Type="http://schemas.openxmlformats.org/officeDocument/2006/relationships/slide" Target="slide74.xml"/><Relationship Id="rId1" Type="http://schemas.openxmlformats.org/officeDocument/2006/relationships/slideLayout" Target="../slideLayouts/slideLayout2.xml"/><Relationship Id="rId6" Type="http://schemas.openxmlformats.org/officeDocument/2006/relationships/slide" Target="slide78.xml"/><Relationship Id="rId5" Type="http://schemas.openxmlformats.org/officeDocument/2006/relationships/slide" Target="slide77.xml"/><Relationship Id="rId4" Type="http://schemas.openxmlformats.org/officeDocument/2006/relationships/slide" Target="slide76.xml"/><Relationship Id="rId9" Type="http://schemas.openxmlformats.org/officeDocument/2006/relationships/slide" Target="slide82.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7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1177" y="3248486"/>
            <a:ext cx="8617227" cy="1143000"/>
          </a:xfrm>
        </p:spPr>
        <p:txBody>
          <a:bodyPr/>
          <a:lstStyle/>
          <a:p>
            <a:pPr>
              <a:lnSpc>
                <a:spcPct val="125000"/>
              </a:lnSpc>
            </a:pPr>
            <a:r>
              <a:rPr lang="en-US" altLang="zh-CN" dirty="0">
                <a:latin typeface="Times New Roman" panose="02020603050405020304" pitchFamily="18" charset="0"/>
                <a:cs typeface="Times New Roman" panose="02020603050405020304" pitchFamily="18" charset="0"/>
              </a:rPr>
              <a:t>Chapter 6</a:t>
            </a:r>
            <a:br>
              <a:rPr lang="en-US" altLang="zh-CN"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Verbal Messages: </a:t>
            </a:r>
            <a:br>
              <a:rPr lang="en-US" altLang="zh-CN"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rPr>
              <a:t>Exchanging Ideas Through Language</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3436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7444" y="463481"/>
            <a:ext cx="8229600" cy="1143000"/>
          </a:xfrm>
        </p:spPr>
        <p:txBody>
          <a:bodyPr/>
          <a:lstStyle/>
          <a:p>
            <a:r>
              <a:rPr lang="en-US" altLang="zh-CN" sz="4800" dirty="0">
                <a:latin typeface="Times New Roman" panose="02020603050405020304" pitchFamily="18" charset="0"/>
                <a:cs typeface="Times New Roman" panose="02020603050405020304" pitchFamily="18" charset="0"/>
              </a:rPr>
              <a:t>Contents</a:t>
            </a:r>
            <a:endParaRPr lang="zh-CN" altLang="en-US" sz="4800"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983974" y="2332037"/>
            <a:ext cx="8229600" cy="4525963"/>
          </a:xfrm>
        </p:spPr>
        <p:txBody>
          <a:bodyPr/>
          <a:lstStyle/>
          <a:p>
            <a:pPr marL="0" indent="0">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3" action="ppaction://hlinksldjump"/>
              </a:rPr>
              <a:t>Functions of Language</a:t>
            </a:r>
            <a:endParaRPr lang="en-US" altLang="zh-CN" sz="3600" dirty="0">
              <a:latin typeface="Times New Roman" panose="02020603050405020304" pitchFamily="18" charset="0"/>
              <a:cs typeface="Times New Roman" panose="02020603050405020304" pitchFamily="18" charset="0"/>
            </a:endParaRPr>
          </a:p>
          <a:p>
            <a:pPr marL="0" indent="0">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4" action="ppaction://hlinksldjump"/>
              </a:rPr>
              <a:t>What Is Language?</a:t>
            </a:r>
            <a:endParaRPr lang="en-US" altLang="zh-CN" sz="3600" dirty="0">
              <a:latin typeface="Times New Roman" panose="02020603050405020304" pitchFamily="18" charset="0"/>
              <a:cs typeface="Times New Roman" panose="02020603050405020304" pitchFamily="18" charset="0"/>
            </a:endParaRPr>
          </a:p>
          <a:p>
            <a:pPr marL="0" indent="0">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5" action="ppaction://hlinksldjump"/>
              </a:rPr>
              <a:t>Language and Culture</a:t>
            </a:r>
            <a:endParaRPr lang="en-US" altLang="zh-CN" sz="3600" dirty="0">
              <a:latin typeface="Times New Roman" panose="02020603050405020304" pitchFamily="18" charset="0"/>
              <a:cs typeface="Times New Roman" panose="02020603050405020304" pitchFamily="18" charset="0"/>
            </a:endParaRPr>
          </a:p>
          <a:p>
            <a:pPr marL="0" indent="0">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6" action="ppaction://hlinksldjump"/>
              </a:rPr>
              <a:t>Interpreting</a:t>
            </a:r>
            <a:r>
              <a:rPr lang="en-US" altLang="zh-CN" sz="3600" dirty="0">
                <a:latin typeface="Times New Roman" panose="02020603050405020304" pitchFamily="18" charset="0"/>
                <a:cs typeface="Times New Roman" panose="02020603050405020304" pitchFamily="18" charset="0"/>
              </a:rPr>
              <a:t> </a:t>
            </a:r>
            <a:r>
              <a:rPr lang="en-US" altLang="zh-CN" sz="3600" dirty="0">
                <a:solidFill>
                  <a:srgbClr val="FF0000"/>
                </a:solidFill>
                <a:latin typeface="Times New Roman" panose="02020603050405020304" pitchFamily="18" charset="0"/>
                <a:cs typeface="Times New Roman" panose="02020603050405020304" pitchFamily="18" charset="0"/>
              </a:rPr>
              <a:t>(not lectured)</a:t>
            </a:r>
          </a:p>
        </p:txBody>
      </p:sp>
    </p:spTree>
    <p:extLst>
      <p:ext uri="{BB962C8B-B14F-4D97-AF65-F5344CB8AC3E}">
        <p14:creationId xmlns:p14="http://schemas.microsoft.com/office/powerpoint/2010/main" val="1958733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308112" y="3574430"/>
            <a:ext cx="8617227"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25000"/>
              </a:lnSpc>
            </a:pPr>
            <a:r>
              <a:rPr lang="en-US" altLang="zh-CN" sz="4800" dirty="0">
                <a:latin typeface="Times New Roman" panose="02020603050405020304" pitchFamily="18" charset="0"/>
                <a:cs typeface="Times New Roman" panose="02020603050405020304" pitchFamily="18" charset="0"/>
              </a:rPr>
              <a:t>6.1 Functions of Language</a:t>
            </a:r>
            <a:endParaRPr lang="zh-CN" alt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0115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83360"/>
            <a:ext cx="8229600" cy="1143000"/>
          </a:xfrm>
        </p:spPr>
        <p:txBody>
          <a:bodyPr/>
          <a:lstStyle/>
          <a:p>
            <a:r>
              <a:rPr lang="en-US" altLang="zh-CN" dirty="0">
                <a:latin typeface="Times New Roman" panose="02020603050405020304" pitchFamily="18" charset="0"/>
                <a:cs typeface="Times New Roman" panose="02020603050405020304" pitchFamily="18" charset="0"/>
              </a:rPr>
              <a:t>6.1 Functions of Language</a:t>
            </a:r>
            <a:endParaRPr lang="zh-CN" altLang="en-US" dirty="0"/>
          </a:p>
        </p:txBody>
      </p:sp>
      <p:sp>
        <p:nvSpPr>
          <p:cNvPr id="3" name="内容占位符 2"/>
          <p:cNvSpPr>
            <a:spLocks noGrp="1"/>
          </p:cNvSpPr>
          <p:nvPr>
            <p:ph idx="1"/>
          </p:nvPr>
        </p:nvSpPr>
        <p:spPr>
          <a:xfrm>
            <a:off x="914400" y="2332037"/>
            <a:ext cx="8229600" cy="4525963"/>
          </a:xfrm>
        </p:spPr>
        <p:txBody>
          <a:bodyPr/>
          <a:lstStyle/>
          <a:p>
            <a:pPr marL="0" indent="0">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2" action="ppaction://hlinksldjump"/>
              </a:rPr>
              <a:t>Social Interaction  </a:t>
            </a:r>
            <a:endParaRPr lang="en-US" altLang="zh-CN" sz="3600" dirty="0">
              <a:latin typeface="Times New Roman" panose="02020603050405020304" pitchFamily="18" charset="0"/>
              <a:cs typeface="Times New Roman" panose="02020603050405020304" pitchFamily="18" charset="0"/>
            </a:endParaRPr>
          </a:p>
          <a:p>
            <a:pPr marL="0" indent="0">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3" action="ppaction://hlinksldjump"/>
              </a:rPr>
              <a:t>Social Cohesion </a:t>
            </a:r>
            <a:endParaRPr lang="en-US" altLang="zh-CN" sz="3600" dirty="0">
              <a:latin typeface="Times New Roman" panose="02020603050405020304" pitchFamily="18" charset="0"/>
              <a:cs typeface="Times New Roman" panose="02020603050405020304" pitchFamily="18" charset="0"/>
            </a:endParaRPr>
          </a:p>
          <a:p>
            <a:pPr marL="0" indent="0">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4" action="ppaction://hlinksldjump"/>
              </a:rPr>
              <a:t>Expressions of Identity </a:t>
            </a:r>
            <a:endParaRPr lang="zh-CN" altLang="en-US" sz="3600" dirty="0">
              <a:latin typeface="Times New Roman" panose="02020603050405020304" pitchFamily="18" charset="0"/>
              <a:cs typeface="Times New Roman" panose="02020603050405020304" pitchFamily="18" charset="0"/>
            </a:endParaRPr>
          </a:p>
        </p:txBody>
      </p:sp>
      <p:pic>
        <p:nvPicPr>
          <p:cNvPr id="4" name="图片 3">
            <a:hlinkClick r:id="rId5" action="ppaction://hlinksldjump"/>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51305" y="5943946"/>
            <a:ext cx="1017104" cy="1017104"/>
          </a:xfrm>
          <a:prstGeom prst="rect">
            <a:avLst/>
          </a:prstGeom>
        </p:spPr>
      </p:pic>
    </p:spTree>
    <p:extLst>
      <p:ext uri="{BB962C8B-B14F-4D97-AF65-F5344CB8AC3E}">
        <p14:creationId xmlns:p14="http://schemas.microsoft.com/office/powerpoint/2010/main" val="3066059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3265" y="2435087"/>
            <a:ext cx="8776252"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Language allows you to speak, read, write, listen to others, and even talk to yourself—or to think. </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Language allows you verbally to convey your internal emotions and relieve stress by simply uttering a phrase or a swear.</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Language is also employed to invoke assistance from the supernatural. A Jewish rabbi, a Buddhist priest, a Mongolian shaman, the Pope, a Muslim, or a young child reciting a prayer are all using language to appeal to a greater power. For all of them, words allow for a special type of social interaction. </a:t>
            </a:r>
            <a:endParaRPr lang="zh-CN" altLang="zh-CN" sz="24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556591" y="523117"/>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6.1.1 Social Interaction </a:t>
            </a:r>
            <a:r>
              <a:rPr lang="en-US" altLang="zh-CN" dirty="0">
                <a:highlight>
                  <a:srgbClr val="FFFF00"/>
                </a:highlight>
                <a:latin typeface="Times New Roman" panose="02020603050405020304" pitchFamily="18" charset="0"/>
                <a:cs typeface="Times New Roman" panose="02020603050405020304" pitchFamily="18" charset="0"/>
              </a:rPr>
              <a:t>P195  </a:t>
            </a:r>
            <a:endParaRPr lang="zh-CN" altLang="en-US" dirty="0">
              <a:highlight>
                <a:srgbClr val="FFFF00"/>
              </a:highlight>
            </a:endParaRPr>
          </a:p>
        </p:txBody>
      </p:sp>
      <p:pic>
        <p:nvPicPr>
          <p:cNvPr id="5" name="图片 4">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1305" y="5943946"/>
            <a:ext cx="1017104" cy="1017104"/>
          </a:xfrm>
          <a:prstGeom prst="rect">
            <a:avLst/>
          </a:prstGeom>
        </p:spPr>
      </p:pic>
    </p:spTree>
    <p:extLst>
      <p:ext uri="{BB962C8B-B14F-4D97-AF65-F5344CB8AC3E}">
        <p14:creationId xmlns:p14="http://schemas.microsoft.com/office/powerpoint/2010/main" val="3707001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533055"/>
            <a:ext cx="8229600" cy="1143000"/>
          </a:xfrm>
        </p:spPr>
        <p:txBody>
          <a:bodyPr/>
          <a:lstStyle/>
          <a:p>
            <a:r>
              <a:rPr lang="en-US" altLang="zh-CN" dirty="0">
                <a:latin typeface="Times New Roman" panose="02020603050405020304" pitchFamily="18" charset="0"/>
                <a:cs typeface="Times New Roman" panose="02020603050405020304" pitchFamily="18" charset="0"/>
              </a:rPr>
              <a:t>6.1.2 Social Cohesion </a:t>
            </a:r>
            <a:r>
              <a:rPr lang="en-US" altLang="zh-CN" dirty="0">
                <a:highlight>
                  <a:srgbClr val="FFFF00"/>
                </a:highlight>
                <a:latin typeface="Times New Roman" panose="02020603050405020304" pitchFamily="18" charset="0"/>
                <a:cs typeface="Times New Roman" panose="02020603050405020304" pitchFamily="18" charset="0"/>
              </a:rPr>
              <a:t>P196</a:t>
            </a:r>
            <a:endParaRPr lang="zh-CN" altLang="en-US" dirty="0">
              <a:highlight>
                <a:srgbClr val="FFFF00"/>
              </a:highlight>
            </a:endParaRPr>
          </a:p>
        </p:txBody>
      </p:sp>
      <p:sp>
        <p:nvSpPr>
          <p:cNvPr id="3" name="内容占位符 2"/>
          <p:cNvSpPr>
            <a:spLocks noGrp="1"/>
          </p:cNvSpPr>
          <p:nvPr>
            <p:ph idx="1"/>
          </p:nvPr>
        </p:nvSpPr>
        <p:spPr>
          <a:xfrm>
            <a:off x="457200" y="2123316"/>
            <a:ext cx="8527774"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A common language allows individuals </a:t>
            </a:r>
            <a:r>
              <a:rPr lang="en-US" altLang="zh-CN" sz="2400" dirty="0">
                <a:solidFill>
                  <a:srgbClr val="FF0000"/>
                </a:solidFill>
                <a:latin typeface="Times New Roman" panose="02020603050405020304" pitchFamily="18" charset="0"/>
                <a:cs typeface="Times New Roman" panose="02020603050405020304" pitchFamily="18" charset="0"/>
              </a:rPr>
              <a:t>to form social groups and engage in cooperative efforts</a:t>
            </a:r>
            <a:r>
              <a:rPr lang="en-US" altLang="zh-CN" sz="2400" dirty="0">
                <a:latin typeface="Times New Roman" panose="02020603050405020304" pitchFamily="18" charset="0"/>
                <a:cs typeface="Times New Roman" panose="02020603050405020304" pitchFamily="18" charset="0"/>
              </a:rPr>
              <a:t>. A shared vocabulary enables a group </a:t>
            </a:r>
            <a:r>
              <a:rPr lang="en-US" altLang="zh-CN" sz="2400" dirty="0">
                <a:solidFill>
                  <a:srgbClr val="FF0000"/>
                </a:solidFill>
                <a:latin typeface="Times New Roman" panose="02020603050405020304" pitchFamily="18" charset="0"/>
                <a:cs typeface="Times New Roman" panose="02020603050405020304" pitchFamily="18" charset="0"/>
              </a:rPr>
              <a:t>to preserve a record of past events</a:t>
            </a:r>
            <a:r>
              <a:rPr lang="en-US" altLang="zh-CN" sz="2400" dirty="0">
                <a:latin typeface="Times New Roman" panose="02020603050405020304" pitchFamily="18" charset="0"/>
                <a:cs typeface="Times New Roman" panose="02020603050405020304" pitchFamily="18" charset="0"/>
              </a:rPr>
              <a:t>, albeit often with a selective interpretation. Language allows a group of people </a:t>
            </a:r>
            <a:r>
              <a:rPr lang="en-US" altLang="zh-CN" sz="2400" dirty="0">
                <a:solidFill>
                  <a:srgbClr val="FF0000"/>
                </a:solidFill>
                <a:latin typeface="Times New Roman" panose="02020603050405020304" pitchFamily="18" charset="0"/>
                <a:cs typeface="Times New Roman" panose="02020603050405020304" pitchFamily="18" charset="0"/>
              </a:rPr>
              <a:t>to maintain a record of the cultural values and expectations that bind them</a:t>
            </a:r>
            <a:r>
              <a:rPr lang="en-US" altLang="zh-CN" sz="2400" dirty="0">
                <a:latin typeface="Times New Roman" panose="02020603050405020304" pitchFamily="18" charset="0"/>
                <a:cs typeface="Times New Roman" panose="02020603050405020304" pitchFamily="18" charset="0"/>
              </a:rPr>
              <a:t>. The maintenance of social relations </a:t>
            </a:r>
            <a:r>
              <a:rPr lang="en-US" altLang="zh-CN" sz="2400" dirty="0">
                <a:solidFill>
                  <a:srgbClr val="FF0000"/>
                </a:solidFill>
                <a:latin typeface="Times New Roman" panose="02020603050405020304" pitchFamily="18" charset="0"/>
                <a:cs typeface="Times New Roman" panose="02020603050405020304" pitchFamily="18" charset="0"/>
              </a:rPr>
              <a:t>also relies on language for more than communicating messages</a:t>
            </a:r>
            <a:r>
              <a:rPr lang="en-US" altLang="zh-CN" sz="2400" dirty="0">
                <a:latin typeface="Times New Roman" panose="02020603050405020304" pitchFamily="18" charset="0"/>
                <a:cs typeface="Times New Roman" panose="02020603050405020304" pitchFamily="18" charset="0"/>
              </a:rPr>
              <a:t>. For example, the type of language used to express intimacy, respect, affiliation, formality, distance, and other emotions can help you sustain a relationship or disengage from one. </a:t>
            </a:r>
            <a:endParaRPr lang="zh-CN" altLang="en-US"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54448" y="6132443"/>
            <a:ext cx="864704" cy="864704"/>
          </a:xfrm>
          <a:prstGeom prst="rect">
            <a:avLst/>
          </a:prstGeom>
        </p:spPr>
      </p:pic>
    </p:spTree>
    <p:extLst>
      <p:ext uri="{BB962C8B-B14F-4D97-AF65-F5344CB8AC3E}">
        <p14:creationId xmlns:p14="http://schemas.microsoft.com/office/powerpoint/2010/main" val="2583335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6.1.3 Expressions of Identity </a:t>
            </a:r>
            <a:r>
              <a:rPr lang="en-US" altLang="zh-CN" dirty="0">
                <a:highlight>
                  <a:srgbClr val="FFFF00"/>
                </a:highlight>
                <a:latin typeface="Times New Roman" panose="02020603050405020304" pitchFamily="18" charset="0"/>
                <a:cs typeface="Times New Roman" panose="02020603050405020304" pitchFamily="18" charset="0"/>
              </a:rPr>
              <a:t>P196</a:t>
            </a:r>
            <a:endParaRPr lang="zh-CN" altLang="en-US" dirty="0">
              <a:highlight>
                <a:srgbClr val="FFFF00"/>
              </a:highlight>
            </a:endParaRPr>
          </a:p>
        </p:txBody>
      </p:sp>
      <p:sp>
        <p:nvSpPr>
          <p:cNvPr id="3" name="内容占位符 2"/>
          <p:cNvSpPr>
            <a:spLocks noGrp="1"/>
          </p:cNvSpPr>
          <p:nvPr>
            <p:ph idx="1"/>
          </p:nvPr>
        </p:nvSpPr>
        <p:spPr>
          <a:xfrm>
            <a:off x="586408" y="2405270"/>
            <a:ext cx="8229600"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Language is the major mechanism through which much of individual and group or cultural identity is constructed. </a:t>
            </a:r>
            <a:r>
              <a:rPr lang="en-US" altLang="zh-CN" sz="2400" dirty="0">
                <a:latin typeface="Times New Roman" panose="02020603050405020304" pitchFamily="18" charset="0"/>
                <a:cs typeface="Times New Roman" panose="02020603050405020304" pitchFamily="18" charset="0"/>
              </a:rPr>
              <a:t>Identities do not exist until they are enacted through language. Identity is constituted in discourse. Not only does language </a:t>
            </a:r>
            <a:r>
              <a:rPr lang="en-US" altLang="zh-CN" sz="2400" dirty="0">
                <a:solidFill>
                  <a:srgbClr val="FF0000"/>
                </a:solidFill>
                <a:latin typeface="Times New Roman" panose="02020603050405020304" pitchFamily="18" charset="0"/>
                <a:cs typeface="Times New Roman" panose="02020603050405020304" pitchFamily="18" charset="0"/>
              </a:rPr>
              <a:t>present information about identity</a:t>
            </a:r>
            <a:r>
              <a:rPr lang="en-US" altLang="zh-CN" sz="2400" dirty="0">
                <a:latin typeface="Times New Roman" panose="02020603050405020304" pitchFamily="18" charset="0"/>
                <a:cs typeface="Times New Roman" panose="02020603050405020304" pitchFamily="18" charset="0"/>
              </a:rPr>
              <a:t>, but the linguistic expression of identity </a:t>
            </a:r>
            <a:r>
              <a:rPr lang="en-US" altLang="zh-CN" sz="2400" dirty="0">
                <a:solidFill>
                  <a:srgbClr val="FF0000"/>
                </a:solidFill>
                <a:latin typeface="Times New Roman" panose="02020603050405020304" pitchFamily="18" charset="0"/>
                <a:cs typeface="Times New Roman" panose="02020603050405020304" pitchFamily="18" charset="0"/>
              </a:rPr>
              <a:t>unites people by reinforcing group identification</a:t>
            </a:r>
            <a:r>
              <a:rPr lang="en-US" altLang="zh-CN" sz="2400" dirty="0">
                <a:latin typeface="Times New Roman" panose="02020603050405020304" pitchFamily="18" charset="0"/>
                <a:cs typeface="Times New Roman" panose="02020603050405020304" pitchFamily="18" charset="0"/>
              </a:rPr>
              <a:t>. Cheering at a football game, reciting the Pledge of Allegiance, or shouting names or slogans at public meetings can reinforce group identification. </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8447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332037"/>
            <a:ext cx="8461513"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Language usage, and its relationship to identity, can also categorize people into groups according to factors such as age and gender. </a:t>
            </a:r>
            <a:r>
              <a:rPr lang="en-US" altLang="zh-CN" sz="2400" dirty="0">
                <a:latin typeface="Times New Roman" panose="02020603050405020304" pitchFamily="18" charset="0"/>
                <a:cs typeface="Times New Roman" panose="02020603050405020304" pitchFamily="18" charset="0"/>
              </a:rPr>
              <a:t>The terminology used can easily mark one as young or old. Additionally, women and men use language differently, both in word choice and in behaviors.</a:t>
            </a:r>
          </a:p>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Language has also been used to categorize people into varying social and economic levels. </a:t>
            </a:r>
            <a:r>
              <a:rPr lang="en-US" altLang="zh-CN" sz="2400" dirty="0">
                <a:latin typeface="Times New Roman" panose="02020603050405020304" pitchFamily="18" charset="0"/>
                <a:cs typeface="Times New Roman" panose="02020603050405020304" pitchFamily="18" charset="0"/>
              </a:rPr>
              <a:t>Because the way that people speak carries an unimaginable weight in each society, it also influences how they are perceived by that society. </a:t>
            </a: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41366" y="5930348"/>
            <a:ext cx="1017104" cy="1017104"/>
          </a:xfrm>
          <a:prstGeom prst="rect">
            <a:avLst/>
          </a:prstGeom>
        </p:spPr>
      </p:pic>
      <p:sp>
        <p:nvSpPr>
          <p:cNvPr id="5"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Expressions of Identity </a:t>
            </a:r>
            <a:r>
              <a:rPr lang="en-US" altLang="zh-CN" dirty="0">
                <a:highlight>
                  <a:srgbClr val="FFFF00"/>
                </a:highlight>
                <a:latin typeface="Times New Roman" panose="02020603050405020304" pitchFamily="18" charset="0"/>
                <a:cs typeface="Times New Roman" panose="02020603050405020304" pitchFamily="18" charset="0"/>
              </a:rPr>
              <a:t>P196-197</a:t>
            </a:r>
            <a:endParaRPr lang="zh-CN" altLang="en-US" dirty="0">
              <a:highlight>
                <a:srgbClr val="FFFF00"/>
              </a:highlight>
            </a:endParaRPr>
          </a:p>
        </p:txBody>
      </p:sp>
    </p:spTree>
    <p:extLst>
      <p:ext uri="{BB962C8B-B14F-4D97-AF65-F5344CB8AC3E}">
        <p14:creationId xmlns:p14="http://schemas.microsoft.com/office/powerpoint/2010/main" val="2777210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a:xfrm>
            <a:off x="228598" y="3584369"/>
            <a:ext cx="8617227"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25000"/>
              </a:lnSpc>
            </a:pPr>
            <a:r>
              <a:rPr lang="en-US" altLang="zh-CN" sz="4800" dirty="0">
                <a:latin typeface="Times New Roman" panose="02020603050405020304" pitchFamily="18" charset="0"/>
                <a:cs typeface="Times New Roman" panose="02020603050405020304" pitchFamily="18" charset="0"/>
              </a:rPr>
              <a:t>6.2 What Is Language?</a:t>
            </a:r>
            <a:endParaRPr lang="zh-CN" alt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3657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7687" y="443603"/>
            <a:ext cx="8229600" cy="1143000"/>
          </a:xfrm>
        </p:spPr>
        <p:txBody>
          <a:bodyPr/>
          <a:lstStyle/>
          <a:p>
            <a:r>
              <a:rPr lang="en-US" altLang="zh-CN" dirty="0">
                <a:latin typeface="Times New Roman" panose="02020603050405020304" pitchFamily="18" charset="0"/>
                <a:cs typeface="Times New Roman" panose="02020603050405020304" pitchFamily="18" charset="0"/>
              </a:rPr>
              <a:t>The definition of language </a:t>
            </a:r>
            <a:r>
              <a:rPr lang="en-US" altLang="zh-CN" dirty="0">
                <a:highlight>
                  <a:srgbClr val="FFFF00"/>
                </a:highlight>
                <a:latin typeface="Times New Roman" panose="02020603050405020304" pitchFamily="18" charset="0"/>
                <a:cs typeface="Times New Roman" panose="02020603050405020304" pitchFamily="18" charset="0"/>
              </a:rPr>
              <a:t>P197</a:t>
            </a:r>
            <a:endParaRPr lang="zh-CN" altLang="en-US" dirty="0">
              <a:highlight>
                <a:srgbClr val="FFFF00"/>
              </a:highlight>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516835" y="2425148"/>
            <a:ext cx="8229600"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Language may be thought of as an organized system of symbols, both verbal and nonverbal, used in a common and uniform way by persons who are able to manipulate these symbols to express their thoughts and feelings. </a:t>
            </a:r>
            <a:r>
              <a:rPr lang="en-US" altLang="zh-CN" sz="2400" dirty="0">
                <a:latin typeface="Times New Roman" panose="02020603050405020304" pitchFamily="18" charset="0"/>
                <a:cs typeface="Times New Roman" panose="02020603050405020304" pitchFamily="18" charset="0"/>
              </a:rPr>
              <a:t>While countless other animals use a form of language, it is the human brain and body that are best adapted for this complex symbol system. </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This chapter we mainly focus on verbal language. </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1363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139" y="453542"/>
            <a:ext cx="8229600" cy="1143000"/>
          </a:xfrm>
        </p:spPr>
        <p:txBody>
          <a:bodyPr/>
          <a:lstStyle/>
          <a:p>
            <a:r>
              <a:rPr lang="en-US" altLang="zh-CN" dirty="0">
                <a:latin typeface="Times New Roman" panose="02020603050405020304" pitchFamily="18" charset="0"/>
                <a:cs typeface="Times New Roman" panose="02020603050405020304" pitchFamily="18" charset="0"/>
              </a:rPr>
              <a:t>Characteristics of Language </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914400" y="2415209"/>
            <a:ext cx="8229600" cy="4525963"/>
          </a:xfrm>
        </p:spPr>
        <p:txBody>
          <a:bodyPr/>
          <a:lstStyle/>
          <a:p>
            <a:pPr>
              <a:lnSpc>
                <a:spcPct val="125000"/>
              </a:lnSpc>
              <a:spcBef>
                <a:spcPts val="0"/>
              </a:spcBef>
            </a:pPr>
            <a:r>
              <a:rPr lang="en-US" altLang="zh-CN" dirty="0">
                <a:latin typeface="Times New Roman" panose="02020603050405020304" pitchFamily="18" charset="0"/>
                <a:cs typeface="Times New Roman" panose="02020603050405020304" pitchFamily="18" charset="0"/>
                <a:hlinkClick r:id="rId2" action="ppaction://hlinksldjump"/>
              </a:rPr>
              <a:t>Words are only symbols</a:t>
            </a:r>
            <a:endParaRPr lang="en-US" altLang="zh-CN"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dirty="0">
                <a:latin typeface="Times New Roman" panose="02020603050405020304" pitchFamily="18" charset="0"/>
                <a:cs typeface="Times New Roman" panose="02020603050405020304" pitchFamily="18" charset="0"/>
                <a:hlinkClick r:id="rId3" action="ppaction://hlinksldjump"/>
              </a:rPr>
              <a:t>Words are arbitrary </a:t>
            </a:r>
            <a:endParaRPr lang="zh-CN" altLang="zh-CN"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dirty="0">
                <a:latin typeface="Times New Roman" panose="02020603050405020304" pitchFamily="18" charset="0"/>
                <a:cs typeface="Times New Roman" panose="02020603050405020304" pitchFamily="18" charset="0"/>
                <a:hlinkClick r:id="rId4" action="ppaction://hlinksldjump"/>
              </a:rPr>
              <a:t>Words evoke denotative or connotative meanings </a:t>
            </a:r>
            <a:endParaRPr lang="zh-CN" altLang="zh-CN" dirty="0">
              <a:latin typeface="Times New Roman" panose="02020603050405020304" pitchFamily="18" charset="0"/>
              <a:cs typeface="Times New Roman" panose="02020603050405020304" pitchFamily="18" charset="0"/>
            </a:endParaRPr>
          </a:p>
        </p:txBody>
      </p:sp>
      <p:pic>
        <p:nvPicPr>
          <p:cNvPr id="4" name="图片 3">
            <a:hlinkClick r:id="rId5" action="ppaction://hlinksldjump"/>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51305" y="5943946"/>
            <a:ext cx="1017104" cy="1017104"/>
          </a:xfrm>
          <a:prstGeom prst="rect">
            <a:avLst/>
          </a:prstGeom>
        </p:spPr>
      </p:pic>
    </p:spTree>
    <p:extLst>
      <p:ext uri="{BB962C8B-B14F-4D97-AF65-F5344CB8AC3E}">
        <p14:creationId xmlns:p14="http://schemas.microsoft.com/office/powerpoint/2010/main" val="94585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Words are only symbols </a:t>
            </a:r>
            <a:r>
              <a:rPr lang="en-US" altLang="zh-CN" dirty="0">
                <a:highlight>
                  <a:srgbClr val="FFFF00"/>
                </a:highlight>
                <a:latin typeface="Times New Roman" panose="02020603050405020304" pitchFamily="18" charset="0"/>
                <a:cs typeface="Times New Roman" panose="02020603050405020304" pitchFamily="18" charset="0"/>
              </a:rPr>
              <a:t>P197</a:t>
            </a:r>
            <a:endParaRPr lang="zh-CN" altLang="en-US" dirty="0">
              <a:highlight>
                <a:srgbClr val="FFFF00"/>
              </a:highlight>
            </a:endParaRPr>
          </a:p>
        </p:txBody>
      </p:sp>
      <p:sp>
        <p:nvSpPr>
          <p:cNvPr id="3" name="内容占位符 2"/>
          <p:cNvSpPr>
            <a:spLocks noGrp="1"/>
          </p:cNvSpPr>
          <p:nvPr>
            <p:ph idx="1"/>
          </p:nvPr>
        </p:nvSpPr>
        <p:spPr>
          <a:xfrm>
            <a:off x="596348" y="2439710"/>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Words, in their primary or immediate signification, stand for nothing but the ideas in the mind of him that uses them. Simply put, </a:t>
            </a:r>
            <a:r>
              <a:rPr lang="en-US" altLang="zh-CN" sz="2400" dirty="0">
                <a:solidFill>
                  <a:srgbClr val="FF0000"/>
                </a:solidFill>
                <a:latin typeface="Times New Roman" panose="02020603050405020304" pitchFamily="18" charset="0"/>
                <a:cs typeface="Times New Roman" panose="02020603050405020304" pitchFamily="18" charset="0"/>
              </a:rPr>
              <a:t>words are substitutes for “the real thing”</a:t>
            </a:r>
            <a:r>
              <a:rPr lang="en-US" altLang="zh-CN" sz="2400" dirty="0">
                <a:latin typeface="Times New Roman" panose="02020603050405020304" pitchFamily="18" charset="0"/>
                <a:cs typeface="Times New Roman" panose="02020603050405020304" pitchFamily="18" charset="0"/>
              </a:rPr>
              <a:t>. You can’t eat the word “apple” or drive the word “car”. In this sense, </a:t>
            </a:r>
            <a:r>
              <a:rPr lang="en-US" altLang="zh-CN" sz="2400" dirty="0">
                <a:solidFill>
                  <a:srgbClr val="FF0000"/>
                </a:solidFill>
                <a:latin typeface="Times New Roman" panose="02020603050405020304" pitchFamily="18" charset="0"/>
                <a:cs typeface="Times New Roman" panose="02020603050405020304" pitchFamily="18" charset="0"/>
              </a:rPr>
              <a:t>we live in two different worlds</a:t>
            </a:r>
            <a:r>
              <a:rPr lang="en-US" altLang="zh-CN" sz="2400" dirty="0">
                <a:latin typeface="Times New Roman" panose="02020603050405020304" pitchFamily="18" charset="0"/>
                <a:cs typeface="Times New Roman" panose="02020603050405020304" pitchFamily="18" charset="0"/>
              </a:rPr>
              <a:t>: the one made up of words (symbols) and the one composed of what the words are attempting to represent. </a:t>
            </a:r>
            <a:endParaRPr lang="zh-CN" altLang="zh-CN"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01001" y="6039678"/>
            <a:ext cx="1017104" cy="1017104"/>
          </a:xfrm>
          <a:prstGeom prst="rect">
            <a:avLst/>
          </a:prstGeom>
        </p:spPr>
      </p:pic>
    </p:spTree>
    <p:extLst>
      <p:ext uri="{BB962C8B-B14F-4D97-AF65-F5344CB8AC3E}">
        <p14:creationId xmlns:p14="http://schemas.microsoft.com/office/powerpoint/2010/main" val="2086054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Words are arbitrary </a:t>
            </a:r>
            <a:r>
              <a:rPr lang="en-US" altLang="zh-CN" dirty="0">
                <a:highlight>
                  <a:srgbClr val="FFFF00"/>
                </a:highlight>
                <a:latin typeface="Times New Roman" panose="02020603050405020304" pitchFamily="18" charset="0"/>
                <a:cs typeface="Times New Roman" panose="02020603050405020304" pitchFamily="18" charset="0"/>
              </a:rPr>
              <a:t>P197</a:t>
            </a:r>
            <a:endParaRPr lang="zh-CN" altLang="en-US" dirty="0">
              <a:highlight>
                <a:srgbClr val="FFFF00"/>
              </a:highlight>
            </a:endParaRPr>
          </a:p>
        </p:txBody>
      </p:sp>
      <p:sp>
        <p:nvSpPr>
          <p:cNvPr id="3" name="内容占位符 2"/>
          <p:cNvSpPr>
            <a:spLocks noGrp="1"/>
          </p:cNvSpPr>
          <p:nvPr>
            <p:ph idx="1"/>
          </p:nvPr>
        </p:nvSpPr>
        <p:spPr>
          <a:xfrm>
            <a:off x="487018" y="2441368"/>
            <a:ext cx="8199782" cy="4525963"/>
          </a:xfrm>
        </p:spPr>
        <p:txBody>
          <a:bodyPr/>
          <a:lstStyle/>
          <a:p>
            <a:pPr>
              <a:lnSpc>
                <a:spcPct val="125000"/>
              </a:lnSpc>
              <a:spcBef>
                <a:spcPts val="0"/>
              </a:spcBef>
            </a:pPr>
            <a:r>
              <a:rPr lang="en-US" altLang="zh-CN" sz="2800" dirty="0">
                <a:latin typeface="Times New Roman" panose="02020603050405020304" pitchFamily="18" charset="0"/>
                <a:cs typeface="Times New Roman" panose="02020603050405020304" pitchFamily="18" charset="0"/>
              </a:rPr>
              <a:t>The frustration created by words only being symbols is compounded by the fact that the relationship between the selected symbol and the agreed meaning is </a:t>
            </a:r>
            <a:r>
              <a:rPr lang="en-US" altLang="zh-CN" sz="2800" dirty="0">
                <a:solidFill>
                  <a:srgbClr val="FF0000"/>
                </a:solidFill>
                <a:latin typeface="Times New Roman" panose="02020603050405020304" pitchFamily="18" charset="0"/>
                <a:cs typeface="Times New Roman" panose="02020603050405020304" pitchFamily="18" charset="0"/>
              </a:rPr>
              <a:t>arbitrary</a:t>
            </a:r>
            <a:r>
              <a:rPr lang="en-US" altLang="zh-CN" sz="2800" dirty="0">
                <a:latin typeface="Times New Roman" panose="02020603050405020304" pitchFamily="18" charset="0"/>
                <a:cs typeface="Times New Roman" panose="02020603050405020304" pitchFamily="18" charset="0"/>
              </a:rPr>
              <a:t>. As Solomon and </a:t>
            </a:r>
            <a:r>
              <a:rPr lang="en-US" altLang="zh-CN" sz="2800" dirty="0" err="1">
                <a:latin typeface="Times New Roman" panose="02020603050405020304" pitchFamily="18" charset="0"/>
                <a:cs typeface="Times New Roman" panose="02020603050405020304" pitchFamily="18" charset="0"/>
              </a:rPr>
              <a:t>Theiss</a:t>
            </a:r>
            <a:r>
              <a:rPr lang="en-US" altLang="zh-CN" sz="2800" dirty="0">
                <a:latin typeface="Times New Roman" panose="02020603050405020304" pitchFamily="18" charset="0"/>
                <a:cs typeface="Times New Roman" panose="02020603050405020304" pitchFamily="18" charset="0"/>
              </a:rPr>
              <a:t> state, “Language is arbitrary because there is no inherent reason for using a particular word to represent a particular object or idea.”</a:t>
            </a:r>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3993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56593" y="5247199"/>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None of the words has any relation to the actual characteristics of a cat. These are simply arbitrary symbols that each language group uses to call to mind the common domestic pet.</a:t>
            </a:r>
            <a:endParaRPr lang="zh-CN" altLang="en-US" sz="2400"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77987" y="2697161"/>
            <a:ext cx="3588026" cy="2242516"/>
          </a:xfrm>
          <a:prstGeom prst="rect">
            <a:avLst/>
          </a:prstGeom>
        </p:spPr>
      </p:pic>
      <p:sp>
        <p:nvSpPr>
          <p:cNvPr id="5" name="文本框 4"/>
          <p:cNvSpPr txBox="1"/>
          <p:nvPr/>
        </p:nvSpPr>
        <p:spPr>
          <a:xfrm rot="201116">
            <a:off x="1093305" y="2730523"/>
            <a:ext cx="1143000" cy="923330"/>
          </a:xfrm>
          <a:prstGeom prst="rect">
            <a:avLst/>
          </a:prstGeom>
          <a:noFill/>
        </p:spPr>
        <p:txBody>
          <a:bodyPr wrap="square" rtlCol="0">
            <a:spAutoFit/>
          </a:bodyPr>
          <a:lstStyle/>
          <a:p>
            <a:r>
              <a:rPr lang="en-US" altLang="zh-CN" sz="5400" dirty="0">
                <a:latin typeface="Times New Roman" panose="02020603050405020304" pitchFamily="18" charset="0"/>
                <a:cs typeface="Times New Roman" panose="02020603050405020304" pitchFamily="18" charset="0"/>
              </a:rPr>
              <a:t>Cat</a:t>
            </a:r>
            <a:endParaRPr lang="zh-CN" altLang="en-US" sz="5400" dirty="0">
              <a:latin typeface="Times New Roman" panose="02020603050405020304" pitchFamily="18" charset="0"/>
              <a:cs typeface="Times New Roman" panose="02020603050405020304" pitchFamily="18" charset="0"/>
            </a:endParaRPr>
          </a:p>
        </p:txBody>
      </p:sp>
      <p:sp>
        <p:nvSpPr>
          <p:cNvPr id="6" name="文本框 5"/>
          <p:cNvSpPr txBox="1"/>
          <p:nvPr/>
        </p:nvSpPr>
        <p:spPr>
          <a:xfrm rot="379157">
            <a:off x="815008" y="4111269"/>
            <a:ext cx="2176670" cy="830997"/>
          </a:xfrm>
          <a:prstGeom prst="rect">
            <a:avLst/>
          </a:prstGeom>
          <a:noFill/>
        </p:spPr>
        <p:txBody>
          <a:bodyPr wrap="square" rtlCol="0">
            <a:spAutoFit/>
          </a:bodyPr>
          <a:lstStyle/>
          <a:p>
            <a:r>
              <a:rPr lang="ja-JP" altLang="en-US" sz="4800" dirty="0"/>
              <a:t>ねこ</a:t>
            </a:r>
            <a:endParaRPr lang="zh-CN" altLang="en-US" sz="4800" dirty="0"/>
          </a:p>
        </p:txBody>
      </p:sp>
      <p:sp>
        <p:nvSpPr>
          <p:cNvPr id="7" name="文本框 6"/>
          <p:cNvSpPr txBox="1"/>
          <p:nvPr/>
        </p:nvSpPr>
        <p:spPr>
          <a:xfrm rot="21180620">
            <a:off x="7136297" y="2658330"/>
            <a:ext cx="1779105" cy="923330"/>
          </a:xfrm>
          <a:prstGeom prst="rect">
            <a:avLst/>
          </a:prstGeom>
          <a:noFill/>
        </p:spPr>
        <p:txBody>
          <a:bodyPr wrap="square" rtlCol="0">
            <a:spAutoFit/>
          </a:bodyPr>
          <a:lstStyle/>
          <a:p>
            <a:r>
              <a:rPr lang="zh-CN" altLang="en-US" sz="5400" dirty="0">
                <a:latin typeface="宋体" panose="02010600030101010101" pitchFamily="2" charset="-122"/>
                <a:ea typeface="宋体" panose="02010600030101010101" pitchFamily="2" charset="-122"/>
              </a:rPr>
              <a:t>猫</a:t>
            </a:r>
          </a:p>
        </p:txBody>
      </p:sp>
      <p:sp>
        <p:nvSpPr>
          <p:cNvPr id="8" name="文本框 7"/>
          <p:cNvSpPr txBox="1"/>
          <p:nvPr/>
        </p:nvSpPr>
        <p:spPr>
          <a:xfrm rot="21108170">
            <a:off x="6838123" y="4029214"/>
            <a:ext cx="2375452" cy="830997"/>
          </a:xfrm>
          <a:prstGeom prst="rect">
            <a:avLst/>
          </a:prstGeom>
          <a:noFill/>
        </p:spPr>
        <p:txBody>
          <a:bodyPr wrap="square" rtlCol="0">
            <a:spAutoFit/>
          </a:bodyPr>
          <a:lstStyle/>
          <a:p>
            <a:r>
              <a:rPr lang="ko-KR" altLang="en-US" sz="4800" dirty="0"/>
              <a:t>고양이</a:t>
            </a:r>
            <a:endParaRPr lang="zh-CN" altLang="en-US" sz="4800" dirty="0"/>
          </a:p>
        </p:txBody>
      </p:sp>
      <p:sp>
        <p:nvSpPr>
          <p:cNvPr id="9"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Words are arbitrary </a:t>
            </a:r>
            <a:endParaRPr lang="zh-CN" altLang="en-US" dirty="0"/>
          </a:p>
        </p:txBody>
      </p:sp>
    </p:spTree>
    <p:extLst>
      <p:ext uri="{BB962C8B-B14F-4D97-AF65-F5344CB8AC3E}">
        <p14:creationId xmlns:p14="http://schemas.microsoft.com/office/powerpoint/2010/main" val="474743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66530" y="2415209"/>
            <a:ext cx="8229600"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It is also common to find significant differences within a major language group. </a:t>
            </a:r>
            <a:r>
              <a:rPr lang="en-US" altLang="zh-CN" sz="2400" dirty="0">
                <a:latin typeface="Times New Roman" panose="02020603050405020304" pitchFamily="18" charset="0"/>
                <a:cs typeface="Times New Roman" panose="02020603050405020304" pitchFamily="18" charset="0"/>
              </a:rPr>
              <a:t>Although English can vary within national boundaries</a:t>
            </a:r>
            <a:r>
              <a:rPr lang="en-US" altLang="zh-CN" sz="2400" dirty="0">
                <a:solidFill>
                  <a:srgbClr val="FF0000"/>
                </a:solidFill>
                <a:latin typeface="Times New Roman" panose="02020603050405020304" pitchFamily="18" charset="0"/>
                <a:cs typeface="Times New Roman" panose="02020603050405020304" pitchFamily="18" charset="0"/>
              </a:rPr>
              <a:t>, more prominent differences</a:t>
            </a:r>
            <a:r>
              <a:rPr lang="en-US" altLang="zh-CN" sz="2400" dirty="0">
                <a:latin typeface="Times New Roman" panose="02020603050405020304" pitchFamily="18" charset="0"/>
                <a:cs typeface="Times New Roman" panose="02020603050405020304" pitchFamily="18" charset="0"/>
              </a:rPr>
              <a:t>, such as pronunciation, spelling, and terminology, </a:t>
            </a:r>
            <a:r>
              <a:rPr lang="en-US" altLang="zh-CN" sz="2400" dirty="0">
                <a:solidFill>
                  <a:srgbClr val="FF0000"/>
                </a:solidFill>
                <a:latin typeface="Times New Roman" panose="02020603050405020304" pitchFamily="18" charset="0"/>
                <a:cs typeface="Times New Roman" panose="02020603050405020304" pitchFamily="18" charset="0"/>
              </a:rPr>
              <a:t>can be found </a:t>
            </a:r>
            <a:r>
              <a:rPr lang="en-US" altLang="zh-CN" sz="2400" dirty="0">
                <a:latin typeface="Times New Roman" panose="02020603050405020304" pitchFamily="18" charset="0"/>
                <a:cs typeface="Times New Roman" panose="02020603050405020304" pitchFamily="18" charset="0"/>
              </a:rPr>
              <a:t>when comparing English-speaking countries such as Australia, England, and the United States. For example, in England, the trunk of a car is a boot, and the hood is the bonnet.</a:t>
            </a:r>
            <a:endParaRPr lang="zh-CN" altLang="en-US" sz="24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Words are arbitrary </a:t>
            </a:r>
            <a:r>
              <a:rPr lang="en-US" altLang="zh-CN" dirty="0">
                <a:highlight>
                  <a:srgbClr val="FFFF00"/>
                </a:highlight>
                <a:latin typeface="Times New Roman" panose="02020603050405020304" pitchFamily="18" charset="0"/>
                <a:cs typeface="Times New Roman" panose="02020603050405020304" pitchFamily="18" charset="0"/>
              </a:rPr>
              <a:t>P198</a:t>
            </a:r>
            <a:r>
              <a:rPr lang="en-US" altLang="zh-CN" dirty="0">
                <a:latin typeface="Times New Roman" panose="02020603050405020304" pitchFamily="18" charset="0"/>
                <a:cs typeface="Times New Roman" panose="02020603050405020304" pitchFamily="18" charset="0"/>
              </a:rPr>
              <a:t> </a:t>
            </a:r>
            <a:endParaRPr lang="zh-CN" altLang="en-US" dirty="0"/>
          </a:p>
        </p:txBody>
      </p:sp>
      <p:pic>
        <p:nvPicPr>
          <p:cNvPr id="5" name="图片 4">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01001" y="6039678"/>
            <a:ext cx="1017104" cy="1017104"/>
          </a:xfrm>
          <a:prstGeom prst="rect">
            <a:avLst/>
          </a:prstGeom>
        </p:spPr>
      </p:pic>
    </p:spTree>
    <p:extLst>
      <p:ext uri="{BB962C8B-B14F-4D97-AF65-F5344CB8AC3E}">
        <p14:creationId xmlns:p14="http://schemas.microsoft.com/office/powerpoint/2010/main" val="1289054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sz="3200" dirty="0">
                <a:latin typeface="Times New Roman" panose="02020603050405020304" pitchFamily="18" charset="0"/>
                <a:cs typeface="Times New Roman" panose="02020603050405020304" pitchFamily="18" charset="0"/>
              </a:rPr>
              <a:t>Words evoke denotative or connotative meanings </a:t>
            </a:r>
            <a:r>
              <a:rPr lang="en-US" altLang="zh-CN" sz="3200" dirty="0">
                <a:highlight>
                  <a:srgbClr val="FFFF00"/>
                </a:highlight>
                <a:latin typeface="Times New Roman" panose="02020603050405020304" pitchFamily="18" charset="0"/>
                <a:cs typeface="Times New Roman" panose="02020603050405020304" pitchFamily="18" charset="0"/>
              </a:rPr>
              <a:t>P198</a:t>
            </a:r>
            <a:r>
              <a:rPr lang="en-US" altLang="zh-CN" sz="3200" dirty="0">
                <a:latin typeface="Times New Roman" panose="02020603050405020304" pitchFamily="18" charset="0"/>
                <a:cs typeface="Times New Roman" panose="02020603050405020304" pitchFamily="18" charset="0"/>
              </a:rPr>
              <a:t> </a:t>
            </a:r>
            <a:endParaRPr lang="zh-CN" altLang="en-US" sz="3200" dirty="0"/>
          </a:p>
        </p:txBody>
      </p:sp>
      <p:sp>
        <p:nvSpPr>
          <p:cNvPr id="3" name="内容占位符 2"/>
          <p:cNvSpPr>
            <a:spLocks noGrp="1"/>
          </p:cNvSpPr>
          <p:nvPr>
            <p:ph idx="1"/>
          </p:nvPr>
        </p:nvSpPr>
        <p:spPr>
          <a:xfrm>
            <a:off x="457201" y="2484782"/>
            <a:ext cx="8348870" cy="4525963"/>
          </a:xfrm>
        </p:spPr>
        <p:txBody>
          <a:bodyPr/>
          <a:lstStyle/>
          <a:p>
            <a:pPr>
              <a:lnSpc>
                <a:spcPct val="125000"/>
              </a:lnSpc>
              <a:spcBef>
                <a:spcPts val="0"/>
              </a:spcBef>
            </a:pPr>
            <a:r>
              <a:rPr lang="en-US" altLang="zh-CN" sz="2800" dirty="0">
                <a:latin typeface="Times New Roman" panose="02020603050405020304" pitchFamily="18" charset="0"/>
                <a:cs typeface="Times New Roman" panose="02020603050405020304" pitchFamily="18" charset="0"/>
              </a:rPr>
              <a:t>When someone selects a particular word or phrase, he or she may not be using it in precisely the same manner as someone else. Hence, different meanings for that word are built into the communication experience. In addition, meanings are also affected by the </a:t>
            </a:r>
            <a:r>
              <a:rPr lang="en-US" altLang="zh-CN" sz="2800" b="1" dirty="0">
                <a:solidFill>
                  <a:srgbClr val="FF0000"/>
                </a:solidFill>
                <a:latin typeface="Times New Roman" panose="02020603050405020304" pitchFamily="18" charset="0"/>
                <a:cs typeface="Times New Roman" panose="02020603050405020304" pitchFamily="18" charset="0"/>
              </a:rPr>
              <a:t>denotative</a:t>
            </a:r>
            <a:r>
              <a:rPr lang="en-US" altLang="zh-CN" sz="2800" dirty="0">
                <a:latin typeface="Times New Roman" panose="02020603050405020304" pitchFamily="18" charset="0"/>
                <a:cs typeface="Times New Roman" panose="02020603050405020304" pitchFamily="18" charset="0"/>
              </a:rPr>
              <a:t> or </a:t>
            </a:r>
            <a:r>
              <a:rPr lang="en-US" altLang="zh-CN" sz="2800" b="1" dirty="0">
                <a:solidFill>
                  <a:srgbClr val="FF0000"/>
                </a:solidFill>
                <a:latin typeface="Times New Roman" panose="02020603050405020304" pitchFamily="18" charset="0"/>
                <a:cs typeface="Times New Roman" panose="02020603050405020304" pitchFamily="18" charset="0"/>
              </a:rPr>
              <a:t>connotative </a:t>
            </a:r>
            <a:r>
              <a:rPr lang="en-US" altLang="zh-CN" sz="2800" dirty="0">
                <a:latin typeface="Times New Roman" panose="02020603050405020304" pitchFamily="18" charset="0"/>
                <a:cs typeface="Times New Roman" panose="02020603050405020304" pitchFamily="18" charset="0"/>
              </a:rPr>
              <a:t>meanings. </a:t>
            </a:r>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7640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3543"/>
            <a:ext cx="8229600" cy="1143000"/>
          </a:xfrm>
        </p:spPr>
        <p:txBody>
          <a:bodyPr/>
          <a:lstStyle/>
          <a:p>
            <a:r>
              <a:rPr lang="en-US" altLang="zh-CN" dirty="0">
                <a:latin typeface="Times New Roman" panose="02020603050405020304" pitchFamily="18" charset="0"/>
                <a:cs typeface="Times New Roman" panose="02020603050405020304" pitchFamily="18" charset="0"/>
              </a:rPr>
              <a:t>Denotative meaning </a:t>
            </a:r>
            <a:r>
              <a:rPr lang="en-US" altLang="zh-CN" dirty="0">
                <a:highlight>
                  <a:srgbClr val="FFFF00"/>
                </a:highlight>
                <a:latin typeface="Times New Roman" panose="02020603050405020304" pitchFamily="18" charset="0"/>
                <a:cs typeface="Times New Roman" panose="02020603050405020304" pitchFamily="18" charset="0"/>
              </a:rPr>
              <a:t>P198</a:t>
            </a:r>
            <a:endParaRPr lang="zh-CN" altLang="en-US" dirty="0">
              <a:highlight>
                <a:srgbClr val="FFFF00"/>
              </a:highlight>
            </a:endParaRPr>
          </a:p>
        </p:txBody>
      </p:sp>
      <p:sp>
        <p:nvSpPr>
          <p:cNvPr id="3" name="内容占位符 2"/>
          <p:cNvSpPr>
            <a:spLocks noGrp="1"/>
          </p:cNvSpPr>
          <p:nvPr>
            <p:ph idx="1"/>
          </p:nvPr>
        </p:nvSpPr>
        <p:spPr>
          <a:xfrm>
            <a:off x="675863" y="2520880"/>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The </a:t>
            </a:r>
            <a:r>
              <a:rPr lang="en-US" altLang="zh-CN" sz="2400" b="1" dirty="0">
                <a:latin typeface="Times New Roman" panose="02020603050405020304" pitchFamily="18" charset="0"/>
                <a:cs typeface="Times New Roman" panose="02020603050405020304" pitchFamily="18" charset="0"/>
              </a:rPr>
              <a:t>denotative meaning </a:t>
            </a:r>
            <a:r>
              <a:rPr lang="en-US" altLang="zh-CN" sz="2400" dirty="0">
                <a:latin typeface="Times New Roman" panose="02020603050405020304" pitchFamily="18" charset="0"/>
                <a:cs typeface="Times New Roman" panose="02020603050405020304" pitchFamily="18" charset="0"/>
              </a:rPr>
              <a:t>refers to the literal, conventional meaning that most people in a culture have agreed is the meaning for the symbol. The category of words associated with denotative meanings is somewhat </a:t>
            </a:r>
            <a:r>
              <a:rPr lang="en-US" altLang="zh-CN" sz="2400" dirty="0">
                <a:solidFill>
                  <a:srgbClr val="FF0000"/>
                </a:solidFill>
                <a:latin typeface="Times New Roman" panose="02020603050405020304" pitchFamily="18" charset="0"/>
                <a:cs typeface="Times New Roman" panose="02020603050405020304" pitchFamily="18" charset="0"/>
              </a:rPr>
              <a:t>impartial and neutral and seldom contains expressive overtones</a:t>
            </a:r>
            <a:r>
              <a:rPr lang="en-US" altLang="zh-CN" sz="2400" dirty="0">
                <a:latin typeface="Times New Roman" panose="02020603050405020304" pitchFamily="18" charset="0"/>
                <a:cs typeface="Times New Roman" panose="02020603050405020304" pitchFamily="18" charset="0"/>
              </a:rPr>
              <a:t>. There can be general agreement as to what is a tree, a table, a car, and the like. </a:t>
            </a:r>
          </a:p>
        </p:txBody>
      </p:sp>
    </p:spTree>
    <p:extLst>
      <p:ext uri="{BB962C8B-B14F-4D97-AF65-F5344CB8AC3E}">
        <p14:creationId xmlns:p14="http://schemas.microsoft.com/office/powerpoint/2010/main" val="3034737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3543"/>
            <a:ext cx="8229600" cy="1143000"/>
          </a:xfrm>
        </p:spPr>
        <p:txBody>
          <a:bodyPr/>
          <a:lstStyle/>
          <a:p>
            <a:r>
              <a:rPr lang="en-US" altLang="zh-CN" dirty="0">
                <a:latin typeface="Times New Roman" panose="02020603050405020304" pitchFamily="18" charset="0"/>
                <a:cs typeface="Times New Roman" panose="02020603050405020304" pitchFamily="18" charset="0"/>
              </a:rPr>
              <a:t>Connotative meaning </a:t>
            </a:r>
            <a:r>
              <a:rPr lang="en-US" altLang="zh-CN" dirty="0">
                <a:highlight>
                  <a:srgbClr val="FFFF00"/>
                </a:highlight>
                <a:latin typeface="Times New Roman" panose="02020603050405020304" pitchFamily="18" charset="0"/>
                <a:cs typeface="Times New Roman" panose="02020603050405020304" pitchFamily="18" charset="0"/>
              </a:rPr>
              <a:t>P198</a:t>
            </a:r>
            <a:endParaRPr lang="zh-CN" altLang="en-US" dirty="0">
              <a:highlight>
                <a:srgbClr val="FFFF00"/>
              </a:highlight>
            </a:endParaRPr>
          </a:p>
        </p:txBody>
      </p:sp>
      <p:sp>
        <p:nvSpPr>
          <p:cNvPr id="3" name="内容占位符 2"/>
          <p:cNvSpPr>
            <a:spLocks noGrp="1"/>
          </p:cNvSpPr>
          <p:nvPr>
            <p:ph idx="1"/>
          </p:nvPr>
        </p:nvSpPr>
        <p:spPr>
          <a:xfrm>
            <a:off x="566531" y="2560637"/>
            <a:ext cx="8401878" cy="4525963"/>
          </a:xfrm>
        </p:spPr>
        <p:txBody>
          <a:bodyPr/>
          <a:lstStyle/>
          <a:p>
            <a:pPr>
              <a:lnSpc>
                <a:spcPct val="125000"/>
              </a:lnSpc>
              <a:spcBef>
                <a:spcPts val="0"/>
              </a:spcBef>
            </a:pPr>
            <a:r>
              <a:rPr lang="en-US" altLang="zh-CN" sz="2400" b="1" dirty="0">
                <a:solidFill>
                  <a:srgbClr val="FF0000"/>
                </a:solidFill>
                <a:latin typeface="Times New Roman" panose="02020603050405020304" pitchFamily="18" charset="0"/>
                <a:cs typeface="Times New Roman" panose="02020603050405020304" pitchFamily="18" charset="0"/>
              </a:rPr>
              <a:t>Connotative meaning </a:t>
            </a:r>
            <a:r>
              <a:rPr lang="en-US" altLang="zh-CN" sz="2400" dirty="0">
                <a:solidFill>
                  <a:srgbClr val="FF0000"/>
                </a:solidFill>
                <a:latin typeface="Times New Roman" panose="02020603050405020304" pitchFamily="18" charset="0"/>
                <a:cs typeface="Times New Roman" panose="02020603050405020304" pitchFamily="18" charset="0"/>
              </a:rPr>
              <a:t>is the private, emotional meaning that the word evokes. </a:t>
            </a:r>
            <a:r>
              <a:rPr lang="en-US" altLang="zh-CN" sz="2400" dirty="0">
                <a:latin typeface="Times New Roman" panose="02020603050405020304" pitchFamily="18" charset="0"/>
                <a:cs typeface="Times New Roman" panose="02020603050405020304" pitchFamily="18" charset="0"/>
              </a:rPr>
              <a:t>It is the meaning that reflects your personal and cultural experiences with the word or words being used. Because connotation in language involves the deep structure of words and expressions that are strongly related to culture, they can be problematic during intercultural exchanges. </a:t>
            </a:r>
            <a:endParaRPr lang="zh-CN" altLang="en-US"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1305" y="5943946"/>
            <a:ext cx="1017104" cy="1017104"/>
          </a:xfrm>
          <a:prstGeom prst="rect">
            <a:avLst/>
          </a:prstGeom>
        </p:spPr>
      </p:pic>
    </p:spTree>
    <p:extLst>
      <p:ext uri="{BB962C8B-B14F-4D97-AF65-F5344CB8AC3E}">
        <p14:creationId xmlns:p14="http://schemas.microsoft.com/office/powerpoint/2010/main" val="3155637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367746" y="3594308"/>
            <a:ext cx="8617227"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25000"/>
              </a:lnSpc>
            </a:pPr>
            <a:r>
              <a:rPr lang="en-US" altLang="zh-CN" sz="4800" dirty="0">
                <a:latin typeface="Times New Roman" panose="02020603050405020304" pitchFamily="18" charset="0"/>
                <a:cs typeface="Times New Roman" panose="02020603050405020304" pitchFamily="18" charset="0"/>
              </a:rPr>
              <a:t>6.3 Language and Culture</a:t>
            </a:r>
            <a:endParaRPr lang="zh-CN" alt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12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Language and Culture</a:t>
            </a:r>
            <a:endParaRPr lang="zh-CN" altLang="en-US" dirty="0"/>
          </a:p>
        </p:txBody>
      </p:sp>
      <p:sp>
        <p:nvSpPr>
          <p:cNvPr id="3" name="内容占位符 2"/>
          <p:cNvSpPr>
            <a:spLocks noGrp="1"/>
          </p:cNvSpPr>
          <p:nvPr>
            <p:ph idx="1"/>
          </p:nvPr>
        </p:nvSpPr>
        <p:spPr>
          <a:xfrm>
            <a:off x="914400" y="2464905"/>
            <a:ext cx="8229600" cy="4525963"/>
          </a:xfrm>
        </p:spPr>
        <p:txBody>
          <a:bodyPr/>
          <a:lstStyle/>
          <a:p>
            <a:pPr>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2" action="ppaction://hlinksldjump"/>
              </a:rPr>
              <a:t>Language and Thought</a:t>
            </a:r>
            <a:endParaRPr lang="en-US" altLang="zh-CN" sz="36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3" action="ppaction://hlinksldjump"/>
              </a:rPr>
              <a:t>Language Variations</a:t>
            </a:r>
            <a:endParaRPr lang="en-US" altLang="zh-CN" sz="36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4" action="ppaction://hlinksldjump"/>
              </a:rPr>
              <a:t>Using Language</a:t>
            </a:r>
            <a:endParaRPr lang="en-US" altLang="zh-CN" sz="3600" dirty="0">
              <a:latin typeface="Times New Roman" panose="02020603050405020304" pitchFamily="18" charset="0"/>
              <a:cs typeface="Times New Roman" panose="02020603050405020304" pitchFamily="18" charset="0"/>
            </a:endParaRPr>
          </a:p>
        </p:txBody>
      </p:sp>
      <p:pic>
        <p:nvPicPr>
          <p:cNvPr id="4" name="图片 3">
            <a:hlinkClick r:id="rId5" action="ppaction://hlinksldjump"/>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51305" y="5943946"/>
            <a:ext cx="1017104" cy="1017104"/>
          </a:xfrm>
          <a:prstGeom prst="rect">
            <a:avLst/>
          </a:prstGeom>
        </p:spPr>
      </p:pic>
    </p:spTree>
    <p:extLst>
      <p:ext uri="{BB962C8B-B14F-4D97-AF65-F5344CB8AC3E}">
        <p14:creationId xmlns:p14="http://schemas.microsoft.com/office/powerpoint/2010/main" val="3018698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6.3.1 Language and Thought </a:t>
            </a:r>
            <a:r>
              <a:rPr lang="en-US" altLang="zh-CN" dirty="0">
                <a:highlight>
                  <a:srgbClr val="FFFF00"/>
                </a:highlight>
                <a:latin typeface="Times New Roman" panose="02020603050405020304" pitchFamily="18" charset="0"/>
                <a:cs typeface="Times New Roman" panose="02020603050405020304" pitchFamily="18" charset="0"/>
              </a:rPr>
              <a:t>P198</a:t>
            </a:r>
            <a:endParaRPr lang="zh-CN" altLang="en-US" dirty="0">
              <a:highlight>
                <a:srgbClr val="FFFF00"/>
              </a:highlight>
            </a:endParaRPr>
          </a:p>
        </p:txBody>
      </p:sp>
      <p:sp>
        <p:nvSpPr>
          <p:cNvPr id="3" name="内容占位符 2"/>
          <p:cNvSpPr>
            <a:spLocks noGrp="1"/>
          </p:cNvSpPr>
          <p:nvPr>
            <p:ph idx="1"/>
          </p:nvPr>
        </p:nvSpPr>
        <p:spPr>
          <a:xfrm>
            <a:off x="576469" y="2510941"/>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You may assume that everyone speaks and thinks in much the same way that they just use different words. This is not the case. </a:t>
            </a:r>
            <a:r>
              <a:rPr lang="en-US" altLang="zh-CN" sz="2400" dirty="0">
                <a:solidFill>
                  <a:srgbClr val="FF0000"/>
                </a:solidFill>
                <a:latin typeface="Times New Roman" panose="02020603050405020304" pitchFamily="18" charset="0"/>
                <a:cs typeface="Times New Roman" panose="02020603050405020304" pitchFamily="18" charset="0"/>
              </a:rPr>
              <a:t>While words and meanings differ from one culture to another, thought processes and perceptions of reality also differ. </a:t>
            </a:r>
            <a:r>
              <a:rPr lang="en-US" altLang="zh-CN" sz="2400" dirty="0">
                <a:latin typeface="Times New Roman" panose="02020603050405020304" pitchFamily="18" charset="0"/>
                <a:cs typeface="Times New Roman" panose="02020603050405020304" pitchFamily="18" charset="0"/>
              </a:rPr>
              <a:t>And these differences in perception, many of them subconscious, have an influence on how people think and use language. </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0254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163071"/>
            <a:ext cx="8511209"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This cultural dynamic is known as </a:t>
            </a:r>
            <a:r>
              <a:rPr lang="en-US" altLang="zh-CN" sz="2400" dirty="0">
                <a:solidFill>
                  <a:srgbClr val="FF0000"/>
                </a:solidFill>
                <a:latin typeface="Times New Roman" panose="02020603050405020304" pitchFamily="18" charset="0"/>
                <a:cs typeface="Times New Roman" panose="02020603050405020304" pitchFamily="18" charset="0"/>
              </a:rPr>
              <a:t>linguistic relativity </a:t>
            </a:r>
            <a:r>
              <a:rPr lang="en-US" altLang="zh-CN" sz="2400" dirty="0">
                <a:latin typeface="Times New Roman" panose="02020603050405020304" pitchFamily="18" charset="0"/>
                <a:cs typeface="Times New Roman" panose="02020603050405020304" pitchFamily="18" charset="0"/>
              </a:rPr>
              <a:t>and was set forth in the </a:t>
            </a:r>
            <a:r>
              <a:rPr lang="en-US" altLang="zh-CN" sz="2400" b="1" dirty="0">
                <a:latin typeface="Times New Roman" panose="02020603050405020304" pitchFamily="18" charset="0"/>
                <a:cs typeface="Times New Roman" panose="02020603050405020304" pitchFamily="18" charset="0"/>
              </a:rPr>
              <a:t>Sapir Whorf hypothesis</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The hypothesis asserted </a:t>
            </a:r>
            <a:r>
              <a:rPr lang="en-US" altLang="zh-CN" sz="2400" dirty="0">
                <a:latin typeface="Times New Roman" panose="02020603050405020304" pitchFamily="18" charset="0"/>
                <a:cs typeface="Times New Roman" panose="02020603050405020304" pitchFamily="18" charset="0"/>
              </a:rPr>
              <a:t>that</a:t>
            </a:r>
            <a:r>
              <a:rPr lang="en-US" altLang="zh-CN" sz="2400" dirty="0">
                <a:solidFill>
                  <a:srgbClr val="FF0000"/>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language profoundly shapes the perceptions and world view of its speakers. Sapir and Whorf </a:t>
            </a:r>
            <a:r>
              <a:rPr lang="en-US" altLang="zh-CN" sz="2400" dirty="0">
                <a:solidFill>
                  <a:srgbClr val="FF0000"/>
                </a:solidFill>
                <a:latin typeface="Times New Roman" panose="02020603050405020304" pitchFamily="18" charset="0"/>
                <a:cs typeface="Times New Roman" panose="02020603050405020304" pitchFamily="18" charset="0"/>
              </a:rPr>
              <a:t>suggested</a:t>
            </a:r>
            <a:r>
              <a:rPr lang="en-US" altLang="zh-CN" sz="2400" dirty="0">
                <a:latin typeface="Times New Roman" panose="02020603050405020304" pitchFamily="18" charset="0"/>
                <a:cs typeface="Times New Roman" panose="02020603050405020304" pitchFamily="18" charset="0"/>
              </a:rPr>
              <a:t>, differences between languages must have consequences that go far beyond mere grammatical organization and must be related to profound divergence in modes of thought. Hence, </a:t>
            </a:r>
            <a:r>
              <a:rPr lang="en-US" altLang="zh-CN" sz="2400" dirty="0">
                <a:solidFill>
                  <a:srgbClr val="FF0000"/>
                </a:solidFill>
                <a:latin typeface="Times New Roman" panose="02020603050405020304" pitchFamily="18" charset="0"/>
                <a:cs typeface="Times New Roman" panose="02020603050405020304" pitchFamily="18" charset="0"/>
              </a:rPr>
              <a:t>the Sapir Whorf hypothesis argued</a:t>
            </a:r>
            <a:r>
              <a:rPr lang="en-US" altLang="zh-CN" sz="2400" dirty="0">
                <a:latin typeface="Times New Roman" panose="02020603050405020304" pitchFamily="18" charset="0"/>
                <a:cs typeface="Times New Roman" panose="02020603050405020304" pitchFamily="18" charset="0"/>
              </a:rPr>
              <a:t> that language is not simply a means of reporting experience but, more importantly, a way of defining experience. </a:t>
            </a:r>
            <a:endParaRPr lang="zh-CN" altLang="en-US"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35880" y="6132443"/>
            <a:ext cx="908120" cy="908120"/>
          </a:xfrm>
          <a:prstGeom prst="rect">
            <a:avLst/>
          </a:prstGeom>
        </p:spPr>
      </p:pic>
      <p:sp>
        <p:nvSpPr>
          <p:cNvPr id="5"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6.3.1 Language and Thought  </a:t>
            </a:r>
            <a:r>
              <a:rPr lang="en-US" altLang="zh-CN" dirty="0">
                <a:highlight>
                  <a:srgbClr val="FFFF00"/>
                </a:highlight>
                <a:latin typeface="Times New Roman" panose="02020603050405020304" pitchFamily="18" charset="0"/>
                <a:cs typeface="Times New Roman" panose="02020603050405020304" pitchFamily="18" charset="0"/>
              </a:rPr>
              <a:t>P199</a:t>
            </a:r>
            <a:endParaRPr lang="zh-CN" altLang="en-US" dirty="0">
              <a:highlight>
                <a:srgbClr val="FFFF00"/>
              </a:highlight>
            </a:endParaRPr>
          </a:p>
        </p:txBody>
      </p:sp>
    </p:spTree>
    <p:extLst>
      <p:ext uri="{BB962C8B-B14F-4D97-AF65-F5344CB8AC3E}">
        <p14:creationId xmlns:p14="http://schemas.microsoft.com/office/powerpoint/2010/main" val="3976127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6.3.2 Language Variations </a:t>
            </a:r>
            <a:r>
              <a:rPr lang="en-US" altLang="zh-CN" dirty="0">
                <a:highlight>
                  <a:srgbClr val="FFFF00"/>
                </a:highlight>
                <a:latin typeface="Times New Roman" panose="02020603050405020304" pitchFamily="18" charset="0"/>
                <a:cs typeface="Times New Roman" panose="02020603050405020304" pitchFamily="18" charset="0"/>
              </a:rPr>
              <a:t>P201</a:t>
            </a:r>
            <a:endParaRPr lang="zh-CN" altLang="en-US" dirty="0">
              <a:highlight>
                <a:srgbClr val="FFFF00"/>
              </a:highlight>
            </a:endParaRPr>
          </a:p>
        </p:txBody>
      </p:sp>
      <p:sp>
        <p:nvSpPr>
          <p:cNvPr id="3" name="内容占位符 2"/>
          <p:cNvSpPr>
            <a:spLocks noGrp="1"/>
          </p:cNvSpPr>
          <p:nvPr>
            <p:ph idx="1"/>
          </p:nvPr>
        </p:nvSpPr>
        <p:spPr>
          <a:xfrm>
            <a:off x="655983" y="2435087"/>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Cultures are also characterized by a number of internal linguistic variations. These differences are culturally influenced and frequently offer hints as to the nation or region where a person lives or grew up and his or her age, level of education, and socioeconomic status. </a:t>
            </a:r>
            <a:r>
              <a:rPr lang="en-US" altLang="zh-CN" sz="2400" dirty="0">
                <a:solidFill>
                  <a:srgbClr val="FF0000"/>
                </a:solidFill>
                <a:latin typeface="Times New Roman" panose="02020603050405020304" pitchFamily="18" charset="0"/>
                <a:cs typeface="Times New Roman" panose="02020603050405020304" pitchFamily="18" charset="0"/>
              </a:rPr>
              <a:t>It is particularly important to have both an awareness of these distinctions and an appreciation of their role in intercultural communication</a:t>
            </a:r>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1937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23122" y="2445026"/>
            <a:ext cx="8229600" cy="4525963"/>
          </a:xfrm>
        </p:spPr>
        <p:txBody>
          <a:bodyPr/>
          <a:lstStyle/>
          <a:p>
            <a:pPr>
              <a:lnSpc>
                <a:spcPct val="125000"/>
              </a:lnSpc>
              <a:spcBef>
                <a:spcPts val="0"/>
              </a:spcBef>
            </a:pPr>
            <a:r>
              <a:rPr lang="en-US" altLang="zh-CN" dirty="0">
                <a:latin typeface="Times New Roman" panose="02020603050405020304" pitchFamily="18" charset="0"/>
                <a:cs typeface="Times New Roman" panose="02020603050405020304" pitchFamily="18" charset="0"/>
                <a:hlinkClick r:id="rId2" action="ppaction://hlinksldjump"/>
              </a:rPr>
              <a:t>Accents</a:t>
            </a:r>
            <a:r>
              <a:rPr lang="en-US" altLang="zh-CN" dirty="0">
                <a:latin typeface="Times New Roman" panose="02020603050405020304" pitchFamily="18" charset="0"/>
                <a:cs typeface="Times New Roman" panose="02020603050405020304" pitchFamily="18" charset="0"/>
              </a:rPr>
              <a:t> </a:t>
            </a:r>
          </a:p>
          <a:p>
            <a:pPr>
              <a:lnSpc>
                <a:spcPct val="125000"/>
              </a:lnSpc>
              <a:spcBef>
                <a:spcPts val="0"/>
              </a:spcBef>
            </a:pPr>
            <a:r>
              <a:rPr lang="en-US" altLang="zh-CN" dirty="0">
                <a:latin typeface="Times New Roman" panose="02020603050405020304" pitchFamily="18" charset="0"/>
                <a:cs typeface="Times New Roman" panose="02020603050405020304" pitchFamily="18" charset="0"/>
                <a:hlinkClick r:id="rId3" action="ppaction://hlinksldjump"/>
              </a:rPr>
              <a:t>Dialect </a:t>
            </a:r>
            <a:endParaRPr lang="en-US" altLang="zh-CN"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dirty="0">
                <a:latin typeface="Times New Roman" panose="02020603050405020304" pitchFamily="18" charset="0"/>
                <a:cs typeface="Times New Roman" panose="02020603050405020304" pitchFamily="18" charset="0"/>
                <a:hlinkClick r:id="rId4" action="ppaction://hlinksldjump"/>
              </a:rPr>
              <a:t>Argot </a:t>
            </a:r>
            <a:endParaRPr lang="en-US" altLang="zh-CN"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dirty="0">
                <a:latin typeface="Times New Roman" panose="02020603050405020304" pitchFamily="18" charset="0"/>
                <a:cs typeface="Times New Roman" panose="02020603050405020304" pitchFamily="18" charset="0"/>
                <a:hlinkClick r:id="rId5" action="ppaction://hlinksldjump"/>
              </a:rPr>
              <a:t>Slang </a:t>
            </a:r>
            <a:endParaRPr lang="en-US" altLang="zh-CN"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dirty="0">
                <a:latin typeface="Times New Roman" panose="02020603050405020304" pitchFamily="18" charset="0"/>
                <a:cs typeface="Times New Roman" panose="02020603050405020304" pitchFamily="18" charset="0"/>
                <a:hlinkClick r:id="rId6" action="ppaction://hlinksldjump"/>
              </a:rPr>
              <a:t>Texting </a:t>
            </a:r>
            <a:endParaRPr lang="en-US" altLang="zh-CN"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dirty="0">
                <a:latin typeface="Times New Roman" panose="02020603050405020304" pitchFamily="18" charset="0"/>
                <a:cs typeface="Times New Roman" panose="02020603050405020304" pitchFamily="18" charset="0"/>
                <a:hlinkClick r:id="rId7" action="ppaction://hlinksldjump"/>
              </a:rPr>
              <a:t>Idioms </a:t>
            </a:r>
            <a:endParaRPr lang="en-US" altLang="zh-CN"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a:latin typeface="Times New Roman" panose="02020603050405020304" pitchFamily="18" charset="0"/>
                <a:cs typeface="Times New Roman" panose="02020603050405020304" pitchFamily="18" charset="0"/>
              </a:rPr>
              <a:t>Language Variations</a:t>
            </a:r>
            <a:endParaRPr lang="zh-CN" altLang="en-US" dirty="0"/>
          </a:p>
        </p:txBody>
      </p:sp>
      <p:pic>
        <p:nvPicPr>
          <p:cNvPr id="5" name="图片 4">
            <a:hlinkClick r:id="rId8"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951305" y="5943946"/>
            <a:ext cx="1017104" cy="1017104"/>
          </a:xfrm>
          <a:prstGeom prst="rect">
            <a:avLst/>
          </a:prstGeom>
        </p:spPr>
      </p:pic>
    </p:spTree>
    <p:extLst>
      <p:ext uri="{BB962C8B-B14F-4D97-AF65-F5344CB8AC3E}">
        <p14:creationId xmlns:p14="http://schemas.microsoft.com/office/powerpoint/2010/main" val="2274102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199" y="483360"/>
            <a:ext cx="8229600" cy="1143000"/>
          </a:xfrm>
        </p:spPr>
        <p:txBody>
          <a:bodyPr/>
          <a:lstStyle/>
          <a:p>
            <a:r>
              <a:rPr lang="en-US" altLang="zh-CN" dirty="0">
                <a:latin typeface="Times New Roman" panose="02020603050405020304" pitchFamily="18" charset="0"/>
                <a:cs typeface="Times New Roman" panose="02020603050405020304" pitchFamily="18" charset="0"/>
              </a:rPr>
              <a:t>6.3.2.1 Accents </a:t>
            </a:r>
            <a:r>
              <a:rPr lang="en-US" altLang="zh-CN" dirty="0">
                <a:highlight>
                  <a:srgbClr val="FFFF00"/>
                </a:highlight>
                <a:latin typeface="Times New Roman" panose="02020603050405020304" pitchFamily="18" charset="0"/>
                <a:cs typeface="Times New Roman" panose="02020603050405020304" pitchFamily="18" charset="0"/>
              </a:rPr>
              <a:t>P201</a:t>
            </a:r>
            <a:endParaRPr lang="zh-CN" altLang="en-US" dirty="0">
              <a:highlight>
                <a:srgbClr val="FFFF00"/>
              </a:highlight>
            </a:endParaRPr>
          </a:p>
        </p:txBody>
      </p:sp>
      <p:sp>
        <p:nvSpPr>
          <p:cNvPr id="3" name="内容占位符 2"/>
          <p:cNvSpPr>
            <a:spLocks noGrp="1"/>
          </p:cNvSpPr>
          <p:nvPr>
            <p:ph idx="1"/>
          </p:nvPr>
        </p:nvSpPr>
        <p:spPr>
          <a:xfrm>
            <a:off x="283264" y="2332037"/>
            <a:ext cx="8577469"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It must be realized that even when interacting people speak the same language, such as English, they don’t always speak the same language. </a:t>
            </a:r>
            <a:r>
              <a:rPr lang="en-US" altLang="zh-CN" sz="2400" dirty="0">
                <a:latin typeface="Times New Roman" panose="02020603050405020304" pitchFamily="18" charset="0"/>
                <a:cs typeface="Times New Roman" panose="02020603050405020304" pitchFamily="18" charset="0"/>
              </a:rPr>
              <a:t>An accent can range from perfectly native pronunciation to pronunciation of the foreign language using the same sounds that the non-native learned in order to speak his or her own mother tongue. Therefore, </a:t>
            </a:r>
            <a:r>
              <a:rPr lang="en-US" altLang="zh-CN" sz="2400" dirty="0">
                <a:solidFill>
                  <a:srgbClr val="FF0000"/>
                </a:solidFill>
                <a:latin typeface="Times New Roman" panose="02020603050405020304" pitchFamily="18" charset="0"/>
                <a:cs typeface="Times New Roman" panose="02020603050405020304" pitchFamily="18" charset="0"/>
              </a:rPr>
              <a:t>accents can take a variety of forms. </a:t>
            </a:r>
            <a:r>
              <a:rPr lang="en-US" altLang="zh-CN" sz="2400" dirty="0">
                <a:latin typeface="Times New Roman" panose="02020603050405020304" pitchFamily="18" charset="0"/>
                <a:cs typeface="Times New Roman" panose="02020603050405020304" pitchFamily="18" charset="0"/>
              </a:rPr>
              <a:t>These often result from geographical or historical differences, such as those among English speakers in Australia, Canada, England, South Africa, and the United States. </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98755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199" y="2435087"/>
            <a:ext cx="8418445"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Accents have the potential to create </a:t>
            </a:r>
            <a:r>
              <a:rPr lang="en-US" altLang="zh-CN" sz="2400" dirty="0">
                <a:solidFill>
                  <a:srgbClr val="FF0000"/>
                </a:solidFill>
                <a:latin typeface="Times New Roman" panose="02020603050405020304" pitchFamily="18" charset="0"/>
                <a:cs typeface="Times New Roman" panose="02020603050405020304" pitchFamily="18" charset="0"/>
              </a:rPr>
              <a:t>two problems </a:t>
            </a:r>
            <a:r>
              <a:rPr lang="en-US" altLang="zh-CN" sz="2400" dirty="0">
                <a:latin typeface="Times New Roman" panose="02020603050405020304" pitchFamily="18" charset="0"/>
                <a:cs typeface="Times New Roman" panose="02020603050405020304" pitchFamily="18" charset="0"/>
              </a:rPr>
              <a:t>in intercultural exchanges. </a:t>
            </a:r>
            <a:r>
              <a:rPr lang="en-US" altLang="zh-CN" sz="2400" dirty="0">
                <a:solidFill>
                  <a:srgbClr val="FF0000"/>
                </a:solidFill>
                <a:latin typeface="Times New Roman" panose="02020603050405020304" pitchFamily="18" charset="0"/>
                <a:cs typeface="Times New Roman" panose="02020603050405020304" pitchFamily="18" charset="0"/>
              </a:rPr>
              <a:t>First</a:t>
            </a:r>
            <a:r>
              <a:rPr lang="en-US" altLang="zh-CN" sz="2400" dirty="0">
                <a:latin typeface="Times New Roman" panose="02020603050405020304" pitchFamily="18" charset="0"/>
                <a:cs typeface="Times New Roman" panose="02020603050405020304" pitchFamily="18" charset="0"/>
              </a:rPr>
              <a:t>, if the speaker’s accent is prominent, comprehension might be impeded. </a:t>
            </a:r>
            <a:r>
              <a:rPr lang="en-US" altLang="zh-CN" sz="2400" dirty="0">
                <a:solidFill>
                  <a:srgbClr val="FF0000"/>
                </a:solidFill>
                <a:latin typeface="Times New Roman" panose="02020603050405020304" pitchFamily="18" charset="0"/>
                <a:cs typeface="Times New Roman" panose="02020603050405020304" pitchFamily="18" charset="0"/>
              </a:rPr>
              <a:t>Second</a:t>
            </a:r>
            <a:r>
              <a:rPr lang="en-US" altLang="zh-CN" sz="2400" dirty="0">
                <a:latin typeface="Times New Roman" panose="02020603050405020304" pitchFamily="18" charset="0"/>
                <a:cs typeface="Times New Roman" panose="02020603050405020304" pitchFamily="18" charset="0"/>
              </a:rPr>
              <a:t>, as Schmidt and his coauthors point out, “</a:t>
            </a:r>
            <a:r>
              <a:rPr lang="en-US" altLang="zh-CN" sz="2400" dirty="0">
                <a:solidFill>
                  <a:srgbClr val="FF0000"/>
                </a:solidFill>
                <a:latin typeface="Times New Roman" panose="02020603050405020304" pitchFamily="18" charset="0"/>
                <a:cs typeface="Times New Roman" panose="02020603050405020304" pitchFamily="18" charset="0"/>
              </a:rPr>
              <a:t>Speakers may be negatively stereotyped by their accent.</a:t>
            </a:r>
            <a:r>
              <a:rPr lang="en-US" altLang="zh-CN" sz="2400" dirty="0">
                <a:latin typeface="Times New Roman" panose="02020603050405020304" pitchFamily="18" charset="0"/>
                <a:cs typeface="Times New Roman" panose="02020603050405020304" pitchFamily="18" charset="0"/>
              </a:rPr>
              <a:t> Speaking with an accent may create negative impressions with the listener when the speaker’s accent differs significantly from that of the dominant group.”</a:t>
            </a:r>
            <a:endParaRPr lang="zh-CN" altLang="en-US" sz="24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199" y="48336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6.3.2.1 Accents </a:t>
            </a:r>
            <a:r>
              <a:rPr lang="en-US" altLang="zh-CN" dirty="0">
                <a:highlight>
                  <a:srgbClr val="FFFF00"/>
                </a:highlight>
                <a:latin typeface="Times New Roman" panose="02020603050405020304" pitchFamily="18" charset="0"/>
                <a:cs typeface="Times New Roman" panose="02020603050405020304" pitchFamily="18" charset="0"/>
              </a:rPr>
              <a:t>P201</a:t>
            </a:r>
            <a:endParaRPr lang="zh-CN" altLang="en-US" dirty="0">
              <a:highlight>
                <a:srgbClr val="FFFF00"/>
              </a:highlight>
            </a:endParaRPr>
          </a:p>
        </p:txBody>
      </p:sp>
      <p:pic>
        <p:nvPicPr>
          <p:cNvPr id="5" name="图片 4">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1305" y="5943946"/>
            <a:ext cx="1017104" cy="1017104"/>
          </a:xfrm>
          <a:prstGeom prst="rect">
            <a:avLst/>
          </a:prstGeom>
        </p:spPr>
      </p:pic>
    </p:spTree>
    <p:extLst>
      <p:ext uri="{BB962C8B-B14F-4D97-AF65-F5344CB8AC3E}">
        <p14:creationId xmlns:p14="http://schemas.microsoft.com/office/powerpoint/2010/main" val="39623848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7078" y="463481"/>
            <a:ext cx="8229600" cy="1143000"/>
          </a:xfrm>
        </p:spPr>
        <p:txBody>
          <a:bodyPr/>
          <a:lstStyle/>
          <a:p>
            <a:r>
              <a:rPr lang="en-US" altLang="zh-CN" dirty="0">
                <a:latin typeface="Times New Roman" panose="02020603050405020304" pitchFamily="18" charset="0"/>
                <a:cs typeface="Times New Roman" panose="02020603050405020304" pitchFamily="18" charset="0"/>
              </a:rPr>
              <a:t>6.3.2.2 Dialect </a:t>
            </a:r>
            <a:r>
              <a:rPr lang="en-US" altLang="zh-CN" dirty="0">
                <a:highlight>
                  <a:srgbClr val="FFFF00"/>
                </a:highlight>
                <a:latin typeface="Times New Roman" panose="02020603050405020304" pitchFamily="18" charset="0"/>
                <a:cs typeface="Times New Roman" panose="02020603050405020304" pitchFamily="18" charset="0"/>
              </a:rPr>
              <a:t>P202</a:t>
            </a:r>
            <a:endParaRPr lang="zh-CN" altLang="en-US" dirty="0">
              <a:highlight>
                <a:srgbClr val="FFFF00"/>
              </a:highlight>
            </a:endParaRPr>
          </a:p>
        </p:txBody>
      </p:sp>
      <p:sp>
        <p:nvSpPr>
          <p:cNvPr id="3" name="内容占位符 2"/>
          <p:cNvSpPr>
            <a:spLocks noGrp="1"/>
          </p:cNvSpPr>
          <p:nvPr>
            <p:ph idx="1"/>
          </p:nvPr>
        </p:nvSpPr>
        <p:spPr>
          <a:xfrm>
            <a:off x="606287" y="2464904"/>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Closely related to the pronunciation variations that characterize accents is the topic of dialects. Crystal explains the difference between accents and dialects noting, “</a:t>
            </a:r>
            <a:r>
              <a:rPr lang="en-US" altLang="zh-CN" sz="2400" dirty="0">
                <a:solidFill>
                  <a:srgbClr val="FF0000"/>
                </a:solidFill>
                <a:latin typeface="Times New Roman" panose="02020603050405020304" pitchFamily="18" charset="0"/>
                <a:cs typeface="Times New Roman" panose="02020603050405020304" pitchFamily="18" charset="0"/>
              </a:rPr>
              <a:t>Accents refers just to distinctive pronunciation, whereas dialect refers to spoken grammar and vocabulary as well.</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What they have in common is that </a:t>
            </a:r>
            <a:r>
              <a:rPr lang="en-US" altLang="zh-CN" sz="2400" dirty="0">
                <a:latin typeface="Times New Roman" panose="02020603050405020304" pitchFamily="18" charset="0"/>
                <a:cs typeface="Times New Roman" panose="02020603050405020304" pitchFamily="18" charset="0"/>
              </a:rPr>
              <a:t>they are differences in a given language as spoken in a particular location or by a collection of people.</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71975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7564" y="2435087"/>
            <a:ext cx="8497958"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Dialects not only identify someone as being from a certain region, but also are distinctive of a person’s country. </a:t>
            </a:r>
            <a:r>
              <a:rPr lang="en-US" altLang="zh-CN" sz="2400" dirty="0">
                <a:latin typeface="Times New Roman" panose="02020603050405020304" pitchFamily="18" charset="0"/>
                <a:cs typeface="Times New Roman" panose="02020603050405020304" pitchFamily="18" charset="0"/>
              </a:rPr>
              <a:t>And within these countries are even further distinctions. Indeed, some scholars consider the dialects as separate languages. </a:t>
            </a:r>
          </a:p>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In intercultural communication, dialects, like accents, present challenges. </a:t>
            </a:r>
            <a:r>
              <a:rPr lang="en-US" altLang="zh-CN" sz="2400" dirty="0">
                <a:latin typeface="Times New Roman" panose="02020603050405020304" pitchFamily="18" charset="0"/>
                <a:cs typeface="Times New Roman" panose="02020603050405020304" pitchFamily="18" charset="0"/>
              </a:rPr>
              <a:t>One reason is that dialects are often looked down on as people use the dialect to stereotype the speaker.</a:t>
            </a:r>
            <a:endParaRPr lang="zh-CN" altLang="en-US" sz="24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77078" y="463481"/>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6.3.2.2 Dialect </a:t>
            </a:r>
            <a:r>
              <a:rPr lang="en-US" altLang="zh-CN" dirty="0">
                <a:highlight>
                  <a:srgbClr val="FFFF00"/>
                </a:highlight>
                <a:latin typeface="Times New Roman" panose="02020603050405020304" pitchFamily="18" charset="0"/>
                <a:cs typeface="Times New Roman" panose="02020603050405020304" pitchFamily="18" charset="0"/>
              </a:rPr>
              <a:t>P202</a:t>
            </a:r>
            <a:r>
              <a:rPr lang="en-US" altLang="zh-CN" dirty="0">
                <a:latin typeface="Times New Roman" panose="02020603050405020304" pitchFamily="18" charset="0"/>
                <a:cs typeface="Times New Roman" panose="02020603050405020304" pitchFamily="18" charset="0"/>
              </a:rPr>
              <a:t> </a:t>
            </a:r>
            <a:endParaRPr lang="zh-CN" altLang="en-US" dirty="0"/>
          </a:p>
        </p:txBody>
      </p:sp>
      <p:pic>
        <p:nvPicPr>
          <p:cNvPr id="5" name="图片 4">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1305" y="5943946"/>
            <a:ext cx="1017104" cy="1017104"/>
          </a:xfrm>
          <a:prstGeom prst="rect">
            <a:avLst/>
          </a:prstGeom>
        </p:spPr>
      </p:pic>
    </p:spTree>
    <p:extLst>
      <p:ext uri="{BB962C8B-B14F-4D97-AF65-F5344CB8AC3E}">
        <p14:creationId xmlns:p14="http://schemas.microsoft.com/office/powerpoint/2010/main" val="29291563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139" y="443603"/>
            <a:ext cx="8229600" cy="1143000"/>
          </a:xfrm>
        </p:spPr>
        <p:txBody>
          <a:bodyPr/>
          <a:lstStyle/>
          <a:p>
            <a:r>
              <a:rPr lang="en-US" altLang="zh-CN" dirty="0">
                <a:latin typeface="Times New Roman" panose="02020603050405020304" pitchFamily="18" charset="0"/>
                <a:cs typeface="Times New Roman" panose="02020603050405020304" pitchFamily="18" charset="0"/>
              </a:rPr>
              <a:t>6.3.2.3 Argot </a:t>
            </a:r>
            <a:r>
              <a:rPr lang="en-US" altLang="zh-CN" dirty="0">
                <a:highlight>
                  <a:srgbClr val="FFFF00"/>
                </a:highlight>
                <a:latin typeface="Times New Roman" panose="02020603050405020304" pitchFamily="18" charset="0"/>
                <a:cs typeface="Times New Roman" panose="02020603050405020304" pitchFamily="18" charset="0"/>
              </a:rPr>
              <a:t>P202-203</a:t>
            </a:r>
            <a:endParaRPr lang="zh-CN" altLang="en-US" dirty="0">
              <a:highlight>
                <a:srgbClr val="FFFF00"/>
              </a:highlight>
            </a:endParaRPr>
          </a:p>
        </p:txBody>
      </p:sp>
      <p:sp>
        <p:nvSpPr>
          <p:cNvPr id="3" name="内容占位符 2"/>
          <p:cNvSpPr>
            <a:spLocks noGrp="1"/>
          </p:cNvSpPr>
          <p:nvPr>
            <p:ph idx="1"/>
          </p:nvPr>
        </p:nvSpPr>
        <p:spPr>
          <a:xfrm>
            <a:off x="586409" y="2431429"/>
            <a:ext cx="8229600"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Argot is specialized informal language used by people who are affiliated with a particular co-culture. </a:t>
            </a:r>
            <a:r>
              <a:rPr lang="en-US" altLang="zh-CN" sz="2400" dirty="0">
                <a:latin typeface="Times New Roman" panose="02020603050405020304" pitchFamily="18" charset="0"/>
                <a:cs typeface="Times New Roman" panose="02020603050405020304" pitchFamily="18" charset="0"/>
              </a:rPr>
              <a:t>This dedicated vocabulary serves </a:t>
            </a:r>
            <a:r>
              <a:rPr lang="en-US" altLang="zh-CN" sz="2400" dirty="0">
                <a:solidFill>
                  <a:srgbClr val="FF0000"/>
                </a:solidFill>
                <a:latin typeface="Times New Roman" panose="02020603050405020304" pitchFamily="18" charset="0"/>
                <a:cs typeface="Times New Roman" panose="02020603050405020304" pitchFamily="18" charset="0"/>
              </a:rPr>
              <a:t>two main purposes</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First, it is an in-group and secret language. </a:t>
            </a:r>
            <a:r>
              <a:rPr lang="en-US" altLang="zh-CN" sz="2400" dirty="0">
                <a:latin typeface="Times New Roman" panose="02020603050405020304" pitchFamily="18" charset="0"/>
                <a:cs typeface="Times New Roman" panose="02020603050405020304" pitchFamily="18" charset="0"/>
              </a:rPr>
              <a:t>While outsiders may understand the language and even try to use it, it is, nevertheless, part of the domain of the co-culture. </a:t>
            </a:r>
            <a:r>
              <a:rPr lang="en-US" altLang="zh-CN" sz="2400" dirty="0">
                <a:solidFill>
                  <a:srgbClr val="FF0000"/>
                </a:solidFill>
                <a:latin typeface="Times New Roman" panose="02020603050405020304" pitchFamily="18" charset="0"/>
                <a:cs typeface="Times New Roman" panose="02020603050405020304" pitchFamily="18" charset="0"/>
              </a:rPr>
              <a:t>Second</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rPr>
              <a:t>the language establishes a strong sense of identity</a:t>
            </a:r>
            <a:r>
              <a:rPr lang="en-US" altLang="zh-CN" sz="2400" dirty="0">
                <a:latin typeface="Times New Roman" panose="02020603050405020304" pitchFamily="18" charset="0"/>
                <a:cs typeface="Times New Roman" panose="02020603050405020304" pitchFamily="18" charset="0"/>
              </a:rPr>
              <a:t>, as it is associated only with members of the co-culture. </a:t>
            </a:r>
            <a:endParaRPr lang="zh-CN"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543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139" y="2332037"/>
            <a:ext cx="8229600"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In the United States many individuals employ a specialized vocabulary that identifies them as members of a particular co-culture or group. </a:t>
            </a:r>
            <a:r>
              <a:rPr lang="en-US" altLang="zh-CN" sz="2400" dirty="0">
                <a:latin typeface="Times New Roman" panose="02020603050405020304" pitchFamily="18" charset="0"/>
                <a:cs typeface="Times New Roman" panose="02020603050405020304" pitchFamily="18" charset="0"/>
              </a:rPr>
              <a:t>Members of these groups may employ a specialized vocabulary to obscure the intended meaning or to create a sense of identity. </a:t>
            </a:r>
            <a:r>
              <a:rPr lang="en-US" altLang="zh-CN" sz="2400" dirty="0">
                <a:solidFill>
                  <a:srgbClr val="FF0000"/>
                </a:solidFill>
                <a:latin typeface="Times New Roman" panose="02020603050405020304" pitchFamily="18" charset="0"/>
                <a:cs typeface="Times New Roman" panose="02020603050405020304" pitchFamily="18" charset="0"/>
              </a:rPr>
              <a:t>These co-cultures will often change words and their meanings or invent new words </a:t>
            </a:r>
            <a:r>
              <a:rPr lang="en-US" altLang="zh-CN" sz="2400" dirty="0">
                <a:latin typeface="Times New Roman" panose="02020603050405020304" pitchFamily="18" charset="0"/>
                <a:cs typeface="Times New Roman" panose="02020603050405020304" pitchFamily="18" charset="0"/>
              </a:rPr>
              <a:t>so that in-group members can communicate with fellow members while excluding outsiders who might be listening</a:t>
            </a:r>
            <a:r>
              <a:rPr lang="en-US" altLang="zh-CN" sz="2400" dirty="0">
                <a:solidFill>
                  <a:srgbClr val="FF0000"/>
                </a:solidFill>
                <a:latin typeface="Times New Roman" panose="02020603050405020304" pitchFamily="18" charset="0"/>
                <a:cs typeface="Times New Roman" panose="02020603050405020304" pitchFamily="18" charset="0"/>
              </a:rPr>
              <a:t>. In this sense, most words of argot are short lived. </a:t>
            </a:r>
            <a:endParaRPr lang="zh-CN" altLang="zh-CN" sz="2400" dirty="0">
              <a:solidFill>
                <a:srgbClr val="FF0000"/>
              </a:solidFill>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67139" y="443603"/>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6.3.2.3 Argot </a:t>
            </a:r>
            <a:r>
              <a:rPr lang="en-US" altLang="zh-CN" dirty="0">
                <a:highlight>
                  <a:srgbClr val="FFFF00"/>
                </a:highlight>
                <a:latin typeface="Times New Roman" panose="02020603050405020304" pitchFamily="18" charset="0"/>
                <a:cs typeface="Times New Roman" panose="02020603050405020304" pitchFamily="18" charset="0"/>
              </a:rPr>
              <a:t>P203</a:t>
            </a:r>
            <a:endParaRPr lang="zh-CN" altLang="en-US" dirty="0">
              <a:highlight>
                <a:srgbClr val="FFFF00"/>
              </a:highlight>
            </a:endParaRPr>
          </a:p>
        </p:txBody>
      </p:sp>
      <p:pic>
        <p:nvPicPr>
          <p:cNvPr id="5" name="图片 4">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1305" y="5943946"/>
            <a:ext cx="1017104" cy="1017104"/>
          </a:xfrm>
          <a:prstGeom prst="rect">
            <a:avLst/>
          </a:prstGeom>
        </p:spPr>
      </p:pic>
    </p:spTree>
    <p:extLst>
      <p:ext uri="{BB962C8B-B14F-4D97-AF65-F5344CB8AC3E}">
        <p14:creationId xmlns:p14="http://schemas.microsoft.com/office/powerpoint/2010/main" val="33746190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6.3.2.4 Slang </a:t>
            </a:r>
            <a:r>
              <a:rPr lang="en-US" altLang="zh-CN" dirty="0">
                <a:highlight>
                  <a:srgbClr val="FFFF00"/>
                </a:highlight>
                <a:latin typeface="Times New Roman" panose="02020603050405020304" pitchFamily="18" charset="0"/>
                <a:cs typeface="Times New Roman" panose="02020603050405020304" pitchFamily="18" charset="0"/>
              </a:rPr>
              <a:t>P203</a:t>
            </a:r>
            <a:endParaRPr lang="zh-CN" altLang="en-US" dirty="0">
              <a:highlight>
                <a:srgbClr val="FFFF00"/>
              </a:highlight>
            </a:endParaRPr>
          </a:p>
        </p:txBody>
      </p:sp>
      <p:sp>
        <p:nvSpPr>
          <p:cNvPr id="3" name="内容占位符 2"/>
          <p:cNvSpPr>
            <a:spLocks noGrp="1"/>
          </p:cNvSpPr>
          <p:nvPr>
            <p:ph idx="1"/>
          </p:nvPr>
        </p:nvSpPr>
        <p:spPr>
          <a:xfrm>
            <a:off x="546652" y="2484781"/>
            <a:ext cx="8229600"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The problem </a:t>
            </a:r>
            <a:r>
              <a:rPr lang="en-US" altLang="zh-CN" sz="2400" dirty="0">
                <a:latin typeface="Times New Roman" panose="02020603050405020304" pitchFamily="18" charset="0"/>
                <a:cs typeface="Times New Roman" panose="02020603050405020304" pitchFamily="18" charset="0"/>
              </a:rPr>
              <a:t>in intercultural communication is that </a:t>
            </a:r>
            <a:r>
              <a:rPr lang="en-US" altLang="zh-CN" sz="2400" dirty="0">
                <a:solidFill>
                  <a:srgbClr val="FF0000"/>
                </a:solidFill>
                <a:latin typeface="Times New Roman" panose="02020603050405020304" pitchFamily="18" charset="0"/>
                <a:cs typeface="Times New Roman" panose="02020603050405020304" pitchFamily="18" charset="0"/>
              </a:rPr>
              <a:t>slang usually fails to work when the participants are from different cultures</a:t>
            </a:r>
            <a:r>
              <a:rPr lang="en-US" altLang="zh-CN" sz="2400" dirty="0">
                <a:latin typeface="Times New Roman" panose="02020603050405020304" pitchFamily="18" charset="0"/>
                <a:cs typeface="Times New Roman" panose="02020603050405020304" pitchFamily="18" charset="0"/>
              </a:rPr>
              <a:t>. That is, while it is found in nearly every culture and co-culture, </a:t>
            </a:r>
            <a:r>
              <a:rPr lang="en-US" altLang="zh-CN" sz="2400" dirty="0">
                <a:solidFill>
                  <a:srgbClr val="FF0000"/>
                </a:solidFill>
                <a:latin typeface="Times New Roman" panose="02020603050405020304" pitchFamily="18" charset="0"/>
                <a:cs typeface="Times New Roman" panose="02020603050405020304" pitchFamily="18" charset="0"/>
              </a:rPr>
              <a:t>slang typically does not cross cultures</a:t>
            </a:r>
            <a:r>
              <a:rPr lang="en-US" altLang="zh-CN" sz="2400" dirty="0">
                <a:latin typeface="Times New Roman" panose="02020603050405020304" pitchFamily="18" charset="0"/>
                <a:cs typeface="Times New Roman" panose="02020603050405020304" pitchFamily="18" charset="0"/>
              </a:rPr>
              <a:t>. Slang designates those nonstandard terms, usually used in instances of informality, which serve as a means of marking social or linguistic identity. </a:t>
            </a:r>
            <a:r>
              <a:rPr lang="en-US" altLang="zh-CN" sz="2400" dirty="0">
                <a:solidFill>
                  <a:srgbClr val="FF0000"/>
                </a:solidFill>
                <a:latin typeface="Times New Roman" panose="02020603050405020304" pitchFamily="18" charset="0"/>
                <a:cs typeface="Times New Roman" panose="02020603050405020304" pitchFamily="18" charset="0"/>
              </a:rPr>
              <a:t>The notion of marking identity is at the core of slang.</a:t>
            </a:r>
          </a:p>
        </p:txBody>
      </p:sp>
    </p:spTree>
    <p:extLst>
      <p:ext uri="{BB962C8B-B14F-4D97-AF65-F5344CB8AC3E}">
        <p14:creationId xmlns:p14="http://schemas.microsoft.com/office/powerpoint/2010/main" val="17456977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431428"/>
            <a:ext cx="8418443"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At one time, slang was considered to be a low form of communication. However, many now agree that slang </a:t>
            </a:r>
            <a:r>
              <a:rPr lang="en-US" altLang="zh-CN" sz="2400" dirty="0">
                <a:solidFill>
                  <a:srgbClr val="FF0000"/>
                </a:solidFill>
                <a:latin typeface="Times New Roman" panose="02020603050405020304" pitchFamily="18" charset="0"/>
                <a:cs typeface="Times New Roman" panose="02020603050405020304" pitchFamily="18" charset="0"/>
              </a:rPr>
              <a:t>offers people a kind of alternative second language</a:t>
            </a:r>
            <a:r>
              <a:rPr lang="en-US" altLang="zh-CN" sz="2400" dirty="0">
                <a:latin typeface="Times New Roman" panose="02020603050405020304" pitchFamily="18" charset="0"/>
                <a:cs typeface="Times New Roman" panose="02020603050405020304" pitchFamily="18" charset="0"/>
              </a:rPr>
              <a:t> that allows them to identify and interact with members of an in-group. </a:t>
            </a:r>
            <a:r>
              <a:rPr lang="en-US" altLang="zh-CN" sz="2400" dirty="0">
                <a:solidFill>
                  <a:srgbClr val="FF0000"/>
                </a:solidFill>
                <a:latin typeface="Times New Roman" panose="02020603050405020304" pitchFamily="18" charset="0"/>
                <a:cs typeface="Times New Roman" panose="02020603050405020304" pitchFamily="18" charset="0"/>
              </a:rPr>
              <a:t>In addition, using slang can make the user sound novel, witty, and one of the gang.</a:t>
            </a:r>
            <a:r>
              <a:rPr lang="en-US" altLang="zh-CN" sz="2400" dirty="0">
                <a:latin typeface="Times New Roman" panose="02020603050405020304" pitchFamily="18" charset="0"/>
                <a:cs typeface="Times New Roman" panose="02020603050405020304" pitchFamily="18" charset="0"/>
              </a:rPr>
              <a:t> In any event, slang has been around for centuries and is widely used today. </a:t>
            </a:r>
            <a:r>
              <a:rPr lang="en-US" altLang="zh-CN" sz="2400" dirty="0">
                <a:solidFill>
                  <a:srgbClr val="FF0000"/>
                </a:solidFill>
                <a:latin typeface="Times New Roman" panose="02020603050405020304" pitchFamily="18" charset="0"/>
                <a:cs typeface="Times New Roman" panose="02020603050405020304" pitchFamily="18" charset="0"/>
              </a:rPr>
              <a:t>It is important to keep in mind that slang, like argot, is always in a state of flux. </a:t>
            </a:r>
            <a:endParaRPr lang="zh-CN" altLang="en-US" sz="2400" dirty="0">
              <a:solidFill>
                <a:srgbClr val="FF0000"/>
              </a:solidFill>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6.3.2.4 Slang </a:t>
            </a:r>
            <a:r>
              <a:rPr lang="en-US" altLang="zh-CN" dirty="0">
                <a:highlight>
                  <a:srgbClr val="FFFF00"/>
                </a:highlight>
                <a:latin typeface="Times New Roman" panose="02020603050405020304" pitchFamily="18" charset="0"/>
                <a:cs typeface="Times New Roman" panose="02020603050405020304" pitchFamily="18" charset="0"/>
              </a:rPr>
              <a:t>P203</a:t>
            </a:r>
            <a:endParaRPr lang="zh-CN" altLang="en-US" dirty="0">
              <a:highlight>
                <a:srgbClr val="FFFF00"/>
              </a:highlight>
            </a:endParaRPr>
          </a:p>
        </p:txBody>
      </p:sp>
      <p:pic>
        <p:nvPicPr>
          <p:cNvPr id="5" name="图片 4">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98295" y="5980043"/>
            <a:ext cx="977348" cy="977348"/>
          </a:xfrm>
          <a:prstGeom prst="rect">
            <a:avLst/>
          </a:prstGeom>
        </p:spPr>
      </p:pic>
    </p:spTree>
    <p:extLst>
      <p:ext uri="{BB962C8B-B14F-4D97-AF65-F5344CB8AC3E}">
        <p14:creationId xmlns:p14="http://schemas.microsoft.com/office/powerpoint/2010/main" val="17568739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6.3.2.7 Texting </a:t>
            </a:r>
            <a:r>
              <a:rPr lang="en-US" altLang="zh-CN" dirty="0">
                <a:highlight>
                  <a:srgbClr val="FFFF00"/>
                </a:highlight>
                <a:latin typeface="Times New Roman" panose="02020603050405020304" pitchFamily="18" charset="0"/>
                <a:cs typeface="Times New Roman" panose="02020603050405020304" pitchFamily="18" charset="0"/>
              </a:rPr>
              <a:t>P204</a:t>
            </a:r>
            <a:endParaRPr lang="zh-CN" altLang="en-US" dirty="0">
              <a:highlight>
                <a:srgbClr val="FFFF00"/>
              </a:highlight>
            </a:endParaRPr>
          </a:p>
        </p:txBody>
      </p:sp>
      <p:sp>
        <p:nvSpPr>
          <p:cNvPr id="3" name="内容占位符 2"/>
          <p:cNvSpPr>
            <a:spLocks noGrp="1"/>
          </p:cNvSpPr>
          <p:nvPr>
            <p:ph idx="1"/>
          </p:nvPr>
        </p:nvSpPr>
        <p:spPr>
          <a:xfrm>
            <a:off x="447261" y="2435087"/>
            <a:ext cx="8696739"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Texting involves employing a cell phone or some other electronic device to send a message as text. By </a:t>
            </a:r>
            <a:r>
              <a:rPr lang="en-US" altLang="zh-CN" sz="2400" dirty="0">
                <a:solidFill>
                  <a:srgbClr val="FF0000"/>
                </a:solidFill>
                <a:latin typeface="Times New Roman" panose="02020603050405020304" pitchFamily="18" charset="0"/>
                <a:cs typeface="Times New Roman" panose="02020603050405020304" pitchFamily="18" charset="0"/>
              </a:rPr>
              <a:t>using acronyms and abbreviations</a:t>
            </a:r>
            <a:r>
              <a:rPr lang="en-US" altLang="zh-CN" sz="2400" dirty="0">
                <a:latin typeface="Times New Roman" panose="02020603050405020304" pitchFamily="18" charset="0"/>
                <a:cs typeface="Times New Roman" panose="02020603050405020304" pitchFamily="18" charset="0"/>
              </a:rPr>
              <a:t>, messages can be sent much faster than by typing out long passages on the keyboard. </a:t>
            </a:r>
            <a:r>
              <a:rPr lang="en-US" altLang="zh-CN" sz="2400" dirty="0">
                <a:solidFill>
                  <a:srgbClr val="FF0000"/>
                </a:solidFill>
                <a:latin typeface="Times New Roman" panose="02020603050405020304" pitchFamily="18" charset="0"/>
                <a:cs typeface="Times New Roman" panose="02020603050405020304" pitchFamily="18" charset="0"/>
              </a:rPr>
              <a:t>Those abbreviations now represent a form of slang. The problem</a:t>
            </a:r>
            <a:r>
              <a:rPr lang="en-US" altLang="zh-CN" sz="2400" dirty="0">
                <a:latin typeface="Times New Roman" panose="02020603050405020304" pitchFamily="18" charset="0"/>
                <a:cs typeface="Times New Roman" panose="02020603050405020304" pitchFamily="18" charset="0"/>
              </a:rPr>
              <a:t> is that this new shorthand uses the English alphabet. If someone does not know that alphabet, he or she may not understand the slang. Plus, many of the text abbreviations may contain concepts that are culture specific. </a:t>
            </a:r>
            <a:endParaRPr lang="zh-CN" altLang="en-US"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1305" y="5943946"/>
            <a:ext cx="1017104" cy="1017104"/>
          </a:xfrm>
          <a:prstGeom prst="rect">
            <a:avLst/>
          </a:prstGeom>
        </p:spPr>
      </p:pic>
    </p:spTree>
    <p:extLst>
      <p:ext uri="{BB962C8B-B14F-4D97-AF65-F5344CB8AC3E}">
        <p14:creationId xmlns:p14="http://schemas.microsoft.com/office/powerpoint/2010/main" val="3603203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73420"/>
            <a:ext cx="8229600" cy="1143000"/>
          </a:xfrm>
        </p:spPr>
        <p:txBody>
          <a:bodyPr/>
          <a:lstStyle/>
          <a:p>
            <a:r>
              <a:rPr lang="en-US" altLang="zh-CN" dirty="0">
                <a:latin typeface="Times New Roman" panose="02020603050405020304" pitchFamily="18" charset="0"/>
                <a:cs typeface="Times New Roman" panose="02020603050405020304" pitchFamily="18" charset="0"/>
              </a:rPr>
              <a:t>6.3.2.8 Idioms </a:t>
            </a:r>
            <a:r>
              <a:rPr lang="en-US" altLang="zh-CN" dirty="0">
                <a:highlight>
                  <a:srgbClr val="FFFF00"/>
                </a:highlight>
                <a:latin typeface="Times New Roman" panose="02020603050405020304" pitchFamily="18" charset="0"/>
                <a:cs typeface="Times New Roman" panose="02020603050405020304" pitchFamily="18" charset="0"/>
              </a:rPr>
              <a:t>P204</a:t>
            </a:r>
            <a:endParaRPr lang="zh-CN" altLang="en-US" dirty="0">
              <a:highlight>
                <a:srgbClr val="FFFF00"/>
              </a:highlight>
            </a:endParaRPr>
          </a:p>
        </p:txBody>
      </p:sp>
      <p:sp>
        <p:nvSpPr>
          <p:cNvPr id="3" name="内容占位符 2"/>
          <p:cNvSpPr>
            <a:spLocks noGrp="1"/>
          </p:cNvSpPr>
          <p:nvPr>
            <p:ph idx="1"/>
          </p:nvPr>
        </p:nvSpPr>
        <p:spPr>
          <a:xfrm>
            <a:off x="457200" y="2435087"/>
            <a:ext cx="8229600"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A major problem non-English-speaking people face is that thousands of words and phrases are unique to particular cultures. Idioms fall into that category. </a:t>
            </a:r>
            <a:r>
              <a:rPr lang="en-US" altLang="zh-CN" sz="2400" dirty="0">
                <a:latin typeface="Times New Roman" panose="02020603050405020304" pitchFamily="18" charset="0"/>
                <a:cs typeface="Times New Roman" panose="02020603050405020304" pitchFamily="18" charset="0"/>
              </a:rPr>
              <a:t>In fact, it is estimated that the English language has over 15,000 idioms that native English speakers use on a regular basis. </a:t>
            </a:r>
            <a:r>
              <a:rPr lang="en-US" altLang="zh-CN" sz="2400" dirty="0">
                <a:solidFill>
                  <a:srgbClr val="FF0000"/>
                </a:solidFill>
                <a:latin typeface="Times New Roman" panose="02020603050405020304" pitchFamily="18" charset="0"/>
                <a:cs typeface="Times New Roman" panose="02020603050405020304" pitchFamily="18" charset="0"/>
              </a:rPr>
              <a:t>By definition, idioms are a group of words that when used together have a particular meaning different from the sum of the meanings of the individual words in isolation. </a:t>
            </a:r>
            <a:r>
              <a:rPr lang="en-US" altLang="zh-CN" sz="2400" dirty="0">
                <a:latin typeface="Times New Roman" panose="02020603050405020304" pitchFamily="18" charset="0"/>
                <a:cs typeface="Times New Roman" panose="02020603050405020304" pitchFamily="18" charset="0"/>
              </a:rPr>
              <a:t>Hence, idioms are not capable of literal translation. </a:t>
            </a:r>
            <a:endParaRPr lang="zh-CN" altLang="en-US"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1305" y="5943946"/>
            <a:ext cx="1017104" cy="1017104"/>
          </a:xfrm>
          <a:prstGeom prst="rect">
            <a:avLst/>
          </a:prstGeom>
        </p:spPr>
      </p:pic>
    </p:spTree>
    <p:extLst>
      <p:ext uri="{BB962C8B-B14F-4D97-AF65-F5344CB8AC3E}">
        <p14:creationId xmlns:p14="http://schemas.microsoft.com/office/powerpoint/2010/main" val="33527221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6.3.3 Using Language </a:t>
            </a:r>
            <a:r>
              <a:rPr lang="en-US" altLang="zh-CN" dirty="0">
                <a:highlight>
                  <a:srgbClr val="FFFF00"/>
                </a:highlight>
                <a:latin typeface="Times New Roman" panose="02020603050405020304" pitchFamily="18" charset="0"/>
                <a:cs typeface="Times New Roman" panose="02020603050405020304" pitchFamily="18" charset="0"/>
              </a:rPr>
              <a:t>P205</a:t>
            </a:r>
            <a:endParaRPr lang="zh-CN" altLang="en-US" dirty="0">
              <a:highlight>
                <a:srgbClr val="FFFF00"/>
              </a:highlight>
            </a:endParaRPr>
          </a:p>
        </p:txBody>
      </p:sp>
      <p:sp>
        <p:nvSpPr>
          <p:cNvPr id="3" name="内容占位符 2"/>
          <p:cNvSpPr>
            <a:spLocks noGrp="1"/>
          </p:cNvSpPr>
          <p:nvPr>
            <p:ph idx="1"/>
          </p:nvPr>
        </p:nvSpPr>
        <p:spPr>
          <a:xfrm>
            <a:off x="457200" y="2411549"/>
            <a:ext cx="8229600"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Language frequently differentiates one culture from another. </a:t>
            </a:r>
            <a:r>
              <a:rPr lang="en-US" altLang="zh-CN" sz="2400" dirty="0">
                <a:latin typeface="Times New Roman" panose="02020603050405020304" pitchFamily="18" charset="0"/>
                <a:cs typeface="Times New Roman" panose="02020603050405020304" pitchFamily="18" charset="0"/>
              </a:rPr>
              <a:t>Every country has its way of saying things. The important thing is that which lies behind people’s words. And what lies behind those words is a reflection of the country’s values, beliefs, and countless linguistic rules. This section will examine a few select cultures and attempt to demonstrate the links among language, perception, and communication to help you understand the different ways people use their language.</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43343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14400" y="2425148"/>
            <a:ext cx="8229600" cy="4525963"/>
          </a:xfrm>
        </p:spPr>
        <p:txBody>
          <a:bodyPr/>
          <a:lstStyle/>
          <a:p>
            <a:pPr>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2" action="ppaction://hlinksldjump"/>
              </a:rPr>
              <a:t>English</a:t>
            </a:r>
            <a:endParaRPr lang="en-US" altLang="zh-CN" sz="36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3" action="ppaction://hlinksldjump"/>
              </a:rPr>
              <a:t>Spanish</a:t>
            </a:r>
            <a:r>
              <a:rPr lang="en-US" altLang="zh-CN" sz="3600" dirty="0">
                <a:latin typeface="Times New Roman" panose="02020603050405020304" pitchFamily="18" charset="0"/>
                <a:cs typeface="Times New Roman" panose="02020603050405020304" pitchFamily="18" charset="0"/>
              </a:rPr>
              <a:t> </a:t>
            </a:r>
          </a:p>
          <a:p>
            <a:pPr>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4" action="ppaction://hlinksldjump"/>
              </a:rPr>
              <a:t>Brazilian Portuguese</a:t>
            </a:r>
            <a:endParaRPr lang="en-US" altLang="zh-CN" sz="36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5" action="ppaction://hlinksldjump"/>
              </a:rPr>
              <a:t>Northeast Asian</a:t>
            </a:r>
            <a:endParaRPr lang="en-US" altLang="zh-CN" sz="36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6" action="ppaction://hlinksldjump"/>
              </a:rPr>
              <a:t>Arabic</a:t>
            </a:r>
            <a:endParaRPr lang="en-US" altLang="zh-CN" sz="36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7" action="ppaction://hlinksldjump"/>
              </a:rPr>
              <a:t>German </a:t>
            </a:r>
            <a:r>
              <a:rPr lang="en-US" altLang="zh-CN" sz="3600" dirty="0">
                <a:latin typeface="Times New Roman" panose="02020603050405020304" pitchFamily="18" charset="0"/>
                <a:cs typeface="Times New Roman" panose="02020603050405020304" pitchFamily="18" charset="0"/>
              </a:rPr>
              <a:t> </a:t>
            </a:r>
            <a:endParaRPr lang="zh-CN" altLang="en-US" sz="3600" dirty="0">
              <a:latin typeface="Times New Roman" panose="02020603050405020304" pitchFamily="18" charset="0"/>
              <a:cs typeface="Times New Roman" panose="02020603050405020304" pitchFamily="18" charset="0"/>
            </a:endParaRPr>
          </a:p>
          <a:p>
            <a:endParaRPr lang="zh-CN" altLang="en-US" dirty="0"/>
          </a:p>
        </p:txBody>
      </p:sp>
      <p:sp>
        <p:nvSpPr>
          <p:cNvPr id="4"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a:latin typeface="Times New Roman" panose="02020603050405020304" pitchFamily="18" charset="0"/>
                <a:cs typeface="Times New Roman" panose="02020603050405020304" pitchFamily="18" charset="0"/>
              </a:rPr>
              <a:t>Using Language</a:t>
            </a:r>
            <a:endParaRPr lang="zh-CN" altLang="en-US" dirty="0"/>
          </a:p>
        </p:txBody>
      </p:sp>
      <p:pic>
        <p:nvPicPr>
          <p:cNvPr id="5" name="图片 4">
            <a:hlinkClick r:id="rId8"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951305" y="5943946"/>
            <a:ext cx="1017104" cy="1017104"/>
          </a:xfrm>
          <a:prstGeom prst="rect">
            <a:avLst/>
          </a:prstGeom>
        </p:spPr>
      </p:pic>
    </p:spTree>
    <p:extLst>
      <p:ext uri="{BB962C8B-B14F-4D97-AF65-F5344CB8AC3E}">
        <p14:creationId xmlns:p14="http://schemas.microsoft.com/office/powerpoint/2010/main" val="9615803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23725"/>
            <a:ext cx="8229600" cy="1143000"/>
          </a:xfrm>
        </p:spPr>
        <p:txBody>
          <a:bodyPr/>
          <a:lstStyle/>
          <a:p>
            <a:r>
              <a:rPr lang="en-US" altLang="zh-CN" dirty="0">
                <a:latin typeface="Times New Roman" panose="02020603050405020304" pitchFamily="18" charset="0"/>
                <a:cs typeface="Times New Roman" panose="02020603050405020304" pitchFamily="18" charset="0"/>
              </a:rPr>
              <a:t>6.3.3.1 English </a:t>
            </a:r>
            <a:r>
              <a:rPr lang="en-US" altLang="zh-CN" dirty="0">
                <a:highlight>
                  <a:srgbClr val="FFFF00"/>
                </a:highlight>
                <a:latin typeface="Times New Roman" panose="02020603050405020304" pitchFamily="18" charset="0"/>
                <a:cs typeface="Times New Roman" panose="02020603050405020304" pitchFamily="18" charset="0"/>
              </a:rPr>
              <a:t>P205</a:t>
            </a:r>
            <a:endParaRPr lang="zh-CN" altLang="en-US" dirty="0">
              <a:highlight>
                <a:srgbClr val="FFFF00"/>
              </a:highlight>
            </a:endParaRPr>
          </a:p>
        </p:txBody>
      </p:sp>
      <p:sp>
        <p:nvSpPr>
          <p:cNvPr id="3" name="内容占位符 2"/>
          <p:cNvSpPr>
            <a:spLocks noGrp="1"/>
          </p:cNvSpPr>
          <p:nvPr>
            <p:ph idx="1"/>
          </p:nvPr>
        </p:nvSpPr>
        <p:spPr>
          <a:xfrm>
            <a:off x="457200" y="2431428"/>
            <a:ext cx="8229600"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As mentioned previously, language usage reflects many of the deep structure values of a culture. </a:t>
            </a:r>
            <a:r>
              <a:rPr lang="en-US" altLang="zh-CN" sz="2400" dirty="0">
                <a:latin typeface="Times New Roman" panose="02020603050405020304" pitchFamily="18" charset="0"/>
                <a:cs typeface="Times New Roman" panose="02020603050405020304" pitchFamily="18" charset="0"/>
              </a:rPr>
              <a:t>The directness of a language represents an excellent example of this point. Most members of the dominant U.S. culture tend to be </a:t>
            </a:r>
            <a:r>
              <a:rPr lang="en-US" altLang="zh-CN" sz="2400" dirty="0">
                <a:solidFill>
                  <a:srgbClr val="FF0000"/>
                </a:solidFill>
                <a:latin typeface="Times New Roman" panose="02020603050405020304" pitchFamily="18" charset="0"/>
                <a:cs typeface="Times New Roman" panose="02020603050405020304" pitchFamily="18" charset="0"/>
              </a:rPr>
              <a:t>direct in their communication style</a:t>
            </a:r>
            <a:r>
              <a:rPr lang="en-US" altLang="zh-CN" sz="2400" dirty="0">
                <a:latin typeface="Times New Roman" panose="02020603050405020304" pitchFamily="18" charset="0"/>
                <a:cs typeface="Times New Roman" panose="02020603050405020304" pitchFamily="18" charset="0"/>
              </a:rPr>
              <a:t>. Americans are rarely reserved. Instead, the language used by most U.S. Americans can be characterized </a:t>
            </a:r>
            <a:r>
              <a:rPr lang="en-US" altLang="zh-CN" sz="2400" dirty="0">
                <a:solidFill>
                  <a:srgbClr val="FF0000"/>
                </a:solidFill>
                <a:latin typeface="Times New Roman" panose="02020603050405020304" pitchFamily="18" charset="0"/>
                <a:cs typeface="Times New Roman" panose="02020603050405020304" pitchFamily="18" charset="0"/>
              </a:rPr>
              <a:t>as direct, blunt, frank, and unequivocal</a:t>
            </a:r>
            <a:r>
              <a:rPr lang="en-US" altLang="zh-CN" sz="2400" dirty="0">
                <a:latin typeface="Times New Roman" panose="02020603050405020304" pitchFamily="18" charset="0"/>
                <a:cs typeface="Times New Roman" panose="02020603050405020304" pitchFamily="18" charset="0"/>
              </a:rPr>
              <a:t>. These traits are developed very early in life. </a:t>
            </a:r>
          </a:p>
        </p:txBody>
      </p:sp>
    </p:spTree>
    <p:extLst>
      <p:ext uri="{BB962C8B-B14F-4D97-AF65-F5344CB8AC3E}">
        <p14:creationId xmlns:p14="http://schemas.microsoft.com/office/powerpoint/2010/main" val="38885064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66530" y="2504661"/>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An outgrowth of people seeking to have their opinions heard can be seen in the passion many U.S. Americans have for talk shows that allow people to tell others how they feel regarding a wide array of very personal topics. </a:t>
            </a:r>
            <a:r>
              <a:rPr lang="en-US" altLang="zh-CN" sz="2400" dirty="0">
                <a:solidFill>
                  <a:srgbClr val="FF0000"/>
                </a:solidFill>
                <a:latin typeface="Times New Roman" panose="02020603050405020304" pitchFamily="18" charset="0"/>
                <a:cs typeface="Times New Roman" panose="02020603050405020304" pitchFamily="18" charset="0"/>
              </a:rPr>
              <a:t>In short, people are willing to talk about anything just so they can talk. </a:t>
            </a:r>
            <a:r>
              <a:rPr lang="en-US" altLang="zh-CN" sz="2400" dirty="0">
                <a:latin typeface="Times New Roman" panose="02020603050405020304" pitchFamily="18" charset="0"/>
                <a:cs typeface="Times New Roman" panose="02020603050405020304" pitchFamily="18" charset="0"/>
              </a:rPr>
              <a:t>Internet blogs and Twitter are also instances of the desire people have to be heard.</a:t>
            </a:r>
            <a:endParaRPr lang="zh-CN" altLang="en-US" sz="24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423725"/>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6.3.3.1 English </a:t>
            </a:r>
            <a:r>
              <a:rPr lang="en-US" altLang="zh-CN" dirty="0">
                <a:highlight>
                  <a:srgbClr val="FFFF00"/>
                </a:highlight>
                <a:latin typeface="Times New Roman" panose="02020603050405020304" pitchFamily="18" charset="0"/>
                <a:cs typeface="Times New Roman" panose="02020603050405020304" pitchFamily="18" charset="0"/>
              </a:rPr>
              <a:t>P205</a:t>
            </a:r>
            <a:endParaRPr lang="zh-CN" altLang="en-US" dirty="0">
              <a:highlight>
                <a:srgbClr val="FFFF00"/>
              </a:highlight>
            </a:endParaRPr>
          </a:p>
        </p:txBody>
      </p:sp>
    </p:spTree>
    <p:extLst>
      <p:ext uri="{BB962C8B-B14F-4D97-AF65-F5344CB8AC3E}">
        <p14:creationId xmlns:p14="http://schemas.microsoft.com/office/powerpoint/2010/main" val="37291703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66530" y="2435087"/>
            <a:ext cx="8229600"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Another cultural value that is how frequently people use “I” in conversation and writing. </a:t>
            </a:r>
            <a:r>
              <a:rPr lang="en-US" altLang="zh-CN" sz="2400" dirty="0">
                <a:latin typeface="Times New Roman" panose="02020603050405020304" pitchFamily="18" charset="0"/>
                <a:cs typeface="Times New Roman" panose="02020603050405020304" pitchFamily="18" charset="0"/>
              </a:rPr>
              <a:t>When constructing your résumé, personal accomplishments and rewards take precedence over group efforts. During communicative interactions, you will probably be </a:t>
            </a:r>
            <a:r>
              <a:rPr lang="en-US" altLang="zh-CN" sz="2400" dirty="0">
                <a:solidFill>
                  <a:srgbClr val="FF0000"/>
                </a:solidFill>
                <a:latin typeface="Times New Roman" panose="02020603050405020304" pitchFamily="18" charset="0"/>
                <a:cs typeface="Times New Roman" panose="02020603050405020304" pitchFamily="18" charset="0"/>
              </a:rPr>
              <a:t>more concerned with protecting your own ego than that of others.</a:t>
            </a:r>
            <a:r>
              <a:rPr lang="en-US" altLang="zh-CN" sz="2400" dirty="0">
                <a:latin typeface="Times New Roman" panose="02020603050405020304" pitchFamily="18" charset="0"/>
                <a:cs typeface="Times New Roman" panose="02020603050405020304" pitchFamily="18" charset="0"/>
              </a:rPr>
              <a:t> This encourages U.S. Americans to </a:t>
            </a:r>
            <a:r>
              <a:rPr lang="en-US" altLang="zh-CN" sz="2400" dirty="0">
                <a:solidFill>
                  <a:srgbClr val="FF0000"/>
                </a:solidFill>
                <a:latin typeface="Times New Roman" panose="02020603050405020304" pitchFamily="18" charset="0"/>
                <a:cs typeface="Times New Roman" panose="02020603050405020304" pitchFamily="18" charset="0"/>
              </a:rPr>
              <a:t>use a very direct, forthright style of communication </a:t>
            </a:r>
            <a:r>
              <a:rPr lang="en-US" altLang="zh-CN" sz="2400" dirty="0">
                <a:latin typeface="Times New Roman" panose="02020603050405020304" pitchFamily="18" charset="0"/>
                <a:cs typeface="Times New Roman" panose="02020603050405020304" pitchFamily="18" charset="0"/>
              </a:rPr>
              <a:t>that promotes the individuality so valued in the United States. </a:t>
            </a:r>
            <a:endParaRPr lang="zh-CN" altLang="en-US" sz="24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423725"/>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6.3.3.1 English </a:t>
            </a:r>
            <a:r>
              <a:rPr lang="en-US" altLang="zh-CN" dirty="0">
                <a:highlight>
                  <a:srgbClr val="FFFF00"/>
                </a:highlight>
                <a:latin typeface="Times New Roman" panose="02020603050405020304" pitchFamily="18" charset="0"/>
                <a:cs typeface="Times New Roman" panose="02020603050405020304" pitchFamily="18" charset="0"/>
              </a:rPr>
              <a:t>P206</a:t>
            </a:r>
            <a:endParaRPr lang="zh-CN" altLang="en-US" dirty="0">
              <a:highlight>
                <a:srgbClr val="FFFF00"/>
              </a:highlight>
            </a:endParaRPr>
          </a:p>
        </p:txBody>
      </p:sp>
      <p:pic>
        <p:nvPicPr>
          <p:cNvPr id="5" name="图片 4">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1305" y="5943946"/>
            <a:ext cx="1017104" cy="1017104"/>
          </a:xfrm>
          <a:prstGeom prst="rect">
            <a:avLst/>
          </a:prstGeom>
        </p:spPr>
      </p:pic>
    </p:spTree>
    <p:extLst>
      <p:ext uri="{BB962C8B-B14F-4D97-AF65-F5344CB8AC3E}">
        <p14:creationId xmlns:p14="http://schemas.microsoft.com/office/powerpoint/2010/main" val="1953552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6652" y="453542"/>
            <a:ext cx="8229600" cy="1143000"/>
          </a:xfrm>
        </p:spPr>
        <p:txBody>
          <a:bodyPr/>
          <a:lstStyle/>
          <a:p>
            <a:r>
              <a:rPr lang="en-US" altLang="zh-CN" dirty="0">
                <a:latin typeface="Times New Roman" panose="02020603050405020304" pitchFamily="18" charset="0"/>
                <a:cs typeface="Times New Roman" panose="02020603050405020304" pitchFamily="18" charset="0"/>
              </a:rPr>
              <a:t>6.3.3.2 Spanish </a:t>
            </a:r>
            <a:r>
              <a:rPr lang="en-US" altLang="zh-CN" dirty="0">
                <a:highlight>
                  <a:srgbClr val="FFFF00"/>
                </a:highlight>
                <a:latin typeface="Times New Roman" panose="02020603050405020304" pitchFamily="18" charset="0"/>
                <a:cs typeface="Times New Roman" panose="02020603050405020304" pitchFamily="18" charset="0"/>
              </a:rPr>
              <a:t>P206</a:t>
            </a:r>
            <a:endParaRPr lang="zh-CN" altLang="en-US" dirty="0">
              <a:highlight>
                <a:srgbClr val="FFFF00"/>
              </a:highlight>
            </a:endParaRPr>
          </a:p>
        </p:txBody>
      </p:sp>
      <p:sp>
        <p:nvSpPr>
          <p:cNvPr id="3" name="内容占位符 2"/>
          <p:cNvSpPr>
            <a:spLocks noGrp="1"/>
          </p:cNvSpPr>
          <p:nvPr>
            <p:ph idx="1"/>
          </p:nvPr>
        </p:nvSpPr>
        <p:spPr>
          <a:xfrm>
            <a:off x="457200" y="2421488"/>
            <a:ext cx="8686800"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An exploration of how the Spanish language is used in Mexico can provide insight into Mexican society and further demonstrate the codependency of language and culture. First,</a:t>
            </a:r>
            <a:r>
              <a:rPr lang="en-US" altLang="zh-CN" sz="2400" dirty="0">
                <a:latin typeface="Times New Roman" panose="02020603050405020304" pitchFamily="18" charset="0"/>
                <a:cs typeface="Times New Roman" panose="02020603050405020304" pitchFamily="18" charset="0"/>
              </a:rPr>
              <a:t> communicative interaction, especially conversation, is an important part of Mexican life, and Mexicans readily engage in casual talk and even delight in wordplay. During interactions, even in business settings, puns, double </a:t>
            </a:r>
            <a:r>
              <a:rPr lang="en-US" altLang="zh-CN" sz="2400" dirty="0" err="1">
                <a:latin typeface="Times New Roman" panose="02020603050405020304" pitchFamily="18" charset="0"/>
                <a:cs typeface="Times New Roman" panose="02020603050405020304" pitchFamily="18" charset="0"/>
              </a:rPr>
              <a:t>entendres</a:t>
            </a:r>
            <a:r>
              <a:rPr lang="en-US" altLang="zh-CN" sz="2400" dirty="0">
                <a:latin typeface="Times New Roman" panose="02020603050405020304" pitchFamily="18" charset="0"/>
                <a:cs typeface="Times New Roman" panose="02020603050405020304" pitchFamily="18" charset="0"/>
              </a:rPr>
              <a:t>, and colloquialisms are frequently interjected, which give conversations a feeling of liveliness and warmth.</a:t>
            </a:r>
            <a:endParaRPr lang="zh-CN"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29538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2504661"/>
            <a:ext cx="8090452"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Interpersonal relationships are very important among Mexicans, and they try to avoid situations that carry the potential for confrontation or loss of face. Therefore, you can observe the Mexican </a:t>
            </a:r>
            <a:r>
              <a:rPr lang="en-US" altLang="zh-CN" sz="2400" dirty="0">
                <a:solidFill>
                  <a:srgbClr val="FF0000"/>
                </a:solidFill>
                <a:latin typeface="Times New Roman" panose="02020603050405020304" pitchFamily="18" charset="0"/>
                <a:cs typeface="Times New Roman" panose="02020603050405020304" pitchFamily="18" charset="0"/>
              </a:rPr>
              <a:t>preference for indirectness in their use of language</a:t>
            </a:r>
            <a:r>
              <a:rPr lang="en-US" altLang="zh-CN" sz="2400" dirty="0">
                <a:latin typeface="Times New Roman" panose="02020603050405020304" pitchFamily="18" charset="0"/>
                <a:cs typeface="Times New Roman" panose="02020603050405020304" pitchFamily="18" charset="0"/>
              </a:rPr>
              <a:t>. Direct arguments are considered rude. The Mexican usually attempts to make every interaction harmonious and in so doing may appear to agree with the other person’s opinion. </a:t>
            </a:r>
            <a:endParaRPr lang="zh-CN" altLang="en-US" sz="2400" dirty="0">
              <a:latin typeface="Times New Roman" panose="02020603050405020304" pitchFamily="18" charset="0"/>
              <a:cs typeface="Times New Roman" panose="02020603050405020304" pitchFamily="18" charset="0"/>
            </a:endParaRPr>
          </a:p>
        </p:txBody>
      </p:sp>
      <p:pic>
        <p:nvPicPr>
          <p:cNvPr id="5" name="图片 4">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1304" y="6013520"/>
            <a:ext cx="1017104" cy="1017104"/>
          </a:xfrm>
          <a:prstGeom prst="rect">
            <a:avLst/>
          </a:prstGeom>
        </p:spPr>
      </p:pic>
      <p:sp>
        <p:nvSpPr>
          <p:cNvPr id="6" name="标题 1"/>
          <p:cNvSpPr txBox="1">
            <a:spLocks/>
          </p:cNvSpPr>
          <p:nvPr/>
        </p:nvSpPr>
        <p:spPr>
          <a:xfrm>
            <a:off x="546652" y="453542"/>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6.3.3.2 Spanish </a:t>
            </a:r>
            <a:r>
              <a:rPr lang="en-US" altLang="zh-CN" dirty="0">
                <a:highlight>
                  <a:srgbClr val="FFFF00"/>
                </a:highlight>
                <a:latin typeface="Times New Roman" panose="02020603050405020304" pitchFamily="18" charset="0"/>
                <a:cs typeface="Times New Roman" panose="02020603050405020304" pitchFamily="18" charset="0"/>
              </a:rPr>
              <a:t>P206</a:t>
            </a:r>
            <a:endParaRPr lang="zh-CN" altLang="en-US" dirty="0">
              <a:highlight>
                <a:srgbClr val="FFFF00"/>
              </a:highlight>
            </a:endParaRPr>
          </a:p>
        </p:txBody>
      </p:sp>
    </p:spTree>
    <p:extLst>
      <p:ext uri="{BB962C8B-B14F-4D97-AF65-F5344CB8AC3E}">
        <p14:creationId xmlns:p14="http://schemas.microsoft.com/office/powerpoint/2010/main" val="41077341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6713" y="483360"/>
            <a:ext cx="8229600" cy="1143000"/>
          </a:xfrm>
        </p:spPr>
        <p:txBody>
          <a:bodyPr/>
          <a:lstStyle/>
          <a:p>
            <a:r>
              <a:rPr lang="en-US" altLang="zh-CN" dirty="0">
                <a:latin typeface="Times New Roman" panose="02020603050405020304" pitchFamily="18" charset="0"/>
                <a:cs typeface="Times New Roman" panose="02020603050405020304" pitchFamily="18" charset="0"/>
              </a:rPr>
              <a:t>6.3.3.3 Brazilian Portuguese </a:t>
            </a:r>
            <a:r>
              <a:rPr lang="en-US" altLang="zh-CN" dirty="0">
                <a:highlight>
                  <a:srgbClr val="FFFF00"/>
                </a:highlight>
                <a:latin typeface="Times New Roman" panose="02020603050405020304" pitchFamily="18" charset="0"/>
                <a:cs typeface="Times New Roman" panose="02020603050405020304" pitchFamily="18" charset="0"/>
              </a:rPr>
              <a:t>P207</a:t>
            </a:r>
            <a:endParaRPr lang="zh-CN" altLang="en-US" dirty="0">
              <a:highlight>
                <a:srgbClr val="FFFF00"/>
              </a:highlight>
            </a:endParaRPr>
          </a:p>
        </p:txBody>
      </p:sp>
      <p:sp>
        <p:nvSpPr>
          <p:cNvPr id="3" name="内容占位符 2"/>
          <p:cNvSpPr>
            <a:spLocks noGrp="1"/>
          </p:cNvSpPr>
          <p:nvPr>
            <p:ph idx="1"/>
          </p:nvPr>
        </p:nvSpPr>
        <p:spPr>
          <a:xfrm>
            <a:off x="536713" y="2620272"/>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Many people assume that Brazilians, because they live in South America, have Spanish as their native language. They do not. </a:t>
            </a:r>
            <a:r>
              <a:rPr lang="en-US" altLang="zh-CN" sz="2400" dirty="0">
                <a:solidFill>
                  <a:srgbClr val="FF0000"/>
                </a:solidFill>
                <a:latin typeface="Times New Roman" panose="02020603050405020304" pitchFamily="18" charset="0"/>
                <a:cs typeface="Times New Roman" panose="02020603050405020304" pitchFamily="18" charset="0"/>
              </a:rPr>
              <a:t>The Brazilian national language is Portuguese. It is also one of the strongest components of Brazilian identity and unity. </a:t>
            </a:r>
            <a:r>
              <a:rPr lang="en-US" altLang="zh-CN" sz="2400" dirty="0">
                <a:latin typeface="Times New Roman" panose="02020603050405020304" pitchFamily="18" charset="0"/>
                <a:cs typeface="Times New Roman" panose="02020603050405020304" pitchFamily="18" charset="0"/>
              </a:rPr>
              <a:t>Brazilians are proud of their language and protective of its use, and people who do not know that Brazilians speak Portuguese rather than Spanish label themselves as ignorant. </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60337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435087"/>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The </a:t>
            </a:r>
            <a:r>
              <a:rPr lang="en-US" altLang="zh-CN" sz="2400" dirty="0">
                <a:solidFill>
                  <a:srgbClr val="FF0000"/>
                </a:solidFill>
                <a:latin typeface="Times New Roman" panose="02020603050405020304" pitchFamily="18" charset="0"/>
                <a:cs typeface="Times New Roman" panose="02020603050405020304" pitchFamily="18" charset="0"/>
              </a:rPr>
              <a:t>hierarchy </a:t>
            </a:r>
            <a:r>
              <a:rPr lang="en-US" altLang="zh-CN" sz="2400" dirty="0">
                <a:latin typeface="Times New Roman" panose="02020603050405020304" pitchFamily="18" charset="0"/>
                <a:cs typeface="Times New Roman" panose="02020603050405020304" pitchFamily="18" charset="0"/>
              </a:rPr>
              <a:t>found in interpersonal relationships is also </a:t>
            </a:r>
            <a:r>
              <a:rPr lang="en-US" altLang="zh-CN" sz="2400" dirty="0">
                <a:solidFill>
                  <a:srgbClr val="FF0000"/>
                </a:solidFill>
                <a:latin typeface="Times New Roman" panose="02020603050405020304" pitchFamily="18" charset="0"/>
                <a:cs typeface="Times New Roman" panose="02020603050405020304" pitchFamily="18" charset="0"/>
              </a:rPr>
              <a:t>a major characteristic</a:t>
            </a:r>
            <a:r>
              <a:rPr lang="en-US" altLang="zh-CN" sz="2400" dirty="0">
                <a:latin typeface="Times New Roman" panose="02020603050405020304" pitchFamily="18" charset="0"/>
                <a:cs typeface="Times New Roman" panose="02020603050405020304" pitchFamily="18" charset="0"/>
              </a:rPr>
              <a:t> of the Brazilian Portuguese language. This hierarchy governs forms of address such as </a:t>
            </a:r>
            <a:r>
              <a:rPr lang="en-US" altLang="zh-CN" sz="2400" dirty="0">
                <a:solidFill>
                  <a:srgbClr val="FF0000"/>
                </a:solidFill>
                <a:latin typeface="Times New Roman" panose="02020603050405020304" pitchFamily="18" charset="0"/>
                <a:cs typeface="Times New Roman" panose="02020603050405020304" pitchFamily="18" charset="0"/>
              </a:rPr>
              <a:t>the use of formal and informal pronouns, names, and titles</a:t>
            </a:r>
            <a:r>
              <a:rPr lang="en-US" altLang="zh-CN" sz="2400" dirty="0">
                <a:latin typeface="Times New Roman" panose="02020603050405020304" pitchFamily="18" charset="0"/>
                <a:cs typeface="Times New Roman" panose="02020603050405020304" pitchFamily="18" charset="0"/>
              </a:rPr>
              <a:t>. This use of language to mark status and rank also applies to the forms of </a:t>
            </a:r>
            <a:r>
              <a:rPr lang="en-US" altLang="zh-CN" sz="2400" dirty="0">
                <a:solidFill>
                  <a:srgbClr val="FF0000"/>
                </a:solidFill>
                <a:latin typeface="Times New Roman" panose="02020603050405020304" pitchFamily="18" charset="0"/>
                <a:cs typeface="Times New Roman" panose="02020603050405020304" pitchFamily="18" charset="0"/>
              </a:rPr>
              <a:t>address used to speak to the elderly</a:t>
            </a:r>
            <a:r>
              <a:rPr lang="en-US" altLang="zh-CN" sz="2400" dirty="0">
                <a:latin typeface="Times New Roman" panose="02020603050405020304" pitchFamily="18" charset="0"/>
                <a:cs typeface="Times New Roman" panose="02020603050405020304" pitchFamily="18" charset="0"/>
              </a:rPr>
              <a:t>. Younger people will show respect by using o </a:t>
            </a:r>
            <a:r>
              <a:rPr lang="en-US" altLang="zh-CN" sz="2400" dirty="0" err="1">
                <a:latin typeface="Times New Roman" panose="02020603050405020304" pitchFamily="18" charset="0"/>
                <a:cs typeface="Times New Roman" panose="02020603050405020304" pitchFamily="18" charset="0"/>
              </a:rPr>
              <a:t>Senhor</a:t>
            </a:r>
            <a:r>
              <a:rPr lang="en-US" altLang="zh-CN" sz="2400" dirty="0">
                <a:latin typeface="Times New Roman" panose="02020603050405020304" pitchFamily="18" charset="0"/>
                <a:cs typeface="Times New Roman" panose="02020603050405020304" pitchFamily="18" charset="0"/>
              </a:rPr>
              <a:t> and a </a:t>
            </a:r>
            <a:r>
              <a:rPr lang="en-US" altLang="zh-CN" sz="2400" dirty="0" err="1">
                <a:latin typeface="Times New Roman" panose="02020603050405020304" pitchFamily="18" charset="0"/>
                <a:cs typeface="Times New Roman" panose="02020603050405020304" pitchFamily="18" charset="0"/>
              </a:rPr>
              <a:t>Senhora</a:t>
            </a:r>
            <a:r>
              <a:rPr lang="en-US" altLang="zh-CN" sz="2400" dirty="0">
                <a:latin typeface="Times New Roman" panose="02020603050405020304" pitchFamily="18" charset="0"/>
                <a:cs typeface="Times New Roman" panose="02020603050405020304" pitchFamily="18" charset="0"/>
              </a:rPr>
              <a:t> in deference to the person’s age, regardless of social rank. Here again, you can detect the link between a culture’s values and the use of language.  </a:t>
            </a:r>
            <a:endParaRPr lang="zh-CN" altLang="zh-CN"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1305" y="5943946"/>
            <a:ext cx="1017104" cy="1017104"/>
          </a:xfrm>
          <a:prstGeom prst="rect">
            <a:avLst/>
          </a:prstGeom>
        </p:spPr>
      </p:pic>
      <p:sp>
        <p:nvSpPr>
          <p:cNvPr id="5" name="标题 1"/>
          <p:cNvSpPr txBox="1">
            <a:spLocks/>
          </p:cNvSpPr>
          <p:nvPr/>
        </p:nvSpPr>
        <p:spPr>
          <a:xfrm>
            <a:off x="536713" y="48336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6.3.3.3 Brazilian Portuguese </a:t>
            </a:r>
            <a:r>
              <a:rPr lang="en-US" altLang="zh-CN" dirty="0">
                <a:highlight>
                  <a:srgbClr val="FFFF00"/>
                </a:highlight>
                <a:latin typeface="Times New Roman" panose="02020603050405020304" pitchFamily="18" charset="0"/>
                <a:cs typeface="Times New Roman" panose="02020603050405020304" pitchFamily="18" charset="0"/>
              </a:rPr>
              <a:t>P207</a:t>
            </a:r>
            <a:endParaRPr lang="zh-CN" altLang="en-US" dirty="0">
              <a:highlight>
                <a:srgbClr val="FFFF00"/>
              </a:highlight>
            </a:endParaRPr>
          </a:p>
        </p:txBody>
      </p:sp>
    </p:spTree>
    <p:extLst>
      <p:ext uri="{BB962C8B-B14F-4D97-AF65-F5344CB8AC3E}">
        <p14:creationId xmlns:p14="http://schemas.microsoft.com/office/powerpoint/2010/main" val="34119650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523116"/>
            <a:ext cx="8229600" cy="1143000"/>
          </a:xfrm>
        </p:spPr>
        <p:txBody>
          <a:bodyPr/>
          <a:lstStyle/>
          <a:p>
            <a:r>
              <a:rPr lang="en-US" altLang="zh-CN" dirty="0">
                <a:latin typeface="Times New Roman" panose="02020603050405020304" pitchFamily="18" charset="0"/>
                <a:cs typeface="Times New Roman" panose="02020603050405020304" pitchFamily="18" charset="0"/>
              </a:rPr>
              <a:t>6.3.3.4 Northeast Asian </a:t>
            </a:r>
            <a:r>
              <a:rPr lang="en-US" altLang="zh-CN" dirty="0">
                <a:highlight>
                  <a:srgbClr val="FFFF00"/>
                </a:highlight>
                <a:latin typeface="Times New Roman" panose="02020603050405020304" pitchFamily="18" charset="0"/>
                <a:cs typeface="Times New Roman" panose="02020603050405020304" pitchFamily="18" charset="0"/>
              </a:rPr>
              <a:t>P207</a:t>
            </a:r>
            <a:endParaRPr lang="zh-CN" altLang="en-US" dirty="0">
              <a:highlight>
                <a:srgbClr val="FFFF00"/>
              </a:highlight>
            </a:endParaRPr>
          </a:p>
        </p:txBody>
      </p:sp>
      <p:sp>
        <p:nvSpPr>
          <p:cNvPr id="3" name="内容占位符 2"/>
          <p:cNvSpPr>
            <a:spLocks noGrp="1"/>
          </p:cNvSpPr>
          <p:nvPr>
            <p:ph idx="1"/>
          </p:nvPr>
        </p:nvSpPr>
        <p:spPr>
          <a:xfrm>
            <a:off x="327991" y="2540760"/>
            <a:ext cx="8716617"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While the languages of </a:t>
            </a:r>
            <a:r>
              <a:rPr lang="en-US" altLang="zh-CN" sz="2400" dirty="0">
                <a:solidFill>
                  <a:srgbClr val="FF0000"/>
                </a:solidFill>
                <a:latin typeface="Times New Roman" panose="02020603050405020304" pitchFamily="18" charset="0"/>
                <a:cs typeface="Times New Roman" panose="02020603050405020304" pitchFamily="18" charset="0"/>
              </a:rPr>
              <a:t>China, Korea, and Japan </a:t>
            </a:r>
            <a:r>
              <a:rPr lang="en-US" altLang="zh-CN" sz="2400" dirty="0">
                <a:latin typeface="Times New Roman" panose="02020603050405020304" pitchFamily="18" charset="0"/>
                <a:cs typeface="Times New Roman" panose="02020603050405020304" pitchFamily="18" charset="0"/>
              </a:rPr>
              <a:t>are quite different, there are </a:t>
            </a:r>
            <a:r>
              <a:rPr lang="en-US" altLang="zh-CN" sz="2400" dirty="0">
                <a:solidFill>
                  <a:srgbClr val="FF0000"/>
                </a:solidFill>
                <a:latin typeface="Times New Roman" panose="02020603050405020304" pitchFamily="18" charset="0"/>
                <a:cs typeface="Times New Roman" panose="02020603050405020304" pitchFamily="18" charset="0"/>
              </a:rPr>
              <a:t>commonalities</a:t>
            </a:r>
            <a:r>
              <a:rPr lang="en-US" altLang="zh-CN" sz="2400" dirty="0">
                <a:latin typeface="Times New Roman" panose="02020603050405020304" pitchFamily="18" charset="0"/>
                <a:cs typeface="Times New Roman" panose="02020603050405020304" pitchFamily="18" charset="0"/>
              </a:rPr>
              <a:t> in how those respective languages are used. All three nations are considered </a:t>
            </a:r>
            <a:r>
              <a:rPr lang="en-US" altLang="zh-CN" sz="2400" dirty="0">
                <a:solidFill>
                  <a:srgbClr val="FF0000"/>
                </a:solidFill>
                <a:latin typeface="Times New Roman" panose="02020603050405020304" pitchFamily="18" charset="0"/>
                <a:cs typeface="Times New Roman" panose="02020603050405020304" pitchFamily="18" charset="0"/>
              </a:rPr>
              <a:t>high-context cultures</a:t>
            </a:r>
            <a:r>
              <a:rPr lang="en-US" altLang="zh-CN" sz="2400" dirty="0">
                <a:latin typeface="Times New Roman" panose="02020603050405020304" pitchFamily="18" charset="0"/>
                <a:cs typeface="Times New Roman" panose="02020603050405020304" pitchFamily="18" charset="0"/>
              </a:rPr>
              <a:t> and commonly employ language in </a:t>
            </a:r>
            <a:r>
              <a:rPr lang="en-US" altLang="zh-CN" sz="2400" dirty="0">
                <a:solidFill>
                  <a:srgbClr val="FF0000"/>
                </a:solidFill>
                <a:latin typeface="Times New Roman" panose="02020603050405020304" pitchFamily="18" charset="0"/>
                <a:cs typeface="Times New Roman" panose="02020603050405020304" pitchFamily="18" charset="0"/>
              </a:rPr>
              <a:t>an indirect manner to promote harmony and face-saving measures. At the heart of this approach to communication is the teaching of Confucianism</a:t>
            </a:r>
            <a:r>
              <a:rPr lang="en-US" altLang="zh-CN" sz="2400" dirty="0">
                <a:latin typeface="Times New Roman" panose="02020603050405020304" pitchFamily="18" charset="0"/>
                <a:cs typeface="Times New Roman" panose="02020603050405020304" pitchFamily="18" charset="0"/>
              </a:rPr>
              <a:t>. The care for harmonious relationships in Confucian teaching steers East Asians away from overreliance on direct communication. </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56518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332037"/>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The languages of the Northeast Asian cultures also reflect the need for </a:t>
            </a:r>
            <a:r>
              <a:rPr lang="en-US" altLang="zh-CN" sz="2400" dirty="0">
                <a:solidFill>
                  <a:srgbClr val="FF0000"/>
                </a:solidFill>
                <a:latin typeface="Times New Roman" panose="02020603050405020304" pitchFamily="18" charset="0"/>
                <a:cs typeface="Times New Roman" panose="02020603050405020304" pitchFamily="18" charset="0"/>
              </a:rPr>
              <a:t>formality and hierarchy</a:t>
            </a:r>
            <a:r>
              <a:rPr lang="en-US" altLang="zh-CN" sz="2400" dirty="0">
                <a:latin typeface="Times New Roman" panose="02020603050405020304" pitchFamily="18" charset="0"/>
                <a:cs typeface="Times New Roman" panose="02020603050405020304" pitchFamily="18" charset="0"/>
              </a:rPr>
              <a:t>. This orientation varies sharply from the more direct, informal, low-context speech common among U.S. Americans. This contrast is, in part, a result of varying perceptions of the reason for communication. </a:t>
            </a:r>
            <a:r>
              <a:rPr lang="en-US" altLang="zh-CN" sz="2400" dirty="0">
                <a:solidFill>
                  <a:srgbClr val="FF0000"/>
                </a:solidFill>
                <a:latin typeface="Times New Roman" panose="02020603050405020304" pitchFamily="18" charset="0"/>
                <a:cs typeface="Times New Roman" panose="02020603050405020304" pitchFamily="18" charset="0"/>
              </a:rPr>
              <a:t>In Northeast Asia, communication is used to reduce one’s selfishness and egocentrism. </a:t>
            </a:r>
            <a:r>
              <a:rPr lang="en-US" altLang="zh-CN" sz="2400" dirty="0">
                <a:latin typeface="Times New Roman" panose="02020603050405020304" pitchFamily="18" charset="0"/>
                <a:cs typeface="Times New Roman" panose="02020603050405020304" pitchFamily="18" charset="0"/>
              </a:rPr>
              <a:t>This is diametrically opposite to the Western perspective that views communication as a way to increase one’s esteem and guard personal interests. </a:t>
            </a:r>
            <a:endParaRPr lang="zh-CN" altLang="en-US" sz="24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523116"/>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6.3.3.4 Northeast Asian </a:t>
            </a:r>
            <a:r>
              <a:rPr lang="en-US" altLang="zh-CN" dirty="0">
                <a:highlight>
                  <a:srgbClr val="FFFF00"/>
                </a:highlight>
                <a:latin typeface="Times New Roman" panose="02020603050405020304" pitchFamily="18" charset="0"/>
                <a:cs typeface="Times New Roman" panose="02020603050405020304" pitchFamily="18" charset="0"/>
              </a:rPr>
              <a:t>P207</a:t>
            </a:r>
            <a:endParaRPr lang="zh-CN" altLang="en-US" dirty="0">
              <a:highlight>
                <a:srgbClr val="FFFF00"/>
              </a:highlight>
            </a:endParaRPr>
          </a:p>
        </p:txBody>
      </p:sp>
    </p:spTree>
    <p:extLst>
      <p:ext uri="{BB962C8B-B14F-4D97-AF65-F5344CB8AC3E}">
        <p14:creationId xmlns:p14="http://schemas.microsoft.com/office/powerpoint/2010/main" val="17549548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3487" y="2461246"/>
            <a:ext cx="8229600" cy="4525963"/>
          </a:xfrm>
        </p:spPr>
        <p:txBody>
          <a:bodyPr/>
          <a:lstStyle/>
          <a:p>
            <a:pPr>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2" action="ppaction://hlinksldjump"/>
              </a:rPr>
              <a:t>Chinese</a:t>
            </a:r>
            <a:endParaRPr lang="en-US" altLang="zh-CN" sz="36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3" action="ppaction://hlinksldjump"/>
              </a:rPr>
              <a:t>Korean</a:t>
            </a:r>
            <a:endParaRPr lang="en-US" altLang="zh-CN" sz="36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3600" dirty="0">
                <a:latin typeface="Times New Roman" panose="02020603050405020304" pitchFamily="18" charset="0"/>
                <a:cs typeface="Times New Roman" panose="02020603050405020304" pitchFamily="18" charset="0"/>
                <a:hlinkClick r:id="rId4" action="ppaction://hlinksldjump"/>
              </a:rPr>
              <a:t>Japanese</a:t>
            </a:r>
            <a:endParaRPr lang="zh-CN" altLang="en-US" sz="36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523116"/>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Northeast Asian</a:t>
            </a:r>
            <a:endParaRPr lang="zh-CN" altLang="en-US" dirty="0"/>
          </a:p>
        </p:txBody>
      </p:sp>
      <p:pic>
        <p:nvPicPr>
          <p:cNvPr id="5" name="图片 4">
            <a:hlinkClick r:id="rId5" action="ppaction://hlinksldjump"/>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951305" y="5943946"/>
            <a:ext cx="1017104" cy="1017104"/>
          </a:xfrm>
          <a:prstGeom prst="rect">
            <a:avLst/>
          </a:prstGeom>
        </p:spPr>
      </p:pic>
    </p:spTree>
    <p:extLst>
      <p:ext uri="{BB962C8B-B14F-4D97-AF65-F5344CB8AC3E}">
        <p14:creationId xmlns:p14="http://schemas.microsoft.com/office/powerpoint/2010/main" val="18876945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Chinese </a:t>
            </a:r>
            <a:r>
              <a:rPr lang="en-US" altLang="zh-CN" dirty="0">
                <a:highlight>
                  <a:srgbClr val="FFFF00"/>
                </a:highlight>
                <a:latin typeface="Times New Roman" panose="02020603050405020304" pitchFamily="18" charset="0"/>
                <a:cs typeface="Times New Roman" panose="02020603050405020304" pitchFamily="18" charset="0"/>
              </a:rPr>
              <a:t>P208</a:t>
            </a:r>
            <a:endParaRPr lang="zh-CN" altLang="en-US" dirty="0">
              <a:highlight>
                <a:srgbClr val="FFFF00"/>
              </a:highlight>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427382" y="2332037"/>
            <a:ext cx="8716618"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The three most fundamental values of Chinese culture are (1) collectivism or a group orientation, (2) intergroup harmony, and (3) societal hierarchy. The latter two values are easily discernible in Chinese language use. </a:t>
            </a:r>
            <a:r>
              <a:rPr lang="en-US" altLang="zh-CN" sz="2400" dirty="0">
                <a:latin typeface="Times New Roman" panose="02020603050405020304" pitchFamily="18" charset="0"/>
                <a:cs typeface="Times New Roman" panose="02020603050405020304" pitchFamily="18" charset="0"/>
              </a:rPr>
              <a:t>For instance, the focus on social status and position among the Chinese is of such importance that it also shapes how individuals communicatively interact. Accordingly, a deferential manner is commonly used when addressing an authority figure. Widespread use of titles is another way of demonstrating respect and formality in Chinese culture. </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62157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4337" y="2332037"/>
            <a:ext cx="8655326" cy="4525963"/>
          </a:xfrm>
        </p:spPr>
        <p:txBody>
          <a:bodyPr/>
          <a:lstStyle/>
          <a:p>
            <a:pPr>
              <a:lnSpc>
                <a:spcPct val="125000"/>
              </a:lnSpc>
              <a:spcBef>
                <a:spcPts val="0"/>
              </a:spcBef>
            </a:pPr>
            <a:r>
              <a:rPr lang="en-US" altLang="zh-CN" dirty="0">
                <a:latin typeface="Times New Roman" panose="02020603050405020304" pitchFamily="18" charset="0"/>
                <a:cs typeface="Times New Roman" panose="02020603050405020304" pitchFamily="18" charset="0"/>
              </a:rPr>
              <a:t>The Chinese exhibit the importance of in-group social stability, or harmony, through a number of different communication protocols. </a:t>
            </a:r>
            <a:endParaRPr lang="zh-CN" altLang="zh-CN"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Chinese</a:t>
            </a:r>
            <a:endParaRPr lang="zh-CN" altLang="en-US" dirty="0">
              <a:latin typeface="Times New Roman" panose="02020603050405020304" pitchFamily="18" charset="0"/>
              <a:cs typeface="Times New Roman" panose="02020603050405020304" pitchFamily="18" charset="0"/>
            </a:endParaRPr>
          </a:p>
        </p:txBody>
      </p:sp>
      <p:pic>
        <p:nvPicPr>
          <p:cNvPr id="5" name="图片 4">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40537" y="5982392"/>
            <a:ext cx="1017104" cy="1017104"/>
          </a:xfrm>
          <a:prstGeom prst="rect">
            <a:avLst/>
          </a:prstGeom>
        </p:spPr>
      </p:pic>
    </p:spTree>
    <p:extLst>
      <p:ext uri="{BB962C8B-B14F-4D97-AF65-F5344CB8AC3E}">
        <p14:creationId xmlns:p14="http://schemas.microsoft.com/office/powerpoint/2010/main" val="11180201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431428"/>
            <a:ext cx="8396908"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The cultural values of (1) collectivism, (2) status, and (3) harmony are also prevalent in the way Koreans use language. </a:t>
            </a:r>
            <a:r>
              <a:rPr lang="en-US" altLang="zh-CN" sz="2400" dirty="0">
                <a:latin typeface="Times New Roman" panose="02020603050405020304" pitchFamily="18" charset="0"/>
                <a:cs typeface="Times New Roman" panose="02020603050405020304" pitchFamily="18" charset="0"/>
              </a:rPr>
              <a:t>For instance, the family represents the strongest in-group among Koreans, and a common way of introducing one’s parent is to say this is our mother/father rather than using the pronoun my. This demonstrates the Korean collective orientation by signaling that one’s family is a comprehensive unit, encompassing parents and siblings, extending beyond self-considerations. </a:t>
            </a:r>
            <a:endParaRPr lang="zh-CN" altLang="en-US" sz="2400" dirty="0">
              <a:latin typeface="Times New Roman" panose="02020603050405020304" pitchFamily="18" charset="0"/>
              <a:cs typeface="Times New Roman" panose="02020603050405020304" pitchFamily="18" charset="0"/>
            </a:endParaRPr>
          </a:p>
        </p:txBody>
      </p:sp>
      <p:sp>
        <p:nvSpPr>
          <p:cNvPr id="7"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Korean</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8821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59026" y="2411550"/>
            <a:ext cx="8984974"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Status is another important cultural value, and one’s position will dictate the appropriate communication style. As a result, Koreans will use small talk in an effort to ascertain each other’s hierarchical position. In addition, it is considered improper behavior to address high status people by name when in the presence of lower-status people. Because Korea is a high-context culture, communicative interactions are often characterized by indirectness, with the meaning embedded in the context of how something is expressed rather than what is actually said. </a:t>
            </a:r>
            <a:endParaRPr lang="zh-CN" altLang="en-US" sz="24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Korean</a:t>
            </a:r>
            <a:endParaRPr lang="zh-CN" altLang="en-US" dirty="0">
              <a:latin typeface="Times New Roman" panose="02020603050405020304" pitchFamily="18" charset="0"/>
              <a:cs typeface="Times New Roman" panose="02020603050405020304" pitchFamily="18" charset="0"/>
            </a:endParaRPr>
          </a:p>
        </p:txBody>
      </p:sp>
      <p:pic>
        <p:nvPicPr>
          <p:cNvPr id="5" name="图片 4">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50696" y="6023459"/>
            <a:ext cx="1007165" cy="1007165"/>
          </a:xfrm>
          <a:prstGeom prst="rect">
            <a:avLst/>
          </a:prstGeom>
        </p:spPr>
      </p:pic>
    </p:spTree>
    <p:extLst>
      <p:ext uri="{BB962C8B-B14F-4D97-AF65-F5344CB8AC3E}">
        <p14:creationId xmlns:p14="http://schemas.microsoft.com/office/powerpoint/2010/main" val="27576142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222706"/>
            <a:ext cx="8229600"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As with China and Korea, Japan is a (1) high-context, (2) hierarchical culture with a distinct group orientation and (3) stresses social harmony. </a:t>
            </a:r>
            <a:r>
              <a:rPr lang="en-US" altLang="zh-CN" sz="2400" dirty="0">
                <a:latin typeface="Times New Roman" panose="02020603050405020304" pitchFamily="18" charset="0"/>
                <a:cs typeface="Times New Roman" panose="02020603050405020304" pitchFamily="18" charset="0"/>
              </a:rPr>
              <a:t>These cultural characteristics are manifest in the Japanese language, which is highly contextual and often ambiguous. There are many words that have identical pronunciations and written form but quite different meanings. For instance, </a:t>
            </a:r>
            <a:r>
              <a:rPr lang="en-US" altLang="zh-CN" sz="2400" dirty="0" err="1">
                <a:latin typeface="Times New Roman" panose="02020603050405020304" pitchFamily="18" charset="0"/>
                <a:cs typeface="Times New Roman" panose="02020603050405020304" pitchFamily="18" charset="0"/>
              </a:rPr>
              <a:t>sumimasen</a:t>
            </a:r>
            <a:r>
              <a:rPr lang="en-US" altLang="zh-CN" sz="2400" dirty="0">
                <a:latin typeface="Times New Roman" panose="02020603050405020304" pitchFamily="18" charset="0"/>
                <a:cs typeface="Times New Roman" panose="02020603050405020304" pitchFamily="18" charset="0"/>
              </a:rPr>
              <a:t> can mean excuse me, sorry, or thank you or can be used simply to attract someone’s attention. The listener is left to determine the meaning from the context. </a:t>
            </a:r>
            <a:endParaRPr lang="zh-CN" altLang="en-US" sz="24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Japanese</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8535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471184"/>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Social position, or status, is an important consideration among the Japanese and is evident in their use of language. One’s social position will determine the type of language and choice of words to use during every interaction. Terms of address are also determined by one’s hierarchical positioning. Given names are rarely used between Japanese, who prefer to use last names followed by a suffix term that is determined by the type or level of the relationship. </a:t>
            </a:r>
            <a:endParaRPr lang="zh-CN" altLang="en-US" sz="24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Japanese</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56879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435087"/>
            <a:ext cx="8408504"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As is the case with the previous two cultures we examined, social harmony is a hallmark of Japanese interactions. Both Buddhism and Confucianism teach that in human relationships, it is crucial that harmony be maintained and that one’s use of language not be acrimonious. One expression of this value is that there is less personal information being exchanged about people. This tendency toward limited disclosure, combined with a desire to avoid or absorb differences, promotes the harmony so valued in the Japanese culture. </a:t>
            </a:r>
            <a:endParaRPr lang="zh-CN" altLang="en-US" sz="2400" dirty="0">
              <a:latin typeface="Times New Roman" panose="02020603050405020304" pitchFamily="18" charset="0"/>
              <a:cs typeface="Times New Roman" panose="02020603050405020304" pitchFamily="18" charset="0"/>
            </a:endParaRPr>
          </a:p>
        </p:txBody>
      </p:sp>
      <p:pic>
        <p:nvPicPr>
          <p:cNvPr id="5" name="图片 4">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1305" y="5943946"/>
            <a:ext cx="1017104" cy="1017104"/>
          </a:xfrm>
          <a:prstGeom prst="rect">
            <a:avLst/>
          </a:prstGeom>
        </p:spPr>
      </p:pic>
      <p:sp>
        <p:nvSpPr>
          <p:cNvPr id="6"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Japanese</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81028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491062"/>
            <a:ext cx="8468139"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Linguistic identity within Arab culture transcends ethnic origins, national borders, and religious affiliation. Among Arabs, anyone whose mother tongue is Arabic is considered an Arab. </a:t>
            </a:r>
            <a:r>
              <a:rPr lang="en-US" altLang="zh-CN" sz="2400" dirty="0">
                <a:latin typeface="Times New Roman" panose="02020603050405020304" pitchFamily="18" charset="0"/>
                <a:cs typeface="Times New Roman" panose="02020603050405020304" pitchFamily="18" charset="0"/>
              </a:rPr>
              <a:t>Thus, language is what defines and unites the greater Arab community. The long love affair with their language has created a strong belief that Arabic is God’s language, and as such, Arabs treat their language with great respect and admiration. The Arabic language is their greatest cultural treasure and achievement.</a:t>
            </a:r>
            <a:endParaRPr lang="zh-CN" altLang="en-US" sz="24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6.3.3.5 Arabic</a:t>
            </a:r>
            <a:endParaRPr lang="zh-CN" altLang="en-US" dirty="0"/>
          </a:p>
        </p:txBody>
      </p:sp>
    </p:spTree>
    <p:extLst>
      <p:ext uri="{BB962C8B-B14F-4D97-AF65-F5344CB8AC3E}">
        <p14:creationId xmlns:p14="http://schemas.microsoft.com/office/powerpoint/2010/main" val="33471426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6712" y="2504660"/>
            <a:ext cx="8229600"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Arabs see their language as possessing a powerful emotional content. </a:t>
            </a:r>
            <a:r>
              <a:rPr lang="en-US" altLang="zh-CN" sz="2400" dirty="0">
                <a:latin typeface="Times New Roman" panose="02020603050405020304" pitchFamily="18" charset="0"/>
                <a:cs typeface="Times New Roman" panose="02020603050405020304" pitchFamily="18" charset="0"/>
              </a:rPr>
              <a:t>Because of this orientation the Arab language contains a rich vocabulary and well-rounded, complex phrases. Words are often used for their own sake rather than for what they are understood to mean. This creates a situation where assertion, repetition, and exaggeration are used with regularity. It also means that whereas a U.S. American can express an idea in ten words, the Arabic speaker may use one hundred.</a:t>
            </a:r>
            <a:endParaRPr lang="zh-CN" altLang="zh-CN" sz="24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6.3.3.5 Arabic</a:t>
            </a:r>
            <a:endParaRPr lang="zh-CN" altLang="en-US" dirty="0"/>
          </a:p>
        </p:txBody>
      </p:sp>
    </p:spTree>
    <p:extLst>
      <p:ext uri="{BB962C8B-B14F-4D97-AF65-F5344CB8AC3E}">
        <p14:creationId xmlns:p14="http://schemas.microsoft.com/office/powerpoint/2010/main" val="27822846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6.3.3.5 Arabic</a:t>
            </a:r>
            <a:endParaRPr lang="zh-CN" altLang="en-US" dirty="0"/>
          </a:p>
        </p:txBody>
      </p:sp>
      <p:sp>
        <p:nvSpPr>
          <p:cNvPr id="3" name="内容占位符 2"/>
          <p:cNvSpPr>
            <a:spLocks noGrp="1"/>
          </p:cNvSpPr>
          <p:nvPr>
            <p:ph idx="1"/>
          </p:nvPr>
        </p:nvSpPr>
        <p:spPr>
          <a:xfrm>
            <a:off x="233569" y="2332037"/>
            <a:ext cx="8676861"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Arab societies are characterized by the cultural values of collectivism, hierarchy, and a present orientation</a:t>
            </a:r>
            <a:r>
              <a:rPr lang="en-US" altLang="zh-CN" sz="2400" dirty="0">
                <a:latin typeface="Times New Roman" panose="02020603050405020304" pitchFamily="18" charset="0"/>
                <a:cs typeface="Times New Roman" panose="02020603050405020304" pitchFamily="18" charset="0"/>
              </a:rPr>
              <a:t>, which are mirrored in how Arabic is used. Social harmony among in-group members is valued among Arabs, who rely on indirect, ambiguous statements to lessen the potential for loss of face during interactions. While employing indirectness to ensure smooth relations, Arabs will often appeal to the listener’s emotions. When engaging elders or superiors, polite deference is required, which demonstrates the value placed on hierarchy. </a:t>
            </a:r>
            <a:endParaRPr lang="zh-CN" altLang="zh-CN"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61244" y="5999922"/>
            <a:ext cx="1017104" cy="1017104"/>
          </a:xfrm>
          <a:prstGeom prst="rect">
            <a:avLst/>
          </a:prstGeom>
        </p:spPr>
      </p:pic>
    </p:spTree>
    <p:extLst>
      <p:ext uri="{BB962C8B-B14F-4D97-AF65-F5344CB8AC3E}">
        <p14:creationId xmlns:p14="http://schemas.microsoft.com/office/powerpoint/2010/main" val="16524786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86410" y="2435086"/>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As is the case with all cultures, the Germans also have their unique way of using language. This uniqueness shows itself in their approach to </a:t>
            </a:r>
            <a:r>
              <a:rPr lang="en-US" altLang="zh-CN" sz="2400" dirty="0">
                <a:solidFill>
                  <a:srgbClr val="FF0000"/>
                </a:solidFill>
                <a:latin typeface="Times New Roman" panose="02020603050405020304" pitchFamily="18" charset="0"/>
                <a:cs typeface="Times New Roman" panose="02020603050405020304" pitchFamily="18" charset="0"/>
              </a:rPr>
              <a:t>(1) formality, (2) concern for detail, and (3) directness</a:t>
            </a:r>
            <a:r>
              <a:rPr lang="en-US" altLang="zh-CN" sz="2400" dirty="0">
                <a:latin typeface="Times New Roman" panose="02020603050405020304" pitchFamily="18" charset="0"/>
                <a:cs typeface="Times New Roman" panose="02020603050405020304" pitchFamily="18" charset="0"/>
              </a:rPr>
              <a:t>.</a:t>
            </a:r>
          </a:p>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In German culture, special forms of address are employed when conducting business</a:t>
            </a:r>
            <a:r>
              <a:rPr lang="en-US" altLang="zh-CN" sz="2400" dirty="0">
                <a:latin typeface="Times New Roman" panose="02020603050405020304" pitchFamily="18" charset="0"/>
                <a:cs typeface="Times New Roman" panose="02020603050405020304" pitchFamily="18" charset="0"/>
              </a:rPr>
              <a:t>. One feature deals with formality. Germans are very conscious of their status and insist on proper forms of address. </a:t>
            </a:r>
            <a:endParaRPr lang="zh-CN" altLang="zh-CN" sz="24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6.3.3.6 German</a:t>
            </a:r>
            <a:endParaRPr lang="zh-CN" altLang="en-US" dirty="0"/>
          </a:p>
        </p:txBody>
      </p:sp>
    </p:spTree>
    <p:extLst>
      <p:ext uri="{BB962C8B-B14F-4D97-AF65-F5344CB8AC3E}">
        <p14:creationId xmlns:p14="http://schemas.microsoft.com/office/powerpoint/2010/main" val="32281396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6.3.3.6 German</a:t>
            </a:r>
            <a:endParaRPr lang="zh-CN" altLang="en-US" dirty="0"/>
          </a:p>
        </p:txBody>
      </p:sp>
      <p:sp>
        <p:nvSpPr>
          <p:cNvPr id="3" name="内容占位符 2"/>
          <p:cNvSpPr>
            <a:spLocks noGrp="1"/>
          </p:cNvSpPr>
          <p:nvPr>
            <p:ph idx="1"/>
          </p:nvPr>
        </p:nvSpPr>
        <p:spPr>
          <a:xfrm>
            <a:off x="248478" y="2454965"/>
            <a:ext cx="8656983"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This desire for </a:t>
            </a:r>
            <a:r>
              <a:rPr lang="en-US" altLang="zh-CN" sz="2400" dirty="0">
                <a:solidFill>
                  <a:srgbClr val="FF0000"/>
                </a:solidFill>
                <a:latin typeface="Times New Roman" panose="02020603050405020304" pitchFamily="18" charset="0"/>
                <a:cs typeface="Times New Roman" panose="02020603050405020304" pitchFamily="18" charset="0"/>
              </a:rPr>
              <a:t>formality</a:t>
            </a:r>
            <a:r>
              <a:rPr lang="en-US" altLang="zh-CN" sz="2400" dirty="0">
                <a:latin typeface="Times New Roman" panose="02020603050405020304" pitchFamily="18" charset="0"/>
                <a:cs typeface="Times New Roman" panose="02020603050405020304" pitchFamily="18" charset="0"/>
              </a:rPr>
              <a:t> not only is used in the business context but also </a:t>
            </a:r>
            <a:r>
              <a:rPr lang="en-US" altLang="zh-CN" sz="2400" dirty="0">
                <a:solidFill>
                  <a:srgbClr val="FF0000"/>
                </a:solidFill>
                <a:latin typeface="Times New Roman" panose="02020603050405020304" pitchFamily="18" charset="0"/>
                <a:cs typeface="Times New Roman" panose="02020603050405020304" pitchFamily="18" charset="0"/>
              </a:rPr>
              <a:t>can be found when communicating among close relationships</a:t>
            </a:r>
            <a:r>
              <a:rPr lang="en-US" altLang="zh-CN" sz="2400" dirty="0">
                <a:latin typeface="Times New Roman" panose="02020603050405020304" pitchFamily="18" charset="0"/>
                <a:cs typeface="Times New Roman" panose="02020603050405020304" pitchFamily="18" charset="0"/>
              </a:rPr>
              <a:t>. Germans almost always address people by their last name. This desire to remain formal when using language can also be seen in how Germans perceive and cope with conflict. If and when conflicts do arise, Germans generally avoid them not by emphasizing harmony in personal relationships or by smoothing over differences of opinion, but rather by maintaining formality and social distance. </a:t>
            </a:r>
            <a:endParaRPr lang="zh-CN"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63175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454965"/>
            <a:ext cx="8229600" cy="4525963"/>
          </a:xfrm>
        </p:spPr>
        <p:txBody>
          <a:bodyPr/>
          <a:lstStyle/>
          <a:p>
            <a:pPr>
              <a:lnSpc>
                <a:spcPct val="125000"/>
              </a:lnSpc>
              <a:spcBef>
                <a:spcPts val="0"/>
              </a:spcBef>
            </a:pPr>
            <a:r>
              <a:rPr lang="en-US" altLang="zh-CN" sz="2400" dirty="0">
                <a:solidFill>
                  <a:srgbClr val="FF0000"/>
                </a:solidFill>
                <a:latin typeface="Times New Roman" panose="02020603050405020304" pitchFamily="18" charset="0"/>
                <a:cs typeface="Times New Roman" panose="02020603050405020304" pitchFamily="18" charset="0"/>
              </a:rPr>
              <a:t>Another major characteristic of German language use can be found in the degree to which they detail when they speak. </a:t>
            </a:r>
            <a:r>
              <a:rPr lang="en-US" altLang="zh-CN" sz="2400" dirty="0">
                <a:latin typeface="Times New Roman" panose="02020603050405020304" pitchFamily="18" charset="0"/>
                <a:cs typeface="Times New Roman" panose="02020603050405020304" pitchFamily="18" charset="0"/>
              </a:rPr>
              <a:t>That is, Germans provide much more information than most people from other cultures require. This leads to an explicit style of speech in which precision of expression, exactness of definition, and literalness play important parts. Not only do Germans employ great detail, but they also tend to ask the people they are interacting with to supply detail. </a:t>
            </a:r>
            <a:endParaRPr lang="zh-CN" altLang="zh-CN" sz="24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6.3.3.6 German</a:t>
            </a:r>
            <a:endParaRPr lang="zh-CN" altLang="en-US" dirty="0"/>
          </a:p>
        </p:txBody>
      </p:sp>
    </p:spTree>
    <p:extLst>
      <p:ext uri="{BB962C8B-B14F-4D97-AF65-F5344CB8AC3E}">
        <p14:creationId xmlns:p14="http://schemas.microsoft.com/office/powerpoint/2010/main" val="39218477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6713" y="2435087"/>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German </a:t>
            </a:r>
            <a:r>
              <a:rPr lang="en-US" altLang="zh-CN" sz="2400" dirty="0">
                <a:solidFill>
                  <a:srgbClr val="FF0000"/>
                </a:solidFill>
                <a:latin typeface="Times New Roman" panose="02020603050405020304" pitchFamily="18" charset="0"/>
                <a:cs typeface="Times New Roman" panose="02020603050405020304" pitchFamily="18" charset="0"/>
              </a:rPr>
              <a:t>fondness for directness </a:t>
            </a:r>
            <a:r>
              <a:rPr lang="en-US" altLang="zh-CN" sz="2400" dirty="0">
                <a:latin typeface="Times New Roman" panose="02020603050405020304" pitchFamily="18" charset="0"/>
                <a:cs typeface="Times New Roman" panose="02020603050405020304" pitchFamily="18" charset="0"/>
              </a:rPr>
              <a:t>is actually an extension of our last two explanations of the German language. Because Germans are rather straightforward, they often appear to be very blunt and direct and they are. They will get to the point quickly during conversations and assume others will do the same. They will ask you directly for the facts. In many ways, their directness is related to their desire for clarity. </a:t>
            </a:r>
            <a:endParaRPr lang="zh-CN" altLang="zh-CN" sz="2400" dirty="0">
              <a:latin typeface="Times New Roman" panose="02020603050405020304" pitchFamily="18" charset="0"/>
              <a:cs typeface="Times New Roman" panose="02020603050405020304" pitchFamily="18" charset="0"/>
            </a:endParaRPr>
          </a:p>
          <a:p>
            <a:endParaRPr lang="zh-CN" altLang="en-US" dirty="0"/>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1305" y="5943946"/>
            <a:ext cx="1017104" cy="1017104"/>
          </a:xfrm>
          <a:prstGeom prst="rect">
            <a:avLst/>
          </a:prstGeom>
        </p:spPr>
      </p:pic>
      <p:sp>
        <p:nvSpPr>
          <p:cNvPr id="5"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6.3.3.6 German</a:t>
            </a:r>
            <a:endParaRPr lang="zh-CN" altLang="en-US" dirty="0"/>
          </a:p>
        </p:txBody>
      </p:sp>
    </p:spTree>
    <p:extLst>
      <p:ext uri="{BB962C8B-B14F-4D97-AF65-F5344CB8AC3E}">
        <p14:creationId xmlns:p14="http://schemas.microsoft.com/office/powerpoint/2010/main" val="22925173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111682" y="3119657"/>
            <a:ext cx="9451127"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25000"/>
              </a:lnSpc>
            </a:pPr>
            <a:r>
              <a:rPr lang="en-US" altLang="zh-CN" sz="5400" dirty="0">
                <a:latin typeface="Times New Roman" panose="02020603050405020304" pitchFamily="18" charset="0"/>
                <a:cs typeface="Times New Roman" panose="02020603050405020304" pitchFamily="18" charset="0"/>
              </a:rPr>
              <a:t>6.4 Interpreting </a:t>
            </a:r>
            <a:r>
              <a:rPr lang="zh-CN" altLang="en-US" sz="5400" dirty="0">
                <a:latin typeface="Times New Roman" panose="02020603050405020304" pitchFamily="18" charset="0"/>
                <a:cs typeface="Times New Roman" panose="02020603050405020304" pitchFamily="18" charset="0"/>
              </a:rPr>
              <a:t>（</a:t>
            </a:r>
            <a:r>
              <a:rPr lang="en-US" altLang="zh-CN" sz="5400" dirty="0">
                <a:solidFill>
                  <a:srgbClr val="FF0000"/>
                </a:solidFill>
                <a:latin typeface="Times New Roman" panose="02020603050405020304" pitchFamily="18" charset="0"/>
                <a:cs typeface="Times New Roman" panose="02020603050405020304" pitchFamily="18" charset="0"/>
              </a:rPr>
              <a:t>not lectured</a:t>
            </a:r>
            <a:r>
              <a:rPr lang="zh-CN" altLang="en-US" sz="5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879962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7017" y="453543"/>
            <a:ext cx="8229600" cy="1143000"/>
          </a:xfrm>
        </p:spPr>
        <p:txBody>
          <a:bodyPr/>
          <a:lstStyle/>
          <a:p>
            <a:r>
              <a:rPr lang="en-US" altLang="zh-CN" dirty="0">
                <a:latin typeface="Times New Roman" panose="02020603050405020304" pitchFamily="18" charset="0"/>
                <a:cs typeface="Times New Roman" panose="02020603050405020304" pitchFamily="18" charset="0"/>
              </a:rPr>
              <a:t>Interpreting</a:t>
            </a:r>
            <a:endParaRPr lang="zh-CN" altLang="en-US" dirty="0"/>
          </a:p>
        </p:txBody>
      </p:sp>
      <p:sp>
        <p:nvSpPr>
          <p:cNvPr id="3" name="内容占位符 2"/>
          <p:cNvSpPr>
            <a:spLocks noGrp="1"/>
          </p:cNvSpPr>
          <p:nvPr>
            <p:ph idx="1"/>
          </p:nvPr>
        </p:nvSpPr>
        <p:spPr>
          <a:xfrm>
            <a:off x="377687" y="2454965"/>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The impact of globalization on the world community presents all of us with countless situations that demand the use of an interpreter. International agencies are not the only government groups where you might deal with interpreters. The same need for interpreters occurs in both the healthcare and business setting. Nowadays, interpreters are frequently used in healthcare centers, courtrooms, business conferences, and even classrooms. </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52983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7017" y="2332037"/>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The terms translating and interpreting are often confused. Translators work with written material and have the advantage of being able to consult references if needed and are not subject to the same time constraints as interpreters, as interpreters deal with spoken and signed language. Because interpreting is usually in real time, not delayed, it is often not as accurate as translating. In addition, interpreters are usually required to be familiar with the cultures of both the original language and the target language. </a:t>
            </a:r>
            <a:endParaRPr lang="zh-CN" altLang="zh-CN" sz="24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87017" y="453543"/>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a:latin typeface="Times New Roman" panose="02020603050405020304" pitchFamily="18" charset="0"/>
                <a:cs typeface="Times New Roman" panose="02020603050405020304" pitchFamily="18" charset="0"/>
              </a:rPr>
              <a:t>Interpreting</a:t>
            </a:r>
            <a:endParaRPr lang="zh-CN" altLang="en-US" dirty="0"/>
          </a:p>
        </p:txBody>
      </p:sp>
    </p:spTree>
    <p:extLst>
      <p:ext uri="{BB962C8B-B14F-4D97-AF65-F5344CB8AC3E}">
        <p14:creationId xmlns:p14="http://schemas.microsoft.com/office/powerpoint/2010/main" val="946835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7017" y="2510941"/>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The two most common forms of interpreting are consecutive or simultaneous. </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Consecutive interpreting is most often used in high-level private activities, business meetings, and small, informal gatherings. In this method, the speaker will talk for a short time and then stop to allow the interpreter to convey the message to the other party. </a:t>
            </a:r>
          </a:p>
        </p:txBody>
      </p:sp>
      <p:sp>
        <p:nvSpPr>
          <p:cNvPr id="4" name="标题 1"/>
          <p:cNvSpPr txBox="1">
            <a:spLocks/>
          </p:cNvSpPr>
          <p:nvPr/>
        </p:nvSpPr>
        <p:spPr>
          <a:xfrm>
            <a:off x="487017" y="453543"/>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Interpreting</a:t>
            </a:r>
            <a:endParaRPr lang="zh-CN" altLang="en-US" dirty="0"/>
          </a:p>
        </p:txBody>
      </p:sp>
    </p:spTree>
    <p:extLst>
      <p:ext uri="{BB962C8B-B14F-4D97-AF65-F5344CB8AC3E}">
        <p14:creationId xmlns:p14="http://schemas.microsoft.com/office/powerpoint/2010/main" val="37058487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6469" y="2524539"/>
            <a:ext cx="8229600" cy="4525963"/>
          </a:xfrm>
        </p:spPr>
        <p:txBody>
          <a:bodyPr/>
          <a:lstStyle/>
          <a:p>
            <a:pPr>
              <a:lnSpc>
                <a:spcPct val="125000"/>
              </a:lnSpc>
              <a:spcBef>
                <a:spcPts val="0"/>
              </a:spcBef>
            </a:pPr>
            <a:r>
              <a:rPr lang="en-US" altLang="zh-CN" sz="2800" dirty="0">
                <a:latin typeface="Times New Roman" panose="02020603050405020304" pitchFamily="18" charset="0"/>
                <a:cs typeface="Times New Roman" panose="02020603050405020304" pitchFamily="18" charset="0"/>
              </a:rPr>
              <a:t>Simultaneous interpretation uses audio equipment, with the interpreter located in a soundproof booth away from the participants. This is a much more demanding method because the speaker does not pause, which requires the interpreter to listen and speak simultaneously. </a:t>
            </a:r>
            <a:endParaRPr lang="zh-CN" altLang="zh-CN" sz="28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87017" y="453543"/>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Interpreting</a:t>
            </a:r>
            <a:endParaRPr lang="zh-CN" altLang="en-US" dirty="0"/>
          </a:p>
        </p:txBody>
      </p:sp>
    </p:spTree>
    <p:extLst>
      <p:ext uri="{BB962C8B-B14F-4D97-AF65-F5344CB8AC3E}">
        <p14:creationId xmlns:p14="http://schemas.microsoft.com/office/powerpoint/2010/main" val="33297893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504660"/>
            <a:ext cx="8229600" cy="4525963"/>
          </a:xfrm>
        </p:spPr>
        <p:txBody>
          <a:bodyPr/>
          <a:lstStyle/>
          <a:p>
            <a:pPr>
              <a:lnSpc>
                <a:spcPct val="125000"/>
              </a:lnSpc>
              <a:spcBef>
                <a:spcPts val="0"/>
              </a:spcBef>
            </a:pPr>
            <a:r>
              <a:rPr lang="en-US" altLang="zh-CN" sz="2800" dirty="0">
                <a:latin typeface="Times New Roman" panose="02020603050405020304" pitchFamily="18" charset="0"/>
                <a:cs typeface="Times New Roman" panose="02020603050405020304" pitchFamily="18" charset="0"/>
                <a:hlinkClick r:id="rId2" action="ppaction://hlinksldjump"/>
              </a:rPr>
              <a:t>Cultural Considerations in Interpreting</a:t>
            </a:r>
            <a:endParaRPr lang="en-US" altLang="zh-CN" sz="28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800" dirty="0">
                <a:latin typeface="Times New Roman" panose="02020603050405020304" pitchFamily="18" charset="0"/>
                <a:cs typeface="Times New Roman" panose="02020603050405020304" pitchFamily="18" charset="0"/>
                <a:hlinkClick r:id="rId3" action="ppaction://hlinksldjump"/>
              </a:rPr>
              <a:t>Working with Interpreters</a:t>
            </a:r>
            <a:endParaRPr lang="en-US" altLang="zh-CN" sz="28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800" dirty="0">
                <a:latin typeface="Times New Roman" panose="02020603050405020304" pitchFamily="18" charset="0"/>
                <a:cs typeface="Times New Roman" panose="02020603050405020304" pitchFamily="18" charset="0"/>
                <a:hlinkClick r:id="rId4" action="ppaction://hlinksldjump"/>
              </a:rPr>
              <a:t>Interpreting and Technology </a:t>
            </a:r>
            <a:endParaRPr lang="en-US" altLang="zh-CN" sz="28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800" dirty="0">
                <a:latin typeface="Times New Roman" panose="02020603050405020304" pitchFamily="18" charset="0"/>
                <a:cs typeface="Times New Roman" panose="02020603050405020304" pitchFamily="18" charset="0"/>
                <a:hlinkClick r:id="rId5" action="ppaction://hlinksldjump"/>
              </a:rPr>
              <a:t>Developing Language Competence in the Intercultural Setting </a:t>
            </a:r>
            <a:endParaRPr lang="en-US" altLang="zh-CN" sz="28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87017" y="453543"/>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dirty="0">
                <a:latin typeface="Times New Roman" panose="02020603050405020304" pitchFamily="18" charset="0"/>
                <a:cs typeface="Times New Roman" panose="02020603050405020304" pitchFamily="18" charset="0"/>
              </a:rPr>
              <a:t>Interpreting</a:t>
            </a:r>
            <a:endParaRPr lang="zh-CN" altLang="en-US" dirty="0"/>
          </a:p>
        </p:txBody>
      </p:sp>
    </p:spTree>
    <p:extLst>
      <p:ext uri="{BB962C8B-B14F-4D97-AF65-F5344CB8AC3E}">
        <p14:creationId xmlns:p14="http://schemas.microsoft.com/office/powerpoint/2010/main" val="5638200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sz="4000" dirty="0">
                <a:latin typeface="Times New Roman" panose="02020603050405020304" pitchFamily="18" charset="0"/>
                <a:cs typeface="Times New Roman" panose="02020603050405020304" pitchFamily="18" charset="0"/>
              </a:rPr>
              <a:t>Cultural Considerations in Interpreting</a:t>
            </a:r>
            <a:endParaRPr lang="zh-CN" altLang="en-US" sz="4000" dirty="0"/>
          </a:p>
        </p:txBody>
      </p:sp>
      <p:sp>
        <p:nvSpPr>
          <p:cNvPr id="3" name="内容占位符 2"/>
          <p:cNvSpPr>
            <a:spLocks noGrp="1"/>
          </p:cNvSpPr>
          <p:nvPr>
            <p:ph idx="1"/>
          </p:nvPr>
        </p:nvSpPr>
        <p:spPr>
          <a:xfrm>
            <a:off x="298173" y="2405269"/>
            <a:ext cx="8845827"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The process of interpretation is much more complicated than merely taking a word from one language and replacing it with one from another language. Often, there is no single word equivalent, or the word may have a different meaning in another language. Equivalency problems across cultures are not only common with single or multiple words but also on countless occasions when the issue or concept that is being translated is without an equivalent. It is obvious that translation tasks require an extensive awareness of cultural factors.</a:t>
            </a:r>
            <a:endParaRPr lang="zh-CN" altLang="en-US"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7809" y="5993641"/>
            <a:ext cx="1017104" cy="1017104"/>
          </a:xfrm>
          <a:prstGeom prst="rect">
            <a:avLst/>
          </a:prstGeom>
        </p:spPr>
      </p:pic>
    </p:spTree>
    <p:extLst>
      <p:ext uri="{BB962C8B-B14F-4D97-AF65-F5344CB8AC3E}">
        <p14:creationId xmlns:p14="http://schemas.microsoft.com/office/powerpoint/2010/main" val="18979011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r>
              <a:rPr lang="en-US" altLang="zh-CN" dirty="0">
                <a:latin typeface="Times New Roman" panose="02020603050405020304" pitchFamily="18" charset="0"/>
                <a:cs typeface="Times New Roman" panose="02020603050405020304" pitchFamily="18" charset="0"/>
              </a:rPr>
              <a:t>Working with Interpreters</a:t>
            </a:r>
            <a:endParaRPr lang="zh-CN" altLang="en-US" dirty="0"/>
          </a:p>
        </p:txBody>
      </p:sp>
      <p:sp>
        <p:nvSpPr>
          <p:cNvPr id="3" name="内容占位符 2"/>
          <p:cNvSpPr>
            <a:spLocks noGrp="1"/>
          </p:cNvSpPr>
          <p:nvPr>
            <p:ph idx="1"/>
          </p:nvPr>
        </p:nvSpPr>
        <p:spPr>
          <a:xfrm>
            <a:off x="457200" y="2332037"/>
            <a:ext cx="8229600" cy="4525963"/>
          </a:xfrm>
        </p:spPr>
        <p:txBody>
          <a:bodyPr/>
          <a:lstStyle/>
          <a:p>
            <a:pPr marL="342900" lvl="1" indent="-342900">
              <a:lnSpc>
                <a:spcPct val="125000"/>
              </a:lnSpc>
              <a:spcBef>
                <a:spcPts val="0"/>
              </a:spcBef>
              <a:buChar char="•"/>
            </a:pPr>
            <a:r>
              <a:rPr lang="en-US" altLang="zh-CN" sz="2400" dirty="0">
                <a:latin typeface="Times New Roman" panose="02020603050405020304" pitchFamily="18" charset="0"/>
                <a:cs typeface="Times New Roman" panose="02020603050405020304" pitchFamily="18" charset="0"/>
              </a:rPr>
              <a:t>Interactions with people from other cultures speaking different languages continue to increase. Hence, the ability to work through an interpreter becomes essential if your message is to be conveyed correctly. Use of an interpreter involves establishing a three-way rapport among you, the interpreter, and the audience. Thus, it is important to select an interpreter or translator who best suits your particular situation.</a:t>
            </a:r>
          </a:p>
          <a:p>
            <a:pPr marL="342900" lvl="1" indent="-342900">
              <a:lnSpc>
                <a:spcPct val="125000"/>
              </a:lnSpc>
              <a:spcBef>
                <a:spcPts val="0"/>
              </a:spcBef>
              <a:buChar char="•"/>
            </a:pPr>
            <a:r>
              <a:rPr lang="en-US" altLang="zh-CN" sz="2400" dirty="0">
                <a:latin typeface="Times New Roman" panose="02020603050405020304" pitchFamily="18" charset="0"/>
                <a:cs typeface="Times New Roman" panose="02020603050405020304" pitchFamily="18" charset="0"/>
              </a:rPr>
              <a:t>Preparing for the Session </a:t>
            </a:r>
          </a:p>
          <a:p>
            <a:pPr marL="342900" lvl="1" indent="-342900">
              <a:lnSpc>
                <a:spcPct val="125000"/>
              </a:lnSpc>
              <a:spcBef>
                <a:spcPts val="0"/>
              </a:spcBef>
              <a:buChar char="•"/>
            </a:pPr>
            <a:r>
              <a:rPr lang="en-US" altLang="zh-CN" sz="2400" dirty="0">
                <a:latin typeface="Times New Roman" panose="02020603050405020304" pitchFamily="18" charset="0"/>
                <a:cs typeface="Times New Roman" panose="02020603050405020304" pitchFamily="18" charset="0"/>
              </a:rPr>
              <a:t>During the Session</a:t>
            </a:r>
          </a:p>
          <a:p>
            <a:pPr>
              <a:lnSpc>
                <a:spcPct val="125000"/>
              </a:lnSpc>
              <a:spcBef>
                <a:spcPts val="0"/>
              </a:spcBef>
            </a:pP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11387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pPr lvl="1"/>
            <a:r>
              <a:rPr lang="en-US" altLang="zh-CN" dirty="0">
                <a:latin typeface="Times New Roman" panose="02020603050405020304" pitchFamily="18" charset="0"/>
                <a:cs typeface="Times New Roman" panose="02020603050405020304" pitchFamily="18" charset="0"/>
              </a:rPr>
              <a:t>Preparing for the Session </a:t>
            </a:r>
            <a:endParaRPr lang="zh-CN" altLang="en-US" dirty="0"/>
          </a:p>
        </p:txBody>
      </p:sp>
      <p:sp>
        <p:nvSpPr>
          <p:cNvPr id="3" name="内容占位符 2"/>
          <p:cNvSpPr>
            <a:spLocks noGrp="1"/>
          </p:cNvSpPr>
          <p:nvPr>
            <p:ph idx="1"/>
          </p:nvPr>
        </p:nvSpPr>
        <p:spPr>
          <a:xfrm>
            <a:off x="457200" y="2361854"/>
            <a:ext cx="86868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Being prepared for an encounter that uses the services of an interpreter entails a series of important steps: </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(1) Locate someone with whom you are comfortable. </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(2) The individual you select needs to be completely bilingual.</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(3) Be sure that the interpreter is aware of any specialized terminology to be employed.</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(4) In addition, the individual should also have a facility in any dialect that might come into play. </a:t>
            </a:r>
          </a:p>
        </p:txBody>
      </p:sp>
    </p:spTree>
    <p:extLst>
      <p:ext uri="{BB962C8B-B14F-4D97-AF65-F5344CB8AC3E}">
        <p14:creationId xmlns:p14="http://schemas.microsoft.com/office/powerpoint/2010/main" val="29159601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435087"/>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(5) There is a growing recognition that interpreters and translators must be culturally competent, and this requires knowledge of their own culture as well as that of the target language culture. </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(6) Decide long before the actual event if the interpreter is to use simultaneous or consecutive interpreting. </a:t>
            </a:r>
            <a:endParaRPr lang="zh-CN" altLang="en-US" sz="2400" dirty="0">
              <a:latin typeface="Times New Roman" panose="02020603050405020304" pitchFamily="18" charset="0"/>
              <a:cs typeface="Times New Roman" panose="02020603050405020304" pitchFamily="18" charset="0"/>
            </a:endParaRPr>
          </a:p>
        </p:txBody>
      </p:sp>
      <p:sp>
        <p:nvSpPr>
          <p:cNvPr id="4" name="标题 1"/>
          <p:cNvSpPr txBox="1">
            <a:spLocks/>
          </p:cNvSpPr>
          <p:nvPr/>
        </p:nvSpPr>
        <p:spPr>
          <a:xfrm>
            <a:off x="457200" y="457200"/>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lvl="1"/>
            <a:r>
              <a:rPr lang="en-US" altLang="zh-CN" kern="0">
                <a:latin typeface="Times New Roman" panose="02020603050405020304" pitchFamily="18" charset="0"/>
                <a:cs typeface="Times New Roman" panose="02020603050405020304" pitchFamily="18" charset="0"/>
              </a:rPr>
              <a:t>Preparing for the Session </a:t>
            </a:r>
            <a:endParaRPr lang="zh-CN" altLang="en-US" kern="0" dirty="0"/>
          </a:p>
        </p:txBody>
      </p:sp>
    </p:spTree>
    <p:extLst>
      <p:ext uri="{BB962C8B-B14F-4D97-AF65-F5344CB8AC3E}">
        <p14:creationId xmlns:p14="http://schemas.microsoft.com/office/powerpoint/2010/main" val="25688281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143000"/>
          </a:xfrm>
        </p:spPr>
        <p:txBody>
          <a:bodyPr/>
          <a:lstStyle/>
          <a:p>
            <a:pPr lvl="1"/>
            <a:r>
              <a:rPr lang="en-US" altLang="zh-CN" dirty="0">
                <a:latin typeface="Times New Roman" panose="02020603050405020304" pitchFamily="18" charset="0"/>
                <a:cs typeface="Times New Roman" panose="02020603050405020304" pitchFamily="18" charset="0"/>
              </a:rPr>
              <a:t>During the Session</a:t>
            </a:r>
            <a:endParaRPr lang="zh-CN" altLang="en-US" dirty="0"/>
          </a:p>
        </p:txBody>
      </p:sp>
      <p:sp>
        <p:nvSpPr>
          <p:cNvPr id="3" name="内容占位符 2"/>
          <p:cNvSpPr>
            <a:spLocks noGrp="1"/>
          </p:cNvSpPr>
          <p:nvPr>
            <p:ph idx="1"/>
          </p:nvPr>
        </p:nvSpPr>
        <p:spPr>
          <a:xfrm>
            <a:off x="223630" y="2451306"/>
            <a:ext cx="8696739"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(1) One of the first and most important rules in using an interpreter deals with the speed at which you will talk. Do not rush, use short sentences, and pause often. </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(2) While speaking through an interpreter, remember that he or she is not the audience you should be directing your remarks to. </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(3) Remember the importance of feedback. You must be aware of the audience’s response to the interpreter. If they appear to be confused, slow down or even pause for questions. </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(4) Allow for some rest periods for the interpreter. </a:t>
            </a:r>
            <a:endParaRPr lang="zh-CN" altLang="en-US"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7809" y="5993641"/>
            <a:ext cx="1017104" cy="1017104"/>
          </a:xfrm>
          <a:prstGeom prst="rect">
            <a:avLst/>
          </a:prstGeom>
        </p:spPr>
      </p:pic>
    </p:spTree>
    <p:extLst>
      <p:ext uri="{BB962C8B-B14F-4D97-AF65-F5344CB8AC3E}">
        <p14:creationId xmlns:p14="http://schemas.microsoft.com/office/powerpoint/2010/main" val="261294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03846"/>
            <a:ext cx="8229600" cy="1143000"/>
          </a:xfrm>
        </p:spPr>
        <p:txBody>
          <a:bodyPr/>
          <a:lstStyle/>
          <a:p>
            <a:r>
              <a:rPr lang="en-US" altLang="zh-CN" dirty="0">
                <a:latin typeface="Times New Roman" panose="02020603050405020304" pitchFamily="18" charset="0"/>
                <a:cs typeface="Times New Roman" panose="02020603050405020304" pitchFamily="18" charset="0"/>
              </a:rPr>
              <a:t>Interpreting and Technology </a:t>
            </a:r>
            <a:endParaRPr lang="zh-CN" altLang="en-US" dirty="0"/>
          </a:p>
        </p:txBody>
      </p:sp>
      <p:sp>
        <p:nvSpPr>
          <p:cNvPr id="3" name="内容占位符 2"/>
          <p:cNvSpPr>
            <a:spLocks noGrp="1"/>
          </p:cNvSpPr>
          <p:nvPr>
            <p:ph idx="1"/>
          </p:nvPr>
        </p:nvSpPr>
        <p:spPr>
          <a:xfrm>
            <a:off x="457200" y="2530820"/>
            <a:ext cx="846814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New technology has greatly enhanced the ability of people around to world to easily and quickly connect with others. One technological innovation is software for computer-aided human interpreting. This new tool allows people who are speaking different languages to communicate over video with real-time translation. However, the device is not fully developed and has some problems. </a:t>
            </a:r>
            <a:endParaRPr lang="zh-CN" altLang="en-US"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7809" y="5993641"/>
            <a:ext cx="1017104" cy="1017104"/>
          </a:xfrm>
          <a:prstGeom prst="rect">
            <a:avLst/>
          </a:prstGeom>
        </p:spPr>
      </p:pic>
    </p:spTree>
    <p:extLst>
      <p:ext uri="{BB962C8B-B14F-4D97-AF65-F5344CB8AC3E}">
        <p14:creationId xmlns:p14="http://schemas.microsoft.com/office/powerpoint/2010/main" val="15781137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54151"/>
            <a:ext cx="8229600" cy="1143000"/>
          </a:xfrm>
        </p:spPr>
        <p:txBody>
          <a:bodyPr/>
          <a:lstStyle/>
          <a:p>
            <a:r>
              <a:rPr lang="en-US" altLang="zh-CN" sz="3200" dirty="0">
                <a:latin typeface="Times New Roman" panose="02020603050405020304" pitchFamily="18" charset="0"/>
                <a:cs typeface="Times New Roman" panose="02020603050405020304" pitchFamily="18" charset="0"/>
              </a:rPr>
              <a:t>Developing Language Competence in the Intercultural Setting </a:t>
            </a:r>
            <a:endParaRPr lang="zh-CN" altLang="en-US" sz="3200" dirty="0"/>
          </a:p>
        </p:txBody>
      </p:sp>
      <p:sp>
        <p:nvSpPr>
          <p:cNvPr id="3" name="内容占位符 2"/>
          <p:cNvSpPr>
            <a:spLocks noGrp="1"/>
          </p:cNvSpPr>
          <p:nvPr>
            <p:ph idx="1"/>
          </p:nvPr>
        </p:nvSpPr>
        <p:spPr>
          <a:xfrm>
            <a:off x="318053" y="2212767"/>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There are some general measures relating to language use that can enhance your intercultural communication competence:</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hlinkClick r:id="rId2" action="ppaction://hlinksldjump"/>
              </a:rPr>
              <a:t>Learn a second language </a:t>
            </a:r>
            <a:endParaRPr lang="en-US" altLang="zh-CN" sz="24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hlinkClick r:id="rId3" action="ppaction://hlinksldjump"/>
              </a:rPr>
              <a:t>Be mindful </a:t>
            </a:r>
            <a:endParaRPr lang="en-US" altLang="zh-CN" sz="24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hlinkClick r:id="rId4" action="ppaction://hlinksldjump"/>
              </a:rPr>
              <a:t>Be aware of conversational taboos</a:t>
            </a:r>
            <a:r>
              <a:rPr lang="en-US" altLang="zh-CN" sz="2400" dirty="0">
                <a:latin typeface="Times New Roman" panose="02020603050405020304" pitchFamily="18" charset="0"/>
                <a:cs typeface="Times New Roman" panose="02020603050405020304" pitchFamily="18" charset="0"/>
              </a:rPr>
              <a:t> </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hlinkClick r:id="rId5" action="ppaction://hlinksldjump"/>
              </a:rPr>
              <a:t>Be attentive to your speech rate </a:t>
            </a:r>
            <a:endParaRPr lang="en-US" altLang="zh-CN" sz="24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hlinkClick r:id="rId6" action="ppaction://hlinksldjump"/>
              </a:rPr>
              <a:t>Be conscious of differences in vocabulary </a:t>
            </a:r>
            <a:endParaRPr lang="en-US" altLang="zh-CN" sz="24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hlinkClick r:id="rId7" action="ppaction://hlinksldjump"/>
              </a:rPr>
              <a:t>Attend to nonverbal behavior </a:t>
            </a:r>
            <a:endParaRPr lang="en-US" altLang="zh-CN" sz="24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hlinkClick r:id="rId8" action="ppaction://hlinksldjump"/>
              </a:rPr>
              <a:t>Use “checking” devices </a:t>
            </a:r>
            <a:endParaRPr lang="en-US" altLang="zh-CN" sz="2400" dirty="0">
              <a:latin typeface="Times New Roman" panose="02020603050405020304" pitchFamily="18" charset="0"/>
              <a:cs typeface="Times New Roman" panose="02020603050405020304" pitchFamily="18" charset="0"/>
            </a:endParaRP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hlinkClick r:id="rId9" action="ppaction://hlinksldjump"/>
              </a:rPr>
              <a:t>Be aware of cultural variations in the use of language </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32308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0452" y="483359"/>
            <a:ext cx="8229600" cy="1143000"/>
          </a:xfrm>
        </p:spPr>
        <p:txBody>
          <a:bodyPr/>
          <a:lstStyle/>
          <a:p>
            <a:r>
              <a:rPr lang="en-US" altLang="zh-CN" dirty="0">
                <a:latin typeface="Times New Roman" panose="02020603050405020304" pitchFamily="18" charset="0"/>
                <a:cs typeface="Times New Roman" panose="02020603050405020304" pitchFamily="18" charset="0"/>
              </a:rPr>
              <a:t>Learn a Second Language</a:t>
            </a:r>
            <a:endParaRPr lang="zh-CN" altLang="en-US" dirty="0"/>
          </a:p>
        </p:txBody>
      </p:sp>
      <p:sp>
        <p:nvSpPr>
          <p:cNvPr id="3" name="内容占位符 2"/>
          <p:cNvSpPr>
            <a:spLocks noGrp="1"/>
          </p:cNvSpPr>
          <p:nvPr>
            <p:ph idx="1"/>
          </p:nvPr>
        </p:nvSpPr>
        <p:spPr>
          <a:xfrm>
            <a:off x="470452" y="2484782"/>
            <a:ext cx="8015909"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learning a second language can provide greater insight into the emotions and values of another culture, which will increase your intercultural understanding and competence, and also provide a greater awareness of cultural influences in general.</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As world society becomes more interconnected and more integrated, there is a corresponding need to speak more than one language.</a:t>
            </a:r>
            <a:endParaRPr lang="zh-CN" altLang="zh-CN" sz="2400" dirty="0">
              <a:latin typeface="Times New Roman" panose="02020603050405020304" pitchFamily="18" charset="0"/>
              <a:cs typeface="Times New Roman" panose="02020603050405020304" pitchFamily="18" charset="0"/>
            </a:endParaRPr>
          </a:p>
          <a:p>
            <a:pPr>
              <a:lnSpc>
                <a:spcPct val="125000"/>
              </a:lnSpc>
              <a:spcBef>
                <a:spcPts val="0"/>
              </a:spcBef>
            </a:pPr>
            <a:endParaRPr lang="zh-CN" altLang="en-US" sz="2400" dirty="0">
              <a:latin typeface="Times New Roman" panose="02020603050405020304" pitchFamily="18" charset="0"/>
              <a:cs typeface="Times New Roman" panose="02020603050405020304" pitchFamily="18" charset="0"/>
            </a:endParaRPr>
          </a:p>
        </p:txBody>
      </p:sp>
      <p:pic>
        <p:nvPicPr>
          <p:cNvPr id="5" name="图片 4">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7809" y="5993641"/>
            <a:ext cx="1017104" cy="1017104"/>
          </a:xfrm>
          <a:prstGeom prst="rect">
            <a:avLst/>
          </a:prstGeom>
        </p:spPr>
      </p:pic>
    </p:spTree>
    <p:extLst>
      <p:ext uri="{BB962C8B-B14F-4D97-AF65-F5344CB8AC3E}">
        <p14:creationId xmlns:p14="http://schemas.microsoft.com/office/powerpoint/2010/main" val="313841310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7018" y="473420"/>
            <a:ext cx="8229600" cy="1143000"/>
          </a:xfrm>
        </p:spPr>
        <p:txBody>
          <a:bodyPr/>
          <a:lstStyle/>
          <a:p>
            <a:r>
              <a:rPr lang="en-US" altLang="zh-CN" dirty="0">
                <a:latin typeface="Times New Roman" panose="02020603050405020304" pitchFamily="18" charset="0"/>
                <a:cs typeface="Times New Roman" panose="02020603050405020304" pitchFamily="18" charset="0"/>
              </a:rPr>
              <a:t>Be Mindful </a:t>
            </a:r>
            <a:endParaRPr lang="zh-CN" altLang="en-US" dirty="0"/>
          </a:p>
        </p:txBody>
      </p:sp>
      <p:sp>
        <p:nvSpPr>
          <p:cNvPr id="3" name="内容占位符 2"/>
          <p:cNvSpPr>
            <a:spLocks noGrp="1"/>
          </p:cNvSpPr>
          <p:nvPr>
            <p:ph idx="1"/>
          </p:nvPr>
        </p:nvSpPr>
        <p:spPr>
          <a:xfrm>
            <a:off x="159026" y="2332037"/>
            <a:ext cx="9054548"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Being mindful can entail being aware that using a second language is more physically and cognitively demanding than speaking one’s native language. During a conversation, someone speaking a second language must be more alert to what the other person is saying and how it is being said. They must simultaneously think about how to respond. Plus, as is the case in all communication encounters, distractions occur. This means that the second language speaker is confronted with a much greater mental task than the native speaker, which can produce both mental and physical fatigue. </a:t>
            </a:r>
            <a:endParaRPr lang="zh-CN" altLang="en-US"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7809" y="5993641"/>
            <a:ext cx="1017104" cy="1017104"/>
          </a:xfrm>
          <a:prstGeom prst="rect">
            <a:avLst/>
          </a:prstGeom>
        </p:spPr>
      </p:pic>
    </p:spTree>
    <p:extLst>
      <p:ext uri="{BB962C8B-B14F-4D97-AF65-F5344CB8AC3E}">
        <p14:creationId xmlns:p14="http://schemas.microsoft.com/office/powerpoint/2010/main" val="30384636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83360"/>
            <a:ext cx="8229600" cy="1143000"/>
          </a:xfrm>
        </p:spPr>
        <p:txBody>
          <a:bodyPr/>
          <a:lstStyle/>
          <a:p>
            <a:r>
              <a:rPr lang="en-US" altLang="zh-CN" dirty="0">
                <a:latin typeface="Times New Roman" panose="02020603050405020304" pitchFamily="18" charset="0"/>
                <a:cs typeface="Times New Roman" panose="02020603050405020304" pitchFamily="18" charset="0"/>
              </a:rPr>
              <a:t>Be Aware of Conversational Taboos </a:t>
            </a:r>
            <a:endParaRPr lang="zh-CN" altLang="en-US" dirty="0"/>
          </a:p>
        </p:txBody>
      </p:sp>
      <p:sp>
        <p:nvSpPr>
          <p:cNvPr id="3" name="内容占位符 2"/>
          <p:cNvSpPr>
            <a:spLocks noGrp="1"/>
          </p:cNvSpPr>
          <p:nvPr>
            <p:ph idx="1"/>
          </p:nvPr>
        </p:nvSpPr>
        <p:spPr>
          <a:xfrm>
            <a:off x="332961" y="2332037"/>
            <a:ext cx="8478078"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Be sensitive in the words you select. All linguistic communities have certain topics of conversation, conversational taboos, that are considered inappropriate in either polite conversation or in a business setting. At first meetings, whether for business or pleasure, people usually engage in small talk as a way of getting to know each another. However, the choice of topics discussed during these meetings must follow established cultural norms. In intercultural interactions this requires that you learn which topics are acceptable and which are taboo.</a:t>
            </a:r>
            <a:endParaRPr lang="zh-CN" altLang="en-US"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7809" y="5993641"/>
            <a:ext cx="1017104" cy="1017104"/>
          </a:xfrm>
          <a:prstGeom prst="rect">
            <a:avLst/>
          </a:prstGeom>
        </p:spPr>
      </p:pic>
    </p:spTree>
    <p:extLst>
      <p:ext uri="{BB962C8B-B14F-4D97-AF65-F5344CB8AC3E}">
        <p14:creationId xmlns:p14="http://schemas.microsoft.com/office/powerpoint/2010/main" val="5955425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33664"/>
            <a:ext cx="8229600" cy="1143000"/>
          </a:xfrm>
        </p:spPr>
        <p:txBody>
          <a:bodyPr/>
          <a:lstStyle/>
          <a:p>
            <a:r>
              <a:rPr lang="en-US" altLang="zh-CN" dirty="0">
                <a:latin typeface="Times New Roman" panose="02020603050405020304" pitchFamily="18" charset="0"/>
                <a:cs typeface="Times New Roman" panose="02020603050405020304" pitchFamily="18" charset="0"/>
              </a:rPr>
              <a:t>Be Attentive to Your Speech Rate </a:t>
            </a:r>
            <a:endParaRPr lang="zh-CN" altLang="en-US" dirty="0"/>
          </a:p>
        </p:txBody>
      </p:sp>
      <p:sp>
        <p:nvSpPr>
          <p:cNvPr id="3" name="内容占位符 2"/>
          <p:cNvSpPr>
            <a:spLocks noGrp="1"/>
          </p:cNvSpPr>
          <p:nvPr>
            <p:ph idx="1"/>
          </p:nvPr>
        </p:nvSpPr>
        <p:spPr>
          <a:xfrm>
            <a:off x="457200" y="2332037"/>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One problem encountered by second language speakers is that native speakers often talk quite rapidly. For example, if you are interacting with someone who is using English as a second language, you cannot automatically assume that he or she is completely fluent. Therefore, until the other person s level of language competence is determined, you should speak a bit more slowly and distinctly than you normally do. By closely monitoring feedback from the second language speaker, you can adjust your speech rate accordingly.</a:t>
            </a:r>
            <a:endParaRPr lang="zh-CN" altLang="en-US"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7809" y="5993641"/>
            <a:ext cx="1017104" cy="1017104"/>
          </a:xfrm>
          <a:prstGeom prst="rect">
            <a:avLst/>
          </a:prstGeom>
        </p:spPr>
      </p:pic>
    </p:spTree>
    <p:extLst>
      <p:ext uri="{BB962C8B-B14F-4D97-AF65-F5344CB8AC3E}">
        <p14:creationId xmlns:p14="http://schemas.microsoft.com/office/powerpoint/2010/main" val="19061476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73420"/>
            <a:ext cx="8229600" cy="1143000"/>
          </a:xfrm>
        </p:spPr>
        <p:txBody>
          <a:bodyPr/>
          <a:lstStyle/>
          <a:p>
            <a:r>
              <a:rPr lang="en-US" altLang="zh-CN" sz="3600" dirty="0">
                <a:latin typeface="Times New Roman" panose="02020603050405020304" pitchFamily="18" charset="0"/>
                <a:cs typeface="Times New Roman" panose="02020603050405020304" pitchFamily="18" charset="0"/>
              </a:rPr>
              <a:t>Be Conscious of Differences in Vocabulary </a:t>
            </a:r>
            <a:endParaRPr lang="zh-CN" altLang="en-US" sz="3600" dirty="0"/>
          </a:p>
        </p:txBody>
      </p:sp>
      <p:sp>
        <p:nvSpPr>
          <p:cNvPr id="3" name="内容占位符 2"/>
          <p:cNvSpPr>
            <a:spLocks noGrp="1"/>
          </p:cNvSpPr>
          <p:nvPr>
            <p:ph idx="1"/>
          </p:nvPr>
        </p:nvSpPr>
        <p:spPr>
          <a:xfrm>
            <a:off x="457200" y="2524539"/>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Determining the second language speaker’s vocabulary level is also important. Until you are sure that the other person has the requisite second language ability, avoid professional vocabulary, technical words, acronyms, and words with multiple meanings. Metaphors, slang, and colloquialisms can also impede understanding and should not be used. In addition, please recall our earlier warning that humor does not travel well across cultures. </a:t>
            </a:r>
            <a:endParaRPr lang="zh-CN" altLang="zh-CN" sz="2400" dirty="0">
              <a:latin typeface="Times New Roman" panose="02020603050405020304" pitchFamily="18" charset="0"/>
              <a:cs typeface="Times New Roman" panose="02020603050405020304" pitchFamily="18" charset="0"/>
            </a:endParaRPr>
          </a:p>
          <a:p>
            <a:pPr>
              <a:lnSpc>
                <a:spcPct val="125000"/>
              </a:lnSpc>
              <a:spcBef>
                <a:spcPts val="0"/>
              </a:spcBef>
            </a:pPr>
            <a:endParaRPr lang="zh-CN" altLang="en-US"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7809" y="5993641"/>
            <a:ext cx="1017104" cy="1017104"/>
          </a:xfrm>
          <a:prstGeom prst="rect">
            <a:avLst/>
          </a:prstGeom>
        </p:spPr>
      </p:pic>
    </p:spTree>
    <p:extLst>
      <p:ext uri="{BB962C8B-B14F-4D97-AF65-F5344CB8AC3E}">
        <p14:creationId xmlns:p14="http://schemas.microsoft.com/office/powerpoint/2010/main" val="17122197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93908"/>
            <a:ext cx="8229600" cy="1143000"/>
          </a:xfrm>
        </p:spPr>
        <p:txBody>
          <a:bodyPr/>
          <a:lstStyle/>
          <a:p>
            <a:r>
              <a:rPr lang="en-US" altLang="zh-CN" dirty="0">
                <a:latin typeface="Times New Roman" panose="02020603050405020304" pitchFamily="18" charset="0"/>
                <a:cs typeface="Times New Roman" panose="02020603050405020304" pitchFamily="18" charset="0"/>
              </a:rPr>
              <a:t>Attend to Nonverbal Behavior </a:t>
            </a:r>
            <a:endParaRPr lang="zh-CN" altLang="en-US" dirty="0"/>
          </a:p>
        </p:txBody>
      </p:sp>
      <p:sp>
        <p:nvSpPr>
          <p:cNvPr id="3" name="内容占位符 2"/>
          <p:cNvSpPr>
            <a:spLocks noGrp="1"/>
          </p:cNvSpPr>
          <p:nvPr>
            <p:ph idx="1"/>
          </p:nvPr>
        </p:nvSpPr>
        <p:spPr>
          <a:xfrm>
            <a:off x="457200" y="2441367"/>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When interacting with a second language user, you need to be alert to the individual s nonverbal responses. This can provide cues about your speech rate, type of vocabulary, and whether the individual understands what you are saying. Moreover, in an intercultural situation you need to be aware of cultural differences in nonverbal cues At the same time you should expect a second language speaker to exhibit unfamiliar nonverbal behaviors. </a:t>
            </a:r>
            <a:endParaRPr lang="zh-CN" altLang="en-US"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7809" y="5993641"/>
            <a:ext cx="1017104" cy="1017104"/>
          </a:xfrm>
          <a:prstGeom prst="rect">
            <a:avLst/>
          </a:prstGeom>
        </p:spPr>
      </p:pic>
    </p:spTree>
    <p:extLst>
      <p:ext uri="{BB962C8B-B14F-4D97-AF65-F5344CB8AC3E}">
        <p14:creationId xmlns:p14="http://schemas.microsoft.com/office/powerpoint/2010/main" val="38316875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7078" y="413785"/>
            <a:ext cx="8229600" cy="1143000"/>
          </a:xfrm>
        </p:spPr>
        <p:txBody>
          <a:bodyPr/>
          <a:lstStyle/>
          <a:p>
            <a:r>
              <a:rPr lang="en-US" altLang="zh-CN" dirty="0">
                <a:latin typeface="Times New Roman" panose="02020603050405020304" pitchFamily="18" charset="0"/>
                <a:cs typeface="Times New Roman" panose="02020603050405020304" pitchFamily="18" charset="0"/>
              </a:rPr>
              <a:t>Use “Checking” Devices </a:t>
            </a:r>
            <a:endParaRPr lang="zh-CN" altLang="en-US" dirty="0"/>
          </a:p>
        </p:txBody>
      </p:sp>
      <p:sp>
        <p:nvSpPr>
          <p:cNvPr id="3" name="内容占位符 2"/>
          <p:cNvSpPr>
            <a:spLocks noGrp="1"/>
          </p:cNvSpPr>
          <p:nvPr>
            <p:ph idx="1"/>
          </p:nvPr>
        </p:nvSpPr>
        <p:spPr>
          <a:xfrm>
            <a:off x="149087" y="2222707"/>
            <a:ext cx="8666922"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You should employ measures to help ensure that your intercultural partner understands your messages. If you feel the second language speaker is having difficulty comprehending something said, simply say, “Let me say that another way”, and rephrase your statement. Also, while checking for understanding, try to do so from a subordinate position. In this manner you take responsibility for the conversation and lessen the potential for embarrassing the other person. This can be of considerable importance when interacting with someone from a culture where face is highly valued. </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40281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332037"/>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Another means of checking is to write out a few words of the message you are trying to convey. Some people s second language reading skills may be greater than their listening ability. </a:t>
            </a:r>
            <a:endParaRPr lang="zh-CN" altLang="zh-CN" sz="2400" dirty="0">
              <a:latin typeface="Times New Roman" panose="02020603050405020304" pitchFamily="18" charset="0"/>
              <a:cs typeface="Times New Roman" panose="02020603050405020304" pitchFamily="18" charset="0"/>
            </a:endParaRPr>
          </a:p>
          <a:p>
            <a:pPr>
              <a:lnSpc>
                <a:spcPct val="125000"/>
              </a:lnSpc>
              <a:spcBef>
                <a:spcPts val="0"/>
              </a:spcBef>
            </a:pPr>
            <a:endParaRPr lang="zh-CN" altLang="en-US" sz="2400" dirty="0">
              <a:latin typeface="Times New Roman" panose="02020603050405020304" pitchFamily="18" charset="0"/>
              <a:cs typeface="Times New Roman" panose="02020603050405020304" pitchFamily="18" charset="0"/>
            </a:endParaRPr>
          </a:p>
          <a:p>
            <a:pPr>
              <a:lnSpc>
                <a:spcPct val="125000"/>
              </a:lnSpc>
              <a:spcBef>
                <a:spcPts val="0"/>
              </a:spcBef>
            </a:pPr>
            <a:endParaRPr lang="zh-CN" altLang="en-US" sz="2400" dirty="0">
              <a:latin typeface="Times New Roman" panose="02020603050405020304" pitchFamily="18" charset="0"/>
              <a:cs typeface="Times New Roman" panose="02020603050405020304" pitchFamily="18" charset="0"/>
            </a:endParaRPr>
          </a:p>
        </p:txBody>
      </p:sp>
      <p:pic>
        <p:nvPicPr>
          <p:cNvPr id="4" name="图片 3">
            <a:hlinkClick r:id="rId2" action="ppaction://hlinksldjump"/>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7809" y="5993641"/>
            <a:ext cx="1017104" cy="1017104"/>
          </a:xfrm>
          <a:prstGeom prst="rect">
            <a:avLst/>
          </a:prstGeom>
        </p:spPr>
      </p:pic>
      <p:sp>
        <p:nvSpPr>
          <p:cNvPr id="5" name="标题 1"/>
          <p:cNvSpPr txBox="1">
            <a:spLocks/>
          </p:cNvSpPr>
          <p:nvPr/>
        </p:nvSpPr>
        <p:spPr>
          <a:xfrm>
            <a:off x="477078" y="413785"/>
            <a:ext cx="8229600" cy="1143000"/>
          </a:xfrm>
          <a:prstGeom prst="rect">
            <a:avLst/>
          </a:prstGeom>
          <a:noFill/>
          <a:ln w="9525">
            <a:noFill/>
          </a:ln>
        </p:spPr>
        <p:txBody>
          <a:bodyPr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en-US" altLang="zh-CN">
                <a:latin typeface="Times New Roman" panose="02020603050405020304" pitchFamily="18" charset="0"/>
                <a:cs typeface="Times New Roman" panose="02020603050405020304" pitchFamily="18" charset="0"/>
              </a:rPr>
              <a:t>Use “Checking” Devices </a:t>
            </a:r>
            <a:endParaRPr lang="zh-CN" altLang="en-US" dirty="0"/>
          </a:p>
        </p:txBody>
      </p:sp>
    </p:spTree>
    <p:extLst>
      <p:ext uri="{BB962C8B-B14F-4D97-AF65-F5344CB8AC3E}">
        <p14:creationId xmlns:p14="http://schemas.microsoft.com/office/powerpoint/2010/main" val="98763889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63481"/>
            <a:ext cx="8229600" cy="1143000"/>
          </a:xfrm>
        </p:spPr>
        <p:txBody>
          <a:bodyPr/>
          <a:lstStyle/>
          <a:p>
            <a:r>
              <a:rPr lang="en-US" altLang="zh-CN" sz="3200" dirty="0">
                <a:latin typeface="Times New Roman" panose="02020603050405020304" pitchFamily="18" charset="0"/>
                <a:cs typeface="Times New Roman" panose="02020603050405020304" pitchFamily="18" charset="0"/>
              </a:rPr>
              <a:t>Be Aware of Cultural Variations in the Use of Language </a:t>
            </a:r>
            <a:endParaRPr lang="zh-CN" altLang="en-US" sz="3200" dirty="0"/>
          </a:p>
        </p:txBody>
      </p:sp>
      <p:sp>
        <p:nvSpPr>
          <p:cNvPr id="3" name="内容占位符 2"/>
          <p:cNvSpPr>
            <a:spLocks noGrp="1"/>
          </p:cNvSpPr>
          <p:nvPr>
            <p:ph idx="1"/>
          </p:nvPr>
        </p:nvSpPr>
        <p:spPr>
          <a:xfrm>
            <a:off x="457200" y="2117035"/>
            <a:ext cx="8229600" cy="4525963"/>
          </a:xfrm>
        </p:spPr>
        <p:txBody>
          <a:bodyPr/>
          <a:lstStyle/>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You should be aware of some of the following cultural differences: </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(1) how conversations are opened and terminated, </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(2) how the participants take turns talking, </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(3) the importance of silence in interaction, </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(4) reaction to being interrupted, </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(5) knowing what are appropriate and inappropriate topics of conversation with strangers, </a:t>
            </a:r>
          </a:p>
          <a:p>
            <a:pPr>
              <a:lnSpc>
                <a:spcPct val="125000"/>
              </a:lnSpc>
              <a:spcBef>
                <a:spcPts val="0"/>
              </a:spcBef>
            </a:pPr>
            <a:r>
              <a:rPr lang="en-US" altLang="zh-CN" sz="2400" dirty="0">
                <a:latin typeface="Times New Roman" panose="02020603050405020304" pitchFamily="18" charset="0"/>
                <a:cs typeface="Times New Roman" panose="02020603050405020304" pitchFamily="18" charset="0"/>
              </a:rPr>
              <a:t>(6) the sequencing of topics from specific to general or general to specific. </a:t>
            </a:r>
            <a:endParaRPr lang="zh-CN" altLang="zh-CN" sz="2400" dirty="0">
              <a:latin typeface="Times New Roman" panose="02020603050405020304" pitchFamily="18" charset="0"/>
              <a:cs typeface="Times New Roman" panose="02020603050405020304" pitchFamily="18" charset="0"/>
            </a:endParaRPr>
          </a:p>
          <a:p>
            <a:pPr>
              <a:lnSpc>
                <a:spcPct val="125000"/>
              </a:lnSpc>
              <a:spcBef>
                <a:spcPts val="0"/>
              </a:spcBef>
            </a:pP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583955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87626" y="3687417"/>
            <a:ext cx="8229600" cy="4525963"/>
          </a:xfrm>
        </p:spPr>
        <p:txBody>
          <a:bodyPr/>
          <a:lstStyle/>
          <a:p>
            <a:pPr marL="0" indent="0" algn="ctr">
              <a:spcBef>
                <a:spcPct val="0"/>
              </a:spcBef>
              <a:buNone/>
            </a:pPr>
            <a:r>
              <a:rPr lang="en-US" altLang="zh-CN" sz="5400" dirty="0">
                <a:solidFill>
                  <a:schemeClr val="tx2"/>
                </a:solidFill>
                <a:latin typeface="Times New Roman" panose="02020603050405020304" pitchFamily="18" charset="0"/>
                <a:ea typeface="+mj-ea"/>
                <a:cs typeface="Times New Roman" panose="02020603050405020304" pitchFamily="18" charset="0"/>
              </a:rPr>
              <a:t>Thanks for watching</a:t>
            </a:r>
            <a:endParaRPr lang="zh-CN" altLang="en-US" sz="5400" dirty="0">
              <a:solidFill>
                <a:schemeClr val="tx2"/>
              </a:solidFill>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104530736"/>
      </p:ext>
    </p:extLst>
  </p:cSld>
  <p:clrMapOvr>
    <a:masterClrMapping/>
  </p:clrMapOvr>
</p:sld>
</file>

<file path=ppt/theme/theme1.xml><?xml version="1.0" encoding="utf-8"?>
<a:theme xmlns:a="http://schemas.openxmlformats.org/drawingml/2006/main" name="默认设计模板">
  <a:themeElements>
    <a:clrScheme name="自定义 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0000"/>
      </a:hlink>
      <a:folHlink>
        <a:srgbClr val="0070C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1447</TotalTime>
  <Words>5846</Words>
  <Application>Microsoft Office PowerPoint</Application>
  <PresentationFormat>全屏显示(4:3)</PresentationFormat>
  <Paragraphs>220</Paragraphs>
  <Slides>83</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83</vt:i4>
      </vt:variant>
    </vt:vector>
  </HeadingPairs>
  <TitlesOfParts>
    <vt:vector size="89" baseType="lpstr">
      <vt:lpstr>等线</vt:lpstr>
      <vt:lpstr>庞门正道标题体</vt:lpstr>
      <vt:lpstr>宋体</vt:lpstr>
      <vt:lpstr>Arial</vt:lpstr>
      <vt:lpstr>Times New Roman</vt:lpstr>
      <vt:lpstr>默认设计模板</vt:lpstr>
      <vt:lpstr>Chapter 6 Verbal Messages:  Exchanging Ideas Through Language</vt:lpstr>
      <vt:lpstr>Contents</vt:lpstr>
      <vt:lpstr>PowerPoint 演示文稿</vt:lpstr>
      <vt:lpstr>6.1 Functions of Language</vt:lpstr>
      <vt:lpstr>PowerPoint 演示文稿</vt:lpstr>
      <vt:lpstr>6.1.2 Social Cohesion P196</vt:lpstr>
      <vt:lpstr>6.1.3 Expressions of Identity P196</vt:lpstr>
      <vt:lpstr>PowerPoint 演示文稿</vt:lpstr>
      <vt:lpstr>PowerPoint 演示文稿</vt:lpstr>
      <vt:lpstr>The definition of language P197</vt:lpstr>
      <vt:lpstr>Characteristics of Language </vt:lpstr>
      <vt:lpstr>Words are only symbols P197</vt:lpstr>
      <vt:lpstr>Words are arbitrary P197</vt:lpstr>
      <vt:lpstr>PowerPoint 演示文稿</vt:lpstr>
      <vt:lpstr>PowerPoint 演示文稿</vt:lpstr>
      <vt:lpstr>Words evoke denotative or connotative meanings P198 </vt:lpstr>
      <vt:lpstr>Denotative meaning P198</vt:lpstr>
      <vt:lpstr>Connotative meaning P198</vt:lpstr>
      <vt:lpstr>PowerPoint 演示文稿</vt:lpstr>
      <vt:lpstr>Language and Culture</vt:lpstr>
      <vt:lpstr>6.3.1 Language and Thought P198</vt:lpstr>
      <vt:lpstr>PowerPoint 演示文稿</vt:lpstr>
      <vt:lpstr>6.3.2 Language Variations P201</vt:lpstr>
      <vt:lpstr>PowerPoint 演示文稿</vt:lpstr>
      <vt:lpstr>6.3.2.1 Accents P201</vt:lpstr>
      <vt:lpstr>PowerPoint 演示文稿</vt:lpstr>
      <vt:lpstr>6.3.2.2 Dialect P202</vt:lpstr>
      <vt:lpstr>PowerPoint 演示文稿</vt:lpstr>
      <vt:lpstr>6.3.2.3 Argot P202-203</vt:lpstr>
      <vt:lpstr>PowerPoint 演示文稿</vt:lpstr>
      <vt:lpstr>6.3.2.4 Slang P203</vt:lpstr>
      <vt:lpstr>PowerPoint 演示文稿</vt:lpstr>
      <vt:lpstr>6.3.2.7 Texting P204</vt:lpstr>
      <vt:lpstr>6.3.2.8 Idioms P204</vt:lpstr>
      <vt:lpstr>6.3.3 Using Language P205</vt:lpstr>
      <vt:lpstr>PowerPoint 演示文稿</vt:lpstr>
      <vt:lpstr>6.3.3.1 English P205</vt:lpstr>
      <vt:lpstr>PowerPoint 演示文稿</vt:lpstr>
      <vt:lpstr>PowerPoint 演示文稿</vt:lpstr>
      <vt:lpstr>6.3.3.2 Spanish P206</vt:lpstr>
      <vt:lpstr>PowerPoint 演示文稿</vt:lpstr>
      <vt:lpstr>6.3.3.3 Brazilian Portuguese P207</vt:lpstr>
      <vt:lpstr>PowerPoint 演示文稿</vt:lpstr>
      <vt:lpstr>6.3.3.4 Northeast Asian P207</vt:lpstr>
      <vt:lpstr>PowerPoint 演示文稿</vt:lpstr>
      <vt:lpstr>PowerPoint 演示文稿</vt:lpstr>
      <vt:lpstr>Chinese P208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6.3.3.5 Arabic</vt:lpstr>
      <vt:lpstr>PowerPoint 演示文稿</vt:lpstr>
      <vt:lpstr>6.3.3.6 German</vt:lpstr>
      <vt:lpstr>PowerPoint 演示文稿</vt:lpstr>
      <vt:lpstr>PowerPoint 演示文稿</vt:lpstr>
      <vt:lpstr>PowerPoint 演示文稿</vt:lpstr>
      <vt:lpstr>Interpreting</vt:lpstr>
      <vt:lpstr>PowerPoint 演示文稿</vt:lpstr>
      <vt:lpstr>PowerPoint 演示文稿</vt:lpstr>
      <vt:lpstr>PowerPoint 演示文稿</vt:lpstr>
      <vt:lpstr>PowerPoint 演示文稿</vt:lpstr>
      <vt:lpstr>Cultural Considerations in Interpreting</vt:lpstr>
      <vt:lpstr>Working with Interpreters</vt:lpstr>
      <vt:lpstr>Preparing for the Session </vt:lpstr>
      <vt:lpstr>PowerPoint 演示文稿</vt:lpstr>
      <vt:lpstr>During the Session</vt:lpstr>
      <vt:lpstr>Interpreting and Technology </vt:lpstr>
      <vt:lpstr>Developing Language Competence in the Intercultural Setting </vt:lpstr>
      <vt:lpstr>Learn a Second Language</vt:lpstr>
      <vt:lpstr>Be Mindful </vt:lpstr>
      <vt:lpstr>Be Aware of Conversational Taboos </vt:lpstr>
      <vt:lpstr>Be Attentive to Your Speech Rate </vt:lpstr>
      <vt:lpstr>Be Conscious of Differences in Vocabulary </vt:lpstr>
      <vt:lpstr>Attend to Nonverbal Behavior </vt:lpstr>
      <vt:lpstr>Use “Checking” Devices </vt:lpstr>
      <vt:lpstr>PowerPoint 演示文稿</vt:lpstr>
      <vt:lpstr>Be Aware of Cultural Variations in the Use of Language </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三角形</dc:title>
  <dc:creator>第一PPT</dc:creator>
  <cp:keywords>三角形</cp:keywords>
  <cp:lastModifiedBy>Kong Hillary</cp:lastModifiedBy>
  <cp:revision>184</cp:revision>
  <dcterms:created xsi:type="dcterms:W3CDTF">2020-05-16T17:38:09Z</dcterms:created>
  <dcterms:modified xsi:type="dcterms:W3CDTF">2022-04-20T03:06:54Z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2052-2.2.0.3563</vt:lpwstr>
  </property>
</Properties>
</file>