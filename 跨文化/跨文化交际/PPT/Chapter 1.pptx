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4" r:id="rId1"/>
    <p:sldMasterId id="2147483676" r:id="rId2"/>
  </p:sldMasterIdLst>
  <p:notesMasterIdLst>
    <p:notesMasterId r:id="rId30"/>
  </p:notesMasterIdLst>
  <p:sldIdLst>
    <p:sldId id="11518" r:id="rId3"/>
    <p:sldId id="11527" r:id="rId4"/>
    <p:sldId id="11519" r:id="rId5"/>
    <p:sldId id="11528" r:id="rId6"/>
    <p:sldId id="11531" r:id="rId7"/>
    <p:sldId id="11534" r:id="rId8"/>
    <p:sldId id="11532" r:id="rId9"/>
    <p:sldId id="11533" r:id="rId10"/>
    <p:sldId id="11535" r:id="rId11"/>
    <p:sldId id="11536" r:id="rId12"/>
    <p:sldId id="11537" r:id="rId13"/>
    <p:sldId id="11539" r:id="rId14"/>
    <p:sldId id="11544" r:id="rId15"/>
    <p:sldId id="11545" r:id="rId16"/>
    <p:sldId id="11553" r:id="rId17"/>
    <p:sldId id="11541" r:id="rId18"/>
    <p:sldId id="11546" r:id="rId19"/>
    <p:sldId id="11547" r:id="rId20"/>
    <p:sldId id="11542" r:id="rId21"/>
    <p:sldId id="11548" r:id="rId22"/>
    <p:sldId id="11549" r:id="rId23"/>
    <p:sldId id="11543" r:id="rId24"/>
    <p:sldId id="11550" r:id="rId25"/>
    <p:sldId id="11551" r:id="rId26"/>
    <p:sldId id="11552" r:id="rId27"/>
    <p:sldId id="11540" r:id="rId28"/>
    <p:sldId id="11520" r:id="rId2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7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p:restoredTop sz="95317"/>
  </p:normalViewPr>
  <p:slideViewPr>
    <p:cSldViewPr snapToGrid="0" showGuides="1">
      <p:cViewPr varScale="1">
        <p:scale>
          <a:sx n="91" d="100"/>
          <a:sy n="91" d="100"/>
        </p:scale>
        <p:origin x="1128" y="44"/>
      </p:cViewPr>
      <p:guideLst>
        <p:guide orient="horz" pos="1978"/>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2022/2/25</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92669772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494441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704224258"/>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7149153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32438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89763133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74188887"/>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534271797"/>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28637663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032057269"/>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506426801"/>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323397070"/>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77820786"/>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4916989"/>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42968099"/>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132444418"/>
      </p:ext>
    </p:extLst>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116452297"/>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137842077"/>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44217769"/>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238979031"/>
      </p:ext>
    </p:extLst>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827307940"/>
      </p:ext>
    </p:extLst>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509949996"/>
      </p:ext>
    </p:extLst>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14497153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517643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33333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videos/1.%20Intercultural%20Communication%20Adventure%20with%20Little%20Pilot%201_&#26631;&#28165;.kux"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371600" y="3886200"/>
            <a:ext cx="6400800" cy="1033145"/>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标题 1"/>
          <p:cNvSpPr>
            <a:spLocks noGrp="1"/>
          </p:cNvSpPr>
          <p:nvPr>
            <p:ph type="ctrTitle"/>
          </p:nvPr>
        </p:nvSpPr>
        <p:spPr>
          <a:xfrm>
            <a:off x="301171" y="3154362"/>
            <a:ext cx="8610601" cy="2387600"/>
          </a:xfrm>
        </p:spPr>
        <p:txBody>
          <a:bodyPr/>
          <a:lstStyle/>
          <a:p>
            <a:r>
              <a:rPr lang="en-US" altLang="zh-CN" sz="4800" dirty="0"/>
              <a:t>Chapter 1 </a:t>
            </a:r>
            <a:br>
              <a:rPr lang="en-US" altLang="zh-CN" sz="4800" dirty="0"/>
            </a:br>
            <a:r>
              <a:rPr lang="en-US" altLang="zh-CN" sz="4800" dirty="0"/>
              <a:t>Intercultural Communication: </a:t>
            </a:r>
            <a:br>
              <a:rPr lang="en-US" altLang="zh-CN" sz="4800" dirty="0"/>
            </a:br>
            <a:r>
              <a:rPr lang="en-US" altLang="zh-CN" sz="4800" dirty="0"/>
              <a:t>A Requirement for the Interdependent Global Society</a:t>
            </a:r>
            <a:endParaRPr lang="zh-CN" altLang="en-US" sz="4800" dirty="0"/>
          </a:p>
        </p:txBody>
      </p:sp>
    </p:spTree>
    <p:extLst>
      <p:ext uri="{BB962C8B-B14F-4D97-AF65-F5344CB8AC3E}">
        <p14:creationId xmlns:p14="http://schemas.microsoft.com/office/powerpoint/2010/main" val="410158609"/>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2996680" y="672091"/>
            <a:ext cx="8280920" cy="707886"/>
          </a:xfrm>
          <a:prstGeom prst="rect">
            <a:avLst/>
          </a:prstGeom>
        </p:spPr>
        <p:txBody>
          <a:bodyPr wrap="square">
            <a:spAutoFit/>
          </a:bodyPr>
          <a:lstStyle/>
          <a:p>
            <a:pPr eaLnBrk="0" hangingPunct="0">
              <a:spcAft>
                <a:spcPts val="0"/>
              </a:spcAft>
            </a:pPr>
            <a:r>
              <a:rPr lang="en-US" altLang="zh-CN" sz="4000" b="1" kern="100" dirty="0">
                <a:solidFill>
                  <a:srgbClr val="000000"/>
                </a:solidFill>
                <a:latin typeface="Times New Roman" pitchFamily="18" charset="0"/>
                <a:ea typeface="宋体" panose="02010600030101010101" pitchFamily="2" charset="-122"/>
                <a:cs typeface="Times New Roman" pitchFamily="18" charset="0"/>
              </a:rPr>
              <a:t>Contents</a:t>
            </a:r>
          </a:p>
        </p:txBody>
      </p:sp>
      <p:sp>
        <p:nvSpPr>
          <p:cNvPr id="3" name="TextBox 2"/>
          <p:cNvSpPr txBox="1"/>
          <p:nvPr/>
        </p:nvSpPr>
        <p:spPr>
          <a:xfrm>
            <a:off x="145142" y="2641597"/>
            <a:ext cx="8998858" cy="3108543"/>
          </a:xfrm>
          <a:prstGeom prst="rect">
            <a:avLst/>
          </a:prstGeom>
          <a:noFill/>
        </p:spPr>
        <p:txBody>
          <a:bodyPr wrap="square" rtlCol="0">
            <a:spAutoFit/>
          </a:bodyPr>
          <a:lstStyle/>
          <a:p>
            <a:pPr algn="just"/>
            <a:r>
              <a:rPr lang="en-US" altLang="zh-CN" sz="2800" dirty="0">
                <a:solidFill>
                  <a:srgbClr val="000000"/>
                </a:solidFill>
              </a:rPr>
              <a:t>●1.1  The Interdependent Global Society</a:t>
            </a:r>
          </a:p>
          <a:p>
            <a:pPr algn="just"/>
            <a:r>
              <a:rPr lang="en-US" altLang="zh-CN" sz="2800" dirty="0">
                <a:solidFill>
                  <a:srgbClr val="000000"/>
                </a:solidFill>
              </a:rPr>
              <a:t>●1.2  The Requirement for Intercultural Cooperation</a:t>
            </a:r>
          </a:p>
          <a:p>
            <a:pPr algn="just"/>
            <a:r>
              <a:rPr lang="en-US" altLang="zh-CN" sz="2800" dirty="0">
                <a:solidFill>
                  <a:srgbClr val="000000"/>
                </a:solidFill>
              </a:rPr>
              <a:t>●</a:t>
            </a:r>
            <a:r>
              <a:rPr lang="en-US" altLang="zh-CN" sz="2800" dirty="0"/>
              <a:t>1.3  Technology </a:t>
            </a:r>
            <a:r>
              <a:rPr lang="zh-CN" altLang="en-US" sz="2800" dirty="0">
                <a:solidFill>
                  <a:srgbClr val="FF0000"/>
                </a:solidFill>
              </a:rPr>
              <a:t>（</a:t>
            </a:r>
            <a:r>
              <a:rPr lang="en-US" altLang="zh-CN" sz="2800" dirty="0">
                <a:solidFill>
                  <a:srgbClr val="FF0000"/>
                </a:solidFill>
              </a:rPr>
              <a:t>Not lectured</a:t>
            </a:r>
            <a:r>
              <a:rPr lang="zh-CN" altLang="en-US" sz="2800" dirty="0">
                <a:solidFill>
                  <a:srgbClr val="FF0000"/>
                </a:solidFill>
              </a:rPr>
              <a:t>）</a:t>
            </a:r>
            <a:endParaRPr lang="en-US" altLang="zh-CN" sz="2800" dirty="0">
              <a:solidFill>
                <a:srgbClr val="FF0000"/>
              </a:solidFill>
            </a:endParaRPr>
          </a:p>
          <a:p>
            <a:pPr algn="just"/>
            <a:r>
              <a:rPr lang="en-US" altLang="zh-CN" sz="2800" dirty="0">
                <a:solidFill>
                  <a:srgbClr val="000000"/>
                </a:solidFill>
              </a:rPr>
              <a:t>●1.4  Developing Intercultural Awareness</a:t>
            </a:r>
          </a:p>
          <a:p>
            <a:pPr algn="just"/>
            <a:endParaRPr lang="en-US" altLang="zh-CN" sz="2800" dirty="0">
              <a:solidFill>
                <a:schemeClr val="accent1">
                  <a:lumMod val="50000"/>
                </a:schemeClr>
              </a:solidFill>
            </a:endParaRPr>
          </a:p>
          <a:p>
            <a:pPr algn="just"/>
            <a:r>
              <a:rPr lang="en-US" altLang="zh-CN" sz="2800" dirty="0">
                <a:solidFill>
                  <a:schemeClr val="accent1">
                    <a:lumMod val="50000"/>
                  </a:schemeClr>
                </a:solidFill>
                <a:hlinkClick r:id="rId3" action="ppaction://hlinkfile">
                  <a:extLst>
                    <a:ext uri="{A12FA001-AC4F-418D-AE19-62706E023703}">
                      <ahyp:hlinkClr xmlns:ahyp="http://schemas.microsoft.com/office/drawing/2018/hyperlinkcolor" val="tx"/>
                    </a:ext>
                  </a:extLst>
                </a:hlinkClick>
              </a:rPr>
              <a:t>videos\1. Intercultural Communication Adventure with Little Pilot 1_</a:t>
            </a:r>
            <a:r>
              <a:rPr lang="zh-CN" altLang="en-US" sz="2800" dirty="0">
                <a:solidFill>
                  <a:schemeClr val="accent1">
                    <a:lumMod val="50000"/>
                  </a:schemeClr>
                </a:solidFill>
                <a:hlinkClick r:id="rId3" action="ppaction://hlinkfile">
                  <a:extLst>
                    <a:ext uri="{A12FA001-AC4F-418D-AE19-62706E023703}">
                      <ahyp:hlinkClr xmlns:ahyp="http://schemas.microsoft.com/office/drawing/2018/hyperlinkcolor" val="tx"/>
                    </a:ext>
                  </a:extLst>
                </a:hlinkClick>
              </a:rPr>
              <a:t>标清</a:t>
            </a:r>
            <a:r>
              <a:rPr lang="en-US" altLang="zh-CN" sz="2800" dirty="0">
                <a:solidFill>
                  <a:schemeClr val="accent1">
                    <a:lumMod val="50000"/>
                  </a:schemeClr>
                </a:solidFill>
                <a:hlinkClick r:id="rId3" action="ppaction://hlinkfile">
                  <a:extLst>
                    <a:ext uri="{A12FA001-AC4F-418D-AE19-62706E023703}">
                      <ahyp:hlinkClr xmlns:ahyp="http://schemas.microsoft.com/office/drawing/2018/hyperlinkcolor" val="tx"/>
                    </a:ext>
                  </a:extLst>
                </a:hlinkClick>
              </a:rPr>
              <a:t>.</a:t>
            </a:r>
            <a:r>
              <a:rPr lang="en-US" altLang="zh-CN" sz="2800" dirty="0" err="1">
                <a:solidFill>
                  <a:schemeClr val="accent1">
                    <a:lumMod val="50000"/>
                  </a:schemeClr>
                </a:solidFill>
                <a:hlinkClick r:id="rId3" action="ppaction://hlinkfile">
                  <a:extLst>
                    <a:ext uri="{A12FA001-AC4F-418D-AE19-62706E023703}">
                      <ahyp:hlinkClr xmlns:ahyp="http://schemas.microsoft.com/office/drawing/2018/hyperlinkcolor" val="tx"/>
                    </a:ext>
                  </a:extLst>
                </a:hlinkClick>
              </a:rPr>
              <a:t>kux</a:t>
            </a:r>
            <a:endParaRPr lang="en-US" altLang="zh-CN" sz="2800" dirty="0">
              <a:solidFill>
                <a:schemeClr val="accent1">
                  <a:lumMod val="50000"/>
                </a:schemeClr>
              </a:solidFill>
            </a:endParaRPr>
          </a:p>
        </p:txBody>
      </p:sp>
    </p:spTree>
    <p:extLst>
      <p:ext uri="{BB962C8B-B14F-4D97-AF65-F5344CB8AC3E}">
        <p14:creationId xmlns:p14="http://schemas.microsoft.com/office/powerpoint/2010/main" val="3343896035"/>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646331"/>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1.1  The Interdependent Global Society</a:t>
            </a:r>
          </a:p>
        </p:txBody>
      </p:sp>
      <p:sp>
        <p:nvSpPr>
          <p:cNvPr id="3" name="TextBox 2"/>
          <p:cNvSpPr txBox="1"/>
          <p:nvPr/>
        </p:nvSpPr>
        <p:spPr>
          <a:xfrm>
            <a:off x="514737" y="2728685"/>
            <a:ext cx="8280920" cy="3539430"/>
          </a:xfrm>
          <a:prstGeom prst="rect">
            <a:avLst/>
          </a:prstGeom>
          <a:noFill/>
        </p:spPr>
        <p:txBody>
          <a:bodyPr wrap="square" rtlCol="0">
            <a:spAutoFit/>
          </a:bodyPr>
          <a:lstStyle/>
          <a:p>
            <a:pPr algn="just"/>
            <a:r>
              <a:rPr lang="en-US" altLang="zh-CN" sz="2800" dirty="0"/>
              <a:t>In the globalized world, </a:t>
            </a:r>
            <a:r>
              <a:rPr lang="en-US" altLang="zh-CN" sz="2800" dirty="0">
                <a:solidFill>
                  <a:srgbClr val="FF0000"/>
                </a:solidFill>
              </a:rPr>
              <a:t>effective intercultural communication</a:t>
            </a:r>
            <a:r>
              <a:rPr lang="en-US" altLang="zh-CN" sz="2800" dirty="0"/>
              <a:t> is an increasingly essential requirement in the critical efforts to ensure world peace, improve relationships between co-cultures and the dominant cultures within each country, assure resource sustainability, and promote ecological viability. </a:t>
            </a:r>
          </a:p>
          <a:p>
            <a:pPr algn="just"/>
            <a:endParaRPr lang="en-US" altLang="zh-CN" sz="2800" dirty="0">
              <a:solidFill>
                <a:srgbClr val="FF0000"/>
              </a:solidFill>
            </a:endParaRPr>
          </a:p>
          <a:p>
            <a:pPr algn="just"/>
            <a:r>
              <a:rPr lang="en-US" altLang="zh-CN" sz="2800" dirty="0">
                <a:highlight>
                  <a:srgbClr val="FFFF00"/>
                </a:highlight>
              </a:rPr>
              <a:t>P5</a:t>
            </a:r>
            <a:endParaRPr lang="zh-CN" altLang="en-US" sz="2800" dirty="0">
              <a:highlight>
                <a:srgbClr val="FFFF00"/>
              </a:highlight>
            </a:endParaRPr>
          </a:p>
        </p:txBody>
      </p:sp>
    </p:spTree>
    <p:extLst>
      <p:ext uri="{BB962C8B-B14F-4D97-AF65-F5344CB8AC3E}">
        <p14:creationId xmlns:p14="http://schemas.microsoft.com/office/powerpoint/2010/main" val="3360291060"/>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831748"/>
            <a:ext cx="9144000" cy="523220"/>
          </a:xfrm>
          <a:prstGeom prst="rect">
            <a:avLst/>
          </a:prstGeom>
        </p:spPr>
        <p:txBody>
          <a:bodyPr wrap="square">
            <a:spAutoFit/>
          </a:bodyPr>
          <a:lstStyle/>
          <a:p>
            <a:pPr algn="just" eaLnBrk="0" hangingPunct="0">
              <a:spcAft>
                <a:spcPts val="0"/>
              </a:spcAft>
            </a:pPr>
            <a:r>
              <a:rPr lang="en-US" altLang="zh-CN" sz="2800" b="1" kern="100" dirty="0">
                <a:latin typeface="Times New Roman" pitchFamily="18" charset="0"/>
                <a:ea typeface="宋体" panose="02010600030101010101" pitchFamily="2" charset="-122"/>
                <a:cs typeface="Times New Roman" pitchFamily="18" charset="0"/>
              </a:rPr>
              <a:t>1.2  The Requirement for Intercultural Cooperation </a:t>
            </a:r>
          </a:p>
        </p:txBody>
      </p:sp>
      <p:sp>
        <p:nvSpPr>
          <p:cNvPr id="5" name="TextBox 4"/>
          <p:cNvSpPr txBox="1"/>
          <p:nvPr/>
        </p:nvSpPr>
        <p:spPr>
          <a:xfrm>
            <a:off x="478971" y="2598055"/>
            <a:ext cx="9463314" cy="3539430"/>
          </a:xfrm>
          <a:prstGeom prst="rect">
            <a:avLst/>
          </a:prstGeom>
          <a:noFill/>
        </p:spPr>
        <p:txBody>
          <a:bodyPr wrap="square" rtlCol="0">
            <a:spAutoFit/>
          </a:bodyPr>
          <a:lstStyle/>
          <a:p>
            <a:pPr algn="just"/>
            <a:r>
              <a:rPr lang="en-US" altLang="zh-CN" sz="3200" dirty="0">
                <a:solidFill>
                  <a:srgbClr val="000000"/>
                </a:solidFill>
              </a:rPr>
              <a:t>●1.2.1  Social challenges</a:t>
            </a:r>
          </a:p>
          <a:p>
            <a:pPr algn="just"/>
            <a:r>
              <a:rPr lang="en-US" altLang="zh-CN" sz="3200" dirty="0">
                <a:solidFill>
                  <a:srgbClr val="000000"/>
                </a:solidFill>
              </a:rPr>
              <a:t>●1.2.2  Ecological concerns</a:t>
            </a:r>
          </a:p>
          <a:p>
            <a:pPr algn="just"/>
            <a:r>
              <a:rPr lang="en-US" altLang="zh-CN" sz="3200" dirty="0">
                <a:solidFill>
                  <a:srgbClr val="000000"/>
                </a:solidFill>
              </a:rPr>
              <a:t>●1.2.3  Humanitarian and legal cooperation</a:t>
            </a:r>
          </a:p>
          <a:p>
            <a:pPr algn="just"/>
            <a:r>
              <a:rPr lang="en-US" altLang="zh-CN" sz="3200" dirty="0">
                <a:solidFill>
                  <a:srgbClr val="000000"/>
                </a:solidFill>
              </a:rPr>
              <a:t>●1.2.4  Political issues</a:t>
            </a:r>
          </a:p>
          <a:p>
            <a:pPr algn="just"/>
            <a:r>
              <a:rPr lang="en-US" altLang="zh-CN" sz="3200" dirty="0">
                <a:solidFill>
                  <a:srgbClr val="000000"/>
                </a:solidFill>
              </a:rPr>
              <a:t>●1.2.5  Security concerns</a:t>
            </a:r>
          </a:p>
          <a:p>
            <a:pPr algn="just"/>
            <a:endParaRPr lang="en-US" altLang="zh-CN" sz="3200" dirty="0">
              <a:solidFill>
                <a:srgbClr val="000000"/>
              </a:solidFill>
            </a:endParaRPr>
          </a:p>
          <a:p>
            <a:pPr algn="just"/>
            <a:r>
              <a:rPr lang="en-US" altLang="zh-CN" sz="2800" dirty="0">
                <a:highlight>
                  <a:srgbClr val="FFFF00"/>
                </a:highlight>
              </a:rPr>
              <a:t>P6 Table 1.1</a:t>
            </a:r>
            <a:endParaRPr lang="zh-CN" altLang="en-US" sz="2800" dirty="0">
              <a:highlight>
                <a:srgbClr val="FFFF00"/>
              </a:highlight>
            </a:endParaRPr>
          </a:p>
        </p:txBody>
      </p:sp>
    </p:spTree>
    <p:extLst>
      <p:ext uri="{BB962C8B-B14F-4D97-AF65-F5344CB8AC3E}">
        <p14:creationId xmlns:p14="http://schemas.microsoft.com/office/powerpoint/2010/main" val="4045745300"/>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646331"/>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1.2.1  Social challenges </a:t>
            </a:r>
          </a:p>
        </p:txBody>
      </p:sp>
      <p:sp>
        <p:nvSpPr>
          <p:cNvPr id="5" name="TextBox 4"/>
          <p:cNvSpPr txBox="1"/>
          <p:nvPr/>
        </p:nvSpPr>
        <p:spPr>
          <a:xfrm>
            <a:off x="459560" y="2178855"/>
            <a:ext cx="8336097" cy="5447645"/>
          </a:xfrm>
          <a:prstGeom prst="rect">
            <a:avLst/>
          </a:prstGeom>
          <a:noFill/>
        </p:spPr>
        <p:txBody>
          <a:bodyPr wrap="square" rtlCol="0">
            <a:spAutoFit/>
          </a:bodyPr>
          <a:lstStyle/>
          <a:p>
            <a:pPr algn="just"/>
            <a:r>
              <a:rPr lang="en-US" altLang="zh-CN" sz="3200" dirty="0">
                <a:solidFill>
                  <a:srgbClr val="000000"/>
                </a:solidFill>
              </a:rPr>
              <a:t>●</a:t>
            </a:r>
            <a:r>
              <a:rPr lang="en-US" altLang="zh-CN" sz="3200" dirty="0">
                <a:solidFill>
                  <a:srgbClr val="FF0000"/>
                </a:solidFill>
              </a:rPr>
              <a:t>world population growth</a:t>
            </a:r>
            <a:r>
              <a:rPr lang="en-US" altLang="zh-CN" sz="3200" dirty="0">
                <a:solidFill>
                  <a:srgbClr val="000000"/>
                </a:solidFill>
              </a:rPr>
              <a:t>: old &amp; new problems</a:t>
            </a:r>
          </a:p>
          <a:p>
            <a:pPr algn="just"/>
            <a:r>
              <a:rPr lang="en-US" altLang="zh-CN" sz="3200" dirty="0">
                <a:solidFill>
                  <a:srgbClr val="000000"/>
                </a:solidFill>
              </a:rPr>
              <a:t>●</a:t>
            </a:r>
            <a:r>
              <a:rPr lang="en-US" altLang="zh-CN" sz="3200" dirty="0">
                <a:solidFill>
                  <a:srgbClr val="FF0000"/>
                </a:solidFill>
              </a:rPr>
              <a:t>mass migration</a:t>
            </a:r>
            <a:r>
              <a:rPr lang="en-US" altLang="zh-CN" sz="3200" dirty="0">
                <a:solidFill>
                  <a:srgbClr val="000000"/>
                </a:solidFill>
              </a:rPr>
              <a:t>: migration within the country &amp; immigration</a:t>
            </a:r>
          </a:p>
          <a:p>
            <a:pPr algn="just"/>
            <a:r>
              <a:rPr lang="en-US" altLang="zh-CN" sz="3200" dirty="0">
                <a:solidFill>
                  <a:srgbClr val="000000"/>
                </a:solidFill>
              </a:rPr>
              <a:t>●</a:t>
            </a:r>
            <a:r>
              <a:rPr lang="en-US" altLang="zh-CN" sz="3200" dirty="0">
                <a:solidFill>
                  <a:srgbClr val="FF0000"/>
                </a:solidFill>
              </a:rPr>
              <a:t>urbanization</a:t>
            </a:r>
            <a:r>
              <a:rPr lang="en-US" altLang="zh-CN" sz="3200" dirty="0"/>
              <a:t>: greater population density &amp; closer proximity</a:t>
            </a:r>
          </a:p>
          <a:p>
            <a:pPr algn="just"/>
            <a:r>
              <a:rPr lang="en-US" altLang="zh-CN" sz="3200" dirty="0">
                <a:solidFill>
                  <a:srgbClr val="000000"/>
                </a:solidFill>
              </a:rPr>
              <a:t>●</a:t>
            </a:r>
            <a:r>
              <a:rPr lang="en-US" altLang="zh-CN" sz="3200" dirty="0">
                <a:solidFill>
                  <a:srgbClr val="FF0000"/>
                </a:solidFill>
              </a:rPr>
              <a:t>intercultural Integration</a:t>
            </a:r>
            <a:r>
              <a:rPr lang="en-US" altLang="zh-CN" sz="3200" dirty="0"/>
              <a:t>: working abroad, international marriages </a:t>
            </a:r>
          </a:p>
          <a:p>
            <a:pPr algn="just"/>
            <a:r>
              <a:rPr lang="en-US" altLang="zh-CN" sz="3200" dirty="0">
                <a:solidFill>
                  <a:srgbClr val="000000"/>
                </a:solidFill>
              </a:rPr>
              <a:t>●</a:t>
            </a:r>
            <a:r>
              <a:rPr lang="en-US" altLang="zh-CN" sz="3200" dirty="0">
                <a:solidFill>
                  <a:srgbClr val="FF0000"/>
                </a:solidFill>
              </a:rPr>
              <a:t>aging population/declining birthrates</a:t>
            </a:r>
            <a:r>
              <a:rPr lang="en-US" altLang="zh-CN" sz="3200" dirty="0"/>
              <a:t>: overall population growth due to immigration; report</a:t>
            </a:r>
          </a:p>
          <a:p>
            <a:pPr algn="just"/>
            <a:endParaRPr lang="en-US" altLang="zh-CN" sz="2800" dirty="0">
              <a:highlight>
                <a:srgbClr val="FFFF00"/>
              </a:highlight>
            </a:endParaRPr>
          </a:p>
          <a:p>
            <a:pPr algn="just"/>
            <a:endParaRPr lang="zh-CN" altLang="en-US" sz="3200" dirty="0"/>
          </a:p>
        </p:txBody>
      </p:sp>
      <p:sp>
        <p:nvSpPr>
          <p:cNvPr id="6" name="文本框 5">
            <a:extLst>
              <a:ext uri="{FF2B5EF4-FFF2-40B4-BE49-F238E27FC236}">
                <a16:creationId xmlns:a16="http://schemas.microsoft.com/office/drawing/2014/main" id="{EBAD9ABB-1C2D-4D70-B0CC-B2E2AF069347}"/>
              </a:ext>
            </a:extLst>
          </p:cNvPr>
          <p:cNvSpPr txBox="1"/>
          <p:nvPr/>
        </p:nvSpPr>
        <p:spPr>
          <a:xfrm>
            <a:off x="5203705" y="762674"/>
            <a:ext cx="3207379" cy="523220"/>
          </a:xfrm>
          <a:prstGeom prst="rect">
            <a:avLst/>
          </a:prstGeom>
          <a:noFill/>
        </p:spPr>
        <p:txBody>
          <a:bodyPr wrap="square">
            <a:spAutoFit/>
          </a:bodyPr>
          <a:lstStyle/>
          <a:p>
            <a:pPr algn="just"/>
            <a:r>
              <a:rPr lang="en-US" altLang="zh-CN" sz="2800" dirty="0">
                <a:highlight>
                  <a:srgbClr val="FFFF00"/>
                </a:highlight>
              </a:rPr>
              <a:t>P6-9</a:t>
            </a:r>
            <a:endParaRPr lang="zh-CN" altLang="en-US" sz="2800" dirty="0">
              <a:highlight>
                <a:srgbClr val="FFFF00"/>
              </a:highlight>
            </a:endParaRPr>
          </a:p>
        </p:txBody>
      </p:sp>
    </p:spTree>
    <p:extLst>
      <p:ext uri="{BB962C8B-B14F-4D97-AF65-F5344CB8AC3E}">
        <p14:creationId xmlns:p14="http://schemas.microsoft.com/office/powerpoint/2010/main" val="3266412687"/>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646331"/>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1.2.2  Ecological concerns </a:t>
            </a:r>
          </a:p>
        </p:txBody>
      </p:sp>
      <p:sp>
        <p:nvSpPr>
          <p:cNvPr id="5" name="TextBox 4"/>
          <p:cNvSpPr txBox="1"/>
          <p:nvPr/>
        </p:nvSpPr>
        <p:spPr>
          <a:xfrm>
            <a:off x="162902" y="2279543"/>
            <a:ext cx="8818195" cy="5386090"/>
          </a:xfrm>
          <a:prstGeom prst="rect">
            <a:avLst/>
          </a:prstGeom>
          <a:noFill/>
        </p:spPr>
        <p:txBody>
          <a:bodyPr wrap="square" rtlCol="0">
            <a:spAutoFit/>
          </a:bodyPr>
          <a:lstStyle/>
          <a:p>
            <a:pPr algn="just"/>
            <a:r>
              <a:rPr lang="en-US" altLang="zh-CN" sz="2800" dirty="0">
                <a:solidFill>
                  <a:srgbClr val="000000"/>
                </a:solidFill>
              </a:rPr>
              <a:t>●competition for natural resources</a:t>
            </a:r>
          </a:p>
          <a:p>
            <a:pPr algn="just"/>
            <a:r>
              <a:rPr lang="en-US" altLang="zh-CN" sz="2800" dirty="0">
                <a:solidFill>
                  <a:srgbClr val="000000"/>
                </a:solidFill>
              </a:rPr>
              <a:t>    ▶ </a:t>
            </a:r>
            <a:r>
              <a:rPr lang="en-US" altLang="zh-CN" sz="2800" dirty="0">
                <a:solidFill>
                  <a:srgbClr val="FF0000"/>
                </a:solidFill>
              </a:rPr>
              <a:t>raw materials</a:t>
            </a:r>
            <a:r>
              <a:rPr lang="en-US" altLang="zh-CN" sz="2800" dirty="0">
                <a:solidFill>
                  <a:srgbClr val="000000"/>
                </a:solidFill>
              </a:rPr>
              <a:t>: international agreements; cooperative policing mechanisms</a:t>
            </a:r>
          </a:p>
          <a:p>
            <a:pPr algn="just"/>
            <a:r>
              <a:rPr lang="en-US" altLang="zh-CN" sz="2800" dirty="0">
                <a:solidFill>
                  <a:srgbClr val="000000"/>
                </a:solidFill>
              </a:rPr>
              <a:t>    ▶ </a:t>
            </a:r>
            <a:r>
              <a:rPr lang="en-US" altLang="zh-CN" sz="2800" dirty="0">
                <a:solidFill>
                  <a:srgbClr val="FF0000"/>
                </a:solidFill>
              </a:rPr>
              <a:t>water shortages</a:t>
            </a:r>
            <a:r>
              <a:rPr lang="en-US" altLang="zh-CN" sz="2800" dirty="0">
                <a:solidFill>
                  <a:srgbClr val="000000"/>
                </a:solidFill>
              </a:rPr>
              <a:t>: growing population, pollution,  interculturally negotiated solutions</a:t>
            </a:r>
          </a:p>
          <a:p>
            <a:pPr algn="just"/>
            <a:r>
              <a:rPr lang="en-US" altLang="zh-CN" sz="2800" dirty="0">
                <a:solidFill>
                  <a:srgbClr val="000000"/>
                </a:solidFill>
              </a:rPr>
              <a:t>    ▶ </a:t>
            </a:r>
            <a:r>
              <a:rPr lang="en-US" altLang="zh-CN" sz="2800" dirty="0">
                <a:solidFill>
                  <a:srgbClr val="FF0000"/>
                </a:solidFill>
              </a:rPr>
              <a:t>food scarcities</a:t>
            </a:r>
            <a:r>
              <a:rPr lang="en-US" altLang="zh-CN" sz="2800" dirty="0"/>
              <a:t>: acquiring arable land in other countries  and areas</a:t>
            </a:r>
          </a:p>
          <a:p>
            <a:pPr algn="just"/>
            <a:r>
              <a:rPr lang="en-US" altLang="zh-CN" sz="2800" dirty="0">
                <a:solidFill>
                  <a:srgbClr val="000000"/>
                </a:solidFill>
              </a:rPr>
              <a:t>    ▶ </a:t>
            </a:r>
            <a:r>
              <a:rPr lang="en-US" altLang="zh-CN" sz="2800" dirty="0">
                <a:solidFill>
                  <a:srgbClr val="FF0000"/>
                </a:solidFill>
              </a:rPr>
              <a:t>pelagic resources</a:t>
            </a:r>
            <a:r>
              <a:rPr lang="en-US" altLang="zh-CN" sz="2800" dirty="0"/>
              <a:t>: extensive international agreements</a:t>
            </a:r>
          </a:p>
          <a:p>
            <a:pPr algn="just"/>
            <a:r>
              <a:rPr lang="en-US" altLang="zh-CN" sz="2800" dirty="0">
                <a:solidFill>
                  <a:srgbClr val="000000"/>
                </a:solidFill>
              </a:rPr>
              <a:t>●environmental changes/degradation</a:t>
            </a:r>
          </a:p>
          <a:p>
            <a:pPr algn="just"/>
            <a:endParaRPr lang="en-US" altLang="zh-CN" sz="3200" dirty="0">
              <a:solidFill>
                <a:srgbClr val="000000"/>
              </a:solidFill>
            </a:endParaRPr>
          </a:p>
          <a:p>
            <a:pPr algn="just"/>
            <a:endParaRPr lang="en-US" altLang="zh-CN" sz="3200" dirty="0"/>
          </a:p>
        </p:txBody>
      </p:sp>
      <p:sp>
        <p:nvSpPr>
          <p:cNvPr id="14" name="文本框 13">
            <a:extLst>
              <a:ext uri="{FF2B5EF4-FFF2-40B4-BE49-F238E27FC236}">
                <a16:creationId xmlns:a16="http://schemas.microsoft.com/office/drawing/2014/main" id="{F574887B-1F22-4140-A461-B14E1348DD11}"/>
              </a:ext>
            </a:extLst>
          </p:cNvPr>
          <p:cNvSpPr txBox="1"/>
          <p:nvPr/>
        </p:nvSpPr>
        <p:spPr>
          <a:xfrm>
            <a:off x="5820883" y="839618"/>
            <a:ext cx="4572000" cy="523220"/>
          </a:xfrm>
          <a:prstGeom prst="rect">
            <a:avLst/>
          </a:prstGeom>
          <a:noFill/>
        </p:spPr>
        <p:txBody>
          <a:bodyPr wrap="square">
            <a:spAutoFit/>
          </a:bodyPr>
          <a:lstStyle/>
          <a:p>
            <a:pPr algn="just"/>
            <a:r>
              <a:rPr lang="en-US" altLang="zh-CN" sz="2800" dirty="0">
                <a:highlight>
                  <a:srgbClr val="FFFF00"/>
                </a:highlight>
              </a:rPr>
              <a:t>P10-13</a:t>
            </a:r>
            <a:endParaRPr lang="zh-CN" altLang="en-US" sz="2800" dirty="0">
              <a:highlight>
                <a:srgbClr val="FFFF00"/>
              </a:highlight>
            </a:endParaRPr>
          </a:p>
        </p:txBody>
      </p:sp>
    </p:spTree>
    <p:extLst>
      <p:ext uri="{BB962C8B-B14F-4D97-AF65-F5344CB8AC3E}">
        <p14:creationId xmlns:p14="http://schemas.microsoft.com/office/powerpoint/2010/main" val="441129672"/>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584775"/>
          </a:xfrm>
          <a:prstGeom prst="rect">
            <a:avLst/>
          </a:prstGeom>
        </p:spPr>
        <p:txBody>
          <a:bodyPr wrap="square">
            <a:spAutoFit/>
          </a:bodyPr>
          <a:lstStyle/>
          <a:p>
            <a:pPr algn="just" eaLnBrk="0" hangingPunct="0">
              <a:spcAft>
                <a:spcPts val="0"/>
              </a:spcAft>
            </a:pPr>
            <a:r>
              <a:rPr lang="en-US" altLang="zh-CN" sz="3200" b="1" kern="100" dirty="0">
                <a:latin typeface="Times New Roman" pitchFamily="18" charset="0"/>
                <a:ea typeface="宋体" panose="02010600030101010101" pitchFamily="2" charset="-122"/>
                <a:cs typeface="Times New Roman" pitchFamily="18" charset="0"/>
              </a:rPr>
              <a:t>1.2.3  Humanitarian and legal cooperation </a:t>
            </a:r>
          </a:p>
        </p:txBody>
      </p:sp>
      <p:sp>
        <p:nvSpPr>
          <p:cNvPr id="5" name="TextBox 4"/>
          <p:cNvSpPr txBox="1"/>
          <p:nvPr/>
        </p:nvSpPr>
        <p:spPr>
          <a:xfrm>
            <a:off x="478971" y="2598055"/>
            <a:ext cx="8316686" cy="3539430"/>
          </a:xfrm>
          <a:prstGeom prst="rect">
            <a:avLst/>
          </a:prstGeom>
          <a:noFill/>
        </p:spPr>
        <p:txBody>
          <a:bodyPr wrap="square" rtlCol="0">
            <a:spAutoFit/>
          </a:bodyPr>
          <a:lstStyle/>
          <a:p>
            <a:pPr algn="just"/>
            <a:r>
              <a:rPr lang="en-US" altLang="zh-CN" sz="3200" dirty="0">
                <a:solidFill>
                  <a:srgbClr val="000000"/>
                </a:solidFill>
              </a:rPr>
              <a:t>●disease control</a:t>
            </a:r>
          </a:p>
          <a:p>
            <a:pPr algn="just"/>
            <a:r>
              <a:rPr lang="en-US" altLang="zh-CN" sz="3200" dirty="0">
                <a:solidFill>
                  <a:srgbClr val="000000"/>
                </a:solidFill>
              </a:rPr>
              <a:t>●disaster relief</a:t>
            </a:r>
          </a:p>
          <a:p>
            <a:pPr algn="just"/>
            <a:r>
              <a:rPr lang="en-US" altLang="zh-CN" sz="3200" dirty="0">
                <a:solidFill>
                  <a:srgbClr val="000000"/>
                </a:solidFill>
              </a:rPr>
              <a:t>●protection of intellectual property: individual ownership and creativity VS. communal conception</a:t>
            </a:r>
          </a:p>
          <a:p>
            <a:pPr algn="just"/>
            <a:endParaRPr lang="en-US" altLang="zh-CN" sz="3200" dirty="0">
              <a:solidFill>
                <a:srgbClr val="000000"/>
              </a:solidFill>
            </a:endParaRPr>
          </a:p>
          <a:p>
            <a:pPr algn="just"/>
            <a:endParaRPr lang="zh-CN" altLang="en-US" sz="3200" dirty="0">
              <a:solidFill>
                <a:srgbClr val="000000"/>
              </a:solidFill>
            </a:endParaRPr>
          </a:p>
        </p:txBody>
      </p:sp>
      <p:sp>
        <p:nvSpPr>
          <p:cNvPr id="6" name="文本框 5">
            <a:extLst>
              <a:ext uri="{FF2B5EF4-FFF2-40B4-BE49-F238E27FC236}">
                <a16:creationId xmlns:a16="http://schemas.microsoft.com/office/drawing/2014/main" id="{9FBB93A7-A3F4-451E-B6AD-5339DF1EA822}"/>
              </a:ext>
            </a:extLst>
          </p:cNvPr>
          <p:cNvSpPr txBox="1"/>
          <p:nvPr/>
        </p:nvSpPr>
        <p:spPr>
          <a:xfrm>
            <a:off x="7918418" y="762674"/>
            <a:ext cx="4969868" cy="523220"/>
          </a:xfrm>
          <a:prstGeom prst="rect">
            <a:avLst/>
          </a:prstGeom>
          <a:noFill/>
        </p:spPr>
        <p:txBody>
          <a:bodyPr wrap="square">
            <a:spAutoFit/>
          </a:bodyPr>
          <a:lstStyle/>
          <a:p>
            <a:pPr algn="just"/>
            <a:r>
              <a:rPr lang="en-US" altLang="zh-CN" sz="2800" dirty="0">
                <a:highlight>
                  <a:srgbClr val="FFFF00"/>
                </a:highlight>
              </a:rPr>
              <a:t>P13-14</a:t>
            </a:r>
            <a:endParaRPr lang="zh-CN" altLang="en-US" sz="2800" dirty="0">
              <a:highlight>
                <a:srgbClr val="FFFF00"/>
              </a:highlight>
            </a:endParaRPr>
          </a:p>
        </p:txBody>
      </p:sp>
    </p:spTree>
    <p:extLst>
      <p:ext uri="{BB962C8B-B14F-4D97-AF65-F5344CB8AC3E}">
        <p14:creationId xmlns:p14="http://schemas.microsoft.com/office/powerpoint/2010/main" val="2743731911"/>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646331"/>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1.2.4  Political questions </a:t>
            </a:r>
            <a:r>
              <a:rPr lang="en-US" altLang="zh-CN" sz="3600" b="1" kern="100" dirty="0">
                <a:highlight>
                  <a:srgbClr val="FFFF00"/>
                </a:highlight>
                <a:latin typeface="Times New Roman" pitchFamily="18" charset="0"/>
                <a:ea typeface="宋体" panose="02010600030101010101" pitchFamily="2" charset="-122"/>
                <a:cs typeface="Times New Roman" pitchFamily="18" charset="0"/>
              </a:rPr>
              <a:t>P14</a:t>
            </a:r>
          </a:p>
        </p:txBody>
      </p:sp>
      <p:sp>
        <p:nvSpPr>
          <p:cNvPr id="5" name="TextBox 4"/>
          <p:cNvSpPr txBox="1"/>
          <p:nvPr/>
        </p:nvSpPr>
        <p:spPr>
          <a:xfrm>
            <a:off x="478971" y="2885437"/>
            <a:ext cx="9463314" cy="3293209"/>
          </a:xfrm>
          <a:prstGeom prst="rect">
            <a:avLst/>
          </a:prstGeom>
          <a:noFill/>
        </p:spPr>
        <p:txBody>
          <a:bodyPr wrap="square" rtlCol="0">
            <a:spAutoFit/>
          </a:bodyPr>
          <a:lstStyle/>
          <a:p>
            <a:pPr algn="just">
              <a:lnSpc>
                <a:spcPct val="150000"/>
              </a:lnSpc>
            </a:pPr>
            <a:r>
              <a:rPr lang="en-US" altLang="zh-CN" sz="3200" dirty="0">
                <a:solidFill>
                  <a:srgbClr val="000000"/>
                </a:solidFill>
              </a:rPr>
              <a:t>●conflicts with domestic politics</a:t>
            </a:r>
          </a:p>
          <a:p>
            <a:pPr algn="just">
              <a:lnSpc>
                <a:spcPct val="150000"/>
              </a:lnSpc>
            </a:pPr>
            <a:r>
              <a:rPr lang="en-US" altLang="zh-CN" sz="3200" dirty="0">
                <a:solidFill>
                  <a:srgbClr val="000000"/>
                </a:solidFill>
              </a:rPr>
              <a:t>●scientific advancement</a:t>
            </a:r>
          </a:p>
          <a:p>
            <a:pPr algn="just">
              <a:lnSpc>
                <a:spcPct val="150000"/>
              </a:lnSpc>
            </a:pPr>
            <a:r>
              <a:rPr lang="en-US" altLang="zh-CN" sz="3200" dirty="0">
                <a:solidFill>
                  <a:srgbClr val="000000"/>
                </a:solidFill>
              </a:rPr>
              <a:t>Resolution: dialogue and agreement </a:t>
            </a:r>
          </a:p>
          <a:p>
            <a:pPr algn="just"/>
            <a:endParaRPr lang="en-US" altLang="zh-CN" sz="3200" dirty="0">
              <a:solidFill>
                <a:srgbClr val="000000"/>
              </a:solidFill>
            </a:endParaRPr>
          </a:p>
          <a:p>
            <a:pPr algn="just"/>
            <a:endParaRPr lang="en-US" altLang="zh-CN" sz="3200" dirty="0">
              <a:solidFill>
                <a:srgbClr val="000000"/>
              </a:solidFill>
            </a:endParaRPr>
          </a:p>
        </p:txBody>
      </p:sp>
    </p:spTree>
    <p:extLst>
      <p:ext uri="{BB962C8B-B14F-4D97-AF65-F5344CB8AC3E}">
        <p14:creationId xmlns:p14="http://schemas.microsoft.com/office/powerpoint/2010/main" val="860013419"/>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646331"/>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1.2.5  Security issues </a:t>
            </a:r>
            <a:r>
              <a:rPr lang="en-US" altLang="zh-CN" sz="3600" b="1" kern="100" dirty="0">
                <a:highlight>
                  <a:srgbClr val="FFFF00"/>
                </a:highlight>
                <a:latin typeface="Times New Roman" pitchFamily="18" charset="0"/>
                <a:ea typeface="宋体" panose="02010600030101010101" pitchFamily="2" charset="-122"/>
                <a:cs typeface="Times New Roman" pitchFamily="18" charset="0"/>
              </a:rPr>
              <a:t>P15-17</a:t>
            </a:r>
          </a:p>
        </p:txBody>
      </p:sp>
      <p:sp>
        <p:nvSpPr>
          <p:cNvPr id="5" name="TextBox 4"/>
          <p:cNvSpPr txBox="1"/>
          <p:nvPr/>
        </p:nvSpPr>
        <p:spPr>
          <a:xfrm>
            <a:off x="395210" y="2032663"/>
            <a:ext cx="8685969" cy="4031873"/>
          </a:xfrm>
          <a:prstGeom prst="rect">
            <a:avLst/>
          </a:prstGeom>
          <a:noFill/>
        </p:spPr>
        <p:txBody>
          <a:bodyPr wrap="square" rtlCol="0">
            <a:spAutoFit/>
          </a:bodyPr>
          <a:lstStyle/>
          <a:p>
            <a:pPr algn="just"/>
            <a:r>
              <a:rPr lang="en-US" altLang="zh-CN" sz="2800" dirty="0">
                <a:solidFill>
                  <a:srgbClr val="000000"/>
                </a:solidFill>
              </a:rPr>
              <a:t>●weapons of mass destruction</a:t>
            </a:r>
          </a:p>
          <a:p>
            <a:pPr algn="just"/>
            <a:r>
              <a:rPr lang="en-US" altLang="zh-CN" sz="2800" dirty="0">
                <a:solidFill>
                  <a:srgbClr val="000000"/>
                </a:solidFill>
              </a:rPr>
              <a:t>●global terrorism and piracy</a:t>
            </a:r>
          </a:p>
          <a:p>
            <a:pPr algn="just"/>
            <a:r>
              <a:rPr lang="en-US" altLang="zh-CN" sz="2800" dirty="0">
                <a:solidFill>
                  <a:srgbClr val="000000"/>
                </a:solidFill>
              </a:rPr>
              <a:t>●peacekeeping missions</a:t>
            </a:r>
          </a:p>
          <a:p>
            <a:pPr algn="just"/>
            <a:r>
              <a:rPr lang="en-US" altLang="zh-CN" sz="2800" dirty="0">
                <a:solidFill>
                  <a:srgbClr val="000000"/>
                </a:solidFill>
              </a:rPr>
              <a:t>●emerging threats</a:t>
            </a:r>
          </a:p>
          <a:p>
            <a:pPr algn="just"/>
            <a:r>
              <a:rPr lang="zh-CN" altLang="en-US" sz="2800" dirty="0">
                <a:solidFill>
                  <a:srgbClr val="000000"/>
                </a:solidFill>
              </a:rPr>
              <a:t>   ▶ </a:t>
            </a:r>
            <a:r>
              <a:rPr lang="en-US" altLang="zh-CN" sz="2800" dirty="0">
                <a:solidFill>
                  <a:srgbClr val="000000"/>
                </a:solidFill>
              </a:rPr>
              <a:t>sectarian and ethnic tensions: religion and ethnic violence</a:t>
            </a:r>
          </a:p>
          <a:p>
            <a:pPr algn="just"/>
            <a:r>
              <a:rPr lang="en-US" altLang="zh-CN" sz="2800" dirty="0">
                <a:solidFill>
                  <a:srgbClr val="000000"/>
                </a:solidFill>
              </a:rPr>
              <a:t>   </a:t>
            </a:r>
            <a:r>
              <a:rPr lang="zh-CN" altLang="en-US" sz="2800" dirty="0">
                <a:solidFill>
                  <a:srgbClr val="000000"/>
                </a:solidFill>
              </a:rPr>
              <a:t>▶ </a:t>
            </a:r>
            <a:r>
              <a:rPr lang="en-US" altLang="zh-CN" sz="2800" dirty="0">
                <a:solidFill>
                  <a:srgbClr val="000000"/>
                </a:solidFill>
              </a:rPr>
              <a:t>renascent nationalism</a:t>
            </a:r>
          </a:p>
          <a:p>
            <a:pPr algn="just"/>
            <a:r>
              <a:rPr lang="en-US" altLang="zh-CN" sz="2800" dirty="0">
                <a:solidFill>
                  <a:srgbClr val="000000"/>
                </a:solidFill>
              </a:rPr>
              <a:t>   ▶ contested territorial claims</a:t>
            </a:r>
          </a:p>
          <a:p>
            <a:pPr algn="just"/>
            <a:endParaRPr lang="zh-CN" altLang="en-US" sz="3200" dirty="0">
              <a:solidFill>
                <a:srgbClr val="000000"/>
              </a:solidFill>
            </a:endParaRPr>
          </a:p>
        </p:txBody>
      </p:sp>
    </p:spTree>
    <p:extLst>
      <p:ext uri="{BB962C8B-B14F-4D97-AF65-F5344CB8AC3E}">
        <p14:creationId xmlns:p14="http://schemas.microsoft.com/office/powerpoint/2010/main" val="3540239239"/>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514737" y="701119"/>
            <a:ext cx="8280920" cy="1200329"/>
          </a:xfrm>
          <a:prstGeom prst="rect">
            <a:avLst/>
          </a:prstGeom>
        </p:spPr>
        <p:txBody>
          <a:bodyPr wrap="square">
            <a:spAutoFit/>
          </a:bodyPr>
          <a:lstStyle/>
          <a:p>
            <a:pPr algn="just" eaLnBrk="0" hangingPunct="0">
              <a:spcAft>
                <a:spcPts val="0"/>
              </a:spcAft>
            </a:pPr>
            <a:r>
              <a:rPr lang="en-US" altLang="zh-CN" sz="3600" b="1" kern="100" dirty="0">
                <a:latin typeface="Times New Roman" pitchFamily="18" charset="0"/>
                <a:ea typeface="宋体" panose="02010600030101010101" pitchFamily="2" charset="-122"/>
                <a:cs typeface="Times New Roman" pitchFamily="18" charset="0"/>
              </a:rPr>
              <a:t>1.3  Technology </a:t>
            </a:r>
            <a:r>
              <a:rPr lang="zh-CN" altLang="en-US" sz="3600" dirty="0">
                <a:highlight>
                  <a:srgbClr val="FFFF00"/>
                </a:highlight>
              </a:rPr>
              <a:t>（</a:t>
            </a:r>
            <a:r>
              <a:rPr lang="en-US" altLang="zh-CN" sz="3600" dirty="0">
                <a:highlight>
                  <a:srgbClr val="FFFF00"/>
                </a:highlight>
              </a:rPr>
              <a:t>Not lectured</a:t>
            </a:r>
            <a:r>
              <a:rPr lang="zh-CN" altLang="en-US" sz="3600" dirty="0">
                <a:highlight>
                  <a:srgbClr val="FFFF00"/>
                </a:highlight>
              </a:rPr>
              <a:t>）</a:t>
            </a:r>
            <a:endParaRPr lang="en-US" altLang="zh-CN" sz="3600" dirty="0">
              <a:highlight>
                <a:srgbClr val="FFFF00"/>
              </a:highlight>
            </a:endParaRPr>
          </a:p>
          <a:p>
            <a:pPr algn="just" eaLnBrk="0" hangingPunct="0">
              <a:spcAft>
                <a:spcPts val="0"/>
              </a:spcAft>
            </a:pPr>
            <a:endParaRPr lang="en-US" altLang="zh-CN" sz="3600" b="1" kern="100" dirty="0">
              <a:solidFill>
                <a:srgbClr val="FF0000"/>
              </a:solidFill>
              <a:latin typeface="Times New Roman" pitchFamily="18" charset="0"/>
              <a:ea typeface="宋体" panose="02010600030101010101" pitchFamily="2" charset="-122"/>
              <a:cs typeface="Times New Roman" pitchFamily="18" charset="0"/>
            </a:endParaRPr>
          </a:p>
        </p:txBody>
      </p:sp>
      <p:sp>
        <p:nvSpPr>
          <p:cNvPr id="3" name="TextBox 2"/>
          <p:cNvSpPr txBox="1"/>
          <p:nvPr/>
        </p:nvSpPr>
        <p:spPr>
          <a:xfrm>
            <a:off x="514737" y="2569028"/>
            <a:ext cx="8280920" cy="3539430"/>
          </a:xfrm>
          <a:prstGeom prst="rect">
            <a:avLst/>
          </a:prstGeom>
          <a:noFill/>
        </p:spPr>
        <p:txBody>
          <a:bodyPr wrap="square" rtlCol="0">
            <a:spAutoFit/>
          </a:bodyPr>
          <a:lstStyle/>
          <a:p>
            <a:pPr algn="just"/>
            <a:r>
              <a:rPr lang="en-US" altLang="zh-CN" sz="2800" dirty="0"/>
              <a:t>Information technology (IT)  is </a:t>
            </a:r>
            <a:r>
              <a:rPr lang="en-US" altLang="zh-CN" sz="2800" dirty="0">
                <a:solidFill>
                  <a:srgbClr val="FF0000"/>
                </a:solidFill>
              </a:rPr>
              <a:t>a neutral platform</a:t>
            </a:r>
            <a:r>
              <a:rPr lang="en-US" altLang="zh-CN" sz="2800" dirty="0"/>
              <a:t>. There’s little doubt that IT will bring even more change and convenience to our lives. On the other hand, the message that pass through the many media sources are shaped by the senders. Thus, regardless of the medium used, culture will continue to play an influential role in shaping both the content and the form of the message.</a:t>
            </a:r>
            <a:endParaRPr lang="zh-CN" altLang="en-US" sz="2800" dirty="0"/>
          </a:p>
        </p:txBody>
      </p:sp>
    </p:spTree>
    <p:extLst>
      <p:ext uri="{BB962C8B-B14F-4D97-AF65-F5344CB8AC3E}">
        <p14:creationId xmlns:p14="http://schemas.microsoft.com/office/powerpoint/2010/main" val="2964485609"/>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  Developing Intercultural Awareness </a:t>
            </a:r>
            <a:r>
              <a:rPr lang="en-US" altLang="zh-CN" sz="3200" b="1" kern="100" dirty="0">
                <a:solidFill>
                  <a:srgbClr val="000000"/>
                </a:solidFill>
                <a:highlight>
                  <a:srgbClr val="FFFF00"/>
                </a:highlight>
                <a:latin typeface="Times New Roman" pitchFamily="18" charset="0"/>
                <a:ea typeface="宋体" panose="02010600030101010101" pitchFamily="2" charset="-122"/>
                <a:cs typeface="Times New Roman" pitchFamily="18" charset="0"/>
              </a:rPr>
              <a:t>P20-24</a:t>
            </a:r>
            <a:endParaRPr lang="en-US" altLang="zh-CN" sz="3200" b="1" kern="100" dirty="0">
              <a:highlight>
                <a:srgbClr val="FFFF00"/>
              </a:highlight>
              <a:latin typeface="Times New Roman" pitchFamily="18" charset="0"/>
              <a:ea typeface="宋体" panose="02010600030101010101" pitchFamily="2" charset="-122"/>
              <a:cs typeface="Times New Roman" pitchFamily="18" charset="0"/>
            </a:endParaRPr>
          </a:p>
        </p:txBody>
      </p:sp>
      <p:sp>
        <p:nvSpPr>
          <p:cNvPr id="5" name="TextBox 4"/>
          <p:cNvSpPr txBox="1"/>
          <p:nvPr/>
        </p:nvSpPr>
        <p:spPr>
          <a:xfrm>
            <a:off x="83197" y="2598044"/>
            <a:ext cx="9463314" cy="2554545"/>
          </a:xfrm>
          <a:prstGeom prst="rect">
            <a:avLst/>
          </a:prstGeom>
          <a:noFill/>
        </p:spPr>
        <p:txBody>
          <a:bodyPr wrap="square" rtlCol="0">
            <a:spAutoFit/>
          </a:bodyPr>
          <a:lstStyle/>
          <a:p>
            <a:pPr algn="just"/>
            <a:r>
              <a:rPr lang="en-US" altLang="zh-CN" sz="3200" dirty="0">
                <a:solidFill>
                  <a:srgbClr val="000000"/>
                </a:solidFill>
              </a:rPr>
              <a:t>●1.4.1  Individual uniqueness</a:t>
            </a:r>
          </a:p>
          <a:p>
            <a:pPr algn="just"/>
            <a:r>
              <a:rPr lang="en-US" altLang="zh-CN" sz="3200" dirty="0">
                <a:solidFill>
                  <a:srgbClr val="000000"/>
                </a:solidFill>
              </a:rPr>
              <a:t>●1.4.2  Generalizing</a:t>
            </a:r>
          </a:p>
          <a:p>
            <a:pPr algn="just"/>
            <a:r>
              <a:rPr lang="en-US" altLang="zh-CN" sz="3200" dirty="0">
                <a:solidFill>
                  <a:srgbClr val="000000"/>
                </a:solidFill>
              </a:rPr>
              <a:t>●1.4.3  Objectivity</a:t>
            </a:r>
          </a:p>
          <a:p>
            <a:pPr algn="just"/>
            <a:r>
              <a:rPr lang="en-US" altLang="zh-CN" sz="3200" dirty="0">
                <a:solidFill>
                  <a:srgbClr val="000000"/>
                </a:solidFill>
              </a:rPr>
              <a:t>●1.4.4  Compromise in intercultural communication</a:t>
            </a:r>
          </a:p>
          <a:p>
            <a:pPr algn="just"/>
            <a:r>
              <a:rPr lang="en-US" altLang="zh-CN" sz="3200" dirty="0">
                <a:solidFill>
                  <a:srgbClr val="000000"/>
                </a:solidFill>
              </a:rPr>
              <a:t>●1.4.5  Communication is not the universal solution</a:t>
            </a:r>
            <a:endParaRPr lang="zh-CN" altLang="en-US" sz="3200" dirty="0">
              <a:solidFill>
                <a:srgbClr val="000000"/>
              </a:solidFill>
            </a:endParaRPr>
          </a:p>
        </p:txBody>
      </p:sp>
    </p:spTree>
    <p:extLst>
      <p:ext uri="{BB962C8B-B14F-4D97-AF65-F5344CB8AC3E}">
        <p14:creationId xmlns:p14="http://schemas.microsoft.com/office/powerpoint/2010/main" val="898900110"/>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1901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1.4.1  Individual uniqueness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P20</a:t>
            </a:r>
          </a:p>
        </p:txBody>
      </p:sp>
      <p:sp>
        <p:nvSpPr>
          <p:cNvPr id="5" name="TextBox 4"/>
          <p:cNvSpPr txBox="1"/>
          <p:nvPr/>
        </p:nvSpPr>
        <p:spPr>
          <a:xfrm>
            <a:off x="83197" y="2486349"/>
            <a:ext cx="8915660" cy="3539430"/>
          </a:xfrm>
          <a:prstGeom prst="rect">
            <a:avLst/>
          </a:prstGeom>
          <a:noFill/>
        </p:spPr>
        <p:txBody>
          <a:bodyPr wrap="square" rtlCol="0">
            <a:spAutoFit/>
          </a:bodyPr>
          <a:lstStyle/>
          <a:p>
            <a:pPr algn="just"/>
            <a:r>
              <a:rPr lang="en-US" altLang="zh-CN" sz="3200" dirty="0">
                <a:solidFill>
                  <a:srgbClr val="000000"/>
                </a:solidFill>
              </a:rPr>
              <a:t>According to the American philosopher and psychologist William James, “</a:t>
            </a:r>
            <a:r>
              <a:rPr lang="en-US" altLang="zh-CN" sz="3200" dirty="0"/>
              <a:t>In every concrete individual, there is a uniqueness that defies formulation</a:t>
            </a:r>
            <a:r>
              <a:rPr lang="en-US" altLang="zh-CN" sz="3200" dirty="0">
                <a:solidFill>
                  <a:srgbClr val="000000"/>
                </a:solidFill>
              </a:rPr>
              <a:t>.” The reason is simple: Our behavior is shaped by a multitude of sources, with culture being but one. Put in different terms, </a:t>
            </a:r>
            <a:r>
              <a:rPr lang="en-US" altLang="zh-CN" sz="3200" dirty="0">
                <a:solidFill>
                  <a:srgbClr val="FF0000"/>
                </a:solidFill>
              </a:rPr>
              <a:t>we are more than our cultures</a:t>
            </a:r>
            <a:r>
              <a:rPr lang="en-US" altLang="zh-CN" sz="3200" dirty="0">
                <a:solidFill>
                  <a:srgbClr val="000000"/>
                </a:solidFill>
              </a:rPr>
              <a:t>.</a:t>
            </a:r>
            <a:endParaRPr lang="zh-CN" altLang="en-US" sz="3200" dirty="0">
              <a:solidFill>
                <a:srgbClr val="000000"/>
              </a:solidFill>
            </a:endParaRPr>
          </a:p>
        </p:txBody>
      </p:sp>
    </p:spTree>
    <p:extLst>
      <p:ext uri="{BB962C8B-B14F-4D97-AF65-F5344CB8AC3E}">
        <p14:creationId xmlns:p14="http://schemas.microsoft.com/office/powerpoint/2010/main" val="61548332"/>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1901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1.4.1  Individual uniqueness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P20  Example  </a:t>
            </a:r>
          </a:p>
        </p:txBody>
      </p:sp>
      <p:sp>
        <p:nvSpPr>
          <p:cNvPr id="5" name="TextBox 4"/>
          <p:cNvSpPr txBox="1"/>
          <p:nvPr/>
        </p:nvSpPr>
        <p:spPr>
          <a:xfrm>
            <a:off x="0" y="2317332"/>
            <a:ext cx="8915660" cy="4401205"/>
          </a:xfrm>
          <a:prstGeom prst="rect">
            <a:avLst/>
          </a:prstGeom>
          <a:noFill/>
        </p:spPr>
        <p:txBody>
          <a:bodyPr wrap="square" rtlCol="0">
            <a:spAutoFit/>
          </a:bodyPr>
          <a:lstStyle/>
          <a:p>
            <a:pPr algn="just"/>
            <a:r>
              <a:rPr lang="en-US" altLang="zh-CN" sz="2800" dirty="0">
                <a:solidFill>
                  <a:srgbClr val="000000"/>
                </a:solidFill>
              </a:rPr>
              <a:t>To further clarify the notion of individual uniqueness, reflect for a moment on </a:t>
            </a:r>
            <a:r>
              <a:rPr lang="en-US" altLang="zh-CN" sz="2800" dirty="0">
                <a:solidFill>
                  <a:srgbClr val="FF0000"/>
                </a:solidFill>
              </a:rPr>
              <a:t>all the potential responses </a:t>
            </a:r>
            <a:r>
              <a:rPr lang="en-US" altLang="zh-CN" sz="2800" dirty="0">
                <a:solidFill>
                  <a:srgbClr val="000000"/>
                </a:solidFill>
              </a:rPr>
              <a:t>that could be generated by the simple phrase </a:t>
            </a:r>
            <a:r>
              <a:rPr lang="en-US" altLang="zh-CN" sz="2800" dirty="0">
                <a:solidFill>
                  <a:srgbClr val="FF0000"/>
                </a:solidFill>
              </a:rPr>
              <a:t>“I am going to a NASCAR race this Saturday.</a:t>
            </a:r>
            <a:r>
              <a:rPr lang="en-US" altLang="zh-CN" sz="2800" dirty="0">
                <a:solidFill>
                  <a:srgbClr val="000000"/>
                </a:solidFill>
              </a:rPr>
              <a:t>” </a:t>
            </a:r>
          </a:p>
          <a:p>
            <a:pPr algn="just"/>
            <a:r>
              <a:rPr lang="en-US" altLang="zh-CN" sz="2800" dirty="0">
                <a:solidFill>
                  <a:srgbClr val="FF0000"/>
                </a:solidFill>
              </a:rPr>
              <a:t>Depending on the listener’s background</a:t>
            </a:r>
            <a:r>
              <a:rPr lang="en-US" altLang="zh-CN" sz="2800" dirty="0">
                <a:solidFill>
                  <a:srgbClr val="000000"/>
                </a:solidFill>
              </a:rPr>
              <a:t>, </a:t>
            </a:r>
            <a:r>
              <a:rPr lang="en-US" altLang="zh-CN" sz="2800" dirty="0">
                <a:solidFill>
                  <a:srgbClr val="FF0000"/>
                </a:solidFill>
              </a:rPr>
              <a:t>one</a:t>
            </a:r>
            <a:r>
              <a:rPr lang="en-US" altLang="zh-CN" sz="2800" dirty="0">
                <a:solidFill>
                  <a:srgbClr val="000000"/>
                </a:solidFill>
              </a:rPr>
              <a:t> person might think that watching cars go around in a circle is boring, </a:t>
            </a:r>
            <a:r>
              <a:rPr lang="en-US" altLang="zh-CN" sz="2800" dirty="0">
                <a:solidFill>
                  <a:srgbClr val="FF0000"/>
                </a:solidFill>
              </a:rPr>
              <a:t>another</a:t>
            </a:r>
            <a:r>
              <a:rPr lang="en-US" altLang="zh-CN" sz="2800" dirty="0">
                <a:solidFill>
                  <a:srgbClr val="000000"/>
                </a:solidFill>
              </a:rPr>
              <a:t> could consider the event to be environmentally harmful because of the exhaust gases emitted, </a:t>
            </a:r>
            <a:r>
              <a:rPr lang="en-US" altLang="zh-CN" sz="2800" dirty="0">
                <a:solidFill>
                  <a:srgbClr val="FF0000"/>
                </a:solidFill>
              </a:rPr>
              <a:t>but another </a:t>
            </a:r>
            <a:r>
              <a:rPr lang="en-US" altLang="zh-CN" sz="2800" dirty="0">
                <a:solidFill>
                  <a:srgbClr val="000000"/>
                </a:solidFill>
              </a:rPr>
              <a:t>might respond by saying, “ I love the sound of the engines and the smell of tires burning rubber.”</a:t>
            </a:r>
            <a:endParaRPr lang="zh-CN" altLang="en-US" sz="2800" dirty="0">
              <a:solidFill>
                <a:srgbClr val="000000"/>
              </a:solidFill>
            </a:endParaRPr>
          </a:p>
        </p:txBody>
      </p:sp>
    </p:spTree>
    <p:extLst>
      <p:ext uri="{BB962C8B-B14F-4D97-AF65-F5344CB8AC3E}">
        <p14:creationId xmlns:p14="http://schemas.microsoft.com/office/powerpoint/2010/main" val="739246581"/>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1901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1.4.1  Individual uniqueness </a:t>
            </a:r>
          </a:p>
        </p:txBody>
      </p:sp>
      <p:sp>
        <p:nvSpPr>
          <p:cNvPr id="5" name="TextBox 4"/>
          <p:cNvSpPr txBox="1"/>
          <p:nvPr/>
        </p:nvSpPr>
        <p:spPr>
          <a:xfrm>
            <a:off x="29028" y="2162604"/>
            <a:ext cx="8915660" cy="4401205"/>
          </a:xfrm>
          <a:prstGeom prst="rect">
            <a:avLst/>
          </a:prstGeom>
          <a:noFill/>
        </p:spPr>
        <p:txBody>
          <a:bodyPr wrap="square" rtlCol="0">
            <a:spAutoFit/>
          </a:bodyPr>
          <a:lstStyle/>
          <a:p>
            <a:pPr algn="just"/>
            <a:r>
              <a:rPr lang="en-US" altLang="zh-CN" sz="2800" dirty="0">
                <a:solidFill>
                  <a:srgbClr val="FF0000"/>
                </a:solidFill>
              </a:rPr>
              <a:t>The reason</a:t>
            </a:r>
            <a:r>
              <a:rPr lang="en-US" altLang="zh-CN" sz="2800" dirty="0">
                <a:solidFill>
                  <a:srgbClr val="000000"/>
                </a:solidFill>
              </a:rPr>
              <a:t>, of course, is that the world doesn’t look the same to everyone. </a:t>
            </a:r>
            <a:r>
              <a:rPr lang="en-US" altLang="zh-CN" sz="2800" dirty="0">
                <a:solidFill>
                  <a:srgbClr val="FF0000"/>
                </a:solidFill>
              </a:rPr>
              <a:t>All the factors such as </a:t>
            </a:r>
            <a:r>
              <a:rPr lang="en-US" altLang="zh-CN" sz="2800" dirty="0">
                <a:solidFill>
                  <a:srgbClr val="000000"/>
                </a:solidFill>
              </a:rPr>
              <a:t>your genetic makeup (i.e., DNA), social group experiences, language, gender, age, individual and family history, political affiliation, educational level, perceptions of others, the existing circumstances, the region and neighborhood where you grew up, your religious experiences, economic resources and many other aspects that are at play every moment of your life, along with culture </a:t>
            </a:r>
            <a:r>
              <a:rPr lang="en-US" altLang="zh-CN" sz="2800" dirty="0">
                <a:solidFill>
                  <a:srgbClr val="FF0000"/>
                </a:solidFill>
              </a:rPr>
              <a:t>coalesce to form your individual personality</a:t>
            </a:r>
            <a:r>
              <a:rPr lang="en-US" altLang="zh-CN" sz="2800" dirty="0">
                <a:solidFill>
                  <a:srgbClr val="000000"/>
                </a:solidFill>
              </a:rPr>
              <a:t>.</a:t>
            </a:r>
          </a:p>
        </p:txBody>
      </p:sp>
      <p:sp>
        <p:nvSpPr>
          <p:cNvPr id="6" name="文本框 5">
            <a:extLst>
              <a:ext uri="{FF2B5EF4-FFF2-40B4-BE49-F238E27FC236}">
                <a16:creationId xmlns:a16="http://schemas.microsoft.com/office/drawing/2014/main" id="{60BAE982-AE0A-48AC-B650-96F02ED60A02}"/>
              </a:ext>
            </a:extLst>
          </p:cNvPr>
          <p:cNvSpPr txBox="1"/>
          <p:nvPr/>
        </p:nvSpPr>
        <p:spPr>
          <a:xfrm>
            <a:off x="5270015" y="771671"/>
            <a:ext cx="893460" cy="584775"/>
          </a:xfrm>
          <a:prstGeom prst="rect">
            <a:avLst/>
          </a:prstGeom>
          <a:noFill/>
        </p:spPr>
        <p:txBody>
          <a:bodyPr wrap="square">
            <a:spAutoFit/>
          </a:bodyPr>
          <a:lstStyle/>
          <a:p>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P20</a:t>
            </a:r>
            <a:r>
              <a:rPr lang="en-US" altLang="zh-CN" sz="1800" b="1" kern="100" dirty="0">
                <a:highlight>
                  <a:srgbClr val="FFFF00"/>
                </a:highlight>
                <a:latin typeface="Times New Roman" pitchFamily="18" charset="0"/>
                <a:ea typeface="宋体" panose="02010600030101010101" pitchFamily="2" charset="-122"/>
                <a:cs typeface="Times New Roman" pitchFamily="18" charset="0"/>
              </a:rPr>
              <a:t> </a:t>
            </a:r>
            <a:endParaRPr lang="zh-CN" altLang="en-US" dirty="0">
              <a:highlight>
                <a:srgbClr val="FFFF00"/>
              </a:highlight>
            </a:endParaRPr>
          </a:p>
        </p:txBody>
      </p:sp>
    </p:spTree>
    <p:extLst>
      <p:ext uri="{BB962C8B-B14F-4D97-AF65-F5344CB8AC3E}">
        <p14:creationId xmlns:p14="http://schemas.microsoft.com/office/powerpoint/2010/main" val="249273247"/>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1901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ts val="0"/>
              </a:spcAft>
              <a:buClrTx/>
              <a:buSzTx/>
              <a:buFontTx/>
              <a:buNone/>
              <a:tabLst/>
              <a:defRPr/>
            </a:pPr>
            <a:r>
              <a:rPr kumimoji="0" lang="en-US" altLang="zh-CN" sz="3200" b="1" i="0" u="none" strike="noStrike" kern="1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1.4.1  Individual uniqueness </a:t>
            </a:r>
          </a:p>
        </p:txBody>
      </p:sp>
      <p:sp>
        <p:nvSpPr>
          <p:cNvPr id="5" name="TextBox 4"/>
          <p:cNvSpPr txBox="1"/>
          <p:nvPr/>
        </p:nvSpPr>
        <p:spPr>
          <a:xfrm>
            <a:off x="425789" y="2623294"/>
            <a:ext cx="8334303" cy="2556982"/>
          </a:xfrm>
          <a:prstGeom prst="rect">
            <a:avLst/>
          </a:prstGeom>
          <a:noFill/>
        </p:spPr>
        <p:txBody>
          <a:bodyPr wrap="square" rtlCol="0">
            <a:spAutoFit/>
          </a:bodyPr>
          <a:lstStyle/>
          <a:p>
            <a:pPr marL="0" marR="0" lvl="0" indent="0" algn="just" defTabSz="914400" rtl="0" eaLnBrk="1" fontAlgn="base" latinLnBrk="0" hangingPunct="1">
              <a:lnSpc>
                <a:spcPct val="200000"/>
              </a:lnSpc>
              <a:spcBef>
                <a:spcPct val="0"/>
              </a:spcBef>
              <a:spcAft>
                <a:spcPct val="0"/>
              </a:spcAft>
              <a:buClrTx/>
              <a:buSzTx/>
              <a:buFontTx/>
              <a:buNone/>
              <a:tabLst/>
              <a:defRPr/>
            </a:pPr>
            <a:r>
              <a:rPr lang="en-US" altLang="zh-CN" sz="2800" dirty="0"/>
              <a:t>Always keep in mind that culture is a powerful force in the shaping of human behavior, but remember that </a:t>
            </a:r>
            <a:r>
              <a:rPr lang="en-US" altLang="zh-CN" sz="2800" dirty="0">
                <a:solidFill>
                  <a:srgbClr val="FF0000"/>
                </a:solidFill>
              </a:rPr>
              <a:t>people are more than their cultures</a:t>
            </a:r>
            <a:r>
              <a:rPr lang="en-US" altLang="zh-CN" sz="2800" dirty="0"/>
              <a:t>.</a:t>
            </a:r>
            <a:endParaRPr kumimoji="0" lang="en-US" altLang="zh-CN" sz="2800" b="0" i="0" u="none" strike="noStrike" kern="1200" cap="none" spc="0" normalizeH="0" baseline="0" noProof="0" dirty="0">
              <a:ln>
                <a:noFill/>
              </a:ln>
              <a:effectLst/>
              <a:uLnTx/>
              <a:uFillTx/>
              <a:latin typeface="庞门正道标题体" charset="0"/>
              <a:cs typeface="+mn-cs"/>
            </a:endParaRPr>
          </a:p>
        </p:txBody>
      </p:sp>
      <p:sp>
        <p:nvSpPr>
          <p:cNvPr id="6" name="文本框 5">
            <a:extLst>
              <a:ext uri="{FF2B5EF4-FFF2-40B4-BE49-F238E27FC236}">
                <a16:creationId xmlns:a16="http://schemas.microsoft.com/office/drawing/2014/main" id="{60BAE982-AE0A-48AC-B650-96F02ED60A02}"/>
              </a:ext>
            </a:extLst>
          </p:cNvPr>
          <p:cNvSpPr txBox="1"/>
          <p:nvPr/>
        </p:nvSpPr>
        <p:spPr>
          <a:xfrm>
            <a:off x="5270015" y="771671"/>
            <a:ext cx="893460"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100" cap="none" spc="0" normalizeH="0" baseline="0" noProof="0" dirty="0">
                <a:ln>
                  <a:noFill/>
                </a:ln>
                <a:solidFill>
                  <a:srgbClr val="000000"/>
                </a:solidFill>
                <a:effectLst/>
                <a:highlight>
                  <a:srgbClr val="FFFF00"/>
                </a:highlight>
                <a:uLnTx/>
                <a:uFillTx/>
                <a:latin typeface="Times New Roman" pitchFamily="18" charset="0"/>
                <a:ea typeface="宋体" panose="02010600030101010101" pitchFamily="2" charset="-122"/>
                <a:cs typeface="Times New Roman" pitchFamily="18" charset="0"/>
              </a:rPr>
              <a:t>P20</a:t>
            </a:r>
            <a:r>
              <a:rPr kumimoji="0" lang="en-US" altLang="zh-CN" sz="1800" b="1" i="0" u="none" strike="noStrike" kern="100" cap="none" spc="0" normalizeH="0" baseline="0" noProof="0" dirty="0">
                <a:ln>
                  <a:noFill/>
                </a:ln>
                <a:solidFill>
                  <a:srgbClr val="000000"/>
                </a:solidFill>
                <a:effectLst/>
                <a:highlight>
                  <a:srgbClr val="FFFF00"/>
                </a:highlight>
                <a:uLnTx/>
                <a:uFillTx/>
                <a:latin typeface="Times New Roman" pitchFamily="18" charset="0"/>
                <a:ea typeface="宋体" panose="02010600030101010101" pitchFamily="2" charset="-122"/>
                <a:cs typeface="Times New Roman" pitchFamily="18" charset="0"/>
              </a:rPr>
              <a:t> </a:t>
            </a:r>
            <a:endParaRPr kumimoji="0" lang="zh-CN" altLang="en-US" sz="1800" b="0" i="0" u="none" strike="noStrike" kern="1200" cap="none" spc="0" normalizeH="0" baseline="0" noProof="0" dirty="0">
              <a:ln>
                <a:noFill/>
              </a:ln>
              <a:solidFill>
                <a:srgbClr val="000000"/>
              </a:solidFill>
              <a:effectLst/>
              <a:highlight>
                <a:srgbClr val="FFFF00"/>
              </a:highlight>
              <a:uLnTx/>
              <a:uFillTx/>
              <a:latin typeface="庞门正道标题体" charset="0"/>
              <a:cs typeface="+mn-cs"/>
            </a:endParaRPr>
          </a:p>
        </p:txBody>
      </p:sp>
    </p:spTree>
    <p:extLst>
      <p:ext uri="{BB962C8B-B14F-4D97-AF65-F5344CB8AC3E}">
        <p14:creationId xmlns:p14="http://schemas.microsoft.com/office/powerpoint/2010/main" val="2247767755"/>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1.4.2  Generalizing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P21</a:t>
            </a:r>
          </a:p>
        </p:txBody>
      </p:sp>
      <p:sp>
        <p:nvSpPr>
          <p:cNvPr id="5" name="TextBox 4"/>
          <p:cNvSpPr txBox="1"/>
          <p:nvPr/>
        </p:nvSpPr>
        <p:spPr>
          <a:xfrm>
            <a:off x="83196" y="2333684"/>
            <a:ext cx="9060803" cy="4031873"/>
          </a:xfrm>
          <a:prstGeom prst="rect">
            <a:avLst/>
          </a:prstGeom>
          <a:noFill/>
        </p:spPr>
        <p:txBody>
          <a:bodyPr wrap="square" rtlCol="0">
            <a:spAutoFit/>
          </a:bodyPr>
          <a:lstStyle/>
          <a:p>
            <a:pPr algn="just"/>
            <a:r>
              <a:rPr lang="en-US" altLang="zh-CN" sz="3200" dirty="0">
                <a:solidFill>
                  <a:srgbClr val="000000"/>
                </a:solidFill>
              </a:rPr>
              <a:t>Generalizations are based on limited data and are then applied to a larger population. In intercultural communication, this </a:t>
            </a:r>
            <a:r>
              <a:rPr lang="en-US" altLang="zh-CN" sz="3200" dirty="0">
                <a:solidFill>
                  <a:srgbClr val="FF0000"/>
                </a:solidFill>
              </a:rPr>
              <a:t>means</a:t>
            </a:r>
            <a:r>
              <a:rPr lang="en-US" altLang="zh-CN" sz="3200" dirty="0">
                <a:solidFill>
                  <a:srgbClr val="000000"/>
                </a:solidFill>
              </a:rPr>
              <a:t> ascribing characteristics to a larger group of people based on attributes displayed by a smaller group. </a:t>
            </a:r>
            <a:r>
              <a:rPr lang="en-US" altLang="zh-CN" sz="3200" dirty="0">
                <a:solidFill>
                  <a:srgbClr val="FF0000"/>
                </a:solidFill>
              </a:rPr>
              <a:t>Stereotypes differ from generalizations</a:t>
            </a:r>
            <a:r>
              <a:rPr lang="en-US" altLang="zh-CN" sz="3200" dirty="0">
                <a:solidFill>
                  <a:srgbClr val="000000"/>
                </a:solidFill>
              </a:rPr>
              <a:t> in that they may not be based solely on conjecture and usually appeal to the audience’s positive or negative emotions.</a:t>
            </a:r>
            <a:endParaRPr lang="zh-CN" altLang="en-US" sz="3200" dirty="0">
              <a:solidFill>
                <a:srgbClr val="000000"/>
              </a:solidFill>
            </a:endParaRPr>
          </a:p>
        </p:txBody>
      </p:sp>
    </p:spTree>
    <p:extLst>
      <p:ext uri="{BB962C8B-B14F-4D97-AF65-F5344CB8AC3E}">
        <p14:creationId xmlns:p14="http://schemas.microsoft.com/office/powerpoint/2010/main" val="211115684"/>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1.4.2  Generalizing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P21</a:t>
            </a:r>
          </a:p>
        </p:txBody>
      </p:sp>
      <p:sp>
        <p:nvSpPr>
          <p:cNvPr id="5" name="TextBox 4"/>
          <p:cNvSpPr txBox="1"/>
          <p:nvPr/>
        </p:nvSpPr>
        <p:spPr>
          <a:xfrm>
            <a:off x="146159" y="2815316"/>
            <a:ext cx="8851681" cy="2554545"/>
          </a:xfrm>
          <a:prstGeom prst="rect">
            <a:avLst/>
          </a:prstGeom>
          <a:noFill/>
        </p:spPr>
        <p:txBody>
          <a:bodyPr wrap="square" rtlCol="0">
            <a:spAutoFit/>
          </a:bodyPr>
          <a:lstStyle/>
          <a:p>
            <a:pPr algn="just"/>
            <a:r>
              <a:rPr lang="en-US" altLang="zh-CN" sz="3200" dirty="0">
                <a:solidFill>
                  <a:srgbClr val="000000"/>
                </a:solidFill>
              </a:rPr>
              <a:t>Although generalizing can be a problem when studying intercultural communication, </a:t>
            </a:r>
            <a:r>
              <a:rPr lang="en-US" altLang="zh-CN" sz="3200" dirty="0">
                <a:solidFill>
                  <a:srgbClr val="FF0000"/>
                </a:solidFill>
              </a:rPr>
              <a:t>certain precautions</a:t>
            </a:r>
            <a:r>
              <a:rPr lang="en-US" altLang="zh-CN" sz="3200" dirty="0">
                <a:solidFill>
                  <a:srgbClr val="000000"/>
                </a:solidFill>
              </a:rPr>
              <a:t> can be taken (as we have endeavored to do in this book) to minimize the misleading effects of generalizing.</a:t>
            </a:r>
          </a:p>
        </p:txBody>
      </p:sp>
    </p:spTree>
    <p:extLst>
      <p:ext uri="{BB962C8B-B14F-4D97-AF65-F5344CB8AC3E}">
        <p14:creationId xmlns:p14="http://schemas.microsoft.com/office/powerpoint/2010/main" val="2930089647"/>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1.4.2  Generalizing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P20-21</a:t>
            </a:r>
          </a:p>
        </p:txBody>
      </p:sp>
      <p:sp>
        <p:nvSpPr>
          <p:cNvPr id="5" name="TextBox 4"/>
          <p:cNvSpPr txBox="1"/>
          <p:nvPr/>
        </p:nvSpPr>
        <p:spPr>
          <a:xfrm>
            <a:off x="83196" y="2333684"/>
            <a:ext cx="9060803" cy="4462760"/>
          </a:xfrm>
          <a:prstGeom prst="rect">
            <a:avLst/>
          </a:prstGeom>
          <a:noFill/>
        </p:spPr>
        <p:txBody>
          <a:bodyPr wrap="square" rtlCol="0">
            <a:spAutoFit/>
          </a:bodyPr>
          <a:lstStyle/>
          <a:p>
            <a:pPr algn="just"/>
            <a:r>
              <a:rPr lang="en-US" altLang="zh-CN" sz="2800" dirty="0">
                <a:solidFill>
                  <a:srgbClr val="FF0000"/>
                </a:solidFill>
              </a:rPr>
              <a:t>First</a:t>
            </a:r>
            <a:r>
              <a:rPr lang="en-US" altLang="zh-CN" sz="2800" dirty="0">
                <a:solidFill>
                  <a:srgbClr val="000000"/>
                </a:solidFill>
              </a:rPr>
              <a:t>, cultural generalizations must be viewed as approximations, not as absolute representations.</a:t>
            </a:r>
          </a:p>
          <a:p>
            <a:pPr algn="just"/>
            <a:r>
              <a:rPr lang="en-US" altLang="zh-CN" sz="2800" dirty="0">
                <a:solidFill>
                  <a:srgbClr val="FF0000"/>
                </a:solidFill>
              </a:rPr>
              <a:t>Second</a:t>
            </a:r>
            <a:r>
              <a:rPr lang="en-US" altLang="zh-CN" sz="2800" dirty="0">
                <a:solidFill>
                  <a:srgbClr val="000000"/>
                </a:solidFill>
              </a:rPr>
              <a:t>, when you do make generalizations, they should deal with the primary values and behaviors of a particular culture.</a:t>
            </a:r>
          </a:p>
          <a:p>
            <a:pPr algn="just"/>
            <a:r>
              <a:rPr lang="en-US" altLang="zh-CN" sz="2800" dirty="0">
                <a:solidFill>
                  <a:srgbClr val="FF0000"/>
                </a:solidFill>
              </a:rPr>
              <a:t>Third</a:t>
            </a:r>
            <a:r>
              <a:rPr lang="en-US" altLang="zh-CN" sz="2800" dirty="0">
                <a:solidFill>
                  <a:srgbClr val="000000"/>
                </a:solidFill>
              </a:rPr>
              <a:t>, when employing generalizations, try to use those </a:t>
            </a:r>
            <a:r>
              <a:rPr lang="en-US" altLang="zh-CN" sz="2800" dirty="0">
                <a:solidFill>
                  <a:srgbClr val="FF0000"/>
                </a:solidFill>
              </a:rPr>
              <a:t>that can be supported by a variety of sources.</a:t>
            </a:r>
          </a:p>
          <a:p>
            <a:pPr algn="just"/>
            <a:r>
              <a:rPr lang="en-US" altLang="zh-CN" sz="2800" dirty="0">
                <a:solidFill>
                  <a:srgbClr val="FF0000"/>
                </a:solidFill>
              </a:rPr>
              <a:t>Finally</a:t>
            </a:r>
            <a:r>
              <a:rPr lang="en-US" altLang="zh-CN" sz="2800" dirty="0">
                <a:solidFill>
                  <a:srgbClr val="000000"/>
                </a:solidFill>
              </a:rPr>
              <a:t>, conclusions and statements about cultures should be qualified so that they appear not as absolute but only as cautious generalizations.</a:t>
            </a:r>
          </a:p>
          <a:p>
            <a:pPr algn="just"/>
            <a:endParaRPr lang="zh-CN" altLang="en-US" sz="3200" dirty="0">
              <a:solidFill>
                <a:srgbClr val="000000"/>
              </a:solidFill>
            </a:endParaRPr>
          </a:p>
        </p:txBody>
      </p:sp>
    </p:spTree>
    <p:extLst>
      <p:ext uri="{BB962C8B-B14F-4D97-AF65-F5344CB8AC3E}">
        <p14:creationId xmlns:p14="http://schemas.microsoft.com/office/powerpoint/2010/main" val="1482276787"/>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1.4.3  Objectivity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P22</a:t>
            </a:r>
          </a:p>
        </p:txBody>
      </p:sp>
      <p:sp>
        <p:nvSpPr>
          <p:cNvPr id="5" name="TextBox 4"/>
          <p:cNvSpPr txBox="1"/>
          <p:nvPr/>
        </p:nvSpPr>
        <p:spPr>
          <a:xfrm>
            <a:off x="83196" y="2598044"/>
            <a:ext cx="8944689" cy="3046988"/>
          </a:xfrm>
          <a:prstGeom prst="rect">
            <a:avLst/>
          </a:prstGeom>
          <a:noFill/>
        </p:spPr>
        <p:txBody>
          <a:bodyPr wrap="square" rtlCol="0">
            <a:spAutoFit/>
          </a:bodyPr>
          <a:lstStyle/>
          <a:p>
            <a:pPr algn="just"/>
            <a:r>
              <a:rPr lang="en-US" altLang="zh-CN" sz="3200" dirty="0">
                <a:solidFill>
                  <a:srgbClr val="000000"/>
                </a:solidFill>
              </a:rPr>
              <a:t>The very </a:t>
            </a:r>
            <a:r>
              <a:rPr lang="en-US" altLang="zh-CN" sz="3200" dirty="0">
                <a:solidFill>
                  <a:srgbClr val="FF0000"/>
                </a:solidFill>
              </a:rPr>
              <a:t>definition of objectivity </a:t>
            </a:r>
            <a:r>
              <a:rPr lang="en-US" altLang="zh-CN" sz="3200" dirty="0">
                <a:solidFill>
                  <a:srgbClr val="000000"/>
                </a:solidFill>
              </a:rPr>
              <a:t>– “Not influenced by personal feelings, interpretations, or prejudice; based on facts; unbiased: an objective opinion” – should highlight the difficulty of trying to communicate with other people while suspending personal judgment.</a:t>
            </a:r>
            <a:endParaRPr lang="zh-CN" altLang="en-US" sz="3200" dirty="0">
              <a:solidFill>
                <a:srgbClr val="000000"/>
              </a:solidFill>
            </a:endParaRPr>
          </a:p>
        </p:txBody>
      </p:sp>
    </p:spTree>
    <p:extLst>
      <p:ext uri="{BB962C8B-B14F-4D97-AF65-F5344CB8AC3E}">
        <p14:creationId xmlns:p14="http://schemas.microsoft.com/office/powerpoint/2010/main" val="61548332"/>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1.4.3  Objectivity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P22</a:t>
            </a:r>
          </a:p>
        </p:txBody>
      </p:sp>
      <p:sp>
        <p:nvSpPr>
          <p:cNvPr id="5" name="TextBox 4"/>
          <p:cNvSpPr txBox="1"/>
          <p:nvPr/>
        </p:nvSpPr>
        <p:spPr>
          <a:xfrm>
            <a:off x="83196" y="2598044"/>
            <a:ext cx="8944689" cy="3539430"/>
          </a:xfrm>
          <a:prstGeom prst="rect">
            <a:avLst/>
          </a:prstGeom>
          <a:noFill/>
        </p:spPr>
        <p:txBody>
          <a:bodyPr wrap="square" rtlCol="0">
            <a:spAutoFit/>
          </a:bodyPr>
          <a:lstStyle/>
          <a:p>
            <a:pPr algn="just"/>
            <a:r>
              <a:rPr lang="en-US" altLang="zh-CN" sz="3200" dirty="0">
                <a:solidFill>
                  <a:srgbClr val="000000"/>
                </a:solidFill>
              </a:rPr>
              <a:t>The problem, of course, is </a:t>
            </a:r>
            <a:r>
              <a:rPr lang="en-US" altLang="zh-CN" sz="3200" dirty="0">
                <a:solidFill>
                  <a:srgbClr val="FF0000"/>
                </a:solidFill>
              </a:rPr>
              <a:t>complicated</a:t>
            </a:r>
            <a:r>
              <a:rPr lang="en-US" altLang="zh-CN" sz="3200" dirty="0">
                <a:solidFill>
                  <a:srgbClr val="000000"/>
                </a:solidFill>
              </a:rPr>
              <a:t> when engaging in intercultural communication </a:t>
            </a:r>
            <a:r>
              <a:rPr lang="en-US" altLang="zh-CN" sz="3200" dirty="0">
                <a:solidFill>
                  <a:srgbClr val="FF0000"/>
                </a:solidFill>
              </a:rPr>
              <a:t>because</a:t>
            </a:r>
            <a:r>
              <a:rPr lang="en-US" altLang="zh-CN" sz="3200" dirty="0">
                <a:solidFill>
                  <a:srgbClr val="000000"/>
                </a:solidFill>
              </a:rPr>
              <a:t> you approach and respond to other cultures from the perspective of your own culture – and often, consciously or unconsciously, it is difficult to be objective when observing or experiencing the actions of other cultures.</a:t>
            </a:r>
            <a:endParaRPr lang="zh-CN" altLang="en-US" sz="3200" dirty="0">
              <a:solidFill>
                <a:srgbClr val="000000"/>
              </a:solidFill>
            </a:endParaRPr>
          </a:p>
        </p:txBody>
      </p:sp>
    </p:spTree>
    <p:extLst>
      <p:ext uri="{BB962C8B-B14F-4D97-AF65-F5344CB8AC3E}">
        <p14:creationId xmlns:p14="http://schemas.microsoft.com/office/powerpoint/2010/main" val="671292891"/>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1.4.3  Objectivity </a:t>
            </a:r>
            <a:r>
              <a:rPr lang="en-US" altLang="zh-CN" sz="3200" b="1" kern="100" dirty="0">
                <a:highlight>
                  <a:srgbClr val="FFFF00"/>
                </a:highlight>
                <a:latin typeface="Times New Roman" pitchFamily="18" charset="0"/>
                <a:ea typeface="宋体" panose="02010600030101010101" pitchFamily="2" charset="-122"/>
                <a:cs typeface="Times New Roman" pitchFamily="18" charset="0"/>
              </a:rPr>
              <a:t>P23</a:t>
            </a:r>
          </a:p>
        </p:txBody>
      </p:sp>
      <p:sp>
        <p:nvSpPr>
          <p:cNvPr id="5" name="TextBox 4"/>
          <p:cNvSpPr txBox="1"/>
          <p:nvPr/>
        </p:nvSpPr>
        <p:spPr>
          <a:xfrm>
            <a:off x="83196" y="2598044"/>
            <a:ext cx="8944689" cy="2554545"/>
          </a:xfrm>
          <a:prstGeom prst="rect">
            <a:avLst/>
          </a:prstGeom>
          <a:noFill/>
        </p:spPr>
        <p:txBody>
          <a:bodyPr wrap="square" rtlCol="0">
            <a:spAutoFit/>
          </a:bodyPr>
          <a:lstStyle/>
          <a:p>
            <a:pPr algn="just"/>
            <a:r>
              <a:rPr lang="en-US" altLang="zh-CN" sz="3200" dirty="0">
                <a:solidFill>
                  <a:srgbClr val="000000"/>
                </a:solidFill>
              </a:rPr>
              <a:t>Objectivity </a:t>
            </a:r>
            <a:r>
              <a:rPr lang="en-US" altLang="zh-CN" sz="3200" dirty="0">
                <a:solidFill>
                  <a:srgbClr val="FF0000"/>
                </a:solidFill>
              </a:rPr>
              <a:t>requires</a:t>
            </a:r>
            <a:r>
              <a:rPr lang="en-US" altLang="zh-CN" sz="3200" dirty="0">
                <a:solidFill>
                  <a:srgbClr val="000000"/>
                </a:solidFill>
              </a:rPr>
              <a:t> that you approach each new situation with an open mind and avoid being judgmental. And it </a:t>
            </a:r>
            <a:r>
              <a:rPr lang="en-US" altLang="zh-CN" sz="3200" dirty="0">
                <a:solidFill>
                  <a:srgbClr val="FF0000"/>
                </a:solidFill>
              </a:rPr>
              <a:t>promotes</a:t>
            </a:r>
            <a:r>
              <a:rPr lang="en-US" altLang="zh-CN" sz="3200" dirty="0">
                <a:solidFill>
                  <a:srgbClr val="000000"/>
                </a:solidFill>
              </a:rPr>
              <a:t> learning to interact and value distinct groups of people regardless of their culture, race, ethnicity, religion, country, or gender.</a:t>
            </a:r>
            <a:endParaRPr lang="zh-CN" altLang="en-US" sz="3200" dirty="0">
              <a:solidFill>
                <a:srgbClr val="000000"/>
              </a:solidFill>
            </a:endParaRPr>
          </a:p>
        </p:txBody>
      </p:sp>
    </p:spTree>
    <p:extLst>
      <p:ext uri="{BB962C8B-B14F-4D97-AF65-F5344CB8AC3E}">
        <p14:creationId xmlns:p14="http://schemas.microsoft.com/office/powerpoint/2010/main" val="2220372327"/>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1.4.4  Compromise in intercultural communication</a:t>
            </a:r>
          </a:p>
        </p:txBody>
      </p:sp>
      <p:sp>
        <p:nvSpPr>
          <p:cNvPr id="5" name="TextBox 4"/>
          <p:cNvSpPr txBox="1"/>
          <p:nvPr/>
        </p:nvSpPr>
        <p:spPr>
          <a:xfrm>
            <a:off x="14514" y="2380330"/>
            <a:ext cx="9060803" cy="3539430"/>
          </a:xfrm>
          <a:prstGeom prst="rect">
            <a:avLst/>
          </a:prstGeom>
          <a:noFill/>
        </p:spPr>
        <p:txBody>
          <a:bodyPr wrap="square" rtlCol="0">
            <a:spAutoFit/>
          </a:bodyPr>
          <a:lstStyle/>
          <a:p>
            <a:pPr algn="just"/>
            <a:r>
              <a:rPr lang="en-US" altLang="zh-CN" sz="2800" dirty="0">
                <a:solidFill>
                  <a:srgbClr val="000000"/>
                </a:solidFill>
              </a:rPr>
              <a:t>Encountering disagreement  is </a:t>
            </a:r>
            <a:r>
              <a:rPr lang="en-US" altLang="zh-CN" sz="2800" dirty="0">
                <a:solidFill>
                  <a:srgbClr val="FF0000"/>
                </a:solidFill>
              </a:rPr>
              <a:t>a natural characteristic </a:t>
            </a:r>
            <a:r>
              <a:rPr lang="en-US" altLang="zh-CN" sz="2800" dirty="0">
                <a:solidFill>
                  <a:srgbClr val="000000"/>
                </a:solidFill>
              </a:rPr>
              <a:t>of interacting with individuals who have differing perceptions of what is right or wrong, good or bad, acceptable or unacceptable, etc. The </a:t>
            </a:r>
            <a:r>
              <a:rPr lang="en-US" altLang="zh-CN" sz="2800" dirty="0">
                <a:solidFill>
                  <a:srgbClr val="FF0000"/>
                </a:solidFill>
              </a:rPr>
              <a:t>conflict</a:t>
            </a:r>
            <a:r>
              <a:rPr lang="en-US" altLang="zh-CN" sz="2800" dirty="0">
                <a:solidFill>
                  <a:srgbClr val="000000"/>
                </a:solidFill>
              </a:rPr>
              <a:t> may arise </a:t>
            </a:r>
            <a:r>
              <a:rPr lang="en-US" altLang="zh-CN" sz="2800" dirty="0">
                <a:solidFill>
                  <a:srgbClr val="FF0000"/>
                </a:solidFill>
              </a:rPr>
              <a:t>due to </a:t>
            </a:r>
            <a:r>
              <a:rPr lang="en-US" altLang="zh-CN" sz="2800" dirty="0">
                <a:solidFill>
                  <a:srgbClr val="000000"/>
                </a:solidFill>
              </a:rPr>
              <a:t>differences between you and the other individual(s), </a:t>
            </a:r>
            <a:r>
              <a:rPr lang="en-US" altLang="zh-CN" sz="2800" dirty="0">
                <a:solidFill>
                  <a:srgbClr val="FF0000"/>
                </a:solidFill>
              </a:rPr>
              <a:t>or</a:t>
            </a:r>
            <a:r>
              <a:rPr lang="en-US" altLang="zh-CN" sz="2800" dirty="0">
                <a:solidFill>
                  <a:srgbClr val="000000"/>
                </a:solidFill>
              </a:rPr>
              <a:t> it could be an internal conflict, resulting from having to make decisions when confronted by culturally different beliefs, values, or behavioral protocols.   </a:t>
            </a:r>
            <a:r>
              <a:rPr lang="en-US" altLang="zh-CN" sz="2800" dirty="0">
                <a:highlight>
                  <a:srgbClr val="FFFF00"/>
                </a:highlight>
              </a:rPr>
              <a:t>P23</a:t>
            </a:r>
            <a:endParaRPr lang="zh-CN" altLang="en-US" sz="2800" dirty="0">
              <a:highlight>
                <a:srgbClr val="FFFF00"/>
              </a:highlight>
            </a:endParaRPr>
          </a:p>
        </p:txBody>
      </p:sp>
      <p:sp>
        <p:nvSpPr>
          <p:cNvPr id="3" name="文本框 2">
            <a:extLst>
              <a:ext uri="{FF2B5EF4-FFF2-40B4-BE49-F238E27FC236}">
                <a16:creationId xmlns:a16="http://schemas.microsoft.com/office/drawing/2014/main" id="{52F57229-1B66-436C-822F-897390F0D7EA}"/>
              </a:ext>
            </a:extLst>
          </p:cNvPr>
          <p:cNvSpPr txBox="1"/>
          <p:nvPr/>
        </p:nvSpPr>
        <p:spPr>
          <a:xfrm>
            <a:off x="4516159" y="383908"/>
            <a:ext cx="1305288" cy="383909"/>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61548332"/>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1.4.4  Compromise in intellectual communication</a:t>
            </a:r>
          </a:p>
        </p:txBody>
      </p:sp>
      <p:sp>
        <p:nvSpPr>
          <p:cNvPr id="5" name="TextBox 4"/>
          <p:cNvSpPr txBox="1"/>
          <p:nvPr/>
        </p:nvSpPr>
        <p:spPr>
          <a:xfrm>
            <a:off x="14514" y="2380317"/>
            <a:ext cx="9060803" cy="4401205"/>
          </a:xfrm>
          <a:prstGeom prst="rect">
            <a:avLst/>
          </a:prstGeom>
          <a:noFill/>
        </p:spPr>
        <p:txBody>
          <a:bodyPr wrap="square" rtlCol="0">
            <a:spAutoFit/>
          </a:bodyPr>
          <a:lstStyle/>
          <a:p>
            <a:pPr algn="just"/>
            <a:r>
              <a:rPr lang="en-US" altLang="zh-CN" sz="2800" dirty="0">
                <a:solidFill>
                  <a:srgbClr val="000000"/>
                </a:solidFill>
              </a:rPr>
              <a:t>Normally, </a:t>
            </a:r>
            <a:r>
              <a:rPr lang="en-US" altLang="zh-CN" sz="2800" dirty="0">
                <a:solidFill>
                  <a:srgbClr val="FF0000"/>
                </a:solidFill>
              </a:rPr>
              <a:t>the best resolution </a:t>
            </a:r>
            <a:r>
              <a:rPr lang="en-US" altLang="zh-CN" sz="2800" dirty="0">
                <a:solidFill>
                  <a:srgbClr val="000000"/>
                </a:solidFill>
              </a:rPr>
              <a:t>of an external conflict is one where both parties are satisfied – </a:t>
            </a:r>
            <a:r>
              <a:rPr lang="en-US" altLang="zh-CN" sz="2800" dirty="0">
                <a:solidFill>
                  <a:srgbClr val="FF0000"/>
                </a:solidFill>
              </a:rPr>
              <a:t>mutual agreement</a:t>
            </a:r>
            <a:r>
              <a:rPr lang="en-US" altLang="zh-CN" sz="2800" dirty="0">
                <a:solidFill>
                  <a:srgbClr val="000000"/>
                </a:solidFill>
              </a:rPr>
              <a:t>. This is often </a:t>
            </a:r>
            <a:r>
              <a:rPr lang="en-US" altLang="zh-CN" sz="2800" dirty="0">
                <a:solidFill>
                  <a:srgbClr val="FF0000"/>
                </a:solidFill>
              </a:rPr>
              <a:t>achieved through </a:t>
            </a:r>
            <a:r>
              <a:rPr lang="en-US" altLang="zh-CN" sz="2800" dirty="0">
                <a:solidFill>
                  <a:srgbClr val="000000"/>
                </a:solidFill>
              </a:rPr>
              <a:t>reciprocal compromise, as in international business and diplomatic negotiations.</a:t>
            </a:r>
          </a:p>
          <a:p>
            <a:pPr algn="just"/>
            <a:r>
              <a:rPr lang="en-US" altLang="zh-CN" sz="2800" dirty="0">
                <a:solidFill>
                  <a:srgbClr val="000000"/>
                </a:solidFill>
              </a:rPr>
              <a:t>A culturally based conflict involving values can be more problematic, especially if it is an </a:t>
            </a:r>
            <a:r>
              <a:rPr lang="en-US" altLang="zh-CN" sz="2800" dirty="0">
                <a:solidFill>
                  <a:srgbClr val="FF0000"/>
                </a:solidFill>
              </a:rPr>
              <a:t>internal conflict </a:t>
            </a:r>
            <a:r>
              <a:rPr lang="en-US" altLang="zh-CN" sz="2800" dirty="0">
                <a:solidFill>
                  <a:srgbClr val="000000"/>
                </a:solidFill>
              </a:rPr>
              <a:t>(</a:t>
            </a:r>
            <a:r>
              <a:rPr lang="en-US" altLang="zh-CN" sz="2800" dirty="0" err="1">
                <a:solidFill>
                  <a:srgbClr val="000000"/>
                </a:solidFill>
              </a:rPr>
              <a:t>eg.</a:t>
            </a:r>
            <a:r>
              <a:rPr lang="en-US" altLang="zh-CN" sz="2800" dirty="0">
                <a:solidFill>
                  <a:srgbClr val="000000"/>
                </a:solidFill>
              </a:rPr>
              <a:t> an invitation to a bullfight by a Spanish  family). Unfortunately, there’s </a:t>
            </a:r>
            <a:r>
              <a:rPr lang="en-US" altLang="zh-CN" sz="2800" dirty="0">
                <a:solidFill>
                  <a:srgbClr val="FF0000"/>
                </a:solidFill>
              </a:rPr>
              <a:t>no standardized procedure </a:t>
            </a:r>
            <a:r>
              <a:rPr lang="en-US" altLang="zh-CN" sz="2800" dirty="0">
                <a:solidFill>
                  <a:srgbClr val="000000"/>
                </a:solidFill>
              </a:rPr>
              <a:t>for handling these types of situations, and you will have to decide on the final resolution yourself.     </a:t>
            </a:r>
            <a:r>
              <a:rPr lang="en-US" altLang="zh-CN" sz="2800" dirty="0">
                <a:highlight>
                  <a:srgbClr val="FFFF00"/>
                </a:highlight>
              </a:rPr>
              <a:t>P23</a:t>
            </a:r>
            <a:endParaRPr lang="zh-CN" altLang="en-US" sz="2800" dirty="0">
              <a:highlight>
                <a:srgbClr val="FFFF00"/>
              </a:highlight>
            </a:endParaRPr>
          </a:p>
        </p:txBody>
      </p:sp>
    </p:spTree>
    <p:extLst>
      <p:ext uri="{BB962C8B-B14F-4D97-AF65-F5344CB8AC3E}">
        <p14:creationId xmlns:p14="http://schemas.microsoft.com/office/powerpoint/2010/main" val="1677850580"/>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1.4.4  Compromise in intellectual communication</a:t>
            </a:r>
          </a:p>
        </p:txBody>
      </p:sp>
      <p:sp>
        <p:nvSpPr>
          <p:cNvPr id="5" name="TextBox 4"/>
          <p:cNvSpPr txBox="1"/>
          <p:nvPr/>
        </p:nvSpPr>
        <p:spPr>
          <a:xfrm>
            <a:off x="0" y="2409690"/>
            <a:ext cx="9060803" cy="3970318"/>
          </a:xfrm>
          <a:prstGeom prst="rect">
            <a:avLst/>
          </a:prstGeom>
          <a:noFill/>
        </p:spPr>
        <p:txBody>
          <a:bodyPr wrap="square" rtlCol="0">
            <a:spAutoFit/>
          </a:bodyPr>
          <a:lstStyle/>
          <a:p>
            <a:pPr algn="just"/>
            <a:r>
              <a:rPr lang="en-US" altLang="zh-CN" sz="2800" dirty="0">
                <a:solidFill>
                  <a:srgbClr val="000000"/>
                </a:solidFill>
              </a:rPr>
              <a:t>We do, however, feel it important that in intercultural matters you </a:t>
            </a:r>
            <a:r>
              <a:rPr lang="en-US" altLang="zh-CN" sz="2800" dirty="0">
                <a:solidFill>
                  <a:srgbClr val="FF0000"/>
                </a:solidFill>
              </a:rPr>
              <a:t>view compromise as a positive course of action</a:t>
            </a:r>
            <a:r>
              <a:rPr lang="en-US" altLang="zh-CN" sz="2800" dirty="0">
                <a:solidFill>
                  <a:srgbClr val="000000"/>
                </a:solidFill>
              </a:rPr>
              <a:t>, rather than a negative choice. And we do suggest that you </a:t>
            </a:r>
            <a:r>
              <a:rPr lang="en-US" altLang="zh-CN" sz="2800" dirty="0">
                <a:solidFill>
                  <a:srgbClr val="FF0000"/>
                </a:solidFill>
              </a:rPr>
              <a:t>approach intercultural conflict with an open mind </a:t>
            </a:r>
            <a:r>
              <a:rPr lang="en-US" altLang="zh-CN" sz="2800" dirty="0">
                <a:solidFill>
                  <a:srgbClr val="000000"/>
                </a:solidFill>
              </a:rPr>
              <a:t>rather than a win-lose perspective. Take the time to consider the other party’s perception of the situation, the importance of the issue, and the possible reaction to your response. In other words, </a:t>
            </a:r>
            <a:r>
              <a:rPr lang="en-US" altLang="zh-CN" sz="2800" dirty="0">
                <a:solidFill>
                  <a:srgbClr val="FF0000"/>
                </a:solidFill>
              </a:rPr>
              <a:t>try to develop sensitivity to cultural differences and how they affect interaction</a:t>
            </a:r>
            <a:r>
              <a:rPr lang="en-US" altLang="zh-CN" sz="2800" dirty="0">
                <a:solidFill>
                  <a:srgbClr val="000000"/>
                </a:solidFill>
              </a:rPr>
              <a:t>.  </a:t>
            </a:r>
            <a:r>
              <a:rPr lang="en-US" altLang="zh-CN" sz="2800" dirty="0">
                <a:highlight>
                  <a:srgbClr val="FFFF00"/>
                </a:highlight>
              </a:rPr>
              <a:t>P24</a:t>
            </a:r>
            <a:endParaRPr lang="zh-CN" altLang="en-US" sz="2800" dirty="0">
              <a:highlight>
                <a:srgbClr val="FFFF00"/>
              </a:highlight>
            </a:endParaRPr>
          </a:p>
        </p:txBody>
      </p:sp>
    </p:spTree>
    <p:extLst>
      <p:ext uri="{BB962C8B-B14F-4D97-AF65-F5344CB8AC3E}">
        <p14:creationId xmlns:p14="http://schemas.microsoft.com/office/powerpoint/2010/main" val="847478248"/>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1.4.4  Compromise in intellectual communication</a:t>
            </a:r>
          </a:p>
        </p:txBody>
      </p:sp>
      <p:sp>
        <p:nvSpPr>
          <p:cNvPr id="5" name="TextBox 4"/>
          <p:cNvSpPr txBox="1"/>
          <p:nvPr/>
        </p:nvSpPr>
        <p:spPr>
          <a:xfrm>
            <a:off x="83197" y="2598045"/>
            <a:ext cx="9060803" cy="3108543"/>
          </a:xfrm>
          <a:prstGeom prst="rect">
            <a:avLst/>
          </a:prstGeom>
          <a:noFill/>
        </p:spPr>
        <p:txBody>
          <a:bodyPr wrap="square" rtlCol="0">
            <a:spAutoFit/>
          </a:bodyPr>
          <a:lstStyle/>
          <a:p>
            <a:pPr algn="just"/>
            <a:r>
              <a:rPr lang="en-US" altLang="zh-CN" sz="2800" dirty="0">
                <a:solidFill>
                  <a:srgbClr val="000000"/>
                </a:solidFill>
              </a:rPr>
              <a:t>However, situations will likely arise where personal feelings, attitudes, beliefs, and values will place you </a:t>
            </a:r>
            <a:r>
              <a:rPr lang="en-US" altLang="zh-CN" sz="2800" dirty="0">
                <a:solidFill>
                  <a:srgbClr val="FF0000"/>
                </a:solidFill>
              </a:rPr>
              <a:t>in an uncompromising position</a:t>
            </a:r>
            <a:r>
              <a:rPr lang="en-US" altLang="zh-CN" sz="2800" dirty="0">
                <a:solidFill>
                  <a:srgbClr val="000000"/>
                </a:solidFill>
              </a:rPr>
              <a:t>. When those situations arise, we suggest that you </a:t>
            </a:r>
            <a:r>
              <a:rPr lang="en-US" altLang="zh-CN" sz="2800" dirty="0">
                <a:solidFill>
                  <a:srgbClr val="FF0000"/>
                </a:solidFill>
              </a:rPr>
              <a:t>make your position clear to the other participants in a clear and sincere manner</a:t>
            </a:r>
            <a:r>
              <a:rPr lang="en-US" altLang="zh-CN" sz="2800" dirty="0">
                <a:solidFill>
                  <a:srgbClr val="000000"/>
                </a:solidFill>
              </a:rPr>
              <a:t>.</a:t>
            </a:r>
          </a:p>
          <a:p>
            <a:pPr algn="just"/>
            <a:endParaRPr lang="en-US" altLang="zh-CN" sz="2800" dirty="0">
              <a:solidFill>
                <a:srgbClr val="000000"/>
              </a:solidFill>
            </a:endParaRPr>
          </a:p>
          <a:p>
            <a:pPr algn="just"/>
            <a:r>
              <a:rPr lang="en-US" altLang="zh-CN" sz="2800" dirty="0">
                <a:highlight>
                  <a:srgbClr val="FFFF00"/>
                </a:highlight>
              </a:rPr>
              <a:t>P24</a:t>
            </a:r>
            <a:endParaRPr lang="zh-CN" altLang="en-US" sz="2800" dirty="0">
              <a:highlight>
                <a:srgbClr val="FFFF00"/>
              </a:highlight>
            </a:endParaRPr>
          </a:p>
        </p:txBody>
      </p:sp>
    </p:spTree>
    <p:extLst>
      <p:ext uri="{BB962C8B-B14F-4D97-AF65-F5344CB8AC3E}">
        <p14:creationId xmlns:p14="http://schemas.microsoft.com/office/powerpoint/2010/main" val="2957178280"/>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1" name="副标题 3074"/>
          <p:cNvSpPr>
            <a:spLocks noGrp="1"/>
          </p:cNvSpPr>
          <p:nvPr>
            <p:ph type="subTitle" idx="1"/>
          </p:nvPr>
        </p:nvSpPr>
        <p:spPr>
          <a:xfrm>
            <a:off x="1454797" y="3088545"/>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矩形 1"/>
          <p:cNvSpPr/>
          <p:nvPr/>
        </p:nvSpPr>
        <p:spPr>
          <a:xfrm>
            <a:off x="83197" y="715634"/>
            <a:ext cx="9144000" cy="584775"/>
          </a:xfrm>
          <a:prstGeom prst="rect">
            <a:avLst/>
          </a:prstGeom>
        </p:spPr>
        <p:txBody>
          <a:bodyPr wrap="square">
            <a:spAutoFit/>
          </a:bodyPr>
          <a:lstStyle/>
          <a:p>
            <a:pPr algn="just" eaLnBrk="0" hangingPunct="0">
              <a:spcAft>
                <a:spcPts val="0"/>
              </a:spcAft>
            </a:pPr>
            <a:r>
              <a:rPr lang="en-US" altLang="zh-CN" sz="3200" b="1" kern="100" dirty="0">
                <a:solidFill>
                  <a:srgbClr val="000000"/>
                </a:solidFill>
                <a:latin typeface="Times New Roman" pitchFamily="18" charset="0"/>
                <a:ea typeface="宋体" panose="02010600030101010101" pitchFamily="2" charset="-122"/>
                <a:cs typeface="Times New Roman" pitchFamily="18" charset="0"/>
              </a:rPr>
              <a:t>1.4.5  Communication is not the universal solution</a:t>
            </a:r>
          </a:p>
        </p:txBody>
      </p:sp>
      <p:sp>
        <p:nvSpPr>
          <p:cNvPr id="5" name="TextBox 4"/>
          <p:cNvSpPr txBox="1"/>
          <p:nvPr/>
        </p:nvSpPr>
        <p:spPr>
          <a:xfrm>
            <a:off x="138061" y="2598043"/>
            <a:ext cx="8786483" cy="3046988"/>
          </a:xfrm>
          <a:prstGeom prst="rect">
            <a:avLst/>
          </a:prstGeom>
          <a:noFill/>
        </p:spPr>
        <p:txBody>
          <a:bodyPr wrap="square" rtlCol="0">
            <a:spAutoFit/>
          </a:bodyPr>
          <a:lstStyle/>
          <a:p>
            <a:pPr algn="just"/>
            <a:r>
              <a:rPr lang="en-US" altLang="zh-CN" sz="3200" dirty="0">
                <a:solidFill>
                  <a:srgbClr val="000000"/>
                </a:solidFill>
              </a:rPr>
              <a:t>Although we readily grant that communication is a valuable tool for resolving numerous interpersonal difficulties, we need to make it clear that </a:t>
            </a:r>
            <a:r>
              <a:rPr lang="en-US" altLang="zh-CN" sz="3200" dirty="0">
                <a:solidFill>
                  <a:srgbClr val="FF0000"/>
                </a:solidFill>
              </a:rPr>
              <a:t>communication cannot solve all problems</a:t>
            </a:r>
            <a:r>
              <a:rPr lang="en-US" altLang="zh-CN" sz="3200" dirty="0">
                <a:solidFill>
                  <a:srgbClr val="000000"/>
                </a:solidFill>
              </a:rPr>
              <a:t>. In fact, there are even occasions when communication may actually worsen the situation.  </a:t>
            </a:r>
            <a:r>
              <a:rPr lang="en-US" altLang="zh-CN" sz="3200" dirty="0">
                <a:highlight>
                  <a:srgbClr val="FFFF00"/>
                </a:highlight>
              </a:rPr>
              <a:t>P24</a:t>
            </a:r>
            <a:endParaRPr lang="zh-CN" altLang="en-US" sz="3200" dirty="0">
              <a:highlight>
                <a:srgbClr val="FFFF00"/>
              </a:highlight>
            </a:endParaRPr>
          </a:p>
        </p:txBody>
      </p:sp>
    </p:spTree>
    <p:extLst>
      <p:ext uri="{BB962C8B-B14F-4D97-AF65-F5344CB8AC3E}">
        <p14:creationId xmlns:p14="http://schemas.microsoft.com/office/powerpoint/2010/main" val="2960696838"/>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04530736"/>
      </p:ext>
    </p:extLst>
  </p:cSld>
  <p:clrMapOvr>
    <a:masterClrMapping/>
  </p:clrMapOvr>
  <p:transition>
    <p:random/>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自定义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2101</TotalTime>
  <Words>1463</Words>
  <Application>Microsoft Office PowerPoint</Application>
  <PresentationFormat>全屏显示(4:3)</PresentationFormat>
  <Paragraphs>126</Paragraphs>
  <Slides>27</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27</vt:i4>
      </vt:variant>
    </vt:vector>
  </HeadingPairs>
  <TitlesOfParts>
    <vt:vector size="34" baseType="lpstr">
      <vt:lpstr>等线</vt:lpstr>
      <vt:lpstr>庞门正道标题体</vt:lpstr>
      <vt:lpstr>微软雅黑</vt:lpstr>
      <vt:lpstr>Arial</vt:lpstr>
      <vt:lpstr>Times New Roman</vt:lpstr>
      <vt:lpstr>默认设计模板</vt:lpstr>
      <vt:lpstr>1_默认设计模板</vt:lpstr>
      <vt:lpstr>Chapter 1  Intercultural Communication:  A Requirement for the Interdependent Global Society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128</cp:revision>
  <dcterms:created xsi:type="dcterms:W3CDTF">2020-05-16T17:38:09Z</dcterms:created>
  <dcterms:modified xsi:type="dcterms:W3CDTF">2022-02-25T03:44:12Z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2052-2.2.0.3563</vt:lpwstr>
  </property>
</Properties>
</file>