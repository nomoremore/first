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4"/>
  </p:notesMasterIdLst>
  <p:sldIdLst>
    <p:sldId id="256" r:id="rId4"/>
    <p:sldId id="258" r:id="rId5"/>
    <p:sldId id="293" r:id="rId6"/>
    <p:sldId id="295" r:id="rId7"/>
    <p:sldId id="268" r:id="rId8"/>
    <p:sldId id="299" r:id="rId9"/>
    <p:sldId id="300" r:id="rId10"/>
    <p:sldId id="301" r:id="rId11"/>
    <p:sldId id="269" r:id="rId12"/>
    <p:sldId id="303" r:id="rId13"/>
    <p:sldId id="304" r:id="rId14"/>
    <p:sldId id="294" r:id="rId15"/>
    <p:sldId id="310" r:id="rId16"/>
    <p:sldId id="311" r:id="rId17"/>
    <p:sldId id="309" r:id="rId18"/>
    <p:sldId id="278"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7" r:id="rId35"/>
    <p:sldId id="338" r:id="rId36"/>
    <p:sldId id="339" r:id="rId37"/>
    <p:sldId id="340" r:id="rId38"/>
    <p:sldId id="341" r:id="rId39"/>
    <p:sldId id="280" r:id="rId40"/>
    <p:sldId id="281" r:id="rId41"/>
    <p:sldId id="333" r:id="rId4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8" d="100"/>
          <a:sy n="78" d="100"/>
        </p:scale>
        <p:origin x="152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notesMaster" Target="notesMasters/notes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eaLnBrk="1" fontAlgn="base" hangingPunct="1"/>
            <a:fld id="{9A0DB2DC-4C9A-4742-B13C-FB6460FD3503}" type="slidenum">
              <a:rPr lang="zh-CN" altLang="en-US" sz="1200" strike="noStrike" noProof="1" dirty="0">
                <a:latin typeface="Arial" panose="020B0604020202090204" pitchFamily="34" charset="0"/>
                <a:ea typeface="宋体"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a:ln>
            <a:solidFill>
              <a:srgbClr val="000000"/>
            </a:solidFill>
            <a:miter/>
          </a:ln>
        </p:spPr>
      </p:sp>
      <p:sp>
        <p:nvSpPr>
          <p:cNvPr id="53250" name="备注占位符 2"/>
          <p:cNvSpPr>
            <a:spLocks noGrp="1"/>
          </p:cNvSpPr>
          <p:nvPr>
            <p:ph type="body"/>
          </p:nvPr>
        </p:nvSpPr>
        <p:spPr>
          <a:noFill/>
          <a:ln>
            <a:noFill/>
          </a:ln>
        </p:spPr>
        <p:txBody>
          <a:bodyPr wrap="square" lIns="91440" tIns="45720" rIns="91440" bIns="45720" anchor="t"/>
          <a:p>
            <a:pPr lvl="0"/>
            <a:endParaRPr lang="zh-CN" altLang="en-US" dirty="0"/>
          </a:p>
        </p:txBody>
      </p:sp>
      <p:sp>
        <p:nvSpPr>
          <p:cNvPr id="53251"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p>
            <a:pPr lvl="0" indent="0" algn="r" eaLnBrk="1" hangingPunct="1"/>
            <a:r>
              <a:rPr lang="zh-CN" altLang="en-US" sz="1200" dirty="0">
                <a:latin typeface="Arial" panose="020B0604020202090204" pitchFamily="34" charset="0"/>
                <a:ea typeface="宋体" pitchFamily="2" charset="-122"/>
              </a:rPr>
              <a:t>*</a:t>
            </a:r>
            <a:endParaRPr lang="zh-CN" altLang="en-US" sz="1200" dirty="0">
              <a:latin typeface="Arial" panose="020B0604020202090204"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幻灯片图像占位符 1"/>
          <p:cNvSpPr>
            <a:spLocks noGrp="1" noRot="1" noChangeAspect="1" noTextEdit="1"/>
          </p:cNvSpPr>
          <p:nvPr>
            <p:ph type="sldImg"/>
          </p:nvPr>
        </p:nvSpPr>
        <p:spPr>
          <a:ln>
            <a:solidFill>
              <a:srgbClr val="000000"/>
            </a:solidFill>
            <a:miter/>
          </a:ln>
        </p:spPr>
      </p:sp>
      <p:sp>
        <p:nvSpPr>
          <p:cNvPr id="57346" name="备注占位符 2"/>
          <p:cNvSpPr>
            <a:spLocks noGrp="1"/>
          </p:cNvSpPr>
          <p:nvPr>
            <p:ph type="body"/>
          </p:nvPr>
        </p:nvSpPr>
        <p:spPr>
          <a:noFill/>
          <a:ln>
            <a:noFill/>
          </a:ln>
        </p:spPr>
        <p:txBody>
          <a:bodyPr wrap="square" lIns="91440" tIns="45720" rIns="91440" bIns="45720" anchor="t"/>
          <a:p>
            <a:pPr lvl="0"/>
            <a:endParaRPr lang="zh-CN" altLang="en-US" dirty="0"/>
          </a:p>
        </p:txBody>
      </p:sp>
      <p:sp>
        <p:nvSpPr>
          <p:cNvPr id="57347" name="灯片编号占位符 3"/>
          <p:cNvSpPr txBox="1">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p>
            <a:pPr lvl="0" indent="0" algn="r" eaLnBrk="1" hangingPunct="1"/>
            <a:r>
              <a:rPr lang="zh-CN" altLang="en-US" sz="1200" dirty="0">
                <a:latin typeface="Arial" panose="020B0604020202090204" pitchFamily="34" charset="0"/>
                <a:ea typeface="宋体" pitchFamily="2" charset="-122"/>
              </a:rPr>
              <a:t>*</a:t>
            </a:r>
            <a:endParaRPr lang="zh-CN" altLang="en-US" sz="1200" dirty="0">
              <a:latin typeface="Arial" panose="020B0604020202090204"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altLang="zh-CN" strike="noStrike" noProof="1"/>
              <a:t>Click to edit Master title style</a:t>
            </a:r>
            <a:endParaRPr lang="en-US" altLang="zh-CN" strike="noStrike" noProof="1"/>
          </a:p>
        </p:txBody>
      </p:sp>
      <p:sp>
        <p:nvSpPr>
          <p:cNvPr id="3" name="Content Placeholder 2"/>
          <p:cNvSpPr>
            <a:spLocks noGrp="1"/>
          </p:cNvSpPr>
          <p:nvPr>
            <p:ph idx="1"/>
          </p:nvPr>
        </p:nvSpPr>
        <p:spPr/>
        <p:txBody>
          <a:bodyPr/>
          <a:lstStyle>
            <a:lvl5pPr>
              <a:defRPr/>
            </a:lvl5pPr>
          </a:lstStyle>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strike="noStrike" noProof="1" dirty="0"/>
          </a:p>
        </p:txBody>
      </p:sp>
      <p:sp>
        <p:nvSpPr>
          <p:cNvPr id="7" name="Date Placeholder 3"/>
          <p:cNvSpPr>
            <a:spLocks noGrp="1"/>
          </p:cNvSpPr>
          <p:nvPr>
            <p:ph type="dt" sz="half" idx="2"/>
          </p:nvPr>
        </p:nvSpPr>
        <p:spPr>
          <a:xfrm>
            <a:off x="457200" y="6245225"/>
            <a:ext cx="2133600" cy="476250"/>
          </a:xfrm>
          <a:prstGeom prst="rect">
            <a:avLst/>
          </a:prstGeom>
          <a:noFill/>
          <a:ln w="9525">
            <a:noFill/>
            <a:miter/>
          </a:ln>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8" name="Footer Placeholder 4"/>
          <p:cNvSpPr>
            <a:spLocks noGrp="1"/>
          </p:cNvSpPr>
          <p:nvPr>
            <p:ph type="ftr" sz="quarter" idx="3"/>
          </p:nvPr>
        </p:nvSpPr>
        <p:spPr>
          <a:xfrm>
            <a:off x="3124200" y="6245225"/>
            <a:ext cx="2895600" cy="476250"/>
          </a:xfrm>
          <a:prstGeom prst="rect">
            <a:avLst/>
          </a:prstGeom>
          <a:noFill/>
          <a:ln w="9525">
            <a:noFill/>
            <a:miter/>
          </a:ln>
        </p:spPr>
        <p:txBody>
          <a:bodyPr/>
          <a:lstStyle>
            <a:lvl1pPr>
              <a:defRPr/>
            </a:lvl1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9" name="Slide Number Placeholder 5"/>
          <p:cNvSpPr>
            <a:spLocks noGrp="1"/>
          </p:cNvSpPr>
          <p:nvPr>
            <p:ph type="sldNum" sz="quarter" idx="4"/>
          </p:nvPr>
        </p:nvSpPr>
        <p:spPr>
          <a:xfrm>
            <a:off x="6553200" y="6245225"/>
            <a:ext cx="2133600" cy="476250"/>
          </a:xfrm>
          <a:prstGeom prst="rect">
            <a:avLst/>
          </a:prstGeom>
          <a:noFill/>
          <a:ln w="9525">
            <a:noFill/>
            <a:miter/>
          </a:ln>
        </p:spPr>
        <p:txBody>
          <a:bodyPr vert="horz" wrap="square" lIns="91440" tIns="45720" rIns="91440" bIns="45720" numCol="1" anchor="t" anchorCtr="0" compatLnSpc="1"/>
          <a:p>
            <a:pPr algn="r" fontAlgn="base"/>
            <a:fld id="{9A0DB2DC-4C9A-4742-B13C-FB6460FD3503}" type="slidenum">
              <a:rPr lang="en-US" altLang="zh-CN" strike="noStrike" noProof="1" dirty="0">
                <a:latin typeface="Arial" panose="020B0604020202090204" pitchFamily="34" charset="0"/>
                <a:ea typeface="宋体" pitchFamily="2" charset="-122"/>
                <a:cs typeface="+mn-cs"/>
              </a:rPr>
            </a:fld>
            <a:endParaRPr lang="en-US" altLang="zh-CN"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p>
            <a:pPr lvl="0"/>
            <a:r>
              <a:rPr lang="zh-CN" altLang="zh-CN" dirty="0"/>
              <a:t>单击此处编辑母版标题样式</a:t>
            </a:r>
            <a:endParaRPr lang="zh-CN" altLang="zh-CN"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p>
            <a:pPr lvl="0" indent="-342900"/>
            <a:r>
              <a:rPr lang="zh-CN" altLang="zh-CN" dirty="0"/>
              <a:t>单击此处编辑母版文本样式</a:t>
            </a:r>
            <a:endParaRPr lang="zh-CN" altLang="zh-CN" dirty="0"/>
          </a:p>
          <a:p>
            <a:pPr lvl="1" indent="-285750"/>
            <a:r>
              <a:rPr lang="zh-CN" altLang="zh-CN" dirty="0"/>
              <a:t>第二级</a:t>
            </a:r>
            <a:endParaRPr lang="zh-CN" altLang="zh-CN" dirty="0"/>
          </a:p>
          <a:p>
            <a:pPr lvl="2" indent="-228600"/>
            <a:r>
              <a:rPr lang="zh-CN" altLang="zh-CN" dirty="0"/>
              <a:t>第三级</a:t>
            </a:r>
            <a:endParaRPr lang="zh-CN" altLang="zh-CN" dirty="0"/>
          </a:p>
          <a:p>
            <a:pPr lvl="3" indent="-228600"/>
            <a:r>
              <a:rPr lang="zh-CN" altLang="zh-CN" dirty="0"/>
              <a:t>第四级</a:t>
            </a:r>
            <a:endParaRPr lang="zh-CN" altLang="zh-CN" dirty="0"/>
          </a:p>
          <a:p>
            <a:pPr lvl="4" indent="-228600"/>
            <a:r>
              <a:rPr lang="zh-CN" altLang="zh-CN" dirty="0"/>
              <a:t>第五级</a:t>
            </a:r>
            <a:endParaRPr lang="zh-CN" altLang="zh-CN"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fontAlgn="base" hangingPunct="1"/>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 1025"/>
          <p:cNvSpPr>
            <a:spLocks noGrp="1"/>
          </p:cNvSpPr>
          <p:nvPr>
            <p:ph type="title"/>
          </p:nvPr>
        </p:nvSpPr>
        <p:spPr>
          <a:xfrm>
            <a:off x="457200" y="274638"/>
            <a:ext cx="82296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457200" y="6245225"/>
            <a:ext cx="2133600" cy="476250"/>
          </a:xfrm>
          <a:prstGeom prst="rect">
            <a:avLst/>
          </a:prstGeom>
          <a:noFill/>
          <a:ln w="9525">
            <a:noFill/>
            <a:miter/>
          </a:ln>
        </p:spPr>
        <p:txBody>
          <a:bodyPr/>
          <a:lstStyle>
            <a:lvl1pPr>
              <a:buFont typeface="Arial" panose="020B0604020202090204" pitchFamily="34" charset="0"/>
              <a:buNone/>
              <a:defRPr sz="1400" noProof="1">
                <a:latin typeface="Arial" panose="020B0604020202090204" pitchFamily="34" charset="0"/>
              </a:defRPr>
            </a:lvl1pPr>
          </a:lstStyle>
          <a:p>
            <a:pPr marL="0" marR="0" lvl="0" indent="0" algn="l"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miter/>
          </a:ln>
        </p:spPr>
        <p:txBody>
          <a:bodyPr/>
          <a:lstStyle>
            <a:lvl1pPr algn="ctr">
              <a:buFont typeface="Arial" panose="020B0604020202090204" pitchFamily="34" charset="0"/>
              <a:buNone/>
              <a:defRPr sz="1400" noProof="1">
                <a:latin typeface="Arial" panose="020B0604020202090204" pitchFamily="34" charset="0"/>
              </a:defRPr>
            </a:lvl1pPr>
          </a:lstStyle>
          <a:p>
            <a:pPr marL="0" marR="0" lvl="0" indent="0" algn="ctr" defTabSz="914400"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zh-CN" sz="1400" b="0" i="0" u="none" strike="noStrike" kern="1200" cap="none" spc="0" normalizeH="0" baseline="0" noProof="1">
              <a:ln>
                <a:noFill/>
              </a:ln>
              <a:solidFill>
                <a:schemeClr val="tx1"/>
              </a:solidFill>
              <a:effectLst/>
              <a:uLnTx/>
              <a:uFillTx/>
              <a:latin typeface="Arial" panose="020B0604020202090204" pitchFamily="34" charset="0"/>
              <a:ea typeface="宋体" pitchFamily="2" charset="-122"/>
              <a:cs typeface="+mn-cs"/>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miter/>
          </a:ln>
        </p:spPr>
        <p:txBody>
          <a:bodyPr vert="horz" wrap="square" lIns="91440" tIns="45720" rIns="91440" bIns="45720" numCol="1" anchor="t" anchorCtr="0" compatLnSpc="1"/>
          <a:lstStyle>
            <a:lvl1pPr algn="r">
              <a:defRPr sz="1400"/>
            </a:lvl1pPr>
          </a:lstStyle>
          <a:p>
            <a:pPr lvl="0" fontAlgn="base"/>
            <a:fld id="{9A0DB2DC-4C9A-4742-B13C-FB6460FD3503}" type="slidenum">
              <a:rPr lang="zh-CN" altLang="zh-CN" strike="noStrike" noProof="1" dirty="0">
                <a:latin typeface="Arial" panose="020B0604020202090204" pitchFamily="34" charset="0"/>
                <a:ea typeface="宋体" pitchFamily="2" charset="-122"/>
                <a:cs typeface="+mn-cs"/>
              </a:rPr>
            </a:fld>
            <a:endParaRPr lang="zh-CN" altLang="zh-CN" strike="noStrike" noProof="1" dirty="0">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charRg st="0" end="1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7">
                                            <p:txEl>
                                              <p:charRg st="13" end="1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7">
                                            <p:txEl>
                                              <p:charRg st="17" end="2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7">
                                            <p:txEl>
                                              <p:charRg st="21" end="2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7">
                                            <p:txEl>
                                              <p:charRg st="25" end="2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9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hyperlink" Target="http://www.chinadaily.com.cn/china/2015-06/01/content_20871762.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ctrTitle"/>
          </p:nvPr>
        </p:nvSpPr>
        <p:spPr>
          <a:xfrm>
            <a:off x="685800" y="2130425"/>
            <a:ext cx="7772400" cy="1470025"/>
          </a:xfrm>
          <a:ln/>
        </p:spPr>
        <p:txBody>
          <a:bodyPr vert="horz" wrap="square" lIns="91440" tIns="45720" rIns="91440" bIns="45720" anchor="ctr"/>
          <a:p>
            <a:pPr eaLnBrk="1" hangingPunct="1"/>
            <a:r>
              <a:rPr lang="en-US" altLang="zh-CN" sz="4400" b="1" kern="1200" dirty="0">
                <a:latin typeface="+mj-lt"/>
                <a:ea typeface="+mj-ea"/>
                <a:cs typeface="+mj-cs"/>
              </a:rPr>
              <a:t>Unit 6</a:t>
            </a:r>
            <a:endParaRPr lang="zh-CN" altLang="zh-CN" sz="4400" b="1" kern="1200" dirty="0">
              <a:latin typeface="+mj-lt"/>
              <a:ea typeface="+mj-ea"/>
              <a:cs typeface="+mj-cs"/>
            </a:endParaRPr>
          </a:p>
        </p:txBody>
      </p:sp>
      <p:sp>
        <p:nvSpPr>
          <p:cNvPr id="5122" name="Rectangle 3"/>
          <p:cNvSpPr>
            <a:spLocks noGrp="1"/>
          </p:cNvSpPr>
          <p:nvPr>
            <p:ph type="subTitle" idx="1"/>
          </p:nvPr>
        </p:nvSpPr>
        <p:spPr>
          <a:xfrm>
            <a:off x="1371600" y="3886200"/>
            <a:ext cx="6400800" cy="1752600"/>
          </a:xfrm>
          <a:ln/>
        </p:spPr>
        <p:txBody>
          <a:bodyPr vert="horz" wrap="square" lIns="91440" tIns="45720" rIns="91440" bIns="45720" anchor="t"/>
          <a:p>
            <a:pPr eaLnBrk="1" hangingPunct="1"/>
            <a:r>
              <a:rPr lang="en-US" altLang="zh-CN" sz="3200" kern="1200" dirty="0">
                <a:latin typeface="Times New Roman" panose="02020503050405090304" pitchFamily="18" charset="0"/>
                <a:ea typeface="+mn-ea"/>
                <a:cs typeface="+mn-cs"/>
              </a:rPr>
              <a:t>Biotechnology</a:t>
            </a:r>
            <a:endParaRPr lang="zh-CN" altLang="zh-CN" sz="3200" kern="1200" dirty="0">
              <a:latin typeface="Times New Roman" panose="02020503050405090304" pitchFamily="18" charset="0"/>
              <a:ea typeface="Times New Roman" panose="02020503050405090304" pitchFamily="18" charset="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146" name="标题 1"/>
          <p:cNvSpPr>
            <a:spLocks noGrp="1"/>
          </p:cNvSpPr>
          <p:nvPr>
            <p:ph type="title"/>
          </p:nvPr>
        </p:nvSpPr>
        <p:spPr>
          <a:ln/>
        </p:spPr>
        <p:txBody>
          <a:bodyPr vert="horz" wrap="square" lIns="91440" tIns="45720" rIns="91440" bIns="45720" anchor="ctr"/>
          <a:p>
            <a:pPr eaLnBrk="1" hangingPunct="1"/>
            <a:r>
              <a:rPr lang="en-US" altLang="zh-CN" dirty="0"/>
              <a:t>Warming up</a:t>
            </a:r>
            <a:endParaRPr lang="zh-CN" altLang="en-US" dirty="0"/>
          </a:p>
        </p:txBody>
      </p:sp>
      <p:sp>
        <p:nvSpPr>
          <p:cNvPr id="6147" name="内容占位符 2"/>
          <p:cNvSpPr>
            <a:spLocks noGrp="1"/>
          </p:cNvSpPr>
          <p:nvPr>
            <p:ph idx="1"/>
          </p:nvPr>
        </p:nvSpPr>
        <p:spPr>
          <a:ln/>
        </p:spPr>
        <p:txBody>
          <a:bodyPr vert="horz" wrap="square" lIns="91440" tIns="45720" rIns="91440" bIns="45720" anchor="t"/>
          <a:p>
            <a:pPr eaLnBrk="1" hangingPunct="1"/>
            <a:r>
              <a:rPr lang="en-US" altLang="zh-CN" dirty="0">
                <a:latin typeface="Times New Roman" panose="02020503050405090304" pitchFamily="18" charset="0"/>
              </a:rPr>
              <a:t>What will you tell your children about COVID-19 breaking out in 2020 when you become parents?</a:t>
            </a:r>
            <a:endParaRPr lang="en-US" altLang="zh-CN" dirty="0">
              <a:latin typeface="Times New Roman" panose="02020503050405090304" pitchFamily="18" charset="0"/>
            </a:endParaRPr>
          </a:p>
          <a:p>
            <a:pPr eaLnBrk="1" hangingPunct="1"/>
            <a:r>
              <a:rPr lang="en-US" altLang="zh-CN" dirty="0">
                <a:latin typeface="Times New Roman" panose="02020503050405090304" pitchFamily="18" charset="0"/>
              </a:rPr>
              <a:t>What are the lessons we can learn from the outbreak, spread, and control of the pandemic and the fight against it?</a:t>
            </a:r>
            <a:endParaRPr lang="en-US" altLang="zh-CN" dirty="0">
              <a:latin typeface="Times New Roman" panose="02020503050405090304" pitchFamily="18" charset="0"/>
              <a:ea typeface="Times New Roman" panose="0202050305040509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
          <p:cNvSpPr>
            <a:spLocks noGrp="1"/>
          </p:cNvSpPr>
          <p:nvPr>
            <p:ph type="title"/>
          </p:nvPr>
        </p:nvSpPr>
        <p:spPr>
          <a:ln/>
        </p:spPr>
        <p:txBody>
          <a:bodyPr vert="horz" wrap="square" lIns="91440" tIns="45720" rIns="91440" bIns="45720" anchor="ctr"/>
          <a:p>
            <a:endParaRPr lang="zh-CN" altLang="en-US" dirty="0"/>
          </a:p>
        </p:txBody>
      </p:sp>
      <p:sp>
        <p:nvSpPr>
          <p:cNvPr id="7170" name="内容占位符 2"/>
          <p:cNvSpPr>
            <a:spLocks noGrp="1"/>
          </p:cNvSpPr>
          <p:nvPr>
            <p:ph idx="1"/>
          </p:nvPr>
        </p:nvSpPr>
        <p:spPr>
          <a:ln/>
        </p:spPr>
        <p:txBody>
          <a:bodyPr vert="horz" wrap="square" lIns="91440" tIns="45720" rIns="91440" bIns="45720" anchor="t"/>
          <a:p>
            <a:r>
              <a:rPr lang="en-US" altLang="zh-CN" dirty="0">
                <a:latin typeface="Times New Roman" panose="02020503050405090304" pitchFamily="18" charset="0"/>
              </a:rPr>
              <a:t>Listen to the following news about COVID-19, and do the following exercise.</a:t>
            </a:r>
            <a:endParaRPr lang="zh-CN" altLang="en-US" dirty="0">
              <a:latin typeface="Times New Roman" panose="02020503050405090304" pitchFamily="18" charset="0"/>
            </a:endParaRP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title"/>
          </p:nvPr>
        </p:nvSpPr>
        <p:spPr>
          <a:ln/>
        </p:spPr>
        <p:txBody>
          <a:bodyPr vert="horz" wrap="square" lIns="91440" tIns="45720" rIns="91440" bIns="45720" anchor="ctr"/>
          <a:p>
            <a:r>
              <a:rPr lang="en-US" altLang="zh-CN" dirty="0"/>
              <a:t>Fill in the blanks</a:t>
            </a:r>
            <a:endParaRPr lang="zh-CN" altLang="en-US" dirty="0"/>
          </a:p>
        </p:txBody>
      </p:sp>
      <p:sp>
        <p:nvSpPr>
          <p:cNvPr id="8194" name="内容占位符 2"/>
          <p:cNvSpPr>
            <a:spLocks noGrp="1"/>
          </p:cNvSpPr>
          <p:nvPr>
            <p:ph idx="1"/>
          </p:nvPr>
        </p:nvSpPr>
        <p:spPr>
          <a:xfrm>
            <a:off x="481013" y="1414463"/>
            <a:ext cx="8412162" cy="4525962"/>
          </a:xfrm>
          <a:ln/>
        </p:spPr>
        <p:txBody>
          <a:bodyPr vert="horz" wrap="square" lIns="91440" tIns="45720" rIns="91440" bIns="45720" anchor="t"/>
          <a:p>
            <a:pPr>
              <a:lnSpc>
                <a:spcPct val="150000"/>
              </a:lnSpc>
            </a:pPr>
            <a:r>
              <a:rPr lang="en-US" altLang="zh-CN" sz="2400" dirty="0">
                <a:latin typeface="Times New Roman" panose="02020503050405090304" pitchFamily="18" charset="0"/>
              </a:rPr>
              <a:t>What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to get much of this country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in 100 days? President Biden promised 100 million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which is an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And it also involves supply. You need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to distribute. Pfizer and Moderna each promise to deliver 100 million doses by the end of March. But we've learned the companies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NPR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correspondent Sydney Lupkin is on the line. </a:t>
            </a:r>
            <a:endParaRPr lang="zh-CN" altLang="en-US" sz="2400"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90" name="标题 1"/>
          <p:cNvSpPr>
            <a:spLocks noGrp="1"/>
          </p:cNvSpPr>
          <p:nvPr>
            <p:ph type="title"/>
          </p:nvPr>
        </p:nvSpPr>
        <p:spPr>
          <a:ln/>
        </p:spPr>
        <p:txBody>
          <a:bodyPr vert="horz" wrap="square" lIns="91440" tIns="45720" rIns="91440" bIns="45720" anchor="ctr"/>
          <a:p>
            <a:r>
              <a:rPr lang="en-US" altLang="zh-CN" dirty="0"/>
              <a:t>Listen to passage 1</a:t>
            </a:r>
            <a:endParaRPr lang="zh-CN" altLang="en-US" dirty="0"/>
          </a:p>
        </p:txBody>
      </p:sp>
      <p:sp>
        <p:nvSpPr>
          <p:cNvPr id="12291" name="内容占位符 2"/>
          <p:cNvSpPr>
            <a:spLocks noGrp="1"/>
          </p:cNvSpPr>
          <p:nvPr>
            <p:ph idx="1"/>
          </p:nvPr>
        </p:nvSpPr>
        <p:spPr>
          <a:ln/>
        </p:spPr>
        <p:txBody>
          <a:bodyPr vert="horz" wrap="square" lIns="91440" tIns="45720" rIns="91440" bIns="45720" anchor="t"/>
          <a:p>
            <a:pPr>
              <a:spcAft>
                <a:spcPts val="600"/>
              </a:spcAft>
            </a:pPr>
            <a:r>
              <a:rPr lang="en-US" altLang="zh-CN" sz="2800" dirty="0">
                <a:latin typeface="Times New Roman" panose="02020503050405090304" pitchFamily="18" charset="0"/>
              </a:rPr>
              <a:t>1. How many doses of vaccines did Pfizer and Moderna promise to deliver to the federal government by the end of March?</a:t>
            </a:r>
            <a:endParaRPr lang="en-US" altLang="zh-CN" sz="2800" dirty="0">
              <a:latin typeface="Times New Roman" panose="02020503050405090304" pitchFamily="18" charset="0"/>
            </a:endParaRPr>
          </a:p>
          <a:p>
            <a:pPr>
              <a:spcAft>
                <a:spcPts val="600"/>
              </a:spcAft>
            </a:pPr>
            <a:r>
              <a:rPr lang="en-US" altLang="zh-CN" sz="2800" dirty="0">
                <a:latin typeface="Times New Roman" panose="02020503050405090304" pitchFamily="18" charset="0"/>
              </a:rPr>
              <a:t>2. Are they able to hit the target by the end of March? Why?</a:t>
            </a:r>
            <a:endParaRPr lang="en-US" altLang="zh-CN" sz="2800" dirty="0">
              <a:latin typeface="Times New Roman" panose="02020503050405090304" pitchFamily="18" charset="0"/>
            </a:endParaRPr>
          </a:p>
          <a:p>
            <a:pPr>
              <a:spcAft>
                <a:spcPts val="600"/>
              </a:spcAft>
            </a:pPr>
            <a:r>
              <a:rPr lang="en-US" altLang="zh-CN" sz="2800" dirty="0">
                <a:latin typeface="Times New Roman" panose="02020503050405090304" pitchFamily="18" charset="0"/>
              </a:rPr>
              <a:t>3. What are the reactions of the government and the companies when they are told that it is impossible to reach the target?</a:t>
            </a:r>
            <a:endParaRPr lang="en-US" altLang="zh-CN" sz="2800" dirty="0">
              <a:latin typeface="Times New Roman" panose="02020503050405090304" pitchFamily="18" charset="0"/>
              <a:ea typeface="Times New Roman" panose="0202050305040509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1"/>
          <p:cNvSpPr>
            <a:spLocks noGrp="1"/>
          </p:cNvSpPr>
          <p:nvPr>
            <p:ph type="title"/>
          </p:nvPr>
        </p:nvSpPr>
        <p:spPr>
          <a:ln/>
        </p:spPr>
        <p:txBody>
          <a:bodyPr vert="horz" wrap="square" lIns="91440" tIns="45720" rIns="91440" bIns="45720" anchor="ctr"/>
          <a:p>
            <a:endParaRPr lang="zh-CN" altLang="en-US" dirty="0"/>
          </a:p>
        </p:txBody>
      </p:sp>
      <p:sp>
        <p:nvSpPr>
          <p:cNvPr id="13314" name="内容占位符 2"/>
          <p:cNvSpPr>
            <a:spLocks noGrp="1"/>
          </p:cNvSpPr>
          <p:nvPr>
            <p:ph idx="1"/>
          </p:nvPr>
        </p:nvSpPr>
        <p:spPr>
          <a:xfrm>
            <a:off x="457200" y="1600200"/>
            <a:ext cx="8435975" cy="4525963"/>
          </a:xfrm>
          <a:ln/>
        </p:spPr>
        <p:txBody>
          <a:bodyPr vert="horz" wrap="square" lIns="91440" tIns="45720" rIns="91440" bIns="45720" anchor="t"/>
          <a:p>
            <a:r>
              <a:rPr lang="en-US" altLang="zh-CN" sz="2800" b="1" dirty="0">
                <a:latin typeface="Times New Roman" panose="02020503050405090304" pitchFamily="18" charset="0"/>
              </a:rPr>
              <a:t>1. How many doses of vaccines did Pfizer and Moderna promise to deliver to the federal government by the end of March?</a:t>
            </a:r>
            <a:endParaRPr lang="en-US" altLang="zh-CN" sz="2800" b="1" dirty="0">
              <a:latin typeface="Times New Roman" panose="02020503050405090304" pitchFamily="18" charset="0"/>
            </a:endParaRPr>
          </a:p>
          <a:p>
            <a:endParaRPr lang="en-US" altLang="zh-CN" sz="2800" b="1" dirty="0">
              <a:latin typeface="Times New Roman" panose="02020503050405090304" pitchFamily="18" charset="0"/>
            </a:endParaRPr>
          </a:p>
          <a:p>
            <a:endParaRPr lang="zh-CN" altLang="en-US" sz="2800"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内容占位符 2"/>
          <p:cNvSpPr>
            <a:spLocks noGrp="1"/>
          </p:cNvSpPr>
          <p:nvPr>
            <p:ph idx="1"/>
          </p:nvPr>
        </p:nvSpPr>
        <p:spPr>
          <a:xfrm>
            <a:off x="457200" y="1268413"/>
            <a:ext cx="8229600" cy="4525962"/>
          </a:xfrm>
          <a:ln/>
        </p:spPr>
        <p:txBody>
          <a:bodyPr vert="horz" wrap="square" lIns="91440" tIns="45720" rIns="91440" bIns="45720" anchor="t"/>
          <a:p>
            <a:r>
              <a:rPr lang="en-US" altLang="zh-CN" sz="2800" b="1" dirty="0">
                <a:latin typeface="Times New Roman" panose="02020503050405090304" pitchFamily="18" charset="0"/>
              </a:rPr>
              <a:t>2. Are they able to hit the target by the end of March? Why?</a:t>
            </a:r>
            <a:endParaRPr lang="en-US" altLang="zh-CN" sz="2800" b="1" dirty="0">
              <a:latin typeface="Times New Roman" panose="02020503050405090304" pitchFamily="18" charset="0"/>
            </a:endParaRPr>
          </a:p>
          <a:p>
            <a:endParaRPr lang="zh-CN" altLang="en-US" sz="2800"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内容占位符 2"/>
          <p:cNvSpPr>
            <a:spLocks noGrp="1"/>
          </p:cNvSpPr>
          <p:nvPr>
            <p:ph idx="1"/>
          </p:nvPr>
        </p:nvSpPr>
        <p:spPr>
          <a:xfrm>
            <a:off x="457200" y="765175"/>
            <a:ext cx="8229600" cy="4525963"/>
          </a:xfrm>
          <a:ln/>
        </p:spPr>
        <p:txBody>
          <a:bodyPr vert="horz" wrap="square" lIns="91440" tIns="45720" rIns="91440" bIns="45720" anchor="t"/>
          <a:p>
            <a:r>
              <a:rPr lang="en-US" altLang="zh-CN" sz="2800" b="1" dirty="0">
                <a:latin typeface="Times New Roman" panose="02020503050405090304" pitchFamily="18" charset="0"/>
              </a:rPr>
              <a:t>3. What are the reactions of the government and the companies when they are told that it is impossible to reach the target?</a:t>
            </a:r>
            <a:endParaRPr lang="en-US" altLang="zh-CN" sz="2800" b="1" dirty="0">
              <a:latin typeface="Times New Roman" panose="02020503050405090304" pitchFamily="18" charset="0"/>
            </a:endParaRPr>
          </a:p>
          <a:p>
            <a:endParaRPr lang="zh-CN" altLang="en-US"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标题 1"/>
          <p:cNvSpPr>
            <a:spLocks noGrp="1"/>
          </p:cNvSpPr>
          <p:nvPr>
            <p:ph type="title"/>
          </p:nvPr>
        </p:nvSpPr>
        <p:spPr>
          <a:ln/>
        </p:spPr>
        <p:txBody>
          <a:bodyPr vert="horz" wrap="square" lIns="91440" tIns="45720" rIns="91440" bIns="45720" anchor="ctr"/>
          <a:p>
            <a:r>
              <a:rPr lang="en-US" altLang="zh-CN" dirty="0"/>
              <a:t>Reading</a:t>
            </a:r>
            <a:endParaRPr lang="zh-CN" altLang="en-US" dirty="0"/>
          </a:p>
        </p:txBody>
      </p:sp>
      <p:sp>
        <p:nvSpPr>
          <p:cNvPr id="16387" name="内容占位符 2"/>
          <p:cNvSpPr>
            <a:spLocks noGrp="1"/>
          </p:cNvSpPr>
          <p:nvPr>
            <p:ph idx="1"/>
          </p:nvPr>
        </p:nvSpPr>
        <p:spPr>
          <a:ln/>
        </p:spPr>
        <p:txBody>
          <a:bodyPr vert="horz" wrap="square" lIns="91440" tIns="45720" rIns="91440" bIns="45720" anchor="t"/>
          <a:p>
            <a:r>
              <a:rPr lang="en-US" altLang="zh-CN" sz="2800" b="1" dirty="0">
                <a:latin typeface="Times New Roman" panose="02020503050405090304" pitchFamily="18" charset="0"/>
              </a:rPr>
              <a:t>Read passage 1 and answer the following questions.</a:t>
            </a:r>
            <a:endParaRPr lang="en-US" altLang="zh-CN" sz="2800" b="1" dirty="0">
              <a:latin typeface="Times New Roman" panose="02020503050405090304" pitchFamily="18" charset="0"/>
            </a:endParaRPr>
          </a:p>
          <a:p>
            <a:r>
              <a:rPr lang="en-US" altLang="zh-CN" sz="2800" dirty="0">
                <a:latin typeface="Times New Roman" panose="02020503050405090304" pitchFamily="18" charset="0"/>
              </a:rPr>
              <a:t>1. How does the COVID-19 vaccine work to protect rhesus macaques from being infected?</a:t>
            </a:r>
            <a:endParaRPr lang="en-US" altLang="zh-CN" sz="2800" dirty="0">
              <a:latin typeface="Times New Roman" panose="02020503050405090304" pitchFamily="18" charset="0"/>
            </a:endParaRPr>
          </a:p>
          <a:p>
            <a:r>
              <a:rPr lang="en-US" altLang="zh-CN" sz="2800" dirty="0">
                <a:latin typeface="Times New Roman" panose="02020503050405090304" pitchFamily="18" charset="0"/>
              </a:rPr>
              <a:t>2. What are the signs of an effective immune response produced by the vaccine?</a:t>
            </a:r>
            <a:endParaRPr lang="en-US" altLang="zh-CN" sz="2800" dirty="0">
              <a:latin typeface="Times New Roman" panose="02020503050405090304" pitchFamily="18" charset="0"/>
            </a:endParaRPr>
          </a:p>
          <a:p>
            <a:endParaRPr lang="en-US" altLang="zh-CN" dirty="0"/>
          </a:p>
          <a:p>
            <a:endParaRPr lang="zh-CN" altLang="en-US" dirty="0"/>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内容占位符 2"/>
          <p:cNvSpPr>
            <a:spLocks noGrp="1"/>
          </p:cNvSpPr>
          <p:nvPr>
            <p:ph idx="1"/>
          </p:nvPr>
        </p:nvSpPr>
        <p:spPr>
          <a:xfrm>
            <a:off x="457200" y="1268413"/>
            <a:ext cx="8229600" cy="4525962"/>
          </a:xfrm>
          <a:ln/>
        </p:spPr>
        <p:txBody>
          <a:bodyPr vert="horz" wrap="square" lIns="91440" tIns="45720" rIns="91440" bIns="45720" anchor="t"/>
          <a:p>
            <a:r>
              <a:rPr lang="en-US" altLang="zh-CN" sz="2800" b="1" dirty="0">
                <a:latin typeface="Times New Roman" panose="02020503050405090304" pitchFamily="18" charset="0"/>
              </a:rPr>
              <a:t>1. How does the COVID-19 vaccine work to protect rhesus macaques from being infected?</a:t>
            </a:r>
            <a:endParaRPr lang="en-US" altLang="zh-CN" sz="2800" b="1" dirty="0">
              <a:latin typeface="Times New Roman" panose="02020503050405090304" pitchFamily="18" charset="0"/>
            </a:endParaRPr>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内容占位符 2"/>
          <p:cNvSpPr>
            <a:spLocks noGrp="1"/>
          </p:cNvSpPr>
          <p:nvPr>
            <p:ph idx="1"/>
          </p:nvPr>
        </p:nvSpPr>
        <p:spPr>
          <a:xfrm>
            <a:off x="457200" y="1052513"/>
            <a:ext cx="8229600" cy="4525962"/>
          </a:xfrm>
          <a:ln/>
        </p:spPr>
        <p:txBody>
          <a:bodyPr vert="horz" wrap="square" lIns="91440" tIns="45720" rIns="91440" bIns="45720" anchor="t"/>
          <a:p>
            <a:r>
              <a:rPr lang="en-US" altLang="zh-CN" sz="2800" b="1" dirty="0">
                <a:latin typeface="Times New Roman" panose="02020503050405090304" pitchFamily="18" charset="0"/>
              </a:rPr>
              <a:t>2. What are the signs of an effective immune response produced by the vaccine?</a:t>
            </a:r>
            <a:endParaRPr lang="en-US" altLang="zh-CN" sz="2800" b="1" dirty="0">
              <a:latin typeface="Times New Roman" panose="02020503050405090304" pitchFamily="18" charset="0"/>
            </a:endParaRPr>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ctrTitle"/>
          </p:nvPr>
        </p:nvSpPr>
        <p:spPr>
          <a:ln/>
        </p:spPr>
        <p:txBody>
          <a:bodyPr vert="horz" wrap="square" lIns="91440" tIns="45720" rIns="91440" bIns="45720" anchor="b"/>
          <a:p>
            <a:pPr/>
            <a:r>
              <a:rPr lang="en-US" altLang="zh-CN" kern="1200" dirty="0">
                <a:latin typeface="+mj-lt"/>
                <a:ea typeface="+mj-ea"/>
                <a:cs typeface="+mj-cs"/>
              </a:rPr>
              <a:t>Gene Editing</a:t>
            </a:r>
            <a:endParaRPr lang="zh-CN" altLang="en-US" kern="1200" dirty="0">
              <a:latin typeface="+mj-lt"/>
              <a:ea typeface="+mj-ea"/>
              <a:cs typeface="+mj-cs"/>
            </a:endParaRPr>
          </a:p>
        </p:txBody>
      </p:sp>
      <p:sp>
        <p:nvSpPr>
          <p:cNvPr id="22530" name="副标题 2"/>
          <p:cNvSpPr>
            <a:spLocks noGrp="1"/>
          </p:cNvSpPr>
          <p:nvPr>
            <p:ph type="subTitle" idx="1"/>
          </p:nvPr>
        </p:nvSpPr>
        <p:spPr>
          <a:ln/>
        </p:spPr>
        <p:txBody>
          <a:bodyPr vert="horz" wrap="square" lIns="91440" tIns="45720" rIns="91440" bIns="45720" anchor="t"/>
          <a:p>
            <a:pPr/>
            <a:endParaRPr lang="zh-CN" altLang="en-US" kern="1200" dirty="0">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内容占位符 2"/>
          <p:cNvSpPr>
            <a:spLocks noGrp="1"/>
          </p:cNvSpPr>
          <p:nvPr>
            <p:ph idx="1"/>
          </p:nvPr>
        </p:nvSpPr>
        <p:spPr>
          <a:xfrm>
            <a:off x="395288" y="620713"/>
            <a:ext cx="8640762" cy="4525962"/>
          </a:xfrm>
          <a:ln/>
        </p:spPr>
        <p:txBody>
          <a:bodyPr vert="horz" wrap="square" lIns="91440" tIns="45720" rIns="91440" bIns="45720" anchor="t"/>
          <a:p>
            <a:r>
              <a:rPr lang="en-US" altLang="zh-CN" sz="2400" dirty="0">
                <a:latin typeface="Times New Roman" panose="02020503050405090304" pitchFamily="18" charset="0"/>
              </a:rPr>
              <a:t>A Chinese scientist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the world's first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has been sentenced to three years in prison. That is according to</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today from China's official news agency, Xinhua. </a:t>
            </a:r>
            <a:r>
              <a:rPr lang="en-US" altLang="zh-CN" sz="2400" dirty="0">
                <a:latin typeface="Times New Roman" panose="02020503050405090304" pitchFamily="18" charset="0"/>
                <a:ea typeface="Times New Roman" panose="02020503050405090304" pitchFamily="18" charset="0"/>
              </a:rPr>
              <a:t>…</a:t>
            </a:r>
            <a:r>
              <a:rPr lang="en-US" altLang="zh-CN" sz="2400" dirty="0">
                <a:latin typeface="Times New Roman" panose="02020503050405090304" pitchFamily="18" charset="0"/>
              </a:rPr>
              <a:t> his name is He Jiankui. He's 35, and he was </a:t>
            </a:r>
            <a:r>
              <a:rPr lang="en-US" altLang="zh-CN" sz="2400" u="sng" dirty="0">
                <a:latin typeface="Times New Roman" panose="02020503050405090304" pitchFamily="18" charset="0"/>
              </a:rPr>
              <a:t>               </a:t>
            </a:r>
            <a:r>
              <a:rPr lang="en-US" altLang="zh-CN" sz="2400" dirty="0">
                <a:latin typeface="Times New Roman" panose="02020503050405090304" pitchFamily="18" charset="0"/>
              </a:rPr>
              <a:t> the Southern University of Science and Technology in Shenzhen, China. </a:t>
            </a:r>
            <a:endParaRPr lang="en-US" altLang="zh-CN" sz="2400" dirty="0">
              <a:latin typeface="Times New Roman" panose="02020503050405090304" pitchFamily="18" charset="0"/>
            </a:endParaRPr>
          </a:p>
          <a:p>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内容占位符 2"/>
          <p:cNvSpPr>
            <a:spLocks noGrp="1"/>
          </p:cNvSpPr>
          <p:nvPr>
            <p:ph idx="1"/>
          </p:nvPr>
        </p:nvSpPr>
        <p:spPr>
          <a:xfrm>
            <a:off x="228600" y="908050"/>
            <a:ext cx="8686800" cy="4525963"/>
          </a:xfrm>
          <a:ln/>
        </p:spPr>
        <p:txBody>
          <a:bodyPr vert="horz" wrap="square" lIns="91440" tIns="45720" rIns="91440" bIns="45720" anchor="t"/>
          <a:p>
            <a:r>
              <a:rPr lang="en-US" altLang="zh-CN" sz="2800" dirty="0">
                <a:solidFill>
                  <a:srgbClr val="333333"/>
                </a:solidFill>
                <a:latin typeface="Georgia" panose="02040502050405090303" pitchFamily="18" charset="0"/>
              </a:rPr>
              <a:t>You might remember he </a:t>
            </a:r>
            <a:r>
              <a:rPr lang="en-US" altLang="zh-CN" sz="2800" u="sng" dirty="0">
                <a:solidFill>
                  <a:srgbClr val="333333"/>
                </a:solidFill>
                <a:latin typeface="Georgia" panose="02040502050405090303" pitchFamily="18" charset="0"/>
              </a:rPr>
              <a:t>               </a:t>
            </a:r>
            <a:r>
              <a:rPr lang="en-US" altLang="zh-CN" sz="2800" dirty="0">
                <a:solidFill>
                  <a:srgbClr val="333333"/>
                </a:solidFill>
                <a:latin typeface="Georgia" panose="02040502050405090303" pitchFamily="18" charset="0"/>
              </a:rPr>
              <a:t>about a year ago when he announced he had created </a:t>
            </a:r>
            <a:r>
              <a:rPr lang="en-US" altLang="zh-CN" sz="2800" u="sng" dirty="0">
                <a:solidFill>
                  <a:srgbClr val="333333"/>
                </a:solidFill>
                <a:latin typeface="Georgia" panose="02040502050405090303" pitchFamily="18" charset="0"/>
              </a:rPr>
              <a:t>              </a:t>
            </a:r>
            <a:r>
              <a:rPr lang="en-US" altLang="zh-CN" sz="2800" dirty="0">
                <a:solidFill>
                  <a:srgbClr val="333333"/>
                </a:solidFill>
                <a:latin typeface="Georgia" panose="02040502050405090303" pitchFamily="18" charset="0"/>
              </a:rPr>
              <a:t>whose DNA he had edited in the lab...</a:t>
            </a:r>
            <a:endParaRPr lang="en-US" altLang="zh-CN" sz="2800" dirty="0">
              <a:solidFill>
                <a:srgbClr val="333333"/>
              </a:solidFill>
              <a:latin typeface="Georgia" panose="02040502050405090303" pitchFamily="18" charset="0"/>
            </a:endParaRPr>
          </a:p>
          <a:p>
            <a:endParaRPr lang="zh-CN"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ln/>
        </p:spPr>
        <p:txBody>
          <a:bodyPr vert="horz" wrap="square" lIns="91440" tIns="45720" rIns="91440" bIns="45720" anchor="ctr"/>
          <a:p>
            <a:r>
              <a:rPr lang="en-US" altLang="zh-CN" dirty="0"/>
              <a:t>Questions</a:t>
            </a:r>
            <a:endParaRPr lang="zh-CN" altLang="en-US" dirty="0"/>
          </a:p>
        </p:txBody>
      </p:sp>
      <p:sp>
        <p:nvSpPr>
          <p:cNvPr id="26626" name="内容占位符 2"/>
          <p:cNvSpPr>
            <a:spLocks noGrp="1"/>
          </p:cNvSpPr>
          <p:nvPr>
            <p:ph idx="1"/>
          </p:nvPr>
        </p:nvSpPr>
        <p:spPr>
          <a:ln/>
        </p:spPr>
        <p:txBody>
          <a:bodyPr vert="horz" wrap="square" lIns="91440" tIns="45720" rIns="91440" bIns="45720" anchor="t"/>
          <a:p>
            <a:r>
              <a:rPr lang="en-US" altLang="zh-CN" dirty="0">
                <a:latin typeface="Times New Roman" panose="02020503050405090304" pitchFamily="18" charset="0"/>
              </a:rPr>
              <a:t>1. What did He Jiankui do?</a:t>
            </a:r>
            <a:endParaRPr lang="en-US" altLang="zh-CN" dirty="0">
              <a:latin typeface="Times New Roman" panose="02020503050405090304" pitchFamily="18" charset="0"/>
            </a:endParaRPr>
          </a:p>
          <a:p>
            <a:r>
              <a:rPr lang="en-US" altLang="zh-CN" dirty="0">
                <a:latin typeface="Times New Roman" panose="02020503050405090304" pitchFamily="18" charset="0"/>
              </a:rPr>
              <a:t>2. What did the Chinese government do to deal with the situation?</a:t>
            </a:r>
            <a:endParaRPr lang="en-US" altLang="zh-CN" dirty="0">
              <a:latin typeface="Times New Roman" panose="02020503050405090304" pitchFamily="18" charset="0"/>
            </a:endParaRPr>
          </a:p>
          <a:p>
            <a:r>
              <a:rPr lang="en-US" altLang="zh-CN" dirty="0">
                <a:latin typeface="Times New Roman" panose="02020503050405090304" pitchFamily="18" charset="0"/>
              </a:rPr>
              <a:t>3. What is the larger scientific community doing to prevent gene editing from happening again?</a:t>
            </a:r>
            <a:endParaRPr lang="en-US" altLang="zh-CN" dirty="0">
              <a:latin typeface="Times New Roman" panose="02020503050405090304" pitchFamily="18" charset="0"/>
            </a:endParaRPr>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ln/>
        </p:spPr>
        <p:txBody>
          <a:bodyPr vert="horz" wrap="square" lIns="91440" tIns="45720" rIns="91440" bIns="45720" anchor="ctr"/>
          <a:p>
            <a:r>
              <a:rPr lang="en-US" altLang="zh-CN" dirty="0"/>
              <a:t>Reading</a:t>
            </a:r>
            <a:endParaRPr lang="zh-CN" altLang="en-US" dirty="0"/>
          </a:p>
        </p:txBody>
      </p:sp>
      <p:sp>
        <p:nvSpPr>
          <p:cNvPr id="30722" name="内容占位符 2"/>
          <p:cNvSpPr>
            <a:spLocks noGrp="1"/>
          </p:cNvSpPr>
          <p:nvPr>
            <p:ph idx="1"/>
          </p:nvPr>
        </p:nvSpPr>
        <p:spPr>
          <a:ln/>
        </p:spPr>
        <p:txBody>
          <a:bodyPr vert="horz" wrap="square" lIns="91440" tIns="45720" rIns="91440" bIns="45720" anchor="t"/>
          <a:p>
            <a:r>
              <a:rPr lang="en-US" altLang="zh-CN" dirty="0">
                <a:latin typeface="Times New Roman" panose="02020503050405090304" pitchFamily="18" charset="0"/>
              </a:rPr>
              <a:t>Read passage 2 and answer the following questions.</a:t>
            </a:r>
            <a:endParaRPr lang="en-US" altLang="zh-CN" dirty="0">
              <a:latin typeface="Times New Roman" panose="02020503050405090304" pitchFamily="18" charset="0"/>
            </a:endParaRPr>
          </a:p>
          <a:p>
            <a:r>
              <a:rPr lang="en-US" altLang="zh-CN" dirty="0">
                <a:latin typeface="Times New Roman" panose="02020503050405090304" pitchFamily="18" charset="0"/>
              </a:rPr>
              <a:t>1. What is the approach use by  Dr. Peter M. Glazer to achieve gene editing in mice with thalassemia?</a:t>
            </a:r>
            <a:endParaRPr lang="en-US" altLang="zh-CN" dirty="0">
              <a:latin typeface="Times New Roman" panose="02020503050405090304" pitchFamily="18" charset="0"/>
            </a:endParaRPr>
          </a:p>
          <a:p>
            <a:r>
              <a:rPr lang="en-US" altLang="zh-CN" dirty="0">
                <a:latin typeface="Times New Roman" panose="02020503050405090304" pitchFamily="18" charset="0"/>
              </a:rPr>
              <a:t>2. What did the researchers from Yale University find?</a:t>
            </a:r>
            <a:endParaRPr lang="en-US" altLang="zh-CN" dirty="0">
              <a:latin typeface="Times New Roman" panose="02020503050405090304" pitchFamily="18" charset="0"/>
            </a:endParaRPr>
          </a:p>
          <a:p>
            <a:r>
              <a:rPr lang="en-US" altLang="zh-CN" dirty="0">
                <a:latin typeface="Times New Roman" panose="02020503050405090304" pitchFamily="18" charset="0"/>
              </a:rPr>
              <a:t>3. What is the significance of the research?</a:t>
            </a:r>
            <a:endParaRPr lang="en-US" altLang="zh-CN" dirty="0">
              <a:latin typeface="Times New Roman" panose="02020503050405090304" pitchFamily="18" charset="0"/>
            </a:endParaRPr>
          </a:p>
          <a:p>
            <a:endParaRPr lang="en-US" altLang="zh-CN"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Rectangle 2"/>
          <p:cNvSpPr>
            <a:spLocks noGrp="1" noChangeArrowheads="1"/>
          </p:cNvSpPr>
          <p:nvPr>
            <p:ph type="ctrTitle"/>
          </p:nvPr>
        </p:nvSpPr>
        <p:spPr>
          <a:xfrm>
            <a:off x="827088" y="1844675"/>
            <a:ext cx="7772400" cy="1431925"/>
          </a:xfrm>
        </p:spPr>
        <p:txBody>
          <a:bodyPr vert="horz" wrap="square" lIns="91440" tIns="45720" rIns="91440" bIns="45720" numCol="1" anchor="b" anchorCtr="0" compatLnSpc="1">
            <a:normAutofit fontScale="90000"/>
          </a:bodyPr>
          <a:lstStyle/>
          <a:p>
            <a:pPr marL="0" marR="0" lvl="0" indent="0" algn="ctr" defTabSz="914400" rtl="0" eaLnBrk="0" fontAlgn="auto" latinLnBrk="0" hangingPunct="0">
              <a:lnSpc>
                <a:spcPct val="100000"/>
              </a:lnSpc>
              <a:spcBef>
                <a:spcPct val="0"/>
              </a:spcBef>
              <a:spcAft>
                <a:spcPts val="0"/>
              </a:spcAft>
              <a:buClrTx/>
              <a:buSzTx/>
              <a:buFontTx/>
              <a:buNone/>
              <a:defRPr/>
            </a:pPr>
            <a:r>
              <a:rPr kumimoji="0" lang="zh-CN" altLang="en-US" sz="4500" b="0" i="0" u="none" strike="noStrike" kern="1200" cap="none" spc="0" normalizeH="0" baseline="0" noProof="0" dirty="0">
                <a:ln>
                  <a:noFill/>
                </a:ln>
                <a:solidFill>
                  <a:schemeClr val="tx2"/>
                </a:solidFill>
                <a:effectLst/>
                <a:uLnTx/>
                <a:uFillTx/>
                <a:latin typeface="+mj-lt"/>
                <a:ea typeface="+mj-ea"/>
                <a:cs typeface="+mj-cs"/>
              </a:rPr>
              <a:t>英语新闻写作</a:t>
            </a:r>
            <a:br>
              <a:rPr kumimoji="0" lang="zh-CN" altLang="en-US" sz="4500" b="0" i="0" u="none" strike="noStrike" kern="1200" cap="none" spc="0" normalizeH="0" baseline="0" noProof="0" dirty="0">
                <a:ln>
                  <a:noFill/>
                </a:ln>
                <a:solidFill>
                  <a:schemeClr val="tx2"/>
                </a:solidFill>
                <a:effectLst/>
                <a:uLnTx/>
                <a:uFillTx/>
                <a:latin typeface="+mj-lt"/>
                <a:ea typeface="+mj-ea"/>
                <a:cs typeface="+mj-cs"/>
              </a:rPr>
            </a:br>
            <a:r>
              <a:rPr kumimoji="0" lang="en-US" altLang="zh-CN" sz="4500" b="0" i="0" u="none" strike="noStrike" kern="1200" cap="none" spc="0" normalizeH="0" baseline="0" noProof="0" dirty="0">
                <a:ln>
                  <a:noFill/>
                </a:ln>
                <a:solidFill>
                  <a:schemeClr val="tx2"/>
                </a:solidFill>
                <a:effectLst/>
                <a:uLnTx/>
                <a:uFillTx/>
                <a:latin typeface="+mj-lt"/>
                <a:ea typeface="+mj-ea"/>
                <a:cs typeface="+mj-cs"/>
              </a:rPr>
              <a:t>English news writing</a:t>
            </a:r>
            <a:endParaRPr kumimoji="0" lang="en-US" altLang="zh-CN" sz="4500" b="0" i="0" u="none" strike="noStrike" kern="1200" cap="none" spc="0" normalizeH="0" baseline="0" noProof="0" dirty="0">
              <a:ln>
                <a:noFill/>
              </a:ln>
              <a:solidFill>
                <a:schemeClr val="tx2"/>
              </a:solidFill>
              <a:effectLst/>
              <a:uLnTx/>
              <a:uFillTx/>
              <a:latin typeface="+mj-lt"/>
              <a:ea typeface="+mj-ea"/>
              <a:cs typeface="+mj-cs"/>
            </a:endParaRPr>
          </a:p>
        </p:txBody>
      </p:sp>
      <p:sp>
        <p:nvSpPr>
          <p:cNvPr id="38914" name="副标题 5"/>
          <p:cNvSpPr>
            <a:spLocks noGrp="1"/>
          </p:cNvSpPr>
          <p:nvPr>
            <p:ph type="subTitle" idx="1"/>
          </p:nvPr>
        </p:nvSpPr>
        <p:spPr>
          <a:xfrm>
            <a:off x="685800" y="3611563"/>
            <a:ext cx="7772400" cy="1200150"/>
          </a:xfrm>
          <a:ln/>
        </p:spPr>
        <p:txBody>
          <a:bodyPr vert="horz" wrap="square" lIns="91440" tIns="45720" rIns="91440" bIns="45720" anchor="t"/>
          <a:p>
            <a:pPr/>
            <a:endParaRPr lang="zh-CN" altLang="en-US" kern="1200" dirty="0">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3"/>
          <p:cNvSpPr>
            <a:spLocks noGrp="1"/>
          </p:cNvSpPr>
          <p:nvPr>
            <p:ph idx="1"/>
          </p:nvPr>
        </p:nvSpPr>
        <p:spPr>
          <a:xfrm>
            <a:off x="457200" y="1412875"/>
            <a:ext cx="8229600" cy="5111750"/>
          </a:xfrm>
          <a:ln/>
        </p:spPr>
        <p:txBody>
          <a:bodyPr vert="horz" wrap="square" lIns="91440" tIns="45720" rIns="91440" bIns="45720" anchor="t"/>
          <a:p>
            <a:r>
              <a:rPr lang="zh-CN" altLang="en-US" sz="2800" dirty="0"/>
              <a:t>按传播工具分：</a:t>
            </a:r>
            <a:r>
              <a:rPr lang="en-US" altLang="zh-CN" sz="2800" dirty="0">
                <a:latin typeface="Times New Roman" panose="02020503050405090304" pitchFamily="18" charset="0"/>
              </a:rPr>
              <a:t>Newspaper coverage, magazine coverage, radio news, TV news,  cable news, dispatches. </a:t>
            </a:r>
            <a:endParaRPr lang="en-US" altLang="zh-CN" sz="2800" dirty="0">
              <a:latin typeface="Times New Roman" panose="02020503050405090304" pitchFamily="18" charset="0"/>
            </a:endParaRPr>
          </a:p>
          <a:p>
            <a:r>
              <a:rPr lang="zh-CN" altLang="en-US" sz="2800" dirty="0"/>
              <a:t>新闻事实发生的地域和范围：</a:t>
            </a:r>
            <a:r>
              <a:rPr lang="en-US" altLang="zh-CN" sz="2800" dirty="0">
                <a:latin typeface="Times New Roman" panose="02020503050405090304" pitchFamily="18" charset="0"/>
              </a:rPr>
              <a:t>home news, local news</a:t>
            </a:r>
            <a:endParaRPr lang="en-US" altLang="zh-CN" sz="2800" dirty="0">
              <a:latin typeface="Times New Roman" panose="02020503050405090304" pitchFamily="18" charset="0"/>
            </a:endParaRPr>
          </a:p>
          <a:p>
            <a:r>
              <a:rPr lang="zh-CN" altLang="en-US" sz="2800" dirty="0"/>
              <a:t>报道的内容：</a:t>
            </a:r>
            <a:r>
              <a:rPr lang="en-US" altLang="zh-CN" sz="2800" dirty="0">
                <a:latin typeface="Times New Roman" panose="02020503050405090304" pitchFamily="18" charset="0"/>
              </a:rPr>
              <a:t>political news, economic news, technological news, cultural news, sports news, violence and crime news, disaster news, weather news, obituary, entertainment</a:t>
            </a:r>
            <a:r>
              <a:rPr lang="en-US" altLang="zh-CN" sz="2800" dirty="0"/>
              <a:t>.</a:t>
            </a:r>
            <a:endParaRPr lang="en-US" altLang="zh-CN" sz="2800" dirty="0"/>
          </a:p>
          <a:p>
            <a:pPr>
              <a:buNone/>
            </a:pPr>
            <a:endParaRPr lang="en-US" altLang="zh-CN" sz="2800" dirty="0">
              <a:latin typeface="Times New Roman" panose="02020503050405090304" pitchFamily="18" charset="0"/>
            </a:endParaRPr>
          </a:p>
          <a:p>
            <a:endParaRPr lang="en-US" altLang="zh-CN" sz="2800" dirty="0"/>
          </a:p>
          <a:p>
            <a:endParaRPr lang="en-US" altLang="zh-CN" sz="2800" dirty="0"/>
          </a:p>
        </p:txBody>
      </p:sp>
      <p:sp>
        <p:nvSpPr>
          <p:cNvPr id="39938" name="Rectangle 2"/>
          <p:cNvSpPr>
            <a:spLocks noGrp="1"/>
          </p:cNvSpPr>
          <p:nvPr>
            <p:ph type="title"/>
          </p:nvPr>
        </p:nvSpPr>
        <p:spPr>
          <a:xfrm>
            <a:off x="323850" y="188913"/>
            <a:ext cx="8229600" cy="1143000"/>
          </a:xfrm>
          <a:ln/>
        </p:spPr>
        <p:txBody>
          <a:bodyPr vert="horz" wrap="square" lIns="91440" tIns="45720" rIns="91440" bIns="45720" anchor="ctr"/>
          <a:p>
            <a:r>
              <a:rPr lang="en-US" altLang="zh-CN" dirty="0"/>
              <a:t>Classifications</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3"/>
          <p:cNvSpPr>
            <a:spLocks noGrp="1"/>
          </p:cNvSpPr>
          <p:nvPr>
            <p:ph idx="1"/>
          </p:nvPr>
        </p:nvSpPr>
        <p:spPr>
          <a:xfrm>
            <a:off x="457200" y="1600200"/>
            <a:ext cx="8229600" cy="5257800"/>
          </a:xfrm>
          <a:ln/>
        </p:spPr>
        <p:txBody>
          <a:bodyPr vert="horz" wrap="square" lIns="91440" tIns="45720" rIns="91440" bIns="45720" anchor="t"/>
          <a:p>
            <a:r>
              <a:rPr lang="zh-CN" altLang="en-US" dirty="0"/>
              <a:t>新闻与新闻价值（</a:t>
            </a:r>
            <a:r>
              <a:rPr lang="en-US" altLang="zh-CN" dirty="0"/>
              <a:t>news and news value)</a:t>
            </a:r>
            <a:endParaRPr lang="en-US" altLang="zh-CN" dirty="0"/>
          </a:p>
          <a:p>
            <a:r>
              <a:rPr lang="en-US" altLang="zh-CN" dirty="0"/>
              <a:t>News value determiners/determinants</a:t>
            </a:r>
            <a:endParaRPr lang="en-US" altLang="zh-CN" dirty="0"/>
          </a:p>
          <a:p>
            <a:pPr>
              <a:buClr>
                <a:schemeClr val="tx1"/>
              </a:buClr>
              <a:buFont typeface="Wingdings" panose="05000000000000000000" pitchFamily="2" charset="2"/>
              <a:buChar char="Ø"/>
            </a:pPr>
            <a:r>
              <a:rPr lang="zh-CN" altLang="en-US" dirty="0">
                <a:solidFill>
                  <a:srgbClr val="FF0066"/>
                </a:solidFill>
                <a:latin typeface="Times New Roman" panose="02020503050405090304" pitchFamily="18" charset="0"/>
              </a:rPr>
              <a:t>时效性</a:t>
            </a:r>
            <a:r>
              <a:rPr lang="en-US" altLang="zh-CN" dirty="0">
                <a:latin typeface="Times New Roman" panose="02020503050405090304" pitchFamily="18" charset="0"/>
              </a:rPr>
              <a:t>timeliness </a:t>
            </a:r>
            <a:r>
              <a:rPr lang="zh-CN" altLang="en-US" dirty="0">
                <a:latin typeface="Times New Roman" panose="02020503050405090304" pitchFamily="18" charset="0"/>
              </a:rPr>
              <a:t>和新鲜感</a:t>
            </a:r>
            <a:r>
              <a:rPr lang="en-US" altLang="zh-CN" dirty="0">
                <a:latin typeface="Times New Roman" panose="02020503050405090304" pitchFamily="18" charset="0"/>
              </a:rPr>
              <a:t>freshness</a:t>
            </a:r>
            <a:endParaRPr lang="en-US" altLang="zh-CN" dirty="0">
              <a:latin typeface="Times New Roman" panose="0202050305040509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503050405090304" pitchFamily="18" charset="0"/>
              </a:rPr>
              <a:t>重要性</a:t>
            </a:r>
            <a:r>
              <a:rPr lang="en-US" altLang="zh-CN" dirty="0">
                <a:latin typeface="Times New Roman" panose="02020503050405090304" pitchFamily="18" charset="0"/>
              </a:rPr>
              <a:t>importance, consequence, impact or significance </a:t>
            </a:r>
            <a:endParaRPr lang="en-US" altLang="zh-CN" dirty="0">
              <a:latin typeface="Times New Roman" panose="0202050305040509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503050405090304" pitchFamily="18" charset="0"/>
              </a:rPr>
              <a:t>显著性</a:t>
            </a:r>
            <a:r>
              <a:rPr lang="en-US" altLang="zh-CN" dirty="0">
                <a:latin typeface="Times New Roman" panose="02020503050405090304" pitchFamily="18" charset="0"/>
              </a:rPr>
              <a:t>prominence </a:t>
            </a:r>
            <a:endParaRPr lang="en-US" altLang="zh-CN" dirty="0">
              <a:latin typeface="Times New Roman" panose="02020503050405090304" pitchFamily="18" charset="0"/>
            </a:endParaRPr>
          </a:p>
          <a:p>
            <a:pPr>
              <a:buClr>
                <a:schemeClr val="tx1"/>
              </a:buClr>
              <a:buFont typeface="Wingdings" panose="05000000000000000000" pitchFamily="2" charset="2"/>
              <a:buChar char="Ø"/>
            </a:pPr>
            <a:r>
              <a:rPr lang="zh-CN" altLang="en-US" dirty="0">
                <a:solidFill>
                  <a:srgbClr val="FF0066"/>
                </a:solidFill>
                <a:latin typeface="Times New Roman" panose="02020503050405090304" pitchFamily="18" charset="0"/>
              </a:rPr>
              <a:t>接近性</a:t>
            </a:r>
            <a:r>
              <a:rPr lang="en-US" altLang="zh-CN" dirty="0">
                <a:latin typeface="Times New Roman" panose="02020503050405090304" pitchFamily="18" charset="0"/>
              </a:rPr>
              <a:t>nearness, proximity or locality </a:t>
            </a:r>
            <a:endParaRPr lang="en-US" altLang="zh-CN" dirty="0">
              <a:latin typeface="Times New Roman" panose="02020503050405090304" pitchFamily="18" charset="0"/>
            </a:endParaRPr>
          </a:p>
          <a:p>
            <a:endParaRPr lang="en-US" altLang="zh-CN" dirty="0">
              <a:latin typeface="Times New Roman" panose="02020503050405090304" pitchFamily="18" charset="0"/>
            </a:endParaRPr>
          </a:p>
        </p:txBody>
      </p:sp>
      <p:sp>
        <p:nvSpPr>
          <p:cNvPr id="28674" name="Rectangle 2"/>
          <p:cNvSpPr>
            <a:spLocks noGrp="1"/>
          </p:cNvSpPr>
          <p:nvPr>
            <p:ph type="title"/>
          </p:nvPr>
        </p:nvSpPr>
        <p:spPr>
          <a:ln/>
        </p:spPr>
        <p:txBody>
          <a:bodyPr vert="horz" wrap="square" lIns="91440" tIns="45720" rIns="91440" bIns="45720" anchor="ctr"/>
          <a:p>
            <a:r>
              <a:rPr lang="en-US" altLang="zh-CN" dirty="0"/>
              <a:t>News Value</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5">
                                            <p:txEl>
                                              <p:charRg st="0" end="29"/>
                                            </p:txEl>
                                          </p:spTgt>
                                        </p:tgtEl>
                                        <p:attrNameLst>
                                          <p:attrName>style.visibility</p:attrName>
                                        </p:attrNameLst>
                                      </p:cBhvr>
                                      <p:to>
                                        <p:strVal val="visible"/>
                                      </p:to>
                                    </p:set>
                                    <p:animEffect transition="in" filter="blinds(horizontal)">
                                      <p:cBhvr>
                                        <p:cTn id="12" dur="500"/>
                                        <p:tgtEl>
                                          <p:spTgt spid="28675">
                                            <p:txEl>
                                              <p:charRg st="0"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8675">
                                            <p:txEl>
                                              <p:charRg st="29" end="65"/>
                                            </p:txEl>
                                          </p:spTgt>
                                        </p:tgtEl>
                                        <p:attrNameLst>
                                          <p:attrName>style.visibility</p:attrName>
                                        </p:attrNameLst>
                                      </p:cBhvr>
                                      <p:to>
                                        <p:strVal val="visible"/>
                                      </p:to>
                                    </p:set>
                                    <p:anim calcmode="lin" valueType="num">
                                      <p:cBhvr additive="base">
                                        <p:cTn id="17" dur="500" fill="hold"/>
                                        <p:tgtEl>
                                          <p:spTgt spid="28675">
                                            <p:txEl>
                                              <p:charRg st="29" end="6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675">
                                            <p:txEl>
                                              <p:charRg st="29" end="6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675">
                                            <p:txEl>
                                              <p:charRg st="65" end="93"/>
                                            </p:txEl>
                                          </p:spTgt>
                                        </p:tgtEl>
                                        <p:attrNameLst>
                                          <p:attrName>style.visibility</p:attrName>
                                        </p:attrNameLst>
                                      </p:cBhvr>
                                      <p:to>
                                        <p:strVal val="visible"/>
                                      </p:to>
                                    </p:set>
                                    <p:anim calcmode="lin" valueType="num">
                                      <p:cBhvr additive="base">
                                        <p:cTn id="21" dur="500" fill="hold"/>
                                        <p:tgtEl>
                                          <p:spTgt spid="28675">
                                            <p:txEl>
                                              <p:charRg st="65" end="9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5">
                                            <p:txEl>
                                              <p:charRg st="65" end="9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675">
                                            <p:txEl>
                                              <p:charRg st="93" end="145"/>
                                            </p:txEl>
                                          </p:spTgt>
                                        </p:tgtEl>
                                        <p:attrNameLst>
                                          <p:attrName>style.visibility</p:attrName>
                                        </p:attrNameLst>
                                      </p:cBhvr>
                                      <p:to>
                                        <p:strVal val="visible"/>
                                      </p:to>
                                    </p:set>
                                    <p:anim calcmode="lin" valueType="num">
                                      <p:cBhvr additive="base">
                                        <p:cTn id="25" dur="500" fill="hold"/>
                                        <p:tgtEl>
                                          <p:spTgt spid="28675">
                                            <p:txEl>
                                              <p:charRg st="93" end="14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5">
                                            <p:txEl>
                                              <p:charRg st="93" end="14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675">
                                            <p:txEl>
                                              <p:charRg st="145" end="160"/>
                                            </p:txEl>
                                          </p:spTgt>
                                        </p:tgtEl>
                                        <p:attrNameLst>
                                          <p:attrName>style.visibility</p:attrName>
                                        </p:attrNameLst>
                                      </p:cBhvr>
                                      <p:to>
                                        <p:strVal val="visible"/>
                                      </p:to>
                                    </p:set>
                                    <p:anim calcmode="lin" valueType="num">
                                      <p:cBhvr additive="base">
                                        <p:cTn id="29" dur="500" fill="hold"/>
                                        <p:tgtEl>
                                          <p:spTgt spid="28675">
                                            <p:txEl>
                                              <p:charRg st="145" end="16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675">
                                            <p:txEl>
                                              <p:charRg st="145" end="16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8675">
                                            <p:txEl>
                                              <p:charRg st="160" end="196"/>
                                            </p:txEl>
                                          </p:spTgt>
                                        </p:tgtEl>
                                        <p:attrNameLst>
                                          <p:attrName>style.visibility</p:attrName>
                                        </p:attrNameLst>
                                      </p:cBhvr>
                                      <p:to>
                                        <p:strVal val="visible"/>
                                      </p:to>
                                    </p:set>
                                    <p:anim calcmode="lin" valueType="num">
                                      <p:cBhvr additive="base">
                                        <p:cTn id="33" dur="500" fill="hold"/>
                                        <p:tgtEl>
                                          <p:spTgt spid="28675">
                                            <p:txEl>
                                              <p:charRg st="160" end="19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675">
                                            <p:txEl>
                                              <p:charRg st="160" end="19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3"/>
          <p:cNvSpPr>
            <a:spLocks noGrp="1"/>
          </p:cNvSpPr>
          <p:nvPr>
            <p:ph idx="1"/>
          </p:nvPr>
        </p:nvSpPr>
        <p:spPr>
          <a:ln/>
        </p:spPr>
        <p:txBody>
          <a:bodyPr vert="horz" wrap="square" lIns="91440" tIns="45720" rIns="91440" bIns="45720" anchor="t"/>
          <a:p>
            <a:r>
              <a:rPr lang="zh-CN" altLang="en-US" dirty="0"/>
              <a:t>新闻与新闻价值</a:t>
            </a:r>
            <a:endParaRPr lang="zh-CN" altLang="en-US" dirty="0"/>
          </a:p>
          <a:p>
            <a:pPr>
              <a:buClr>
                <a:schemeClr val="tx1"/>
              </a:buClr>
              <a:buFont typeface="Wingdings" panose="05000000000000000000" pitchFamily="2" charset="2"/>
              <a:buChar char="Ø"/>
            </a:pPr>
            <a:r>
              <a:rPr lang="zh-CN" altLang="en-US" sz="2800" dirty="0">
                <a:solidFill>
                  <a:srgbClr val="FF0066"/>
                </a:solidFill>
                <a:latin typeface="Times New Roman" panose="02020503050405090304" pitchFamily="18" charset="0"/>
              </a:rPr>
              <a:t>奇异性</a:t>
            </a:r>
            <a:r>
              <a:rPr lang="en-US" altLang="zh-CN" sz="2800" dirty="0">
                <a:latin typeface="Times New Roman" panose="02020503050405090304" pitchFamily="18" charset="0"/>
              </a:rPr>
              <a:t>unusualness, bizarreness, oddity or novelty ( when a dog bites a man, that’s not news; but when a man bites a dog, that’s news)</a:t>
            </a:r>
            <a:endParaRPr lang="en-US" altLang="zh-CN" sz="2800" dirty="0">
              <a:latin typeface="Times New Roman" panose="02020503050405090304" pitchFamily="18" charset="0"/>
            </a:endParaRPr>
          </a:p>
          <a:p>
            <a:pPr>
              <a:buClr>
                <a:schemeClr val="tx1"/>
              </a:buClr>
              <a:buFont typeface="Wingdings" panose="05000000000000000000" pitchFamily="2" charset="2"/>
              <a:buChar char="Ø"/>
            </a:pPr>
            <a:r>
              <a:rPr lang="zh-CN" altLang="en-US" sz="2800" dirty="0">
                <a:solidFill>
                  <a:srgbClr val="FF0066"/>
                </a:solidFill>
                <a:latin typeface="Times New Roman" panose="02020503050405090304" pitchFamily="18" charset="0"/>
              </a:rPr>
              <a:t>趣味性</a:t>
            </a:r>
            <a:r>
              <a:rPr lang="zh-CN" altLang="en-US" sz="2800" dirty="0">
                <a:latin typeface="Times New Roman" panose="02020503050405090304" pitchFamily="18" charset="0"/>
              </a:rPr>
              <a:t> </a:t>
            </a:r>
            <a:r>
              <a:rPr lang="en-US" altLang="zh-CN" sz="2800" dirty="0">
                <a:latin typeface="Times New Roman" panose="02020503050405090304" pitchFamily="18" charset="0"/>
              </a:rPr>
              <a:t>interest, crime, morals and ethics, population, life, marriage, family, friendship, love and emotion, money, sex</a:t>
            </a:r>
            <a:r>
              <a:rPr lang="en-US" altLang="zh-CN" dirty="0"/>
              <a:t>.</a:t>
            </a:r>
            <a:endParaRPr lang="en-US" altLang="zh-CN" dirty="0"/>
          </a:p>
          <a:p>
            <a:endParaRPr lang="en-US" altLang="zh-CN" dirty="0"/>
          </a:p>
        </p:txBody>
      </p:sp>
      <p:sp>
        <p:nvSpPr>
          <p:cNvPr id="41986" name="标题 3"/>
          <p:cNvSpPr>
            <a:spLocks noGrp="1"/>
          </p:cNvSpPr>
          <p:nvPr>
            <p:ph type="title"/>
          </p:nvPr>
        </p:nvSpPr>
        <p:spPr>
          <a:ln/>
        </p:spPr>
        <p:txBody>
          <a:bodyPr vert="horz" wrap="square" lIns="91440" tIns="45720" rIns="91440" bIns="45720" anchor="ctr"/>
          <a:p>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3"/>
          <p:cNvSpPr>
            <a:spLocks noGrp="1"/>
          </p:cNvSpPr>
          <p:nvPr>
            <p:ph idx="1"/>
          </p:nvPr>
        </p:nvSpPr>
        <p:spPr>
          <a:ln/>
        </p:spPr>
        <p:txBody>
          <a:bodyPr vert="horz" wrap="square" lIns="91440" tIns="45720" rIns="91440" bIns="45720" anchor="t"/>
          <a:p>
            <a:r>
              <a:rPr lang="en-US" altLang="zh-CN" sz="2800" dirty="0">
                <a:latin typeface="Times New Roman" panose="02020503050405090304" pitchFamily="18" charset="0"/>
              </a:rPr>
              <a:t>News- headline</a:t>
            </a:r>
            <a:endParaRPr lang="en-US" altLang="zh-CN" sz="2800" dirty="0">
              <a:latin typeface="Times New Roman" panose="02020503050405090304" pitchFamily="18" charset="0"/>
            </a:endParaRPr>
          </a:p>
          <a:p>
            <a:r>
              <a:rPr lang="en-US" altLang="zh-CN" sz="2800" dirty="0">
                <a:latin typeface="Times New Roman" panose="02020503050405090304" pitchFamily="18" charset="0"/>
              </a:rPr>
              <a:t>Lead</a:t>
            </a:r>
            <a:endParaRPr lang="en-US" altLang="zh-CN" sz="2800" dirty="0">
              <a:latin typeface="Times New Roman" panose="02020503050405090304" pitchFamily="18" charset="0"/>
            </a:endParaRPr>
          </a:p>
          <a:p>
            <a:r>
              <a:rPr lang="en-US" altLang="zh-CN" sz="2800" dirty="0">
                <a:latin typeface="Times New Roman" panose="02020503050405090304" pitchFamily="18" charset="0"/>
              </a:rPr>
              <a:t>Inverted Pyramid Style</a:t>
            </a:r>
            <a:endParaRPr lang="en-US" altLang="zh-CN" sz="2800" dirty="0">
              <a:latin typeface="Times New Roman" panose="02020503050405090304" pitchFamily="18" charset="0"/>
            </a:endParaRPr>
          </a:p>
          <a:p>
            <a:r>
              <a:rPr lang="en-US" altLang="zh-CN" sz="2800" dirty="0">
                <a:latin typeface="Times New Roman" panose="02020503050405090304" pitchFamily="18" charset="0"/>
              </a:rPr>
              <a:t>body</a:t>
            </a:r>
            <a:endParaRPr lang="en-US" altLang="zh-CN" sz="2800" dirty="0">
              <a:latin typeface="Times New Roman" panose="02020503050405090304" pitchFamily="18" charset="0"/>
            </a:endParaRPr>
          </a:p>
        </p:txBody>
      </p:sp>
      <p:sp>
        <p:nvSpPr>
          <p:cNvPr id="43010" name="Rectangle 2"/>
          <p:cNvSpPr>
            <a:spLocks noGrp="1"/>
          </p:cNvSpPr>
          <p:nvPr>
            <p:ph type="title"/>
          </p:nvPr>
        </p:nvSpPr>
        <p:spPr>
          <a:ln/>
        </p:spPr>
        <p:txBody>
          <a:bodyPr vert="horz" wrap="square" lIns="91440" tIns="45720" rIns="91440" bIns="45720" anchor="ctr"/>
          <a:p>
            <a:r>
              <a:rPr lang="zh-CN" altLang="en-US" dirty="0"/>
              <a:t>消息的基本结构</a:t>
            </a:r>
            <a:endParaRPr lang="zh-CN" alt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a:ln/>
        </p:spPr>
        <p:txBody>
          <a:bodyPr vert="horz" wrap="square" lIns="91440" tIns="45720" rIns="91440" bIns="45720" anchor="t"/>
          <a:p>
            <a:pPr marL="514350" indent="-514350">
              <a:buNone/>
            </a:pPr>
            <a:r>
              <a:rPr lang="en-US" altLang="zh-CN" sz="2400" dirty="0">
                <a:latin typeface="Times New Roman" panose="02020503050405090304" pitchFamily="18" charset="0"/>
              </a:rPr>
              <a:t>1. They </a:t>
            </a:r>
            <a:r>
              <a:rPr lang="en-US" altLang="zh-CN" sz="2400" dirty="0">
                <a:solidFill>
                  <a:srgbClr val="FF0000"/>
                </a:solidFill>
                <a:latin typeface="Times New Roman" panose="02020503050405090304" pitchFamily="18" charset="0"/>
              </a:rPr>
              <a:t>summarize the news, </a:t>
            </a:r>
            <a:r>
              <a:rPr lang="en-US" altLang="zh-CN" sz="2400" dirty="0">
                <a:latin typeface="Times New Roman" panose="02020503050405090304" pitchFamily="18" charset="0"/>
              </a:rPr>
              <a:t>so that by taking a glance at the headline, the reader will know what the story is about</a:t>
            </a:r>
            <a:endParaRPr lang="en-US" altLang="zh-CN" sz="2400" dirty="0">
              <a:latin typeface="Times New Roman" panose="02020503050405090304" pitchFamily="18" charset="0"/>
            </a:endParaRPr>
          </a:p>
          <a:p>
            <a:pPr marL="514350" indent="-514350">
              <a:buNone/>
            </a:pPr>
            <a:r>
              <a:rPr lang="en-US" altLang="zh-CN" sz="2400" dirty="0">
                <a:latin typeface="Times New Roman" panose="02020503050405090304" pitchFamily="18" charset="0"/>
              </a:rPr>
              <a:t>2. They </a:t>
            </a:r>
            <a:r>
              <a:rPr lang="en-US" altLang="zh-CN" sz="2400" dirty="0">
                <a:solidFill>
                  <a:srgbClr val="FF0000"/>
                </a:solidFill>
                <a:latin typeface="Times New Roman" panose="02020503050405090304" pitchFamily="18" charset="0"/>
              </a:rPr>
              <a:t>attract the reader’s attention </a:t>
            </a:r>
            <a:r>
              <a:rPr lang="en-US" altLang="zh-CN" sz="2400" dirty="0">
                <a:latin typeface="Times New Roman" panose="02020503050405090304" pitchFamily="18" charset="0"/>
              </a:rPr>
              <a:t>with large print and sometimes with language of shocking or sensational effect;</a:t>
            </a:r>
            <a:endParaRPr lang="en-US" altLang="zh-CN" sz="2400" dirty="0">
              <a:latin typeface="Times New Roman" panose="02020503050405090304" pitchFamily="18" charset="0"/>
            </a:endParaRPr>
          </a:p>
          <a:p>
            <a:pPr marL="514350" indent="-514350">
              <a:buNone/>
            </a:pPr>
            <a:r>
              <a:rPr lang="en-US" altLang="zh-CN" sz="2400" dirty="0">
                <a:latin typeface="Times New Roman" panose="02020503050405090304" pitchFamily="18" charset="0"/>
              </a:rPr>
              <a:t>3. They </a:t>
            </a:r>
            <a:r>
              <a:rPr lang="en-US" altLang="zh-CN" sz="2400" dirty="0">
                <a:solidFill>
                  <a:srgbClr val="FF0000"/>
                </a:solidFill>
                <a:latin typeface="Times New Roman" panose="02020503050405090304" pitchFamily="18" charset="0"/>
              </a:rPr>
              <a:t>index the news, i.e</a:t>
            </a:r>
            <a:r>
              <a:rPr lang="en-US" altLang="zh-CN" sz="2400" dirty="0">
                <a:latin typeface="Times New Roman" panose="02020503050405090304" pitchFamily="18" charset="0"/>
              </a:rPr>
              <a:t>, rank the importance of stories by the size of the print and placement on the page</a:t>
            </a:r>
            <a:endParaRPr lang="en-US" altLang="zh-CN" sz="2400" dirty="0">
              <a:latin typeface="Times New Roman" panose="02020503050405090304" pitchFamily="18" charset="0"/>
            </a:endParaRPr>
          </a:p>
          <a:p>
            <a:pPr marL="514350" indent="-514350">
              <a:buNone/>
            </a:pPr>
            <a:r>
              <a:rPr lang="en-US" altLang="zh-CN" sz="2400" dirty="0">
                <a:latin typeface="Times New Roman" panose="02020503050405090304" pitchFamily="18" charset="0"/>
              </a:rPr>
              <a:t>4. They decorate the page;</a:t>
            </a:r>
            <a:endParaRPr lang="en-US" altLang="zh-CN" sz="2400" dirty="0">
              <a:latin typeface="Times New Roman" panose="02020503050405090304" pitchFamily="18" charset="0"/>
            </a:endParaRPr>
          </a:p>
          <a:p>
            <a:pPr marL="514350" indent="-514350">
              <a:buNone/>
            </a:pPr>
            <a:r>
              <a:rPr lang="en-US" altLang="zh-CN" sz="2400" dirty="0">
                <a:latin typeface="Times New Roman" panose="02020503050405090304" pitchFamily="18" charset="0"/>
              </a:rPr>
              <a:t>5. They </a:t>
            </a:r>
            <a:r>
              <a:rPr lang="en-US" altLang="zh-CN" sz="2400" dirty="0">
                <a:solidFill>
                  <a:srgbClr val="FF0000"/>
                </a:solidFill>
                <a:latin typeface="Times New Roman" panose="02020503050405090304" pitchFamily="18" charset="0"/>
              </a:rPr>
              <a:t>fill the space</a:t>
            </a:r>
            <a:endParaRPr lang="zh-CN" altLang="en-US" sz="2400" dirty="0">
              <a:solidFill>
                <a:srgbClr val="FF0000"/>
              </a:solidFill>
              <a:latin typeface="Times New Roman" panose="02020503050405090304" pitchFamily="18" charset="0"/>
              <a:ea typeface="Times New Roman" panose="02020503050405090304" pitchFamily="18" charset="0"/>
            </a:endParaRPr>
          </a:p>
        </p:txBody>
      </p:sp>
      <p:sp>
        <p:nvSpPr>
          <p:cNvPr id="9218" name="标题 1"/>
          <p:cNvSpPr>
            <a:spLocks noGrp="1"/>
          </p:cNvSpPr>
          <p:nvPr>
            <p:ph type="title"/>
          </p:nvPr>
        </p:nvSpPr>
        <p:spPr>
          <a:ln/>
        </p:spPr>
        <p:txBody>
          <a:bodyPr vert="horz" wrap="square" lIns="91440" tIns="45720" rIns="91440" bIns="45720" anchor="ctr"/>
          <a:p>
            <a:r>
              <a:rPr lang="en-US" altLang="zh-CN" dirty="0"/>
              <a:t>The Importance of Headline</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ppt_x"/>
                                          </p:val>
                                        </p:tav>
                                        <p:tav tm="100000">
                                          <p:val>
                                            <p:strVal val="#ppt_x"/>
                                          </p:val>
                                        </p:tav>
                                      </p:tavLst>
                                    </p:anim>
                                    <p:anim calcmode="lin" valueType="num">
                                      <p:cBhvr additive="base">
                                        <p:cTn id="8"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9">
                                            <p:txEl>
                                              <p:charRg st="0" end="117"/>
                                            </p:txEl>
                                          </p:spTgt>
                                        </p:tgtEl>
                                        <p:attrNameLst>
                                          <p:attrName>style.visibility</p:attrName>
                                        </p:attrNameLst>
                                      </p:cBhvr>
                                      <p:to>
                                        <p:strVal val="visible"/>
                                      </p:to>
                                    </p:set>
                                    <p:anim calcmode="lin" valueType="num">
                                      <p:cBhvr additive="base">
                                        <p:cTn id="13" dur="500" fill="hold"/>
                                        <p:tgtEl>
                                          <p:spTgt spid="9219">
                                            <p:txEl>
                                              <p:charRg st="0" end="11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charRg st="0" end="11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19">
                                            <p:txEl>
                                              <p:charRg st="117" end="236"/>
                                            </p:txEl>
                                          </p:spTgt>
                                        </p:tgtEl>
                                        <p:attrNameLst>
                                          <p:attrName>style.visibility</p:attrName>
                                        </p:attrNameLst>
                                      </p:cBhvr>
                                      <p:to>
                                        <p:strVal val="visible"/>
                                      </p:to>
                                    </p:set>
                                    <p:anim calcmode="lin" valueType="num">
                                      <p:cBhvr additive="base">
                                        <p:cTn id="19" dur="500" fill="hold"/>
                                        <p:tgtEl>
                                          <p:spTgt spid="9219">
                                            <p:txEl>
                                              <p:charRg st="117" end="23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charRg st="117" end="23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19">
                                            <p:txEl>
                                              <p:charRg st="236" end="347"/>
                                            </p:txEl>
                                          </p:spTgt>
                                        </p:tgtEl>
                                        <p:attrNameLst>
                                          <p:attrName>style.visibility</p:attrName>
                                        </p:attrNameLst>
                                      </p:cBhvr>
                                      <p:to>
                                        <p:strVal val="visible"/>
                                      </p:to>
                                    </p:set>
                                    <p:anim calcmode="lin" valueType="num">
                                      <p:cBhvr additive="base">
                                        <p:cTn id="25" dur="500" fill="hold"/>
                                        <p:tgtEl>
                                          <p:spTgt spid="9219">
                                            <p:txEl>
                                              <p:charRg st="236" end="34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charRg st="236" end="34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19">
                                            <p:txEl>
                                              <p:charRg st="347" end="374"/>
                                            </p:txEl>
                                          </p:spTgt>
                                        </p:tgtEl>
                                        <p:attrNameLst>
                                          <p:attrName>style.visibility</p:attrName>
                                        </p:attrNameLst>
                                      </p:cBhvr>
                                      <p:to>
                                        <p:strVal val="visible"/>
                                      </p:to>
                                    </p:set>
                                    <p:anim calcmode="lin" valueType="num">
                                      <p:cBhvr additive="base">
                                        <p:cTn id="31" dur="500" fill="hold"/>
                                        <p:tgtEl>
                                          <p:spTgt spid="9219">
                                            <p:txEl>
                                              <p:charRg st="347" end="37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charRg st="347" end="37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219">
                                            <p:txEl>
                                              <p:charRg st="374" end="397"/>
                                            </p:txEl>
                                          </p:spTgt>
                                        </p:tgtEl>
                                        <p:attrNameLst>
                                          <p:attrName>style.visibility</p:attrName>
                                        </p:attrNameLst>
                                      </p:cBhvr>
                                      <p:to>
                                        <p:strVal val="visible"/>
                                      </p:to>
                                    </p:set>
                                    <p:anim calcmode="lin" valueType="num">
                                      <p:cBhvr additive="base">
                                        <p:cTn id="37" dur="500" fill="hold"/>
                                        <p:tgtEl>
                                          <p:spTgt spid="9219">
                                            <p:txEl>
                                              <p:charRg st="374" end="39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219">
                                            <p:txEl>
                                              <p:charRg st="374" end="39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2"/>
          <p:cNvSpPr>
            <a:spLocks noGrp="1"/>
          </p:cNvSpPr>
          <p:nvPr>
            <p:ph idx="1"/>
          </p:nvPr>
        </p:nvSpPr>
        <p:spPr>
          <a:xfrm>
            <a:off x="323850" y="857250"/>
            <a:ext cx="8820150" cy="5949950"/>
          </a:xfrm>
        </p:spPr>
        <p:txBody>
          <a:bodyPr vert="horz" wrap="square" lIns="91440" tIns="45720" rIns="91440" bIns="45720" numCol="1" anchor="t" anchorCtr="0" compatLnSpc="1">
            <a:normAutofit/>
          </a:bodyPr>
          <a:lstStyle/>
          <a:p>
            <a:pPr marL="0" marR="0" lvl="0" indent="0"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(1) Sentences are preferred to phrases. </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A Fortunate Grandmother</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Granny Hugs Daughter Lost for 30 Years</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(2) Nominal groups are condensed</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Co-</a:t>
            </a:r>
            <a:r>
              <a:rPr kumimoji="0" lang="en-US" altLang="zh-CN" sz="2400" b="0" i="0" u="none" strike="noStrike" kern="1200" cap="none" spc="0" normalizeH="0" baseline="0" noProof="0" dirty="0" err="1">
                <a:ln>
                  <a:noFill/>
                </a:ln>
                <a:solidFill>
                  <a:schemeClr val="tx1"/>
                </a:solidFill>
                <a:effectLst/>
                <a:uLnTx/>
                <a:uFillTx/>
                <a:latin typeface="Times New Roman" panose="02020503050405090304" pitchFamily="18" charset="0"/>
                <a:ea typeface="+mn-ea"/>
                <a:cs typeface="Times New Roman" panose="02020503050405090304" pitchFamily="18" charset="0"/>
              </a:rPr>
              <a:t>Hab</a:t>
            </a: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off campus Triggers Arguments</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 (3) The past tense verb form does not have “ed”</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Horse Bites Girl On Face</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Sexual Harassment Sparks Concern on Campus </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(4) When you headline future events, “will” or “shall” is replaced by “to”. </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French Major to Compete in Beijing</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President to Talk on Peace Pact</a:t>
            </a:r>
            <a:endParaRPr kumimoji="0" lang="en-US" altLang="zh-CN" sz="24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0242" name="标题 1"/>
          <p:cNvSpPr>
            <a:spLocks noGrp="1"/>
          </p:cNvSpPr>
          <p:nvPr>
            <p:ph type="title"/>
          </p:nvPr>
        </p:nvSpPr>
        <p:spPr>
          <a:xfrm>
            <a:off x="468313" y="0"/>
            <a:ext cx="8229600" cy="857250"/>
          </a:xfrm>
          <a:ln/>
        </p:spPr>
        <p:txBody>
          <a:bodyPr vert="horz" wrap="square" lIns="91440" tIns="45720" rIns="91440" bIns="45720" anchor="ctr"/>
          <a:p>
            <a:r>
              <a:rPr lang="en-US" altLang="zh-CN" sz="3200" dirty="0">
                <a:latin typeface="Times New Roman" panose="02020503050405090304" pitchFamily="18" charset="0"/>
              </a:rPr>
              <a:t>Headline Grammar Rule</a:t>
            </a:r>
            <a:endParaRPr lang="zh-CN" altLang="en-US" sz="3200" dirty="0">
              <a:latin typeface="Times New Roman" panose="02020503050405090304" pitchFamily="18" charset="0"/>
              <a:ea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ppt_x"/>
                                          </p:val>
                                        </p:tav>
                                        <p:tav tm="100000">
                                          <p:val>
                                            <p:strVal val="#ppt_x"/>
                                          </p:val>
                                        </p:tav>
                                      </p:tavLst>
                                    </p:anim>
                                    <p:anim calcmode="lin" valueType="num">
                                      <p:cBhvr additive="base">
                                        <p:cTn id="8" dur="500" fill="hold"/>
                                        <p:tgtEl>
                                          <p:spTgt spid="102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3">
                                            <p:txEl>
                                              <p:charRg st="0" end="41"/>
                                            </p:txEl>
                                          </p:spTgt>
                                        </p:tgtEl>
                                        <p:attrNameLst>
                                          <p:attrName>style.visibility</p:attrName>
                                        </p:attrNameLst>
                                      </p:cBhvr>
                                      <p:to>
                                        <p:strVal val="visible"/>
                                      </p:to>
                                    </p:set>
                                    <p:anim calcmode="lin" valueType="num">
                                      <p:cBhvr additive="base">
                                        <p:cTn id="13" dur="500" fill="hold"/>
                                        <p:tgtEl>
                                          <p:spTgt spid="10243">
                                            <p:txEl>
                                              <p:charRg st="0" end="4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charRg st="0" end="4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3">
                                            <p:txEl>
                                              <p:charRg st="41" end="69"/>
                                            </p:txEl>
                                          </p:spTgt>
                                        </p:tgtEl>
                                        <p:attrNameLst>
                                          <p:attrName>style.visibility</p:attrName>
                                        </p:attrNameLst>
                                      </p:cBhvr>
                                      <p:to>
                                        <p:strVal val="visible"/>
                                      </p:to>
                                    </p:set>
                                    <p:anim calcmode="lin" valueType="num">
                                      <p:cBhvr additive="base">
                                        <p:cTn id="19" dur="500" fill="hold"/>
                                        <p:tgtEl>
                                          <p:spTgt spid="10243">
                                            <p:txEl>
                                              <p:charRg st="41" end="6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charRg st="41" end="6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3">
                                            <p:txEl>
                                              <p:charRg st="69" end="112"/>
                                            </p:txEl>
                                          </p:spTgt>
                                        </p:tgtEl>
                                        <p:attrNameLst>
                                          <p:attrName>style.visibility</p:attrName>
                                        </p:attrNameLst>
                                      </p:cBhvr>
                                      <p:to>
                                        <p:strVal val="visible"/>
                                      </p:to>
                                    </p:set>
                                    <p:anim calcmode="lin" valueType="num">
                                      <p:cBhvr additive="base">
                                        <p:cTn id="25" dur="500" fill="hold"/>
                                        <p:tgtEl>
                                          <p:spTgt spid="10243">
                                            <p:txEl>
                                              <p:charRg st="69" end="11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3">
                                            <p:txEl>
                                              <p:charRg st="69" end="11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243">
                                            <p:txEl>
                                              <p:charRg st="112" end="145"/>
                                            </p:txEl>
                                          </p:spTgt>
                                        </p:tgtEl>
                                        <p:attrNameLst>
                                          <p:attrName>style.visibility</p:attrName>
                                        </p:attrNameLst>
                                      </p:cBhvr>
                                      <p:to>
                                        <p:strVal val="visible"/>
                                      </p:to>
                                    </p:set>
                                    <p:anim calcmode="lin" valueType="num">
                                      <p:cBhvr additive="base">
                                        <p:cTn id="31" dur="500" fill="hold"/>
                                        <p:tgtEl>
                                          <p:spTgt spid="10243">
                                            <p:txEl>
                                              <p:charRg st="112" end="14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charRg st="112" end="14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243">
                                            <p:txEl>
                                              <p:charRg st="145" end="186"/>
                                            </p:txEl>
                                          </p:spTgt>
                                        </p:tgtEl>
                                        <p:attrNameLst>
                                          <p:attrName>style.visibility</p:attrName>
                                        </p:attrNameLst>
                                      </p:cBhvr>
                                      <p:to>
                                        <p:strVal val="visible"/>
                                      </p:to>
                                    </p:set>
                                    <p:anim calcmode="lin" valueType="num">
                                      <p:cBhvr additive="base">
                                        <p:cTn id="37" dur="500" fill="hold"/>
                                        <p:tgtEl>
                                          <p:spTgt spid="10243">
                                            <p:txEl>
                                              <p:charRg st="145" end="18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243">
                                            <p:txEl>
                                              <p:charRg st="145" end="18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243">
                                            <p:txEl>
                                              <p:charRg st="186" end="235"/>
                                            </p:txEl>
                                          </p:spTgt>
                                        </p:tgtEl>
                                        <p:attrNameLst>
                                          <p:attrName>style.visibility</p:attrName>
                                        </p:attrNameLst>
                                      </p:cBhvr>
                                      <p:to>
                                        <p:strVal val="visible"/>
                                      </p:to>
                                    </p:set>
                                    <p:anim calcmode="lin" valueType="num">
                                      <p:cBhvr additive="base">
                                        <p:cTn id="43" dur="500" fill="hold"/>
                                        <p:tgtEl>
                                          <p:spTgt spid="10243">
                                            <p:txEl>
                                              <p:charRg st="186" end="23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243">
                                            <p:txEl>
                                              <p:charRg st="186" end="23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243">
                                            <p:txEl>
                                              <p:charRg st="235" end="260"/>
                                            </p:txEl>
                                          </p:spTgt>
                                        </p:tgtEl>
                                        <p:attrNameLst>
                                          <p:attrName>style.visibility</p:attrName>
                                        </p:attrNameLst>
                                      </p:cBhvr>
                                      <p:to>
                                        <p:strVal val="visible"/>
                                      </p:to>
                                    </p:set>
                                    <p:anim calcmode="lin" valueType="num">
                                      <p:cBhvr additive="base">
                                        <p:cTn id="49" dur="500" fill="hold"/>
                                        <p:tgtEl>
                                          <p:spTgt spid="10243">
                                            <p:txEl>
                                              <p:charRg st="235" end="26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243">
                                            <p:txEl>
                                              <p:charRg st="235" end="26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243">
                                            <p:txEl>
                                              <p:charRg st="260" end="304"/>
                                            </p:txEl>
                                          </p:spTgt>
                                        </p:tgtEl>
                                        <p:attrNameLst>
                                          <p:attrName>style.visibility</p:attrName>
                                        </p:attrNameLst>
                                      </p:cBhvr>
                                      <p:to>
                                        <p:strVal val="visible"/>
                                      </p:to>
                                    </p:set>
                                    <p:anim calcmode="lin" valueType="num">
                                      <p:cBhvr additive="base">
                                        <p:cTn id="55" dur="500" fill="hold"/>
                                        <p:tgtEl>
                                          <p:spTgt spid="10243">
                                            <p:txEl>
                                              <p:charRg st="260" end="30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243">
                                            <p:txEl>
                                              <p:charRg st="260" end="30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243">
                                            <p:txEl>
                                              <p:charRg st="304" end="381"/>
                                            </p:txEl>
                                          </p:spTgt>
                                        </p:tgtEl>
                                        <p:attrNameLst>
                                          <p:attrName>style.visibility</p:attrName>
                                        </p:attrNameLst>
                                      </p:cBhvr>
                                      <p:to>
                                        <p:strVal val="visible"/>
                                      </p:to>
                                    </p:set>
                                    <p:anim calcmode="lin" valueType="num">
                                      <p:cBhvr additive="base">
                                        <p:cTn id="61" dur="500" fill="hold"/>
                                        <p:tgtEl>
                                          <p:spTgt spid="10243">
                                            <p:txEl>
                                              <p:charRg st="304" end="38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243">
                                            <p:txEl>
                                              <p:charRg st="304" end="38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243">
                                            <p:txEl>
                                              <p:charRg st="381" end="416"/>
                                            </p:txEl>
                                          </p:spTgt>
                                        </p:tgtEl>
                                        <p:attrNameLst>
                                          <p:attrName>style.visibility</p:attrName>
                                        </p:attrNameLst>
                                      </p:cBhvr>
                                      <p:to>
                                        <p:strVal val="visible"/>
                                      </p:to>
                                    </p:set>
                                    <p:anim calcmode="lin" valueType="num">
                                      <p:cBhvr additive="base">
                                        <p:cTn id="67" dur="500" fill="hold"/>
                                        <p:tgtEl>
                                          <p:spTgt spid="10243">
                                            <p:txEl>
                                              <p:charRg st="381" end="41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243">
                                            <p:txEl>
                                              <p:charRg st="381" end="416"/>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243">
                                            <p:txEl>
                                              <p:charRg st="416" end="448"/>
                                            </p:txEl>
                                          </p:spTgt>
                                        </p:tgtEl>
                                        <p:attrNameLst>
                                          <p:attrName>style.visibility</p:attrName>
                                        </p:attrNameLst>
                                      </p:cBhvr>
                                      <p:to>
                                        <p:strVal val="visible"/>
                                      </p:to>
                                    </p:set>
                                    <p:anim calcmode="lin" valueType="num">
                                      <p:cBhvr additive="base">
                                        <p:cTn id="73" dur="500" fill="hold"/>
                                        <p:tgtEl>
                                          <p:spTgt spid="10243">
                                            <p:txEl>
                                              <p:charRg st="416" end="44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243">
                                            <p:txEl>
                                              <p:charRg st="416" end="44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57200" y="642938"/>
            <a:ext cx="8229600" cy="5364162"/>
          </a:xfrm>
          <a:ln/>
        </p:spPr>
        <p:txBody>
          <a:bodyPr vert="horz" wrap="square" lIns="91440" tIns="45720" rIns="91440" bIns="45720" anchor="t"/>
          <a:p>
            <a:pPr>
              <a:buNone/>
            </a:pPr>
            <a:r>
              <a:rPr lang="en-US" altLang="zh-CN" sz="2400" dirty="0">
                <a:latin typeface="Times New Roman" panose="02020503050405090304" pitchFamily="18" charset="0"/>
              </a:rPr>
              <a:t>(5) In passive voice, the verb “to be” is omitted</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Boy Found Dead In Basement</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Cab-Driver Trapped in Fake Accident </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(6) Copular verbs(</a:t>
            </a:r>
            <a:r>
              <a:rPr lang="zh-CN" altLang="en-US" sz="2400" dirty="0">
                <a:latin typeface="Times New Roman" panose="02020503050405090304" pitchFamily="18" charset="0"/>
              </a:rPr>
              <a:t>系动词）</a:t>
            </a:r>
            <a:r>
              <a:rPr lang="en-US" altLang="zh-CN" sz="2400" dirty="0">
                <a:latin typeface="Times New Roman" panose="02020503050405090304" pitchFamily="18" charset="0"/>
              </a:rPr>
              <a:t> are often left out</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Prep Program Trendy Prior to Graduate Exams</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Peace Studies New in the West, Says Uk Professor </a:t>
            </a:r>
            <a:endParaRPr lang="en-US" altLang="zh-CN" sz="2400" dirty="0">
              <a:latin typeface="Times New Roman" panose="02020503050405090304" pitchFamily="18" charset="0"/>
            </a:endParaRPr>
          </a:p>
          <a:p>
            <a:pPr>
              <a:buFont typeface="Wingdings 3" panose="05040102010807070707" pitchFamily="18" charset="2"/>
              <a:buNone/>
            </a:pPr>
            <a:r>
              <a:rPr lang="en-US" altLang="zh-CN" sz="2400" dirty="0">
                <a:latin typeface="Times New Roman" panose="02020503050405090304" pitchFamily="18" charset="0"/>
              </a:rPr>
              <a:t>http://www.chinadaily.com.cn/world/2016-05/20/content_25378267.htm</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(7</a:t>
            </a:r>
            <a:r>
              <a:rPr lang="zh-CN" altLang="en-US" sz="2400" dirty="0">
                <a:latin typeface="Times New Roman" panose="02020503050405090304" pitchFamily="18" charset="0"/>
              </a:rPr>
              <a:t>）</a:t>
            </a:r>
            <a:r>
              <a:rPr lang="en-US" altLang="zh-CN" sz="2400" dirty="0">
                <a:latin typeface="Times New Roman" panose="02020503050405090304" pitchFamily="18" charset="0"/>
              </a:rPr>
              <a:t>With the present progressive, the verb “to be” is often omitted.    </a:t>
            </a:r>
            <a:endParaRPr lang="en-US" altLang="zh-CN" sz="2400" dirty="0">
              <a:latin typeface="Times New Roman" panose="02020503050405090304" pitchFamily="18" charset="0"/>
            </a:endParaRPr>
          </a:p>
          <a:p>
            <a:pPr>
              <a:buNone/>
            </a:pPr>
            <a:r>
              <a:rPr lang="en-US" altLang="zh-CN" sz="2400" dirty="0">
                <a:latin typeface="Times New Roman" panose="02020503050405090304" pitchFamily="18" charset="0"/>
              </a:rPr>
              <a:t>Computer Lab Trying Out New Rules </a:t>
            </a:r>
            <a:endParaRPr lang="en-US" altLang="zh-CN" sz="2400" dirty="0">
              <a:latin typeface="Times New Roman" panose="02020503050405090304" pitchFamily="18" charset="0"/>
            </a:endParaRPr>
          </a:p>
          <a:p>
            <a:pPr>
              <a:buFont typeface="Wingdings 3" panose="05040102010807070707" pitchFamily="18" charset="2"/>
              <a:buNone/>
            </a:pPr>
            <a:r>
              <a:rPr lang="en-US" altLang="zh-CN" sz="2400" dirty="0">
                <a:latin typeface="Times New Roman" panose="02020503050405090304" pitchFamily="18" charset="0"/>
              </a:rPr>
              <a:t>http://www.chinadaily.com.cn/china/2016-05/20/content_25381014.htm</a:t>
            </a:r>
            <a:endParaRPr lang="en-US" altLang="zh-CN" sz="2400" dirty="0">
              <a:latin typeface="Times New Roman" panose="02020503050405090304" pitchFamily="18" charset="0"/>
              <a:ea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charRg st="0" end="50"/>
                                            </p:txEl>
                                          </p:spTgt>
                                        </p:tgtEl>
                                        <p:attrNameLst>
                                          <p:attrName>style.visibility</p:attrName>
                                        </p:attrNameLst>
                                      </p:cBhvr>
                                      <p:to>
                                        <p:strVal val="visible"/>
                                      </p:to>
                                    </p:set>
                                    <p:anim calcmode="lin" valueType="num">
                                      <p:cBhvr additive="base">
                                        <p:cTn id="7" dur="500" fill="hold"/>
                                        <p:tgtEl>
                                          <p:spTgt spid="11267">
                                            <p:txEl>
                                              <p:charRg st="0" end="5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charRg st="0" end="5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charRg st="50" end="77"/>
                                            </p:txEl>
                                          </p:spTgt>
                                        </p:tgtEl>
                                        <p:attrNameLst>
                                          <p:attrName>style.visibility</p:attrName>
                                        </p:attrNameLst>
                                      </p:cBhvr>
                                      <p:to>
                                        <p:strVal val="visible"/>
                                      </p:to>
                                    </p:set>
                                    <p:anim calcmode="lin" valueType="num">
                                      <p:cBhvr additive="base">
                                        <p:cTn id="13" dur="500" fill="hold"/>
                                        <p:tgtEl>
                                          <p:spTgt spid="11267">
                                            <p:txEl>
                                              <p:charRg st="50"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charRg st="50" end="7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charRg st="77" end="114"/>
                                            </p:txEl>
                                          </p:spTgt>
                                        </p:tgtEl>
                                        <p:attrNameLst>
                                          <p:attrName>style.visibility</p:attrName>
                                        </p:attrNameLst>
                                      </p:cBhvr>
                                      <p:to>
                                        <p:strVal val="visible"/>
                                      </p:to>
                                    </p:set>
                                    <p:anim calcmode="lin" valueType="num">
                                      <p:cBhvr additive="base">
                                        <p:cTn id="19" dur="500" fill="hold"/>
                                        <p:tgtEl>
                                          <p:spTgt spid="11267">
                                            <p:txEl>
                                              <p:charRg st="77" end="1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charRg st="77" end="11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7">
                                            <p:txEl>
                                              <p:charRg st="114" end="156"/>
                                            </p:txEl>
                                          </p:spTgt>
                                        </p:tgtEl>
                                        <p:attrNameLst>
                                          <p:attrName>style.visibility</p:attrName>
                                        </p:attrNameLst>
                                      </p:cBhvr>
                                      <p:to>
                                        <p:strVal val="visible"/>
                                      </p:to>
                                    </p:set>
                                    <p:anim calcmode="lin" valueType="num">
                                      <p:cBhvr additive="base">
                                        <p:cTn id="25" dur="500" fill="hold"/>
                                        <p:tgtEl>
                                          <p:spTgt spid="11267">
                                            <p:txEl>
                                              <p:charRg st="114" end="15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charRg st="114" end="15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7">
                                            <p:txEl>
                                              <p:charRg st="156" end="200"/>
                                            </p:txEl>
                                          </p:spTgt>
                                        </p:tgtEl>
                                        <p:attrNameLst>
                                          <p:attrName>style.visibility</p:attrName>
                                        </p:attrNameLst>
                                      </p:cBhvr>
                                      <p:to>
                                        <p:strVal val="visible"/>
                                      </p:to>
                                    </p:set>
                                    <p:anim calcmode="lin" valueType="num">
                                      <p:cBhvr additive="base">
                                        <p:cTn id="31" dur="500" fill="hold"/>
                                        <p:tgtEl>
                                          <p:spTgt spid="11267">
                                            <p:txEl>
                                              <p:charRg st="156" end="20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charRg st="156" end="20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267">
                                            <p:txEl>
                                              <p:charRg st="200" end="250"/>
                                            </p:txEl>
                                          </p:spTgt>
                                        </p:tgtEl>
                                        <p:attrNameLst>
                                          <p:attrName>style.visibility</p:attrName>
                                        </p:attrNameLst>
                                      </p:cBhvr>
                                      <p:to>
                                        <p:strVal val="visible"/>
                                      </p:to>
                                    </p:set>
                                    <p:anim calcmode="lin" valueType="num">
                                      <p:cBhvr additive="base">
                                        <p:cTn id="37" dur="500" fill="hold"/>
                                        <p:tgtEl>
                                          <p:spTgt spid="11267">
                                            <p:txEl>
                                              <p:charRg st="200" end="25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7">
                                            <p:txEl>
                                              <p:charRg st="200" end="25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267">
                                            <p:txEl>
                                              <p:charRg st="250" end="317"/>
                                            </p:txEl>
                                          </p:spTgt>
                                        </p:tgtEl>
                                        <p:attrNameLst>
                                          <p:attrName>style.visibility</p:attrName>
                                        </p:attrNameLst>
                                      </p:cBhvr>
                                      <p:to>
                                        <p:strVal val="visible"/>
                                      </p:to>
                                    </p:set>
                                    <p:anim calcmode="lin" valueType="num">
                                      <p:cBhvr additive="base">
                                        <p:cTn id="43" dur="500" fill="hold"/>
                                        <p:tgtEl>
                                          <p:spTgt spid="11267">
                                            <p:txEl>
                                              <p:charRg st="250" end="3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267">
                                            <p:txEl>
                                              <p:charRg st="250" end="31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267">
                                            <p:txEl>
                                              <p:charRg st="317" end="389"/>
                                            </p:txEl>
                                          </p:spTgt>
                                        </p:tgtEl>
                                        <p:attrNameLst>
                                          <p:attrName>style.visibility</p:attrName>
                                        </p:attrNameLst>
                                      </p:cBhvr>
                                      <p:to>
                                        <p:strVal val="visible"/>
                                      </p:to>
                                    </p:set>
                                    <p:anim calcmode="lin" valueType="num">
                                      <p:cBhvr additive="base">
                                        <p:cTn id="49" dur="500" fill="hold"/>
                                        <p:tgtEl>
                                          <p:spTgt spid="11267">
                                            <p:txEl>
                                              <p:charRg st="317" end="38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267">
                                            <p:txEl>
                                              <p:charRg st="317" end="38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267">
                                            <p:txEl>
                                              <p:charRg st="389" end="424"/>
                                            </p:txEl>
                                          </p:spTgt>
                                        </p:tgtEl>
                                        <p:attrNameLst>
                                          <p:attrName>style.visibility</p:attrName>
                                        </p:attrNameLst>
                                      </p:cBhvr>
                                      <p:to>
                                        <p:strVal val="visible"/>
                                      </p:to>
                                    </p:set>
                                    <p:anim calcmode="lin" valueType="num">
                                      <p:cBhvr additive="base">
                                        <p:cTn id="55" dur="500" fill="hold"/>
                                        <p:tgtEl>
                                          <p:spTgt spid="11267">
                                            <p:txEl>
                                              <p:charRg st="389" end="42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267">
                                            <p:txEl>
                                              <p:charRg st="389" end="42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267">
                                            <p:txEl>
                                              <p:charRg st="424" end="491"/>
                                            </p:txEl>
                                          </p:spTgt>
                                        </p:tgtEl>
                                        <p:attrNameLst>
                                          <p:attrName>style.visibility</p:attrName>
                                        </p:attrNameLst>
                                      </p:cBhvr>
                                      <p:to>
                                        <p:strVal val="visible"/>
                                      </p:to>
                                    </p:set>
                                    <p:anim calcmode="lin" valueType="num">
                                      <p:cBhvr additive="base">
                                        <p:cTn id="61" dur="500" fill="hold"/>
                                        <p:tgtEl>
                                          <p:spTgt spid="11267">
                                            <p:txEl>
                                              <p:charRg st="424" end="49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1267">
                                            <p:txEl>
                                              <p:charRg st="424" end="49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vert="horz" wrap="square" lIns="91440" tIns="45720" rIns="91440" bIns="45720" numCol="1" anchor="t" anchorCtr="0" compatLnSpc="1">
            <a:normAutofit/>
          </a:bodyPr>
          <a:lstStyle/>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Requirement: </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1. Usually one sentence</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2. Summarize the news</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514350" marR="0" lvl="0" indent="-514350"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3. Attract the reader’s attention </a:t>
            </a:r>
            <a:endParaRPr kumimoji="0" lang="zh-CN" altLang="en-US"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47106" name="标题 1"/>
          <p:cNvSpPr>
            <a:spLocks noGrp="1"/>
          </p:cNvSpPr>
          <p:nvPr>
            <p:ph type="title"/>
          </p:nvPr>
        </p:nvSpPr>
        <p:spPr>
          <a:ln/>
        </p:spPr>
        <p:txBody>
          <a:bodyPr vert="horz" wrap="square" lIns="91440" tIns="45720" rIns="91440" bIns="45720" anchor="ctr"/>
          <a:p>
            <a:r>
              <a:rPr lang="en-US" altLang="zh-CN" dirty="0">
                <a:latin typeface="Times New Roman" panose="02020503050405090304" pitchFamily="18" charset="0"/>
              </a:rPr>
              <a:t>Writing a Lead </a:t>
            </a:r>
            <a:endParaRPr lang="zh-CN" altLang="en-US" dirty="0">
              <a:latin typeface="Times New Roman" panose="02020503050405090304" pitchFamily="18" charset="0"/>
              <a:ea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charRg st="0" end="14"/>
                                            </p:txEl>
                                          </p:spTgt>
                                        </p:tgtEl>
                                        <p:attrNameLst>
                                          <p:attrName>style.visibility</p:attrName>
                                        </p:attrNameLst>
                                      </p:cBhvr>
                                      <p:to>
                                        <p:strVal val="visible"/>
                                      </p:to>
                                    </p:set>
                                    <p:anim calcmode="lin" valueType="num">
                                      <p:cBhvr additive="base">
                                        <p:cTn id="7" dur="500" fill="hold"/>
                                        <p:tgtEl>
                                          <p:spTgt spid="3">
                                            <p:txEl>
                                              <p:charRg st="0" end="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charRg st="0" end="1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charRg st="14" end="38"/>
                                            </p:txEl>
                                          </p:spTgt>
                                        </p:tgtEl>
                                        <p:attrNameLst>
                                          <p:attrName>style.visibility</p:attrName>
                                        </p:attrNameLst>
                                      </p:cBhvr>
                                      <p:to>
                                        <p:strVal val="visible"/>
                                      </p:to>
                                    </p:set>
                                    <p:anim calcmode="lin" valueType="num">
                                      <p:cBhvr additive="base">
                                        <p:cTn id="13" dur="500" fill="hold"/>
                                        <p:tgtEl>
                                          <p:spTgt spid="3">
                                            <p:txEl>
                                              <p:charRg st="14" end="3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14" end="3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charRg st="38" end="60"/>
                                            </p:txEl>
                                          </p:spTgt>
                                        </p:tgtEl>
                                        <p:attrNameLst>
                                          <p:attrName>style.visibility</p:attrName>
                                        </p:attrNameLst>
                                      </p:cBhvr>
                                      <p:to>
                                        <p:strVal val="visible"/>
                                      </p:to>
                                    </p:set>
                                    <p:anim calcmode="lin" valueType="num">
                                      <p:cBhvr additive="base">
                                        <p:cTn id="19" dur="500" fill="hold"/>
                                        <p:tgtEl>
                                          <p:spTgt spid="3">
                                            <p:txEl>
                                              <p:charRg st="38" end="6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charRg st="38" end="6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charRg st="60" end="95"/>
                                            </p:txEl>
                                          </p:spTgt>
                                        </p:tgtEl>
                                        <p:attrNameLst>
                                          <p:attrName>style.visibility</p:attrName>
                                        </p:attrNameLst>
                                      </p:cBhvr>
                                      <p:to>
                                        <p:strVal val="visible"/>
                                      </p:to>
                                    </p:set>
                                    <p:anim calcmode="lin" valueType="num">
                                      <p:cBhvr additive="base">
                                        <p:cTn id="25" dur="500" fill="hold"/>
                                        <p:tgtEl>
                                          <p:spTgt spid="3">
                                            <p:txEl>
                                              <p:charRg st="60" end="9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charRg st="60" end="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1.    A lead should contain the essence of the story. </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0" marR="0" lvl="0" indent="628650" algn="just" defTabSz="914400" rtl="0" eaLnBrk="0" fontAlgn="base" latinLnBrk="0" hangingPunct="0">
              <a:lnSpc>
                <a:spcPct val="100000"/>
              </a:lnSpc>
              <a:spcBef>
                <a:spcPct val="2000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Noble Prize laureate Jim Hoffman went up to the stage and greeted the students of Nanjing University when they were gathered to celebrate the May Fourth Youth Day yesterday. </a:t>
            </a:r>
            <a:endParaRPr kumimoji="0" lang="zh-CN" altLang="en-US"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15362" name="标题 1"/>
          <p:cNvSpPr>
            <a:spLocks noGrp="1"/>
          </p:cNvSpPr>
          <p:nvPr>
            <p:ph type="title"/>
          </p:nvPr>
        </p:nvSpPr>
        <p:spPr>
          <a:ln/>
        </p:spPr>
        <p:txBody>
          <a:bodyPr vert="horz" wrap="square" lIns="91440" tIns="45720" rIns="91440" bIns="45720" anchor="ctr"/>
          <a:p>
            <a:r>
              <a:rPr lang="en-US" altLang="zh-CN" sz="3200" dirty="0">
                <a:latin typeface="Times New Roman" panose="02020503050405090304" pitchFamily="18" charset="0"/>
              </a:rPr>
              <a:t>Tips for Writing a Lead</a:t>
            </a:r>
            <a:endParaRPr lang="zh-CN" altLang="en-US" sz="3200" dirty="0">
              <a:latin typeface="Times New Roman" panose="02020503050405090304" pitchFamily="18" charset="0"/>
              <a:ea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ppt_x"/>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charRg st="0" end="55"/>
                                            </p:txEl>
                                          </p:spTgt>
                                        </p:tgtEl>
                                        <p:attrNameLst>
                                          <p:attrName>style.visibility</p:attrName>
                                        </p:attrNameLst>
                                      </p:cBhvr>
                                      <p:to>
                                        <p:strVal val="visible"/>
                                      </p:to>
                                    </p:set>
                                    <p:anim calcmode="lin" valueType="num">
                                      <p:cBhvr additive="base">
                                        <p:cTn id="13" dur="500" fill="hold"/>
                                        <p:tgtEl>
                                          <p:spTgt spid="15363">
                                            <p:txEl>
                                              <p:charRg st="0" end="5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charRg st="0" end="5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charRg st="55" end="230"/>
                                            </p:txEl>
                                          </p:spTgt>
                                        </p:tgtEl>
                                        <p:attrNameLst>
                                          <p:attrName>style.visibility</p:attrName>
                                        </p:attrNameLst>
                                      </p:cBhvr>
                                      <p:to>
                                        <p:strVal val="visible"/>
                                      </p:to>
                                    </p:set>
                                    <p:anim calcmode="lin" valueType="num">
                                      <p:cBhvr additive="base">
                                        <p:cTn id="19" dur="500" fill="hold"/>
                                        <p:tgtEl>
                                          <p:spTgt spid="15363">
                                            <p:txEl>
                                              <p:charRg st="55" end="23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charRg st="55" end="23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内容占位符 2"/>
          <p:cNvSpPr>
            <a:spLocks noGrp="1"/>
          </p:cNvSpPr>
          <p:nvPr>
            <p:ph idx="1"/>
          </p:nvPr>
        </p:nvSpPr>
        <p:spPr>
          <a:ln/>
        </p:spPr>
        <p:txBody>
          <a:bodyPr vert="horz" wrap="square" lIns="91440" tIns="45720" rIns="91440" bIns="45720" anchor="t"/>
          <a:p>
            <a:pPr>
              <a:buNone/>
            </a:pPr>
            <a:r>
              <a:rPr lang="en-US" altLang="zh-CN" sz="2800" dirty="0">
                <a:latin typeface="Times New Roman" panose="02020503050405090304" pitchFamily="18" charset="0"/>
              </a:rPr>
              <a:t>2.  A lead should begin with the most important elements of information.</a:t>
            </a:r>
            <a:endParaRPr lang="en-US" altLang="zh-CN" sz="2800" dirty="0">
              <a:latin typeface="Times New Roman" panose="02020503050405090304" pitchFamily="18" charset="0"/>
            </a:endParaRPr>
          </a:p>
          <a:p>
            <a:pPr>
              <a:buNone/>
            </a:pPr>
            <a:r>
              <a:rPr lang="en-US" altLang="zh-CN" sz="2800" dirty="0">
                <a:latin typeface="Times New Roman" panose="02020503050405090304" pitchFamily="18" charset="0"/>
              </a:rPr>
              <a:t> The death toll soar to 750 as a devastating </a:t>
            </a:r>
            <a:r>
              <a:rPr lang="en-US" altLang="zh-CN" sz="2800" b="1" dirty="0">
                <a:latin typeface="Times New Roman" panose="02020503050405090304" pitchFamily="18" charset="0"/>
              </a:rPr>
              <a:t>8.8-magnitude </a:t>
            </a:r>
            <a:r>
              <a:rPr lang="en-US" altLang="zh-CN" sz="2800" dirty="0">
                <a:latin typeface="Times New Roman" panose="02020503050405090304" pitchFamily="18" charset="0"/>
              </a:rPr>
              <a:t>earthquake hit Chile on early Saturday. </a:t>
            </a:r>
            <a:endParaRPr lang="en-US" altLang="zh-CN" sz="2800" dirty="0">
              <a:latin typeface="Times New Roman" panose="02020503050405090304" pitchFamily="18" charset="0"/>
            </a:endParaRPr>
          </a:p>
          <a:p>
            <a:pPr>
              <a:buNone/>
            </a:pPr>
            <a:endParaRPr lang="en-US" altLang="zh-CN" dirty="0"/>
          </a:p>
          <a:p>
            <a:pPr>
              <a:buNone/>
            </a:pPr>
            <a:endParaRPr lang="zh-CN" altLang="en-US" dirty="0"/>
          </a:p>
        </p:txBody>
      </p:sp>
      <p:sp>
        <p:nvSpPr>
          <p:cNvPr id="49154" name="标题 1"/>
          <p:cNvSpPr>
            <a:spLocks noGrp="1"/>
          </p:cNvSpPr>
          <p:nvPr>
            <p:ph type="title"/>
          </p:nvPr>
        </p:nvSpPr>
        <p:spPr>
          <a:ln/>
        </p:spPr>
        <p:txBody>
          <a:bodyPr vert="horz" wrap="square" lIns="91440" tIns="45720" rIns="91440" bIns="45720" anchor="ctr"/>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charRg st="0" end="73"/>
                                            </p:txEl>
                                          </p:spTgt>
                                        </p:tgtEl>
                                        <p:attrNameLst>
                                          <p:attrName>style.visibility</p:attrName>
                                        </p:attrNameLst>
                                      </p:cBhvr>
                                      <p:to>
                                        <p:strVal val="visible"/>
                                      </p:to>
                                    </p:set>
                                    <p:anim calcmode="lin" valueType="num">
                                      <p:cBhvr additive="base">
                                        <p:cTn id="7" dur="500" fill="hold"/>
                                        <p:tgtEl>
                                          <p:spTgt spid="16387">
                                            <p:txEl>
                                              <p:charRg st="0" end="7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charRg st="0" end="7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charRg st="73" end="173"/>
                                            </p:txEl>
                                          </p:spTgt>
                                        </p:tgtEl>
                                        <p:attrNameLst>
                                          <p:attrName>style.visibility</p:attrName>
                                        </p:attrNameLst>
                                      </p:cBhvr>
                                      <p:to>
                                        <p:strVal val="visible"/>
                                      </p:to>
                                    </p:set>
                                    <p:anim calcmode="lin" valueType="num">
                                      <p:cBhvr additive="base">
                                        <p:cTn id="13" dur="500" fill="hold"/>
                                        <p:tgtEl>
                                          <p:spTgt spid="16387">
                                            <p:txEl>
                                              <p:charRg st="73" end="17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charRg st="73" end="17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内容占位符 2"/>
          <p:cNvSpPr>
            <a:spLocks noGrp="1"/>
          </p:cNvSpPr>
          <p:nvPr>
            <p:ph idx="1"/>
          </p:nvPr>
        </p:nvSpPr>
        <p:spPr>
          <a:ln/>
        </p:spPr>
        <p:txBody>
          <a:bodyPr vert="horz" wrap="square" lIns="91440" tIns="45720" rIns="91440" bIns="45720" anchor="t"/>
          <a:p>
            <a:pPr>
              <a:buNone/>
            </a:pPr>
            <a:r>
              <a:rPr lang="en-US" altLang="zh-CN" dirty="0">
                <a:latin typeface="Times New Roman" panose="02020503050405090304" pitchFamily="18" charset="0"/>
              </a:rPr>
              <a:t>3. A lead writer should use active voice if possible</a:t>
            </a: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A power outrage last night was caused by a fuse blowout in Dormitory No.12. </a:t>
            </a:r>
            <a:endParaRPr lang="en-US" altLang="zh-CN" dirty="0">
              <a:latin typeface="Times New Roman" panose="02020503050405090304" pitchFamily="18" charset="0"/>
            </a:endParaRPr>
          </a:p>
          <a:p>
            <a:pPr>
              <a:buNone/>
            </a:pPr>
            <a:r>
              <a:rPr lang="en-US" altLang="zh-CN" dirty="0">
                <a:latin typeface="Times New Roman" panose="02020503050405090304" pitchFamily="18" charset="0"/>
              </a:rPr>
              <a:t> A power outrage last night angered dozens of students in Dormitory No.12 who lost files in their computers. </a:t>
            </a:r>
            <a:endParaRPr lang="zh-CN" altLang="en-US" dirty="0">
              <a:latin typeface="Times New Roman" panose="02020503050405090304" pitchFamily="18" charset="0"/>
              <a:ea typeface="Times New Roman" panose="02020503050405090304" pitchFamily="18" charset="0"/>
            </a:endParaRPr>
          </a:p>
        </p:txBody>
      </p:sp>
      <p:sp>
        <p:nvSpPr>
          <p:cNvPr id="50178" name="标题 1"/>
          <p:cNvSpPr>
            <a:spLocks noGrp="1"/>
          </p:cNvSpPr>
          <p:nvPr>
            <p:ph type="title"/>
          </p:nvPr>
        </p:nvSpPr>
        <p:spPr>
          <a:ln/>
        </p:spPr>
        <p:txBody>
          <a:bodyPr vert="horz" wrap="square" lIns="91440" tIns="45720" rIns="91440" bIns="45720" anchor="ctr"/>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charRg st="0" end="53"/>
                                            </p:txEl>
                                          </p:spTgt>
                                        </p:tgtEl>
                                        <p:attrNameLst>
                                          <p:attrName>style.visibility</p:attrName>
                                        </p:attrNameLst>
                                      </p:cBhvr>
                                      <p:to>
                                        <p:strVal val="visible"/>
                                      </p:to>
                                    </p:set>
                                    <p:anim calcmode="lin" valueType="num">
                                      <p:cBhvr additive="base">
                                        <p:cTn id="7" dur="500" fill="hold"/>
                                        <p:tgtEl>
                                          <p:spTgt spid="17411">
                                            <p:txEl>
                                              <p:charRg st="0" end="5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charRg st="0" end="5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charRg st="53" end="130"/>
                                            </p:txEl>
                                          </p:spTgt>
                                        </p:tgtEl>
                                        <p:attrNameLst>
                                          <p:attrName>style.visibility</p:attrName>
                                        </p:attrNameLst>
                                      </p:cBhvr>
                                      <p:to>
                                        <p:strVal val="visible"/>
                                      </p:to>
                                    </p:set>
                                    <p:anim calcmode="lin" valueType="num">
                                      <p:cBhvr additive="base">
                                        <p:cTn id="13" dur="500" fill="hold"/>
                                        <p:tgtEl>
                                          <p:spTgt spid="17411">
                                            <p:txEl>
                                              <p:charRg st="53" end="13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charRg st="53" end="13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11">
                                            <p:txEl>
                                              <p:charRg st="130" end="240"/>
                                            </p:txEl>
                                          </p:spTgt>
                                        </p:tgtEl>
                                        <p:attrNameLst>
                                          <p:attrName>style.visibility</p:attrName>
                                        </p:attrNameLst>
                                      </p:cBhvr>
                                      <p:to>
                                        <p:strVal val="visible"/>
                                      </p:to>
                                    </p:set>
                                    <p:anim calcmode="lin" valueType="num">
                                      <p:cBhvr additive="base">
                                        <p:cTn id="19" dur="500" fill="hold"/>
                                        <p:tgtEl>
                                          <p:spTgt spid="17411">
                                            <p:txEl>
                                              <p:charRg st="130" end="24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charRg st="130" end="24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内容占位符 2"/>
          <p:cNvSpPr>
            <a:spLocks noGrp="1"/>
          </p:cNvSpPr>
          <p:nvPr>
            <p:ph idx="1"/>
          </p:nvPr>
        </p:nvSpPr>
        <p:spPr/>
        <p:txBody>
          <a:bodyPr vert="horz" wrap="square" lIns="91440" tIns="45720" rIns="91440" bIns="45720" numCol="1" anchor="t" anchorCtr="0" compatLnSpc="1">
            <a:normAutofit/>
          </a:bodyPr>
          <a:lstStyle/>
          <a:p>
            <a:pPr marL="365760" marR="0" lvl="0" indent="-255905" algn="l" defTabSz="914400" rtl="0" eaLnBrk="0" fontAlgn="auto" latinLnBrk="0" hangingPunct="0">
              <a:lnSpc>
                <a:spcPct val="100000"/>
              </a:lnSpc>
              <a:spcBef>
                <a:spcPct val="20000"/>
              </a:spcBef>
              <a:spcAft>
                <a:spcPts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4.  A lead writer should try not to overwhelm the reader with too much detail</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624205"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5. A leader writer should weed out anything indicative of your own opinion </a:t>
            </a: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624205" marR="0" lvl="0" indent="-514350" algn="l" defTabSz="914400" rtl="0" eaLnBrk="0" fontAlgn="auto" latinLnBrk="0" hangingPunct="0">
              <a:lnSpc>
                <a:spcPct val="100000"/>
              </a:lnSpc>
              <a:spcBef>
                <a:spcPct val="20000"/>
              </a:spcBef>
              <a:spcAft>
                <a:spcPts val="0"/>
              </a:spcAft>
              <a:buClrTx/>
              <a:buSzTx/>
              <a:buFontTx/>
              <a:buAutoNum type="arabicPeriod" startAt="5"/>
              <a:defRPr/>
            </a:pP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624205" marR="0" lvl="0" indent="-514350" algn="l" defTabSz="914400" rtl="0" eaLnBrk="0" fontAlgn="auto" latinLnBrk="0" hangingPunct="0">
              <a:lnSpc>
                <a:spcPct val="100000"/>
              </a:lnSpc>
              <a:spcBef>
                <a:spcPct val="20000"/>
              </a:spcBef>
              <a:spcAft>
                <a:spcPts val="0"/>
              </a:spcAft>
              <a:buClrTx/>
              <a:buSzTx/>
              <a:buFontTx/>
              <a:buAutoNum type="arabicPeriod" startAt="5"/>
              <a:defRPr/>
            </a:pPr>
            <a:endPar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a:p>
            <a:pPr marL="624205" marR="0" lvl="0" indent="-514350" algn="l" defTabSz="914400" rtl="0" eaLnBrk="0" fontAlgn="auto" latinLnBrk="0" hangingPunct="0">
              <a:lnSpc>
                <a:spcPct val="100000"/>
              </a:lnSpc>
              <a:spcBef>
                <a:spcPct val="20000"/>
              </a:spcBef>
              <a:spcAft>
                <a:spcPts val="0"/>
              </a:spcAft>
              <a:buClrTx/>
              <a:buSzTx/>
              <a:buFont typeface="Wingdings 3" panose="05040102010807070707"/>
              <a:buNone/>
              <a:defRPr/>
            </a:pPr>
            <a:r>
              <a:rPr kumimoji="0" lang="en-US" altLang="zh-CN"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rPr>
              <a:t>http://www.chinadaily.com.cn/</a:t>
            </a:r>
            <a:endParaRPr kumimoji="0" lang="zh-CN" altLang="en-US" sz="3200" b="0" i="0" u="none" strike="noStrike" kern="1200" cap="none" spc="0" normalizeH="0" baseline="0" noProof="0" dirty="0">
              <a:ln>
                <a:noFill/>
              </a:ln>
              <a:solidFill>
                <a:schemeClr val="tx1"/>
              </a:solidFill>
              <a:effectLst/>
              <a:uLnTx/>
              <a:uFillTx/>
              <a:latin typeface="Times New Roman" panose="02020503050405090304" pitchFamily="18" charset="0"/>
              <a:ea typeface="+mn-ea"/>
              <a:cs typeface="Times New Roman" panose="02020503050405090304" pitchFamily="18" charset="0"/>
            </a:endParaRPr>
          </a:p>
        </p:txBody>
      </p:sp>
      <p:sp>
        <p:nvSpPr>
          <p:cNvPr id="51202" name="标题 1"/>
          <p:cNvSpPr>
            <a:spLocks noGrp="1"/>
          </p:cNvSpPr>
          <p:nvPr>
            <p:ph type="title"/>
          </p:nvPr>
        </p:nvSpPr>
        <p:spPr>
          <a:ln/>
        </p:spPr>
        <p:txBody>
          <a:bodyPr vert="horz" wrap="square" lIns="91440" tIns="45720" rIns="91440" bIns="45720" anchor="ctr"/>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charRg st="0" end="78"/>
                                            </p:txEl>
                                          </p:spTgt>
                                        </p:tgtEl>
                                        <p:attrNameLst>
                                          <p:attrName>style.visibility</p:attrName>
                                        </p:attrNameLst>
                                      </p:cBhvr>
                                      <p:to>
                                        <p:strVal val="visible"/>
                                      </p:to>
                                    </p:set>
                                    <p:anim calcmode="lin" valueType="num">
                                      <p:cBhvr additive="base">
                                        <p:cTn id="7" dur="500" fill="hold"/>
                                        <p:tgtEl>
                                          <p:spTgt spid="18435">
                                            <p:txEl>
                                              <p:charRg st="0" end="7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charRg st="0" end="7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charRg st="78" end="154"/>
                                            </p:txEl>
                                          </p:spTgt>
                                        </p:tgtEl>
                                        <p:attrNameLst>
                                          <p:attrName>style.visibility</p:attrName>
                                        </p:attrNameLst>
                                      </p:cBhvr>
                                      <p:to>
                                        <p:strVal val="visible"/>
                                      </p:to>
                                    </p:set>
                                    <p:anim calcmode="lin" valueType="num">
                                      <p:cBhvr additive="base">
                                        <p:cTn id="13" dur="500" fill="hold"/>
                                        <p:tgtEl>
                                          <p:spTgt spid="18435">
                                            <p:txEl>
                                              <p:charRg st="78" end="15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charRg st="78" end="15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charRg st="156" end="186"/>
                                            </p:txEl>
                                          </p:spTgt>
                                        </p:tgtEl>
                                        <p:attrNameLst>
                                          <p:attrName>style.visibility</p:attrName>
                                        </p:attrNameLst>
                                      </p:cBhvr>
                                      <p:to>
                                        <p:strVal val="visible"/>
                                      </p:to>
                                    </p:set>
                                    <p:anim calcmode="lin" valueType="num">
                                      <p:cBhvr additive="base">
                                        <p:cTn id="19" dur="500" fill="hold"/>
                                        <p:tgtEl>
                                          <p:spTgt spid="18435">
                                            <p:txEl>
                                              <p:charRg st="156" end="18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charRg st="156" end="18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1" name="Rectangle 3"/>
          <p:cNvSpPr>
            <a:spLocks noGrp="1"/>
          </p:cNvSpPr>
          <p:nvPr>
            <p:ph idx="1"/>
          </p:nvPr>
        </p:nvSpPr>
        <p:spPr>
          <a:xfrm>
            <a:off x="328613" y="765175"/>
            <a:ext cx="7988300" cy="5643563"/>
          </a:xfrm>
          <a:ln/>
        </p:spPr>
        <p:txBody>
          <a:bodyPr vert="horz" wrap="square" lIns="91440" tIns="45720" rIns="91440" bIns="45720" anchor="t"/>
          <a:p>
            <a:pPr marL="609600" indent="-609600"/>
            <a:r>
              <a:rPr lang="en-US" altLang="zh-CN" sz="2400" dirty="0">
                <a:latin typeface="Times New Roman" panose="02020503050405090304" pitchFamily="18" charset="0"/>
              </a:rPr>
              <a:t>6. </a:t>
            </a:r>
            <a:r>
              <a:rPr lang="zh-CN" altLang="en-US" sz="2400" dirty="0">
                <a:latin typeface="Times New Roman" panose="02020503050405090304" pitchFamily="18" charset="0"/>
              </a:rPr>
              <a:t>“</a:t>
            </a:r>
            <a:r>
              <a:rPr lang="en-US" altLang="zh-CN" sz="2400" dirty="0">
                <a:latin typeface="Times New Roman" panose="02020503050405090304" pitchFamily="18" charset="0"/>
              </a:rPr>
              <a:t>A good lead is one that gets the most readers to the next paragraph.”</a:t>
            </a:r>
            <a:endParaRPr lang="en-US" altLang="zh-CN" sz="2400" dirty="0">
              <a:latin typeface="Times New Roman" panose="02020503050405090304" pitchFamily="18" charset="0"/>
            </a:endParaRPr>
          </a:p>
          <a:p>
            <a:pPr marL="609600" indent="-609600"/>
            <a:r>
              <a:rPr lang="en-US" altLang="zh-CN" sz="2400" dirty="0">
                <a:latin typeface="Times New Roman" panose="02020503050405090304" pitchFamily="18" charset="0"/>
              </a:rPr>
              <a:t>A good lead should </a:t>
            </a:r>
            <a:r>
              <a:rPr lang="en-US" altLang="zh-CN" sz="2400" i="1" dirty="0">
                <a:latin typeface="Times New Roman" panose="02020503050405090304" pitchFamily="18" charset="0"/>
              </a:rPr>
              <a:t>inform</a:t>
            </a:r>
            <a:r>
              <a:rPr lang="en-US" altLang="zh-CN" sz="2400" dirty="0">
                <a:latin typeface="Times New Roman" panose="02020503050405090304" pitchFamily="18" charset="0"/>
              </a:rPr>
              <a:t>, </a:t>
            </a:r>
            <a:r>
              <a:rPr lang="en-US" altLang="zh-CN" sz="2400" i="1" dirty="0">
                <a:latin typeface="Times New Roman" panose="02020503050405090304" pitchFamily="18" charset="0"/>
              </a:rPr>
              <a:t>underline</a:t>
            </a:r>
            <a:r>
              <a:rPr lang="en-US" altLang="zh-CN" sz="2400" dirty="0">
                <a:latin typeface="Times New Roman" panose="02020503050405090304" pitchFamily="18" charset="0"/>
              </a:rPr>
              <a:t>, and </a:t>
            </a:r>
            <a:r>
              <a:rPr lang="en-US" altLang="zh-CN" sz="2400" i="1" dirty="0">
                <a:latin typeface="Times New Roman" panose="02020503050405090304" pitchFamily="18" charset="0"/>
              </a:rPr>
              <a:t>stimulate</a:t>
            </a:r>
            <a:r>
              <a:rPr lang="en-US" altLang="zh-CN" sz="2400" dirty="0">
                <a:latin typeface="Times New Roman" panose="02020503050405090304" pitchFamily="18" charset="0"/>
              </a:rPr>
              <a:t> in a way the best conveys a story’s </a:t>
            </a:r>
            <a:r>
              <a:rPr lang="en-US" altLang="zh-CN" sz="2400" i="1" dirty="0">
                <a:latin typeface="Times New Roman" panose="02020503050405090304" pitchFamily="18" charset="0"/>
              </a:rPr>
              <a:t>meaning</a:t>
            </a:r>
            <a:r>
              <a:rPr lang="en-US" altLang="zh-CN" sz="2400" dirty="0">
                <a:latin typeface="Times New Roman" panose="02020503050405090304" pitchFamily="18" charset="0"/>
              </a:rPr>
              <a:t>. </a:t>
            </a:r>
            <a:endParaRPr lang="en-US" altLang="zh-CN" sz="2400" dirty="0">
              <a:latin typeface="Times New Roman" panose="02020503050405090304" pitchFamily="18" charset="0"/>
            </a:endParaRPr>
          </a:p>
          <a:p>
            <a:pPr marL="609600" indent="-609600">
              <a:buNone/>
            </a:pPr>
            <a:r>
              <a:rPr lang="en-US" altLang="zh-CN" sz="2400" dirty="0">
                <a:latin typeface="Times New Roman" panose="02020503050405090304" pitchFamily="18" charset="0"/>
              </a:rPr>
              <a:t>       e.g., Dental surgeons said yesterday they had discovered why snoring can kill sometimes: it can damage the arteries.</a:t>
            </a:r>
            <a:endParaRPr lang="en-US" altLang="zh-CN" sz="2400" dirty="0">
              <a:latin typeface="Times New Roman" panose="02020503050405090304" pitchFamily="18" charset="0"/>
              <a:ea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71">
                                            <p:txEl>
                                              <p:charRg st="0" end="74"/>
                                            </p:txEl>
                                          </p:spTgt>
                                        </p:tgtEl>
                                        <p:attrNameLst>
                                          <p:attrName>style.visibility</p:attrName>
                                        </p:attrNameLst>
                                      </p:cBhvr>
                                      <p:to>
                                        <p:strVal val="visible"/>
                                      </p:to>
                                    </p:set>
                                    <p:animEffect transition="in" filter="blinds(horizontal)">
                                      <p:cBhvr>
                                        <p:cTn id="7" dur="500"/>
                                        <p:tgtEl>
                                          <p:spTgt spid="83971">
                                            <p:txEl>
                                              <p:charRg st="0" end="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971">
                                            <p:txEl>
                                              <p:charRg st="74" end="172"/>
                                            </p:txEl>
                                          </p:spTgt>
                                        </p:tgtEl>
                                        <p:attrNameLst>
                                          <p:attrName>style.visibility</p:attrName>
                                        </p:attrNameLst>
                                      </p:cBhvr>
                                      <p:to>
                                        <p:strVal val="visible"/>
                                      </p:to>
                                    </p:set>
                                    <p:animEffect transition="in" filter="blinds(horizontal)">
                                      <p:cBhvr>
                                        <p:cTn id="12" dur="500"/>
                                        <p:tgtEl>
                                          <p:spTgt spid="83971">
                                            <p:txEl>
                                              <p:charRg st="74" end="1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3971">
                                            <p:txEl>
                                              <p:charRg st="172" end="296"/>
                                            </p:txEl>
                                          </p:spTgt>
                                        </p:tgtEl>
                                        <p:attrNameLst>
                                          <p:attrName>style.visibility</p:attrName>
                                        </p:attrNameLst>
                                      </p:cBhvr>
                                      <p:to>
                                        <p:strVal val="visible"/>
                                      </p:to>
                                    </p:set>
                                    <p:animEffect transition="in" filter="blinds(horizontal)">
                                      <p:cBhvr>
                                        <p:cTn id="17" dur="500"/>
                                        <p:tgtEl>
                                          <p:spTgt spid="83971">
                                            <p:txEl>
                                              <p:charRg st="172" end="2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内容占位符 2"/>
          <p:cNvSpPr>
            <a:spLocks noGrp="1"/>
          </p:cNvSpPr>
          <p:nvPr>
            <p:ph idx="1"/>
          </p:nvPr>
        </p:nvSpPr>
        <p:spPr>
          <a:xfrm>
            <a:off x="468313" y="692150"/>
            <a:ext cx="8229600" cy="5329238"/>
          </a:xfrm>
          <a:ln/>
        </p:spPr>
        <p:txBody>
          <a:bodyPr vert="horz" wrap="square" lIns="91440" tIns="45720" rIns="91440" bIns="45720" anchor="t"/>
          <a:p>
            <a:pPr algn="just">
              <a:buNone/>
            </a:pPr>
            <a:r>
              <a:rPr lang="en-US" altLang="zh-CN" sz="2400" dirty="0">
                <a:latin typeface="Times New Roman" panose="02020503050405090304" pitchFamily="18" charset="0"/>
              </a:rPr>
              <a:t>         Li Jun and Wang Hao are fourth-year computer major sharing the same dormitory. Due to a severe case of polio in childhood, Wang Hao has to walk with two crutches. For more than three years since they entered the University, Li Jun has been helping his roommate climb stairs, carry things, and get meals and hot water regardless of how bad the weather is. Last semester when the class had an outing, Li Jun borrowed a wheelchair so that Wang Hao could go hiking with others. Li and other students pushed the wheelchair all the way to the top of the mountain. Because of what Li Jun has done for Wang Hao over the years, the student union of the University decided at a recent meeting to award Li Jun the title of “ Model Student in Learning from Lei Feng” when they hold the May Fourth Youth Day student meeting next week. </a:t>
            </a:r>
            <a:endParaRPr lang="zh-CN" altLang="zh-CN" sz="2400" dirty="0">
              <a:latin typeface="Times New Roman" panose="02020503050405090304" pitchFamily="18" charset="0"/>
            </a:endParaRPr>
          </a:p>
          <a:p>
            <a:pPr algn="just">
              <a:buNone/>
            </a:pPr>
            <a:endParaRPr lang="zh-CN" altLang="en-US" sz="2400" dirty="0">
              <a:latin typeface="Times New Roman" panose="02020503050405090304" pitchFamily="18" charset="0"/>
              <a:ea typeface="Times New Roman" panose="0202050305040509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内容占位符 2"/>
          <p:cNvSpPr>
            <a:spLocks noGrp="1"/>
          </p:cNvSpPr>
          <p:nvPr>
            <p:ph idx="1"/>
          </p:nvPr>
        </p:nvSpPr>
        <p:spPr>
          <a:ln/>
        </p:spPr>
        <p:txBody>
          <a:bodyPr vert="horz" wrap="square" lIns="91440" tIns="45720" rIns="91440" bIns="45720" anchor="t"/>
          <a:p>
            <a:pPr>
              <a:buNone/>
            </a:pPr>
            <a:r>
              <a:rPr lang="en-US" altLang="zh-CN" sz="2400" dirty="0">
                <a:latin typeface="Times New Roman" panose="02020503050405090304" pitchFamily="18" charset="0"/>
              </a:rPr>
              <a:t>           </a:t>
            </a:r>
            <a:r>
              <a:rPr lang="en-US" altLang="zh-CN" sz="2800" dirty="0">
                <a:latin typeface="Times New Roman" panose="02020503050405090304" pitchFamily="18" charset="0"/>
              </a:rPr>
              <a:t>The student union next week will award the title of “Model Student in Learning from Lei Feng” to a fourth-year computer major who has been, for more than three years, helping a disabled roommate climb stairs, carry books , and get meals and hot water. </a:t>
            </a:r>
            <a:endParaRPr lang="zh-CN" altLang="en-US" sz="2800" dirty="0">
              <a:latin typeface="Times New Roman" panose="02020503050405090304" pitchFamily="18" charset="0"/>
              <a:ea typeface="Times New Roman" panose="02020503050405090304" pitchFamily="18" charset="0"/>
            </a:endParaRPr>
          </a:p>
        </p:txBody>
      </p:sp>
      <p:sp>
        <p:nvSpPr>
          <p:cNvPr id="55298" name="标题 1"/>
          <p:cNvSpPr>
            <a:spLocks noGrp="1"/>
          </p:cNvSpPr>
          <p:nvPr>
            <p:ph type="title"/>
          </p:nvPr>
        </p:nvSpPr>
        <p:spPr>
          <a:ln/>
        </p:spPr>
        <p:txBody>
          <a:bodyPr vert="horz" wrap="square" lIns="91440" tIns="45720" rIns="91440" bIns="45720" anchor="ctr"/>
          <a:p>
            <a:r>
              <a:rPr lang="en-US" altLang="zh-CN" dirty="0"/>
              <a:t>Sample lead</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1" name="Rectangle 3"/>
          <p:cNvSpPr>
            <a:spLocks noGrp="1"/>
          </p:cNvSpPr>
          <p:nvPr>
            <p:ph idx="1"/>
          </p:nvPr>
        </p:nvSpPr>
        <p:spPr>
          <a:xfrm>
            <a:off x="755650" y="260350"/>
            <a:ext cx="7848600" cy="6337300"/>
          </a:xfrm>
          <a:ln/>
        </p:spPr>
        <p:txBody>
          <a:bodyPr vert="horz" wrap="square" lIns="91440" tIns="45720" rIns="91440" bIns="45720" anchor="t"/>
          <a:p>
            <a:pPr marL="609600" indent="-609600">
              <a:buNone/>
            </a:pPr>
            <a:r>
              <a:rPr lang="en-US" altLang="zh-CN" sz="2800" i="1" dirty="0">
                <a:latin typeface="Times New Roman" panose="02020503050405090304" pitchFamily="18" charset="0"/>
              </a:rPr>
              <a:t>Write up a lead based on the following facts. You don’t have to include all details.</a:t>
            </a:r>
            <a:endParaRPr lang="en-US" altLang="zh-CN" sz="2800" dirty="0">
              <a:latin typeface="Times New Roman" panose="02020503050405090304" pitchFamily="18" charset="0"/>
            </a:endParaRPr>
          </a:p>
          <a:p>
            <a:pPr marL="609600" indent="-609600"/>
            <a:r>
              <a:rPr lang="en-US" altLang="zh-CN" sz="2800" dirty="0">
                <a:latin typeface="Times New Roman" panose="02020503050405090304" pitchFamily="18" charset="0"/>
              </a:rPr>
              <a:t>Who: A boy student and a girl student, Professor Tang, all from the Chinese Department of Nanjing University </a:t>
            </a:r>
            <a:endParaRPr lang="en-US" altLang="zh-CN" sz="2800" dirty="0">
              <a:latin typeface="Times New Roman" panose="02020503050405090304" pitchFamily="18" charset="0"/>
            </a:endParaRPr>
          </a:p>
          <a:p>
            <a:pPr marL="609600" indent="-609600"/>
            <a:r>
              <a:rPr lang="en-US" altLang="zh-CN" sz="2800" dirty="0">
                <a:latin typeface="Times New Roman" panose="02020503050405090304" pitchFamily="18" charset="0"/>
              </a:rPr>
              <a:t>What: The boy confessed his love to the girl in front of their classmates and took her away with the professor’s consent; the story spread rapidly and created a stir on the Internet</a:t>
            </a:r>
            <a:endParaRPr lang="en-US" altLang="zh-CN" sz="2800" dirty="0">
              <a:latin typeface="Times New Roman" panose="02020503050405090304" pitchFamily="18" charset="0"/>
            </a:endParaRPr>
          </a:p>
          <a:p>
            <a:pPr marL="609600" indent="-609600"/>
            <a:r>
              <a:rPr lang="en-US" altLang="zh-CN" sz="2800" dirty="0">
                <a:latin typeface="Times New Roman" panose="02020503050405090304" pitchFamily="18" charset="0"/>
              </a:rPr>
              <a:t>When: Tuesday, right before the Foreign Literature class started</a:t>
            </a:r>
            <a:endParaRPr lang="en-US" altLang="zh-CN" sz="2800" dirty="0">
              <a:latin typeface="Times New Roman" panose="02020503050405090304" pitchFamily="18" charset="0"/>
            </a:endParaRPr>
          </a:p>
          <a:p>
            <a:pPr marL="609600" indent="-609600"/>
            <a:r>
              <a:rPr lang="en-US" altLang="zh-CN" sz="2800" dirty="0">
                <a:latin typeface="Times New Roman" panose="02020503050405090304" pitchFamily="18" charset="0"/>
              </a:rPr>
              <a:t>Where: in a classroom on Xianlin campus</a:t>
            </a:r>
            <a:endParaRPr lang="zh-CN" altLang="en-US" sz="2800" dirty="0">
              <a:latin typeface="Times New Roman" panose="02020503050405090304" pitchFamily="18" charset="0"/>
              <a:ea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9091">
                                            <p:txEl>
                                              <p:charRg st="0" end="85"/>
                                            </p:txEl>
                                          </p:spTgt>
                                        </p:tgtEl>
                                        <p:attrNameLst>
                                          <p:attrName>style.visibility</p:attrName>
                                        </p:attrNameLst>
                                      </p:cBhvr>
                                      <p:to>
                                        <p:strVal val="visible"/>
                                      </p:to>
                                    </p:set>
                                    <p:animEffect transition="in" filter="blinds(horizontal)">
                                      <p:cBhvr>
                                        <p:cTn id="7" dur="500"/>
                                        <p:tgtEl>
                                          <p:spTgt spid="89091">
                                            <p:txEl>
                                              <p:charRg st="0" end="8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9091">
                                            <p:txEl>
                                              <p:charRg st="85" end="195"/>
                                            </p:txEl>
                                          </p:spTgt>
                                        </p:tgtEl>
                                        <p:attrNameLst>
                                          <p:attrName>style.visibility</p:attrName>
                                        </p:attrNameLst>
                                      </p:cBhvr>
                                      <p:to>
                                        <p:strVal val="visible"/>
                                      </p:to>
                                    </p:set>
                                    <p:animEffect transition="in" filter="blinds(horizontal)">
                                      <p:cBhvr>
                                        <p:cTn id="12" dur="500"/>
                                        <p:tgtEl>
                                          <p:spTgt spid="89091">
                                            <p:txEl>
                                              <p:charRg st="85" end="1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9091">
                                            <p:txEl>
                                              <p:charRg st="195" end="377"/>
                                            </p:txEl>
                                          </p:spTgt>
                                        </p:tgtEl>
                                        <p:attrNameLst>
                                          <p:attrName>style.visibility</p:attrName>
                                        </p:attrNameLst>
                                      </p:cBhvr>
                                      <p:to>
                                        <p:strVal val="visible"/>
                                      </p:to>
                                    </p:set>
                                    <p:animEffect transition="in" filter="blinds(horizontal)">
                                      <p:cBhvr>
                                        <p:cTn id="17" dur="500"/>
                                        <p:tgtEl>
                                          <p:spTgt spid="89091">
                                            <p:txEl>
                                              <p:charRg st="195" end="37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9091">
                                            <p:txEl>
                                              <p:charRg st="377" end="442"/>
                                            </p:txEl>
                                          </p:spTgt>
                                        </p:tgtEl>
                                        <p:attrNameLst>
                                          <p:attrName>style.visibility</p:attrName>
                                        </p:attrNameLst>
                                      </p:cBhvr>
                                      <p:to>
                                        <p:strVal val="visible"/>
                                      </p:to>
                                    </p:set>
                                    <p:animEffect transition="in" filter="blinds(horizontal)">
                                      <p:cBhvr>
                                        <p:cTn id="22" dur="500"/>
                                        <p:tgtEl>
                                          <p:spTgt spid="89091">
                                            <p:txEl>
                                              <p:charRg st="377" end="44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9091">
                                            <p:txEl>
                                              <p:charRg st="442" end="482"/>
                                            </p:txEl>
                                          </p:spTgt>
                                        </p:tgtEl>
                                        <p:attrNameLst>
                                          <p:attrName>style.visibility</p:attrName>
                                        </p:attrNameLst>
                                      </p:cBhvr>
                                      <p:to>
                                        <p:strVal val="visible"/>
                                      </p:to>
                                    </p:set>
                                    <p:animEffect transition="in" filter="blinds(horizontal)">
                                      <p:cBhvr>
                                        <p:cTn id="27" dur="500"/>
                                        <p:tgtEl>
                                          <p:spTgt spid="89091">
                                            <p:txEl>
                                              <p:charRg st="442" end="4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Rectangle 3"/>
          <p:cNvSpPr>
            <a:spLocks noGrp="1"/>
          </p:cNvSpPr>
          <p:nvPr>
            <p:ph idx="1"/>
          </p:nvPr>
        </p:nvSpPr>
        <p:spPr>
          <a:xfrm>
            <a:off x="3708400" y="1628775"/>
            <a:ext cx="1868488" cy="493713"/>
          </a:xfrm>
          <a:ln/>
        </p:spPr>
        <p:txBody>
          <a:bodyPr vert="horz" wrap="square" lIns="91440" tIns="45720" rIns="91440" bIns="45720" anchor="t"/>
          <a:p>
            <a:pPr marL="609600" indent="-609600">
              <a:lnSpc>
                <a:spcPct val="80000"/>
              </a:lnSpc>
              <a:buNone/>
            </a:pPr>
            <a:endParaRPr lang="zh-CN" altLang="en-US" sz="2600" dirty="0"/>
          </a:p>
        </p:txBody>
      </p:sp>
      <p:sp>
        <p:nvSpPr>
          <p:cNvPr id="58370" name="Rectangle 20"/>
          <p:cNvSpPr>
            <a:spLocks noGrp="1"/>
          </p:cNvSpPr>
          <p:nvPr>
            <p:ph type="title"/>
          </p:nvPr>
        </p:nvSpPr>
        <p:spPr>
          <a:xfrm>
            <a:off x="1371600" y="188913"/>
            <a:ext cx="7772400" cy="1143000"/>
          </a:xfrm>
          <a:ln/>
        </p:spPr>
        <p:txBody>
          <a:bodyPr vert="horz" wrap="square" lIns="91440" tIns="45720" rIns="91440" bIns="45720" anchor="ctr"/>
          <a:p>
            <a:pPr marL="1117600" indent="-1117600"/>
            <a:r>
              <a:rPr lang="en-US" altLang="zh-CN" sz="4000" dirty="0">
                <a:solidFill>
                  <a:srgbClr val="0066CC"/>
                </a:solidFill>
              </a:rPr>
              <a:t>The Inverted Pyramid</a:t>
            </a:r>
            <a:r>
              <a:rPr lang="en-US" altLang="zh-CN" dirty="0"/>
              <a:t> </a:t>
            </a:r>
            <a:endParaRPr lang="zh-CN" altLang="en-US" dirty="0"/>
          </a:p>
        </p:txBody>
      </p:sp>
      <p:sp>
        <p:nvSpPr>
          <p:cNvPr id="58371" name="AutoShape 4"/>
          <p:cNvSpPr/>
          <p:nvPr/>
        </p:nvSpPr>
        <p:spPr>
          <a:xfrm rot="10800000">
            <a:off x="1979613" y="1341438"/>
            <a:ext cx="5329237" cy="4321175"/>
          </a:xfrm>
          <a:prstGeom prst="triangle">
            <a:avLst>
              <a:gd name="adj" fmla="val 50000"/>
            </a:avLst>
          </a:prstGeom>
          <a:solidFill>
            <a:srgbClr val="FFFFCC"/>
          </a:solidFill>
          <a:ln w="9525" cap="flat" cmpd="sng">
            <a:solidFill>
              <a:srgbClr val="000000"/>
            </a:solidFill>
            <a:prstDash val="solid"/>
            <a:miter/>
            <a:headEnd type="none" w="med" len="med"/>
            <a:tailEnd type="none" w="med" len="med"/>
          </a:ln>
        </p:spPr>
        <p:txBody>
          <a:bodyPr rot="10800000" wrap="none" anchor="ctr"/>
          <a:p>
            <a:pPr indent="0"/>
            <a:endParaRPr lang="zh-CN" altLang="en-US" sz="1800" dirty="0">
              <a:solidFill>
                <a:srgbClr val="0066CC"/>
              </a:solidFill>
              <a:latin typeface="Arial" panose="020B0604020202090204" pitchFamily="34" charset="0"/>
              <a:ea typeface="宋体" pitchFamily="2" charset="-122"/>
            </a:endParaRPr>
          </a:p>
        </p:txBody>
      </p:sp>
      <p:sp>
        <p:nvSpPr>
          <p:cNvPr id="58372" name="Line 12"/>
          <p:cNvSpPr/>
          <p:nvPr/>
        </p:nvSpPr>
        <p:spPr>
          <a:xfrm>
            <a:off x="3779838" y="4221163"/>
            <a:ext cx="1728787" cy="0"/>
          </a:xfrm>
          <a:prstGeom prst="line">
            <a:avLst/>
          </a:prstGeom>
          <a:ln w="9525" cap="flat" cmpd="sng">
            <a:solidFill>
              <a:srgbClr val="000000"/>
            </a:solidFill>
            <a:prstDash val="solid"/>
            <a:round/>
            <a:headEnd type="none" w="med" len="med"/>
            <a:tailEnd type="none" w="med" len="med"/>
          </a:ln>
        </p:spPr>
      </p:sp>
      <p:sp>
        <p:nvSpPr>
          <p:cNvPr id="58373" name="Line 13"/>
          <p:cNvSpPr/>
          <p:nvPr/>
        </p:nvSpPr>
        <p:spPr>
          <a:xfrm>
            <a:off x="2555875" y="2205038"/>
            <a:ext cx="4176713" cy="0"/>
          </a:xfrm>
          <a:prstGeom prst="line">
            <a:avLst/>
          </a:prstGeom>
          <a:ln w="9525" cap="flat" cmpd="sng">
            <a:solidFill>
              <a:srgbClr val="000000"/>
            </a:solidFill>
            <a:prstDash val="solid"/>
            <a:round/>
            <a:headEnd type="none" w="med" len="med"/>
            <a:tailEnd type="none" w="med" len="med"/>
          </a:ln>
        </p:spPr>
      </p:sp>
      <p:sp>
        <p:nvSpPr>
          <p:cNvPr id="58374" name="Line 15"/>
          <p:cNvSpPr/>
          <p:nvPr/>
        </p:nvSpPr>
        <p:spPr>
          <a:xfrm>
            <a:off x="3203575" y="3213100"/>
            <a:ext cx="2952750" cy="0"/>
          </a:xfrm>
          <a:prstGeom prst="line">
            <a:avLst/>
          </a:prstGeom>
          <a:ln w="9525" cap="flat" cmpd="sng">
            <a:solidFill>
              <a:srgbClr val="000000"/>
            </a:solidFill>
            <a:prstDash val="solid"/>
            <a:round/>
            <a:headEnd type="none" w="med" len="med"/>
            <a:tailEnd type="none" w="med" len="med"/>
          </a:ln>
        </p:spPr>
      </p:sp>
      <p:sp>
        <p:nvSpPr>
          <p:cNvPr id="58375" name="Text Box 16"/>
          <p:cNvSpPr txBox="1"/>
          <p:nvPr/>
        </p:nvSpPr>
        <p:spPr>
          <a:xfrm>
            <a:off x="3563938" y="1844675"/>
            <a:ext cx="2303462" cy="366713"/>
          </a:xfrm>
          <a:prstGeom prst="rect">
            <a:avLst/>
          </a:prstGeom>
          <a:noFill/>
          <a:ln w="9525">
            <a:noFill/>
          </a:ln>
        </p:spPr>
        <p:txBody>
          <a:bodyPr anchor="t">
            <a:spAutoFit/>
          </a:bodyPr>
          <a:p>
            <a:pPr indent="0">
              <a:spcBef>
                <a:spcPct val="50000"/>
              </a:spcBef>
            </a:pPr>
            <a:r>
              <a:rPr lang="en-US" altLang="zh-CN" sz="1800" dirty="0">
                <a:latin typeface="Arial" panose="020B0604020202090204" pitchFamily="34" charset="0"/>
                <a:ea typeface="宋体" pitchFamily="2" charset="-122"/>
              </a:rPr>
              <a:t>Summary lead</a:t>
            </a:r>
            <a:endParaRPr lang="en-US" altLang="zh-CN" sz="1800" dirty="0">
              <a:latin typeface="Arial" panose="020B0604020202090204" pitchFamily="34" charset="0"/>
              <a:ea typeface="宋体" pitchFamily="2" charset="-122"/>
            </a:endParaRPr>
          </a:p>
        </p:txBody>
      </p:sp>
      <p:sp>
        <p:nvSpPr>
          <p:cNvPr id="58376" name="Text Box 17"/>
          <p:cNvSpPr txBox="1"/>
          <p:nvPr/>
        </p:nvSpPr>
        <p:spPr>
          <a:xfrm>
            <a:off x="3565525" y="2403475"/>
            <a:ext cx="2303463" cy="779463"/>
          </a:xfrm>
          <a:prstGeom prst="rect">
            <a:avLst/>
          </a:prstGeom>
          <a:noFill/>
          <a:ln w="9525">
            <a:noFill/>
          </a:ln>
        </p:spPr>
        <p:txBody>
          <a:bodyPr anchor="t">
            <a:spAutoFit/>
          </a:bodyPr>
          <a:p>
            <a:pPr indent="0" algn="ctr">
              <a:spcBef>
                <a:spcPct val="50000"/>
              </a:spcBef>
            </a:pPr>
            <a:r>
              <a:rPr lang="en-US" altLang="zh-CN" sz="1800" dirty="0">
                <a:latin typeface="Arial" panose="020B0604020202090204" pitchFamily="34" charset="0"/>
                <a:ea typeface="宋体" pitchFamily="2" charset="-122"/>
              </a:rPr>
              <a:t>Backup</a:t>
            </a:r>
            <a:endParaRPr lang="en-US" altLang="zh-CN" sz="1800" dirty="0">
              <a:latin typeface="Arial" panose="020B0604020202090204" pitchFamily="34" charset="0"/>
              <a:ea typeface="宋体" pitchFamily="2" charset="-122"/>
            </a:endParaRPr>
          </a:p>
          <a:p>
            <a:pPr indent="0">
              <a:spcBef>
                <a:spcPct val="50000"/>
              </a:spcBef>
            </a:pPr>
            <a:r>
              <a:rPr lang="en-US" altLang="zh-CN" sz="1800" dirty="0">
                <a:latin typeface="Arial" panose="020B0604020202090204" pitchFamily="34" charset="0"/>
                <a:ea typeface="宋体" pitchFamily="2" charset="-122"/>
              </a:rPr>
              <a:t>(quotes or facts)</a:t>
            </a:r>
            <a:endParaRPr lang="en-US" altLang="zh-CN" sz="1800" dirty="0">
              <a:latin typeface="Arial" panose="020B0604020202090204" pitchFamily="34" charset="0"/>
              <a:ea typeface="宋体" pitchFamily="2" charset="-122"/>
            </a:endParaRPr>
          </a:p>
        </p:txBody>
      </p:sp>
      <p:sp>
        <p:nvSpPr>
          <p:cNvPr id="58377" name="Text Box 18"/>
          <p:cNvSpPr txBox="1"/>
          <p:nvPr/>
        </p:nvSpPr>
        <p:spPr>
          <a:xfrm>
            <a:off x="3708400" y="3619500"/>
            <a:ext cx="2303463" cy="366713"/>
          </a:xfrm>
          <a:prstGeom prst="rect">
            <a:avLst/>
          </a:prstGeom>
          <a:noFill/>
          <a:ln w="9525">
            <a:noFill/>
          </a:ln>
        </p:spPr>
        <p:txBody>
          <a:bodyPr anchor="t">
            <a:spAutoFit/>
          </a:bodyPr>
          <a:p>
            <a:pPr indent="0">
              <a:spcBef>
                <a:spcPct val="50000"/>
              </a:spcBef>
            </a:pPr>
            <a:r>
              <a:rPr lang="en-US" altLang="zh-CN" sz="1800" dirty="0">
                <a:latin typeface="Arial" panose="020B0604020202090204" pitchFamily="34" charset="0"/>
                <a:ea typeface="宋体" pitchFamily="2" charset="-122"/>
              </a:rPr>
              <a:t>Supporting points</a:t>
            </a:r>
            <a:endParaRPr lang="en-US" altLang="zh-CN" sz="1800" dirty="0">
              <a:latin typeface="Arial" panose="020B0604020202090204" pitchFamily="34" charset="0"/>
              <a:ea typeface="宋体" pitchFamily="2" charset="-122"/>
            </a:endParaRPr>
          </a:p>
        </p:txBody>
      </p:sp>
      <p:sp>
        <p:nvSpPr>
          <p:cNvPr id="58378" name="Text Box 19"/>
          <p:cNvSpPr txBox="1"/>
          <p:nvPr/>
        </p:nvSpPr>
        <p:spPr>
          <a:xfrm>
            <a:off x="4105275" y="4392613"/>
            <a:ext cx="2303463" cy="366712"/>
          </a:xfrm>
          <a:prstGeom prst="rect">
            <a:avLst/>
          </a:prstGeom>
          <a:noFill/>
          <a:ln w="9525">
            <a:noFill/>
          </a:ln>
        </p:spPr>
        <p:txBody>
          <a:bodyPr anchor="t">
            <a:spAutoFit/>
          </a:bodyPr>
          <a:p>
            <a:pPr indent="0">
              <a:spcBef>
                <a:spcPct val="50000"/>
              </a:spcBef>
            </a:pPr>
            <a:r>
              <a:rPr lang="en-US" altLang="zh-CN" sz="1800" dirty="0">
                <a:latin typeface="Arial" panose="020B0604020202090204" pitchFamily="34" charset="0"/>
                <a:ea typeface="宋体" pitchFamily="2" charset="-122"/>
              </a:rPr>
              <a:t>Ending</a:t>
            </a:r>
            <a:endParaRPr lang="en-US" altLang="zh-CN" sz="1800" dirty="0">
              <a:latin typeface="Arial" panose="020B0604020202090204"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79875">
                                            <p:txEl>
                                              <p:charRg st="0" end="1"/>
                                            </p:txEl>
                                          </p:spTgt>
                                        </p:tgtEl>
                                        <p:attrNameLst>
                                          <p:attrName>style.visibility</p:attrName>
                                        </p:attrNameLst>
                                      </p:cBhvr>
                                      <p:to>
                                        <p:strVal val="visible"/>
                                      </p:to>
                                    </p:set>
                                    <p:animEffect transition="in" filter="blinds(horizontal)">
                                      <p:cBhvr>
                                        <p:cTn id="7" dur="500"/>
                                        <p:tgtEl>
                                          <p:spTgt spid="79875">
                                            <p:txEl>
                                              <p:charRg st="0"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9" name="Rectangle 3"/>
          <p:cNvSpPr>
            <a:spLocks noGrp="1"/>
          </p:cNvSpPr>
          <p:nvPr>
            <p:ph idx="1"/>
          </p:nvPr>
        </p:nvSpPr>
        <p:spPr>
          <a:xfrm>
            <a:off x="827088" y="981075"/>
            <a:ext cx="7772400" cy="5389563"/>
          </a:xfrm>
          <a:ln/>
        </p:spPr>
        <p:txBody>
          <a:bodyPr vert="horz" wrap="square" lIns="91440" tIns="45720" rIns="91440" bIns="45720" anchor="t"/>
          <a:p>
            <a:pPr marL="609600" indent="-609600">
              <a:lnSpc>
                <a:spcPct val="80000"/>
              </a:lnSpc>
              <a:buFont typeface="Wingdings 3" panose="05040102010807070707" pitchFamily="18" charset="2"/>
              <a:buNone/>
            </a:pPr>
            <a:r>
              <a:rPr lang="en-US" altLang="zh-CN" sz="2800" dirty="0">
                <a:latin typeface="Times New Roman" panose="02020503050405090304" pitchFamily="18" charset="0"/>
              </a:rPr>
              <a:t>1. The inverted pyramid form comes from the American Civil War </a:t>
            </a:r>
            <a:endParaRPr lang="en-US" altLang="zh-CN" sz="2800" dirty="0">
              <a:latin typeface="Times New Roman" panose="02020503050405090304" pitchFamily="18" charset="0"/>
            </a:endParaRPr>
          </a:p>
          <a:p>
            <a:pPr marL="609600" indent="-609600">
              <a:lnSpc>
                <a:spcPct val="80000"/>
              </a:lnSpc>
              <a:buFont typeface="Wingdings 3" panose="05040102010807070707" pitchFamily="18" charset="2"/>
              <a:buNone/>
            </a:pPr>
            <a:r>
              <a:rPr lang="en-US" altLang="zh-CN" sz="2800" dirty="0">
                <a:latin typeface="Times New Roman" panose="02020503050405090304" pitchFamily="18" charset="0"/>
              </a:rPr>
              <a:t>2. The inverted pyramid lead is presented as </a:t>
            </a:r>
            <a:r>
              <a:rPr lang="en-US" altLang="zh-CN" sz="2800" dirty="0">
                <a:solidFill>
                  <a:srgbClr val="FF0000"/>
                </a:solidFill>
                <a:latin typeface="Times New Roman" panose="02020503050405090304" pitchFamily="18" charset="0"/>
              </a:rPr>
              <a:t>simply and clearly </a:t>
            </a:r>
            <a:r>
              <a:rPr lang="en-US" altLang="zh-CN" sz="2800" dirty="0">
                <a:latin typeface="Times New Roman" panose="02020503050405090304" pitchFamily="18" charset="0"/>
              </a:rPr>
              <a:t>as possible </a:t>
            </a:r>
            <a:endParaRPr lang="en-US" altLang="zh-CN" sz="2800" dirty="0">
              <a:latin typeface="Times New Roman" panose="02020503050405090304" pitchFamily="18" charset="0"/>
            </a:endParaRPr>
          </a:p>
          <a:p>
            <a:pPr marL="609600" indent="-609600">
              <a:lnSpc>
                <a:spcPct val="80000"/>
              </a:lnSpc>
              <a:buFont typeface="Wingdings 3" panose="05040102010807070707" pitchFamily="18" charset="2"/>
              <a:buNone/>
            </a:pPr>
            <a:r>
              <a:rPr lang="en-US" altLang="zh-CN" sz="2800" dirty="0">
                <a:latin typeface="Times New Roman" panose="02020503050405090304" pitchFamily="18" charset="0"/>
              </a:rPr>
              <a:t>3. decide what is most important and what should follow in descending order of importance </a:t>
            </a:r>
            <a:endParaRPr lang="en-US" altLang="zh-CN" sz="2800" dirty="0">
              <a:latin typeface="Times New Roman" panose="02020503050405090304" pitchFamily="18" charset="0"/>
            </a:endParaRPr>
          </a:p>
          <a:p>
            <a:pPr marL="609600" indent="-609600">
              <a:lnSpc>
                <a:spcPct val="80000"/>
              </a:lnSpc>
              <a:buFont typeface="Wingdings 3" panose="05040102010807070707" pitchFamily="18" charset="2"/>
              <a:buNone/>
            </a:pPr>
            <a:r>
              <a:rPr lang="en-US" altLang="zh-CN" sz="2800" dirty="0">
                <a:latin typeface="Times New Roman" panose="02020503050405090304" pitchFamily="18" charset="0"/>
              </a:rPr>
              <a:t>4. The inverted pyramid saves readers time and editors space</a:t>
            </a:r>
            <a:endParaRPr lang="en-US" altLang="zh-CN" sz="2800" dirty="0">
              <a:latin typeface="Times New Roman" panose="02020503050405090304" pitchFamily="18" charset="0"/>
            </a:endParaRPr>
          </a:p>
          <a:p>
            <a:pPr marL="609600" indent="-609600">
              <a:lnSpc>
                <a:spcPct val="80000"/>
              </a:lnSpc>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9">
                                            <p:txEl>
                                              <p:charRg st="0" end="64"/>
                                            </p:txEl>
                                          </p:spTgt>
                                        </p:tgtEl>
                                        <p:attrNameLst>
                                          <p:attrName>style.visibility</p:attrName>
                                        </p:attrNameLst>
                                      </p:cBhvr>
                                      <p:to>
                                        <p:strVal val="visible"/>
                                      </p:to>
                                    </p:set>
                                    <p:animEffect transition="in" filter="blinds(horizontal)">
                                      <p:cBhvr>
                                        <p:cTn id="7" dur="500"/>
                                        <p:tgtEl>
                                          <p:spTgt spid="80899">
                                            <p:txEl>
                                              <p:charRg st="0"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0899">
                                            <p:txEl>
                                              <p:charRg st="64" end="141"/>
                                            </p:txEl>
                                          </p:spTgt>
                                        </p:tgtEl>
                                        <p:attrNameLst>
                                          <p:attrName>style.visibility</p:attrName>
                                        </p:attrNameLst>
                                      </p:cBhvr>
                                      <p:to>
                                        <p:strVal val="visible"/>
                                      </p:to>
                                    </p:set>
                                    <p:animEffect transition="in" filter="blinds(horizontal)">
                                      <p:cBhvr>
                                        <p:cTn id="12" dur="500"/>
                                        <p:tgtEl>
                                          <p:spTgt spid="80899">
                                            <p:txEl>
                                              <p:charRg st="64" end="1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899">
                                            <p:txEl>
                                              <p:charRg st="141" end="232"/>
                                            </p:txEl>
                                          </p:spTgt>
                                        </p:tgtEl>
                                        <p:attrNameLst>
                                          <p:attrName>style.visibility</p:attrName>
                                        </p:attrNameLst>
                                      </p:cBhvr>
                                      <p:to>
                                        <p:strVal val="visible"/>
                                      </p:to>
                                    </p:set>
                                    <p:animEffect transition="in" filter="blinds(horizontal)">
                                      <p:cBhvr>
                                        <p:cTn id="17" dur="500"/>
                                        <p:tgtEl>
                                          <p:spTgt spid="80899">
                                            <p:txEl>
                                              <p:charRg st="141" end="2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0899">
                                            <p:txEl>
                                              <p:charRg st="232" end="293"/>
                                            </p:txEl>
                                          </p:spTgt>
                                        </p:tgtEl>
                                        <p:attrNameLst>
                                          <p:attrName>style.visibility</p:attrName>
                                        </p:attrNameLst>
                                      </p:cBhvr>
                                      <p:to>
                                        <p:strVal val="visible"/>
                                      </p:to>
                                    </p:set>
                                    <p:animEffect transition="in" filter="blinds(horizontal)">
                                      <p:cBhvr>
                                        <p:cTn id="22" dur="500"/>
                                        <p:tgtEl>
                                          <p:spTgt spid="80899">
                                            <p:txEl>
                                              <p:charRg st="232" end="2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3"/>
          <p:cNvSpPr>
            <a:spLocks noGrp="1"/>
          </p:cNvSpPr>
          <p:nvPr>
            <p:ph idx="1"/>
          </p:nvPr>
        </p:nvSpPr>
        <p:spPr>
          <a:xfrm>
            <a:off x="395288" y="1268413"/>
            <a:ext cx="8229600" cy="5330825"/>
          </a:xfrm>
          <a:ln/>
        </p:spPr>
        <p:txBody>
          <a:bodyPr vert="horz" wrap="square" lIns="91440" tIns="45720" rIns="91440" bIns="45720" anchor="t"/>
          <a:p>
            <a:pPr>
              <a:lnSpc>
                <a:spcPct val="90000"/>
              </a:lnSpc>
            </a:pPr>
            <a:r>
              <a:rPr lang="en-US" altLang="zh-CN" sz="2800" dirty="0">
                <a:latin typeface="Times New Roman" panose="02020503050405090304" pitchFamily="18" charset="0"/>
              </a:rPr>
              <a:t>NANJING-A Yak-42 airliner carrying 116 passengers and 10 crew members crashed on takeoff from the Nanjing Airport in East China yesterday at 15:06 (Beijing time). So far, 100 people on board are dead and 26 injured.</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A full-scale rescue attempt for the injured is still underway.</a:t>
            </a:r>
            <a:endParaRPr lang="en-US" altLang="zh-CN" sz="2800" dirty="0">
              <a:latin typeface="Times New Roman" panose="02020503050405090304" pitchFamily="18" charset="0"/>
            </a:endParaRPr>
          </a:p>
          <a:p>
            <a:pPr>
              <a:lnSpc>
                <a:spcPct val="90000"/>
              </a:lnSpc>
            </a:pPr>
            <a:r>
              <a:rPr lang="en-US" altLang="zh-CN" sz="2800" dirty="0">
                <a:latin typeface="Times New Roman" panose="02020503050405090304" pitchFamily="18" charset="0"/>
              </a:rPr>
              <a:t>The aircraft of GP 7552 flight failed to lift off and burst into a ball of flames about meters from the runway. The plane, operated by China-General-Purpose Airline Company in Xi’an, was used on the route from Nanjing City in Jiangsu Province to Xiamen City in Southeast China’s Fujian Province. </a:t>
            </a:r>
            <a:endParaRPr lang="en-US" altLang="zh-CN" sz="2800" dirty="0">
              <a:latin typeface="Times New Roman" panose="02020503050405090304" pitchFamily="18" charset="0"/>
            </a:endParaRPr>
          </a:p>
        </p:txBody>
      </p:sp>
      <p:sp>
        <p:nvSpPr>
          <p:cNvPr id="28674" name="Rectangle 2"/>
          <p:cNvSpPr>
            <a:spLocks noGrp="1" noChangeArrowheads="1"/>
          </p:cNvSpPr>
          <p:nvPr>
            <p:ph type="title"/>
          </p:nvPr>
        </p:nvSpPr>
        <p:spPr>
          <a:xfrm>
            <a:off x="395288" y="188913"/>
            <a:ext cx="8229600" cy="1143000"/>
          </a:xfrm>
        </p:spPr>
        <p:txBody>
          <a:bodyPr vert="horz" wrap="square" lIns="91440" tIns="45720" rIns="91440" bIns="45720" numCol="1" anchor="ctr" anchorCtr="0" compatLnSpc="1">
            <a:normAutofit fontScale="90000"/>
          </a:bodyPr>
          <a:lstStyle/>
          <a:p>
            <a:pPr marL="0" marR="0" lvl="0" indent="0" algn="ctr" defTabSz="914400" rtl="0" eaLnBrk="0" fontAlgn="auto" latinLnBrk="0" hangingPunct="0">
              <a:lnSpc>
                <a:spcPct val="100000"/>
              </a:lnSpc>
              <a:spcBef>
                <a:spcPct val="0"/>
              </a:spcBef>
              <a:spcAft>
                <a:spcPts val="0"/>
              </a:spcAft>
              <a:buClrTx/>
              <a:buSzTx/>
              <a:buFontTx/>
              <a:buNone/>
              <a:defRPr/>
            </a:pPr>
            <a:r>
              <a:rPr kumimoji="0" lang="en-US" altLang="zh-CN" sz="4400" b="0" i="0" u="none" strike="noStrike" kern="1200" cap="none" spc="0" normalizeH="0" baseline="0" noProof="0">
                <a:ln>
                  <a:noFill/>
                </a:ln>
                <a:solidFill>
                  <a:schemeClr val="tx2"/>
                </a:solidFill>
                <a:effectLst/>
                <a:uLnTx/>
                <a:uFillTx/>
                <a:latin typeface="+mj-lt"/>
                <a:ea typeface="+mj-ea"/>
                <a:cs typeface="+mj-cs"/>
              </a:rPr>
              <a:t>Nanjing air crash kills at least 100</a:t>
            </a:r>
            <a:endParaRPr kumimoji="0" lang="en-US" altLang="zh-CN" sz="44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idx="1"/>
          </p:nvPr>
        </p:nvSpPr>
        <p:spPr>
          <a:xfrm>
            <a:off x="468313" y="692150"/>
            <a:ext cx="8229600" cy="5462588"/>
          </a:xfrm>
        </p:spPr>
        <p:txBody>
          <a:bodyPr vert="horz" wrap="square" lIns="91440" tIns="45720" rIns="91440" bIns="45720" numCol="1" anchor="t" anchorCtr="0" compatLnSpc="1">
            <a:normAutofit lnSpcReduction="10000"/>
          </a:bodyPr>
          <a:lstStyle/>
          <a:p>
            <a:pPr marL="365760" marR="0" lvl="0" indent="-255905" algn="l" defTabSz="914400" rtl="0" eaLnBrk="0" fontAlgn="auto" latinLnBrk="0" hangingPunct="0">
              <a:lnSpc>
                <a:spcPct val="100000"/>
              </a:lnSpc>
              <a:spcBef>
                <a:spcPct val="20000"/>
              </a:spcBef>
              <a:spcAft>
                <a:spcPts val="0"/>
              </a:spcAft>
              <a:buClrTx/>
              <a:buSzTx/>
              <a:buFont typeface="Wingdings 3" panose="05040102010807070707"/>
              <a:buChar char=""/>
              <a:defRPr/>
            </a:pPr>
            <a:r>
              <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rPr>
              <a:t>After the accident, Zhu Rongji, Vice-Premier of State Council, and leading members of some departments concerned flew to Nanjing at 20:00 (Beijing time) to inspect the scene of the accident, lament the dead and express condolences to the families of the dead. They also went to the hospital to express sympathy to the injured.</a:t>
            </a:r>
            <a:endPar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a:p>
            <a:pPr marL="365760" marR="0" lvl="0" indent="-255905" algn="l" defTabSz="914400" rtl="0" eaLnBrk="0" fontAlgn="auto" latinLnBrk="0" hangingPunct="0">
              <a:lnSpc>
                <a:spcPct val="100000"/>
              </a:lnSpc>
              <a:spcBef>
                <a:spcPct val="20000"/>
              </a:spcBef>
              <a:spcAft>
                <a:spcPts val="0"/>
              </a:spcAft>
              <a:buClrTx/>
              <a:buSzTx/>
              <a:buFont typeface="Wingdings 3" panose="05040102010807070707"/>
              <a:buChar char=""/>
              <a:defRPr/>
            </a:pPr>
            <a:r>
              <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rPr>
              <a:t>Upon the accident, a fire-brigade working near the airport rushed to the site immediately, while medical teams and police reinforcements arrived a short time later </a:t>
            </a:r>
            <a:endPar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a:p>
            <a:pPr marL="365760" marR="0" lvl="0" indent="-255905" algn="l" defTabSz="914400" rtl="0" eaLnBrk="0" fontAlgn="auto" latinLnBrk="0" hangingPunct="0">
              <a:lnSpc>
                <a:spcPct val="100000"/>
              </a:lnSpc>
              <a:spcBef>
                <a:spcPct val="20000"/>
              </a:spcBef>
              <a:spcAft>
                <a:spcPts val="0"/>
              </a:spcAft>
              <a:buClrTx/>
              <a:buSzTx/>
              <a:buFont typeface="Wingdings 3" panose="05040102010807070707"/>
              <a:buChar char=""/>
              <a:defRPr/>
            </a:pPr>
            <a:r>
              <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rPr>
              <a:t>The cause of the tragedy is still under investigation.</a:t>
            </a:r>
            <a:endPar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a:p>
            <a:pPr marL="365760" marR="0" lvl="0" indent="-255905" algn="l" defTabSz="914400" rtl="0" eaLnBrk="0" fontAlgn="auto" latinLnBrk="0" hangingPunct="0">
              <a:lnSpc>
                <a:spcPct val="100000"/>
              </a:lnSpc>
              <a:spcBef>
                <a:spcPct val="20000"/>
              </a:spcBef>
              <a:spcAft>
                <a:spcPts val="0"/>
              </a:spcAft>
              <a:buClrTx/>
              <a:buSzTx/>
              <a:buFont typeface="Wingdings 3" panose="05040102010807070707"/>
              <a:buChar char=""/>
              <a:defRPr/>
            </a:pPr>
            <a:r>
              <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rPr>
              <a:t>The Nanjing Airport has resumed normal operation.</a:t>
            </a:r>
            <a:endParaRPr kumimoji="0" lang="en-US" altLang="zh-CN" sz="28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ln/>
        </p:spPr>
        <p:txBody>
          <a:bodyPr vert="horz" wrap="square" lIns="91440" tIns="45720" rIns="91440" bIns="45720" anchor="ctr"/>
          <a:p>
            <a:endParaRPr lang="zh-CN" altLang="en-US" dirty="0"/>
          </a:p>
        </p:txBody>
      </p:sp>
      <p:sp>
        <p:nvSpPr>
          <p:cNvPr id="62466" name="内容占位符 2"/>
          <p:cNvSpPr>
            <a:spLocks noGrp="1"/>
          </p:cNvSpPr>
          <p:nvPr>
            <p:ph idx="1"/>
          </p:nvPr>
        </p:nvSpPr>
        <p:spPr>
          <a:ln/>
        </p:spPr>
        <p:txBody>
          <a:bodyPr vert="horz" wrap="square" lIns="91440" tIns="45720" rIns="91440" bIns="45720" anchor="t"/>
          <a:p>
            <a:r>
              <a:rPr lang="en-US" altLang="zh-CN" dirty="0">
                <a:hlinkClick r:id="rId1"/>
              </a:rPr>
              <a:t>http://www.chinadaily.com.cn/china/2015-06/01/content_20871762.htm</a:t>
            </a:r>
            <a:endParaRPr lang="en-US" altLang="zh-CN" dirty="0"/>
          </a:p>
          <a:p>
            <a:r>
              <a:rPr lang="en-US" altLang="zh-CN" dirty="0"/>
              <a:t>http://www.chinadaily.com.cn/china/2016-05/20/content_25388367.htm</a:t>
            </a:r>
            <a:endParaRPr lang="en-US" altLang="zh-CN"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0</TotalTime>
  <Words>9367</Words>
  <Application>WPS 表格</Application>
  <PresentationFormat>全屏显示(4:3)</PresentationFormat>
  <Paragraphs>211</Paragraphs>
  <Slides>38</Slides>
  <Notes>2</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38</vt:i4>
      </vt:variant>
    </vt:vector>
  </HeadingPairs>
  <TitlesOfParts>
    <vt:vector size="55" baseType="lpstr">
      <vt:lpstr>Arial</vt:lpstr>
      <vt:lpstr>方正书宋_GBK</vt:lpstr>
      <vt:lpstr>Wingdings</vt:lpstr>
      <vt:lpstr>宋体</vt:lpstr>
      <vt:lpstr>等线</vt:lpstr>
      <vt:lpstr>Times New Roman</vt:lpstr>
      <vt:lpstr>Georgia</vt:lpstr>
      <vt:lpstr>Wingdings 3</vt:lpstr>
      <vt:lpstr>汉仪书宋二KW</vt:lpstr>
      <vt:lpstr>Wingdings 3</vt:lpstr>
      <vt:lpstr>微软雅黑</vt:lpstr>
      <vt:lpstr>汉仪旗黑</vt:lpstr>
      <vt:lpstr>宋体</vt:lpstr>
      <vt:lpstr>Arial Unicode MS</vt:lpstr>
      <vt:lpstr>汉仪中等线KW</vt:lpstr>
      <vt:lpstr>默认设计模板</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michael</dc:creator>
  <cp:lastModifiedBy>renfang</cp:lastModifiedBy>
  <cp:revision>149</cp:revision>
  <dcterms:created xsi:type="dcterms:W3CDTF">2021-04-21T13:37:46Z</dcterms:created>
  <dcterms:modified xsi:type="dcterms:W3CDTF">2021-04-21T13:37:46Z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2052-3.4.2.5348</vt:lpwstr>
  </property>
</Properties>
</file>