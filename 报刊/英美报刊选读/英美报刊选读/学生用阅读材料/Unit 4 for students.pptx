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9" r:id="rId4"/>
    <p:sldId id="270" r:id="rId5"/>
    <p:sldId id="271" r:id="rId6"/>
    <p:sldId id="272" r:id="rId7"/>
    <p:sldId id="273" r:id="rId8"/>
    <p:sldId id="274" r:id="rId9"/>
    <p:sldId id="280" r:id="rId1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autoAdjust="0"/>
    <p:restoredTop sz="94668" autoAdjust="0"/>
  </p:normalViewPr>
  <p:slideViewPr>
    <p:cSldViewPr>
      <p:cViewPr varScale="1">
        <p:scale>
          <a:sx n="64" d="100"/>
          <a:sy n="64" d="100"/>
        </p:scale>
        <p:origin x="-1308" y="-76"/>
      </p:cViewPr>
      <p:guideLst>
        <p:guide orient="horz" pos="2160"/>
        <p:guide pos="2902"/>
      </p:guideLst>
    </p:cSldViewPr>
  </p:slideViewPr>
  <p:outlineViewPr>
    <p:cViewPr>
      <p:scale>
        <a:sx n="33" d="100"/>
        <a:sy n="33" d="100"/>
      </p:scale>
      <p:origin x="0" y="23344"/>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Ref idx="1003">
        <a:schemeClr val="bg2"/>
      </p:bgRef>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173157"/>
            <a:ext cx="7772400" cy="1470025"/>
          </a:xfrm>
        </p:spPr>
        <p:txBody>
          <a:bodyPr anchor="b"/>
          <a:lstStyle>
            <a:lvl1pPr algn="l">
              <a:defRPr sz="4800"/>
            </a:lvl1pPr>
          </a:lstStyle>
          <a:p>
            <a:r>
              <a:rPr kumimoji="0" lang="zh-CN" altLang="en-US" smtClean="0"/>
              <a:t>单击此处编辑母版标题样式</a:t>
            </a:r>
            <a:endParaRPr kumimoji="0" lang="en-US"/>
          </a:p>
        </p:txBody>
      </p:sp>
      <p:sp>
        <p:nvSpPr>
          <p:cNvPr id="3" name="副标题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smtClean="0"/>
              <a:t>单击此处编辑母版副标题样式</a:t>
            </a:r>
            <a:endParaRPr kumimoji="0" lang="en-US"/>
          </a:p>
        </p:txBody>
      </p:sp>
      <p:sp>
        <p:nvSpPr>
          <p:cNvPr id="4" name="日期占位符 3"/>
          <p:cNvSpPr>
            <a:spLocks noGrp="1"/>
          </p:cNvSpPr>
          <p:nvPr>
            <p:ph type="dt" sz="half" idx="10"/>
          </p:nvPr>
        </p:nvSpPr>
        <p:spPr/>
        <p:txBody>
          <a:bodyPr/>
          <a:lstStyle/>
          <a:p>
            <a:fld id="{57916F35-EB6E-4187-A0C0-48C4698F812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D5C9457-5890-4FC4-BACA-8A5565DB0705}"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7916F35-EB6E-4187-A0C0-48C4698F812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D5C9457-5890-4FC4-BACA-8A5565DB0705}"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2924181"/>
            <a:ext cx="7772400" cy="1362075"/>
          </a:xfrm>
        </p:spPr>
        <p:txBody>
          <a:bodyPr anchor="t"/>
          <a:lstStyle>
            <a:lvl1pPr algn="l">
              <a:defRPr sz="4400" b="0" cap="all"/>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7916F35-EB6E-4187-A0C0-48C4698F812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D5C9457-5890-4FC4-BACA-8A5565DB0705}"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7916F35-EB6E-4187-A0C0-48C4698F812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D5C9457-5890-4FC4-BACA-8A5565DB0705}"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endParaRPr kumimoji="0"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endParaRPr kumimoji="0"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57916F35-EB6E-4187-A0C0-48C4698F812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D5C9457-5890-4FC4-BACA-8A5565DB0705}"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57916F35-EB6E-4187-A0C0-48C4698F812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D5C9457-5890-4FC4-BACA-8A5565DB0705}"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7916F35-EB6E-4187-A0C0-48C4698F812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D5C9457-5890-4FC4-BACA-8A5565DB0705}"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文本占位符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7916F35-EB6E-4187-A0C0-48C4698F812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D5C9457-5890-4FC4-BACA-8A5565DB0705}" type="slidenum">
              <a:rPr lang="zh-CN" altLang="en-US" smtClean="0"/>
            </a:fld>
            <a:endParaRPr lang="zh-CN" altLang="en-US"/>
          </a:p>
        </p:txBody>
      </p:sp>
      <p:sp>
        <p:nvSpPr>
          <p:cNvPr id="2" name="标题 1"/>
          <p:cNvSpPr>
            <a:spLocks noGrp="1"/>
          </p:cNvSpPr>
          <p:nvPr>
            <p:ph type="title"/>
          </p:nvPr>
        </p:nvSpPr>
        <p:spPr>
          <a:xfrm>
            <a:off x="457205" y="285728"/>
            <a:ext cx="8230993" cy="696626"/>
          </a:xfrm>
        </p:spPr>
        <p:txBody>
          <a:bodyPr anchor="ctr"/>
          <a:lstStyle>
            <a:lvl1pPr algn="ctr">
              <a:defRPr sz="3600" b="0"/>
            </a:lvl1pPr>
          </a:lstStyle>
          <a:p>
            <a:r>
              <a:rPr kumimoji="0" lang="zh-CN" altLang="en-US" smtClean="0"/>
              <a:t>单击此处编辑母版标题样式</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001024" y="642918"/>
            <a:ext cx="785818" cy="4572032"/>
          </a:xfrm>
        </p:spPr>
        <p:txBody>
          <a:bodyPr vert="eaVert" anchor="ctr"/>
          <a:lstStyle>
            <a:lvl1pPr algn="l">
              <a:defRPr sz="2400" b="0"/>
            </a:lvl1pPr>
          </a:lstStyle>
          <a:p>
            <a:r>
              <a:rPr kumimoji="0" lang="zh-CN" altLang="en-US" smtClean="0"/>
              <a:t>单击此处编辑母版标题样式</a:t>
            </a:r>
            <a:endParaRPr kumimoji="0" lang="en-US"/>
          </a:p>
        </p:txBody>
      </p:sp>
      <p:sp>
        <p:nvSpPr>
          <p:cNvPr id="3" name="图片占位符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smtClean="0"/>
              <a:t>单击图标添加图片</a:t>
            </a:r>
            <a:endParaRPr kumimoji="0" lang="en-US"/>
          </a:p>
        </p:txBody>
      </p:sp>
      <p:sp>
        <p:nvSpPr>
          <p:cNvPr id="4" name="文本占位符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7916F35-EB6E-4187-A0C0-48C4698F812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D5C9457-5890-4FC4-BACA-8A5565DB0705}"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7916F35-EB6E-4187-A0C0-48C4698F812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D5C9457-5890-4FC4-BACA-8A5565DB0705}"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43768" y="274639"/>
            <a:ext cx="1543032" cy="5851525"/>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39"/>
            <a:ext cx="6615130" cy="5851525"/>
          </a:xfrm>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7916F35-EB6E-4187-A0C0-48C4698F812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D5C9457-5890-4FC4-BACA-8A5565DB0705}"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图片 7"/>
          <p:cNvPicPr>
            <a:picLocks noChangeAspect="1"/>
          </p:cNvPicPr>
          <p:nvPr/>
        </p:nvPicPr>
        <p:blipFill>
          <a:blip r:embed="rId12">
            <a:duotone>
              <a:schemeClr val="accent1"/>
              <a:srgbClr val="FFFFFF"/>
            </a:duotone>
            <a:lum bright="12000" contrast="40000"/>
          </a:blip>
          <a:stretch>
            <a:fillRect/>
          </a:stretch>
        </p:blipFill>
        <p:spPr>
          <a:xfrm>
            <a:off x="6667809" y="4915143"/>
            <a:ext cx="2476191" cy="1942857"/>
          </a:xfrm>
          <a:prstGeom prst="rect">
            <a:avLst/>
          </a:prstGeom>
          <a:noFill/>
          <a:ln>
            <a:noFill/>
          </a:ln>
        </p:spPr>
      </p:pic>
      <p:sp>
        <p:nvSpPr>
          <p:cNvPr id="10" name="矩形 9"/>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11" name="矩形 10"/>
          <p:cNvSpPr/>
          <p:nvPr/>
        </p:nvSpPr>
        <p:spPr>
          <a:xfrm>
            <a:off x="0" y="40951"/>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pic>
        <p:nvPicPr>
          <p:cNvPr id="9" name="图片 8"/>
          <p:cNvPicPr>
            <a:picLocks noChangeAspect="1"/>
          </p:cNvPicPr>
          <p:nvPr/>
        </p:nvPicPr>
        <p:blipFill>
          <a:blip r:embed="rId13">
            <a:duotone>
              <a:schemeClr val="accent1"/>
              <a:srgbClr val="FFFFFF"/>
            </a:duotone>
            <a:lum bright="35000" contrast="40000"/>
          </a:blip>
          <a:stretch>
            <a:fillRect/>
          </a:stretch>
        </p:blipFill>
        <p:spPr>
          <a:xfrm>
            <a:off x="0" y="6420445"/>
            <a:ext cx="9144000" cy="437555"/>
          </a:xfrm>
          <a:prstGeom prst="rect">
            <a:avLst/>
          </a:prstGeom>
          <a:noFill/>
          <a:ln>
            <a:noFill/>
          </a:ln>
          <a:effectLst/>
        </p:spPr>
      </p:pic>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600200"/>
            <a:ext cx="8229600" cy="4525963"/>
          </a:xfrm>
          <a:prstGeom prst="rect">
            <a:avLst/>
          </a:prstGeom>
        </p:spPr>
        <p:txBody>
          <a:bodyPr vert="horz" rtlCol="0">
            <a:normAutofit/>
          </a:bodyPr>
          <a:lstStyle/>
          <a:p>
            <a:pPr lvl="0" eaLnBrk="1" latinLnBrk="0" hangingPunct="1"/>
            <a:r>
              <a:rPr kumimoji="0" lang="zh-CN" altLang="en-US" smtClean="0"/>
              <a:t>单击此处编辑母版文本样式</a:t>
            </a:r>
            <a:endParaRPr kumimoji="0" lang="zh-CN" altLang="en-US" smtClean="0"/>
          </a:p>
          <a:p>
            <a:pPr lvl="1" eaLnBrk="1" latinLnBrk="0" hangingPunct="1"/>
            <a:r>
              <a:rPr kumimoji="0" lang="zh-CN" altLang="en-US" smtClean="0"/>
              <a:t>第二级</a:t>
            </a:r>
            <a:endParaRPr kumimoji="0" lang="zh-CN" altLang="en-US" smtClean="0"/>
          </a:p>
          <a:p>
            <a:pPr lvl="2" eaLnBrk="1" latinLnBrk="0" hangingPunct="1"/>
            <a:r>
              <a:rPr kumimoji="0" lang="zh-CN" altLang="en-US" smtClean="0"/>
              <a:t>第三级</a:t>
            </a:r>
            <a:endParaRPr kumimoji="0" lang="zh-CN" altLang="en-US" smtClean="0"/>
          </a:p>
          <a:p>
            <a:pPr lvl="3" eaLnBrk="1" latinLnBrk="0" hangingPunct="1"/>
            <a:r>
              <a:rPr kumimoji="0" lang="zh-CN" altLang="en-US" smtClean="0"/>
              <a:t>第四级</a:t>
            </a:r>
            <a:endParaRPr kumimoji="0" lang="zh-CN" altLang="en-US" smtClean="0"/>
          </a:p>
          <a:p>
            <a:pPr lvl="4" eaLnBrk="1" latinLnBrk="0" hangingPunct="1"/>
            <a:r>
              <a:rPr kumimoji="0" lang="zh-CN" altLang="en-US" smtClean="0"/>
              <a:t>第五级</a:t>
            </a:r>
            <a:endParaRPr kumimoji="0" lang="en-US"/>
          </a:p>
        </p:txBody>
      </p:sp>
      <p:sp>
        <p:nvSpPr>
          <p:cNvPr id="4" name="日期占位符 3"/>
          <p:cNvSpPr>
            <a:spLocks noGrp="1"/>
          </p:cNvSpPr>
          <p:nvPr>
            <p:ph type="dt" sz="half" idx="2"/>
          </p:nvPr>
        </p:nvSpPr>
        <p:spPr>
          <a:xfrm>
            <a:off x="457200" y="6356350"/>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57916F35-EB6E-4187-A0C0-48C4698F8122}"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CD5C9457-5890-4FC4-BACA-8A5565DB070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panose="05020102010507070707"/>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panose="05020102010507070707"/>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panose="05020102010507070707"/>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panose="05020102010507070707"/>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panose="05020102010507070707"/>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9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9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9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9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en-US" altLang="zh-CN" sz="4000" b="1" dirty="0" smtClean="0">
                <a:latin typeface="+mn-lt"/>
              </a:rPr>
              <a:t>Unit 4 Automation and Robots</a:t>
            </a:r>
            <a:endParaRPr lang="zh-CN" altLang="en-US" sz="4000" b="1" dirty="0">
              <a:latin typeface="+mn-l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sz="4000" b="1" dirty="0" smtClean="0">
                <a:latin typeface="+mn-lt"/>
                <a:cs typeface="Times New Roman" panose="02020503050405090304" pitchFamily="18" charset="0"/>
              </a:rPr>
              <a:t>Language features of news (</a:t>
            </a:r>
            <a:r>
              <a:rPr lang="en-US" altLang="zh-CN" sz="4000" b="1" dirty="0">
                <a:latin typeface="+mn-lt"/>
                <a:cs typeface="Times New Roman" panose="02020503050405090304" pitchFamily="18" charset="0"/>
              </a:rPr>
              <a:t>structure</a:t>
            </a:r>
            <a:r>
              <a:rPr lang="en-US" altLang="zh-CN" sz="4000" b="1" dirty="0" smtClean="0">
                <a:latin typeface="+mn-lt"/>
                <a:cs typeface="Times New Roman" panose="02020503050405090304" pitchFamily="18" charset="0"/>
              </a:rPr>
              <a:t>) </a:t>
            </a:r>
            <a:endParaRPr lang="zh-CN" altLang="en-US" sz="4000" b="1" dirty="0">
              <a:latin typeface="+mn-lt"/>
              <a:cs typeface="Times New Roman" panose="02020503050405090304" pitchFamily="18" charset="0"/>
            </a:endParaRPr>
          </a:p>
        </p:txBody>
      </p:sp>
      <p:sp>
        <p:nvSpPr>
          <p:cNvPr id="3" name="内容占位符 2"/>
          <p:cNvSpPr>
            <a:spLocks noGrp="1"/>
          </p:cNvSpPr>
          <p:nvPr>
            <p:ph idx="1"/>
          </p:nvPr>
        </p:nvSpPr>
        <p:spPr/>
        <p:txBody>
          <a:bodyPr>
            <a:normAutofit/>
          </a:bodyPr>
          <a:lstStyle/>
          <a:p>
            <a:r>
              <a:rPr lang="en-US" sz="2400" dirty="0" smtClean="0">
                <a:latin typeface="+mn-lt"/>
                <a:cs typeface="Times New Roman" panose="02020503050405090304" pitchFamily="18" charset="0"/>
              </a:rPr>
              <a:t>The structure of a </a:t>
            </a:r>
            <a:r>
              <a:rPr lang="en-US" sz="2400" b="1" dirty="0" smtClean="0">
                <a:latin typeface="+mn-lt"/>
                <a:cs typeface="Times New Roman" panose="02020503050405090304" pitchFamily="18" charset="0"/>
              </a:rPr>
              <a:t>News Report </a:t>
            </a:r>
            <a:r>
              <a:rPr lang="en-US" sz="2400" dirty="0" smtClean="0">
                <a:latin typeface="+mn-lt"/>
                <a:cs typeface="Times New Roman" panose="02020503050405090304" pitchFamily="18" charset="0"/>
              </a:rPr>
              <a:t>follows a specific structure. The parts of this structure are identified and defined below:</a:t>
            </a:r>
            <a:endParaRPr lang="en-US" sz="2400" dirty="0" smtClean="0">
              <a:latin typeface="+mn-lt"/>
              <a:cs typeface="Times New Roman" panose="02020503050405090304" pitchFamily="18" charset="0"/>
            </a:endParaRPr>
          </a:p>
          <a:p>
            <a:r>
              <a:rPr lang="en-US" sz="2400" b="1" dirty="0" smtClean="0">
                <a:latin typeface="+mn-lt"/>
                <a:cs typeface="Times New Roman" panose="02020503050405090304" pitchFamily="18" charset="0"/>
              </a:rPr>
              <a:t>Headline: </a:t>
            </a:r>
            <a:r>
              <a:rPr lang="en-US" sz="2400" dirty="0" smtClean="0">
                <a:latin typeface="+mn-lt"/>
                <a:cs typeface="Times New Roman" panose="02020503050405090304" pitchFamily="18" charset="0"/>
              </a:rPr>
              <a:t>The Headline is the title of the article which is made up of 10 words or less. This title has two purposes: to introduce the topic of the article and to capture the readers’ interest, usually through controversial wording.</a:t>
            </a:r>
            <a:endParaRPr lang="zh-CN" altLang="en-US" sz="2400" dirty="0">
              <a:latin typeface="+mn-lt"/>
              <a:cs typeface="Times New Roman" panose="0202050305040509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1472" y="714356"/>
            <a:ext cx="8229600" cy="4525963"/>
          </a:xfrm>
        </p:spPr>
        <p:txBody>
          <a:bodyPr>
            <a:normAutofit/>
          </a:bodyPr>
          <a:lstStyle/>
          <a:p>
            <a:r>
              <a:rPr lang="en-US" sz="2400" b="1" dirty="0" smtClean="0">
                <a:latin typeface="+mn-lt"/>
                <a:cs typeface="Times New Roman" panose="02020503050405090304" pitchFamily="18" charset="0"/>
              </a:rPr>
              <a:t>Subheading: </a:t>
            </a:r>
            <a:r>
              <a:rPr lang="en-US" sz="2400" dirty="0" smtClean="0">
                <a:latin typeface="+mn-lt"/>
                <a:cs typeface="Times New Roman" panose="02020503050405090304" pitchFamily="18" charset="0"/>
              </a:rPr>
              <a:t>The Subheading, which is not always included in an article, expands upon the Headline’s content, if needed. </a:t>
            </a:r>
            <a:endParaRPr lang="en-US" sz="2400" dirty="0" smtClean="0">
              <a:latin typeface="+mn-lt"/>
              <a:cs typeface="Times New Roman" panose="02020503050405090304" pitchFamily="18" charset="0"/>
            </a:endParaRPr>
          </a:p>
          <a:p>
            <a:r>
              <a:rPr lang="en-US" sz="2400" b="1" dirty="0" smtClean="0">
                <a:latin typeface="+mn-lt"/>
                <a:cs typeface="Times New Roman" panose="02020503050405090304" pitchFamily="18" charset="0"/>
              </a:rPr>
              <a:t>By-line: </a:t>
            </a:r>
            <a:r>
              <a:rPr lang="en-US" sz="2400" dirty="0" smtClean="0">
                <a:latin typeface="+mn-lt"/>
                <a:cs typeface="Times New Roman" panose="02020503050405090304" pitchFamily="18" charset="0"/>
              </a:rPr>
              <a:t>The by-line includes the article’s author’s name, and sometimes that person’s occupation.</a:t>
            </a:r>
            <a:endParaRPr lang="zh-CN" altLang="en-US" sz="2400" dirty="0">
              <a:latin typeface="+mn-lt"/>
              <a:cs typeface="Times New Roman" panose="0202050305040509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42910" y="785794"/>
            <a:ext cx="8229600" cy="4525963"/>
          </a:xfrm>
        </p:spPr>
        <p:txBody>
          <a:bodyPr>
            <a:normAutofit/>
          </a:bodyPr>
          <a:lstStyle/>
          <a:p>
            <a:r>
              <a:rPr lang="en-US" sz="2400" b="1" dirty="0" smtClean="0">
                <a:latin typeface="+mn-lt"/>
                <a:cs typeface="Times New Roman" panose="02020503050405090304" pitchFamily="18" charset="0"/>
              </a:rPr>
              <a:t>Summary Lead: </a:t>
            </a:r>
            <a:r>
              <a:rPr lang="en-US" sz="2400" dirty="0" smtClean="0">
                <a:latin typeface="+mn-lt"/>
                <a:cs typeface="Times New Roman" panose="02020503050405090304" pitchFamily="18" charset="0"/>
              </a:rPr>
              <a:t>The Summary Lead consists of </a:t>
            </a:r>
            <a:endParaRPr lang="en-US" sz="2400" dirty="0" smtClean="0">
              <a:latin typeface="+mn-lt"/>
              <a:cs typeface="Times New Roman" panose="02020503050405090304" pitchFamily="18" charset="0"/>
            </a:endParaRPr>
          </a:p>
          <a:p>
            <a:r>
              <a:rPr lang="en-US" sz="2400" dirty="0" smtClean="0">
                <a:latin typeface="+mn-lt"/>
                <a:cs typeface="Times New Roman" panose="02020503050405090304" pitchFamily="18" charset="0"/>
              </a:rPr>
              <a:t>the first paragraph, the 1-2 sentences consisting of less than 30 words that begin an article. The content of this paragraph consists of the 5WH (who, what where, when, why, and how) of the article. </a:t>
            </a:r>
            <a:endParaRPr lang="zh-CN" altLang="en-US" sz="2400" dirty="0">
              <a:latin typeface="+mn-lt"/>
              <a:cs typeface="Times New Roman" panose="0202050305040509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42910" y="714356"/>
            <a:ext cx="8229600" cy="4525963"/>
          </a:xfrm>
        </p:spPr>
        <p:txBody>
          <a:bodyPr>
            <a:normAutofit/>
          </a:bodyPr>
          <a:lstStyle/>
          <a:p>
            <a:r>
              <a:rPr lang="en-US" sz="2400" b="1" dirty="0" smtClean="0">
                <a:latin typeface="+mn-lt"/>
                <a:cs typeface="Times New Roman" panose="02020503050405090304" pitchFamily="18" charset="0"/>
              </a:rPr>
              <a:t>Fact-based Paragraphs: </a:t>
            </a:r>
            <a:r>
              <a:rPr lang="en-US" sz="2400" dirty="0" smtClean="0">
                <a:latin typeface="+mn-lt"/>
                <a:cs typeface="Times New Roman" panose="02020503050405090304" pitchFamily="18" charset="0"/>
              </a:rPr>
              <a:t>The remainder of the article consists of short paragraphs that expand on the 5WH mentioned in the Summary Lead and include quotations from key people involved in or related to the article. The content of these paragraphs is fact-based and organized from most to least important, so that the editor can cut the bottom paragraphs out if needed. </a:t>
            </a:r>
            <a:endParaRPr lang="zh-CN" altLang="en-US" sz="2400" dirty="0">
              <a:latin typeface="+mn-lt"/>
              <a:cs typeface="Times New Roman" panose="0202050305040509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571472" y="357166"/>
          <a:ext cx="8286808" cy="5985307"/>
        </p:xfrm>
        <a:graphic>
          <a:graphicData uri="http://schemas.openxmlformats.org/drawingml/2006/table">
            <a:tbl>
              <a:tblPr/>
              <a:tblGrid>
                <a:gridCol w="2213977"/>
                <a:gridCol w="6072831"/>
              </a:tblGrid>
              <a:tr h="356343">
                <a:tc>
                  <a:txBody>
                    <a:bodyPr/>
                    <a:lstStyle/>
                    <a:p>
                      <a:pPr algn="ctr">
                        <a:spcAft>
                          <a:spcPts val="0"/>
                        </a:spcAft>
                      </a:pPr>
                      <a:r>
                        <a:rPr lang="en-US" sz="2000" b="1" kern="100" dirty="0">
                          <a:solidFill>
                            <a:srgbClr val="000000"/>
                          </a:solidFill>
                          <a:latin typeface="Times New Roman" panose="02020503050405090304"/>
                          <a:ea typeface="宋体"/>
                          <a:cs typeface="Times New Roman" panose="02020503050405090304"/>
                        </a:rPr>
                        <a:t>Element</a:t>
                      </a:r>
                      <a:endParaRPr lang="zh-CN" sz="2000" b="1" kern="100" dirty="0">
                        <a:latin typeface="Calibri"/>
                        <a:ea typeface="宋体"/>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100" dirty="0">
                          <a:solidFill>
                            <a:srgbClr val="000000"/>
                          </a:solidFill>
                          <a:latin typeface="Times New Roman" panose="02020503050405090304"/>
                          <a:ea typeface="宋体"/>
                          <a:cs typeface="Times New Roman" panose="02020503050405090304"/>
                        </a:rPr>
                        <a:t>Definition</a:t>
                      </a:r>
                      <a:endParaRPr lang="zh-CN" sz="2000" kern="100" dirty="0">
                        <a:latin typeface="Calibri"/>
                        <a:ea typeface="宋体"/>
                        <a:cs typeface="Times New Roman" panose="0202050305040509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12686">
                <a:tc>
                  <a:txBody>
                    <a:bodyPr/>
                    <a:lstStyle/>
                    <a:p>
                      <a:pPr algn="ctr">
                        <a:spcAft>
                          <a:spcPts val="0"/>
                        </a:spcAft>
                      </a:pPr>
                      <a:r>
                        <a:rPr lang="en-US" sz="2000" b="1" kern="100" dirty="0">
                          <a:solidFill>
                            <a:srgbClr val="000000"/>
                          </a:solidFill>
                          <a:latin typeface="Times New Roman" panose="02020503050405090304"/>
                          <a:ea typeface="宋体"/>
                          <a:cs typeface="Times New Roman" panose="02020503050405090304"/>
                        </a:rPr>
                        <a:t>Headline</a:t>
                      </a:r>
                      <a:endParaRPr lang="zh-CN" sz="2000" b="1" kern="100" dirty="0">
                        <a:latin typeface="Calibri"/>
                        <a:ea typeface="宋体"/>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0" dirty="0">
                          <a:solidFill>
                            <a:srgbClr val="000000"/>
                          </a:solidFill>
                          <a:latin typeface="Times New Roman" panose="02020503050405090304"/>
                          <a:ea typeface="宋体"/>
                          <a:cs typeface="Times New Roman" panose="02020503050405090304"/>
                        </a:rPr>
                        <a:t>• Catches your attention </a:t>
                      </a:r>
                      <a:endParaRPr lang="zh-CN" sz="2000" kern="100" dirty="0">
                        <a:latin typeface="Calibri"/>
                        <a:ea typeface="宋体"/>
                        <a:cs typeface="Times New Roman" panose="02020503050405090304"/>
                      </a:endParaRPr>
                    </a:p>
                    <a:p>
                      <a:pPr algn="just">
                        <a:spcAft>
                          <a:spcPts val="0"/>
                        </a:spcAft>
                      </a:pPr>
                      <a:r>
                        <a:rPr lang="en-US" sz="2000" kern="0" dirty="0">
                          <a:solidFill>
                            <a:srgbClr val="000000"/>
                          </a:solidFill>
                          <a:latin typeface="Times New Roman" panose="02020503050405090304"/>
                          <a:ea typeface="宋体"/>
                          <a:cs typeface="Times New Roman" panose="02020503050405090304"/>
                        </a:rPr>
                        <a:t>• Sums up the story</a:t>
                      </a:r>
                      <a:endParaRPr lang="zh-CN" sz="2000" kern="100" dirty="0">
                        <a:latin typeface="Calibri"/>
                        <a:ea typeface="宋体"/>
                        <a:cs typeface="Times New Roman" panose="0202050305040509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69029">
                <a:tc>
                  <a:txBody>
                    <a:bodyPr/>
                    <a:lstStyle/>
                    <a:p>
                      <a:pPr algn="ctr">
                        <a:spcAft>
                          <a:spcPts val="0"/>
                        </a:spcAft>
                      </a:pPr>
                      <a:r>
                        <a:rPr lang="en-US" sz="2000" b="1" kern="100">
                          <a:latin typeface="Times New Roman" panose="02020503050405090304"/>
                          <a:ea typeface="宋体"/>
                          <a:cs typeface="Times New Roman" panose="02020503050405090304"/>
                        </a:rPr>
                        <a:t>byline</a:t>
                      </a:r>
                      <a:endParaRPr lang="zh-CN" sz="2000" b="1" kern="100">
                        <a:latin typeface="Calibri"/>
                        <a:ea typeface="宋体"/>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0" dirty="0">
                          <a:solidFill>
                            <a:srgbClr val="000000"/>
                          </a:solidFill>
                          <a:latin typeface="Times New Roman" panose="02020503050405090304"/>
                          <a:ea typeface="宋体"/>
                          <a:cs typeface="Times New Roman" panose="02020503050405090304"/>
                        </a:rPr>
                        <a:t>• Writer’s name </a:t>
                      </a:r>
                      <a:endParaRPr lang="zh-CN" sz="2000" kern="100" dirty="0">
                        <a:latin typeface="Calibri"/>
                        <a:ea typeface="宋体"/>
                        <a:cs typeface="Times New Roman" panose="02020503050405090304"/>
                      </a:endParaRPr>
                    </a:p>
                    <a:p>
                      <a:pPr algn="l">
                        <a:spcAft>
                          <a:spcPts val="0"/>
                        </a:spcAft>
                      </a:pPr>
                      <a:r>
                        <a:rPr lang="en-US" sz="2000" kern="0" dirty="0">
                          <a:solidFill>
                            <a:srgbClr val="000000"/>
                          </a:solidFill>
                          <a:latin typeface="Times New Roman" panose="02020503050405090304"/>
                          <a:ea typeface="宋体"/>
                          <a:cs typeface="Times New Roman" panose="02020503050405090304"/>
                        </a:rPr>
                        <a:t>• Writer’s Specialty, e.g. sports, food, crime, current </a:t>
                      </a:r>
                      <a:r>
                        <a:rPr lang="en-US" sz="2000" kern="0" dirty="0" smtClean="0">
                          <a:solidFill>
                            <a:srgbClr val="000000"/>
                          </a:solidFill>
                          <a:latin typeface="Times New Roman" panose="02020503050405090304"/>
                          <a:ea typeface="宋体"/>
                          <a:cs typeface="Times New Roman" panose="02020503050405090304"/>
                        </a:rPr>
                        <a:t>  </a:t>
                      </a:r>
                      <a:endParaRPr lang="en-US" sz="2000" kern="0" dirty="0" smtClean="0">
                        <a:solidFill>
                          <a:srgbClr val="000000"/>
                        </a:solidFill>
                        <a:latin typeface="Times New Roman" panose="02020503050405090304"/>
                        <a:ea typeface="宋体"/>
                        <a:cs typeface="Times New Roman" panose="02020503050405090304"/>
                      </a:endParaRPr>
                    </a:p>
                    <a:p>
                      <a:pPr algn="l">
                        <a:spcAft>
                          <a:spcPts val="0"/>
                        </a:spcAft>
                      </a:pPr>
                      <a:r>
                        <a:rPr lang="en-US" sz="2000" kern="0" dirty="0" smtClean="0">
                          <a:solidFill>
                            <a:srgbClr val="000000"/>
                          </a:solidFill>
                          <a:latin typeface="Times New Roman" panose="02020503050405090304"/>
                          <a:ea typeface="宋体"/>
                          <a:cs typeface="Times New Roman" panose="02020503050405090304"/>
                        </a:rPr>
                        <a:t>   events</a:t>
                      </a:r>
                      <a:endParaRPr lang="zh-CN" sz="2000" kern="100" dirty="0">
                        <a:latin typeface="Calibri"/>
                        <a:ea typeface="宋体"/>
                        <a:cs typeface="Times New Roman" panose="0202050305040509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40162">
                <a:tc>
                  <a:txBody>
                    <a:bodyPr/>
                    <a:lstStyle/>
                    <a:p>
                      <a:pPr algn="ctr">
                        <a:spcAft>
                          <a:spcPts val="0"/>
                        </a:spcAft>
                      </a:pPr>
                      <a:r>
                        <a:rPr lang="en-US" sz="2000" b="1" kern="100" dirty="0" err="1" smtClean="0">
                          <a:solidFill>
                            <a:srgbClr val="000000"/>
                          </a:solidFill>
                          <a:latin typeface="Times New Roman" panose="02020503050405090304"/>
                          <a:ea typeface="宋体"/>
                          <a:cs typeface="Times New Roman" panose="02020503050405090304"/>
                        </a:rPr>
                        <a:t>Placeline</a:t>
                      </a:r>
                      <a:r>
                        <a:rPr lang="en-US" sz="2000" b="1" kern="100" dirty="0" smtClean="0">
                          <a:solidFill>
                            <a:srgbClr val="000000"/>
                          </a:solidFill>
                          <a:latin typeface="Times New Roman" panose="02020503050405090304"/>
                          <a:ea typeface="宋体"/>
                          <a:cs typeface="Times New Roman" panose="02020503050405090304"/>
                        </a:rPr>
                        <a:t> </a:t>
                      </a:r>
                      <a:endParaRPr lang="en-US" sz="2000" b="1" kern="100" dirty="0" smtClean="0">
                        <a:solidFill>
                          <a:srgbClr val="000000"/>
                        </a:solidFill>
                        <a:latin typeface="Times New Roman" panose="02020503050405090304"/>
                        <a:ea typeface="宋体"/>
                        <a:cs typeface="Times New Roman" panose="02020503050405090304"/>
                      </a:endParaRPr>
                    </a:p>
                    <a:p>
                      <a:pPr algn="ctr">
                        <a:spcAft>
                          <a:spcPts val="0"/>
                        </a:spcAft>
                      </a:pPr>
                      <a:r>
                        <a:rPr lang="en-US" altLang="zh-CN" sz="2000" b="1" kern="100" dirty="0" smtClean="0">
                          <a:solidFill>
                            <a:srgbClr val="000000"/>
                          </a:solidFill>
                          <a:latin typeface="Times New Roman" panose="02020503050405090304"/>
                          <a:ea typeface="宋体"/>
                          <a:cs typeface="Times New Roman" panose="02020503050405090304"/>
                        </a:rPr>
                        <a:t>(optional)</a:t>
                      </a:r>
                      <a:endParaRPr lang="zh-CN" sz="2000" b="1" kern="100" dirty="0" smtClean="0">
                        <a:solidFill>
                          <a:srgbClr val="000000"/>
                        </a:solidFill>
                        <a:latin typeface="Times New Roman" panose="02020503050405090304"/>
                        <a:ea typeface="宋体"/>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000" kern="100" dirty="0">
                          <a:solidFill>
                            <a:srgbClr val="000000"/>
                          </a:solidFill>
                          <a:latin typeface="Times New Roman" panose="02020503050405090304"/>
                          <a:ea typeface="宋体"/>
                          <a:cs typeface="Times New Roman" panose="02020503050405090304"/>
                        </a:rPr>
                        <a:t>• Where the story begins</a:t>
                      </a:r>
                      <a:endParaRPr lang="zh-CN" sz="2000" kern="100" dirty="0">
                        <a:latin typeface="Calibri"/>
                        <a:ea typeface="宋体"/>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69029">
                <a:tc>
                  <a:txBody>
                    <a:bodyPr/>
                    <a:lstStyle/>
                    <a:p>
                      <a:pPr algn="ctr">
                        <a:spcAft>
                          <a:spcPts val="0"/>
                        </a:spcAft>
                      </a:pPr>
                      <a:r>
                        <a:rPr lang="en-US" sz="2000" b="1" kern="100" dirty="0">
                          <a:solidFill>
                            <a:srgbClr val="000000"/>
                          </a:solidFill>
                          <a:latin typeface="Times New Roman" panose="02020503050405090304"/>
                          <a:ea typeface="宋体"/>
                          <a:cs typeface="Times New Roman" panose="02020503050405090304"/>
                        </a:rPr>
                        <a:t>Lead</a:t>
                      </a:r>
                      <a:endParaRPr lang="zh-CN" sz="2000" b="1" kern="100" dirty="0">
                        <a:latin typeface="Calibri"/>
                        <a:ea typeface="宋体"/>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0" dirty="0">
                          <a:solidFill>
                            <a:srgbClr val="000000"/>
                          </a:solidFill>
                          <a:latin typeface="Times New Roman" panose="02020503050405090304"/>
                          <a:ea typeface="宋体"/>
                          <a:cs typeface="Times New Roman" panose="02020503050405090304"/>
                        </a:rPr>
                        <a:t>• The opening section </a:t>
                      </a:r>
                      <a:endParaRPr lang="zh-CN" sz="2000" kern="100" dirty="0">
                        <a:latin typeface="Calibri"/>
                        <a:ea typeface="宋体"/>
                        <a:cs typeface="Times New Roman" panose="02020503050405090304"/>
                      </a:endParaRPr>
                    </a:p>
                    <a:p>
                      <a:pPr algn="l">
                        <a:spcAft>
                          <a:spcPts val="0"/>
                        </a:spcAft>
                      </a:pPr>
                      <a:r>
                        <a:rPr lang="en-US" sz="2000" kern="0" dirty="0">
                          <a:solidFill>
                            <a:srgbClr val="000000"/>
                          </a:solidFill>
                          <a:latin typeface="Times New Roman" panose="02020503050405090304"/>
                          <a:ea typeface="宋体"/>
                          <a:cs typeface="Times New Roman" panose="02020503050405090304"/>
                        </a:rPr>
                        <a:t>• Gives most important information </a:t>
                      </a:r>
                      <a:endParaRPr lang="zh-CN" sz="2000" kern="100" dirty="0">
                        <a:latin typeface="Calibri"/>
                        <a:ea typeface="宋体"/>
                        <a:cs typeface="Times New Roman" panose="02020503050405090304"/>
                      </a:endParaRPr>
                    </a:p>
                    <a:p>
                      <a:pPr algn="l">
                        <a:spcAft>
                          <a:spcPts val="0"/>
                        </a:spcAft>
                      </a:pPr>
                      <a:r>
                        <a:rPr lang="en-US" sz="2000" kern="0" dirty="0">
                          <a:solidFill>
                            <a:srgbClr val="000000"/>
                          </a:solidFill>
                          <a:latin typeface="Times New Roman" panose="02020503050405090304"/>
                          <a:ea typeface="宋体"/>
                          <a:cs typeface="Times New Roman" panose="02020503050405090304"/>
                        </a:rPr>
                        <a:t>• Should answer most of the 5W’s</a:t>
                      </a:r>
                      <a:endParaRPr lang="zh-CN" sz="2000" kern="100" dirty="0">
                        <a:latin typeface="Calibri"/>
                        <a:ea typeface="宋体"/>
                        <a:cs typeface="Times New Roman" panose="0202050305040509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12686">
                <a:tc>
                  <a:txBody>
                    <a:bodyPr/>
                    <a:lstStyle/>
                    <a:p>
                      <a:pPr algn="ctr">
                        <a:spcAft>
                          <a:spcPts val="0"/>
                        </a:spcAft>
                      </a:pPr>
                      <a:r>
                        <a:rPr lang="en-US" sz="2000" b="1" kern="100">
                          <a:solidFill>
                            <a:srgbClr val="000000"/>
                          </a:solidFill>
                          <a:latin typeface="Times New Roman" panose="02020503050405090304"/>
                          <a:ea typeface="宋体"/>
                          <a:cs typeface="Times New Roman" panose="02020503050405090304"/>
                        </a:rPr>
                        <a:t>Body</a:t>
                      </a:r>
                      <a:endParaRPr lang="zh-CN" sz="2000" b="1" kern="100">
                        <a:latin typeface="Calibri"/>
                        <a:ea typeface="宋体"/>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0" dirty="0">
                          <a:solidFill>
                            <a:srgbClr val="000000"/>
                          </a:solidFill>
                          <a:latin typeface="Times New Roman" panose="02020503050405090304"/>
                          <a:ea typeface="宋体"/>
                          <a:cs typeface="Times New Roman" panose="02020503050405090304"/>
                        </a:rPr>
                        <a:t>• Supplies detail </a:t>
                      </a:r>
                      <a:endParaRPr lang="zh-CN" sz="2000" kern="100" dirty="0">
                        <a:latin typeface="Calibri"/>
                        <a:ea typeface="宋体"/>
                        <a:cs typeface="Times New Roman" panose="02020503050405090304"/>
                      </a:endParaRPr>
                    </a:p>
                    <a:p>
                      <a:pPr algn="l">
                        <a:spcAft>
                          <a:spcPts val="0"/>
                        </a:spcAft>
                      </a:pPr>
                      <a:r>
                        <a:rPr lang="en-US" sz="2000" kern="0" dirty="0">
                          <a:solidFill>
                            <a:srgbClr val="000000"/>
                          </a:solidFill>
                          <a:latin typeface="Times New Roman" panose="02020503050405090304"/>
                          <a:ea typeface="宋体"/>
                          <a:cs typeface="Times New Roman" panose="02020503050405090304"/>
                        </a:rPr>
                        <a:t>• Most important details come first</a:t>
                      </a:r>
                      <a:endParaRPr lang="zh-CN" sz="2000" kern="100" dirty="0">
                        <a:latin typeface="Calibri"/>
                        <a:ea typeface="宋体"/>
                        <a:cs typeface="Times New Roman" panose="0202050305040509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6343">
                <a:tc>
                  <a:txBody>
                    <a:bodyPr/>
                    <a:lstStyle/>
                    <a:p>
                      <a:pPr algn="ctr">
                        <a:spcAft>
                          <a:spcPts val="0"/>
                        </a:spcAft>
                      </a:pPr>
                      <a:r>
                        <a:rPr lang="en-US" sz="2000" b="1" kern="100">
                          <a:solidFill>
                            <a:srgbClr val="000000"/>
                          </a:solidFill>
                          <a:latin typeface="Times New Roman" panose="02020503050405090304"/>
                          <a:ea typeface="宋体"/>
                          <a:cs typeface="Times New Roman" panose="02020503050405090304"/>
                        </a:rPr>
                        <a:t>Facts</a:t>
                      </a:r>
                      <a:endParaRPr lang="zh-CN" sz="2000" b="1" kern="100">
                        <a:latin typeface="Calibri"/>
                        <a:ea typeface="宋体"/>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000" kern="100" dirty="0">
                          <a:solidFill>
                            <a:srgbClr val="000000"/>
                          </a:solidFill>
                          <a:latin typeface="Times New Roman" panose="02020503050405090304"/>
                          <a:ea typeface="宋体"/>
                          <a:cs typeface="Times New Roman" panose="02020503050405090304"/>
                        </a:rPr>
                        <a:t>• Simple true statements</a:t>
                      </a:r>
                      <a:endParaRPr lang="zh-CN" sz="2000" kern="100" dirty="0">
                        <a:latin typeface="Calibri"/>
                        <a:ea typeface="宋体"/>
                        <a:cs typeface="Times New Roman" panose="0202050305040509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69029">
                <a:tc>
                  <a:txBody>
                    <a:bodyPr/>
                    <a:lstStyle/>
                    <a:p>
                      <a:pPr algn="ctr">
                        <a:spcAft>
                          <a:spcPts val="0"/>
                        </a:spcAft>
                      </a:pPr>
                      <a:r>
                        <a:rPr lang="en-US" sz="2000" b="1" kern="100" dirty="0">
                          <a:solidFill>
                            <a:srgbClr val="000000"/>
                          </a:solidFill>
                          <a:latin typeface="Times New Roman" panose="02020503050405090304"/>
                          <a:ea typeface="宋体"/>
                          <a:cs typeface="Times New Roman" panose="02020503050405090304"/>
                        </a:rPr>
                        <a:t>Quotation</a:t>
                      </a:r>
                      <a:endParaRPr lang="zh-CN" sz="2000" b="1" kern="100" dirty="0">
                        <a:latin typeface="Calibri"/>
                        <a:ea typeface="宋体"/>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0" dirty="0">
                          <a:solidFill>
                            <a:srgbClr val="000000"/>
                          </a:solidFill>
                          <a:latin typeface="Times New Roman" panose="02020503050405090304"/>
                          <a:ea typeface="宋体"/>
                          <a:cs typeface="Times New Roman" panose="02020503050405090304"/>
                        </a:rPr>
                        <a:t>• What someone actually said </a:t>
                      </a:r>
                      <a:endParaRPr lang="zh-CN" sz="2000" kern="100" dirty="0">
                        <a:latin typeface="Calibri"/>
                        <a:ea typeface="宋体"/>
                        <a:cs typeface="Times New Roman" panose="02020503050405090304"/>
                      </a:endParaRPr>
                    </a:p>
                    <a:p>
                      <a:pPr algn="l">
                        <a:spcAft>
                          <a:spcPts val="0"/>
                        </a:spcAft>
                      </a:pPr>
                      <a:r>
                        <a:rPr lang="en-US" sz="2000" kern="0" dirty="0">
                          <a:solidFill>
                            <a:srgbClr val="000000"/>
                          </a:solidFill>
                          <a:latin typeface="Times New Roman" panose="02020503050405090304"/>
                          <a:ea typeface="宋体"/>
                          <a:cs typeface="Times New Roman" panose="02020503050405090304"/>
                        </a:rPr>
                        <a:t>• Adds accuracy </a:t>
                      </a:r>
                      <a:endParaRPr lang="zh-CN" sz="2000" kern="100" dirty="0">
                        <a:latin typeface="Calibri"/>
                        <a:ea typeface="宋体"/>
                        <a:cs typeface="Times New Roman" panose="02020503050405090304"/>
                      </a:endParaRPr>
                    </a:p>
                    <a:p>
                      <a:pPr algn="l">
                        <a:spcAft>
                          <a:spcPts val="0"/>
                        </a:spcAft>
                      </a:pPr>
                      <a:r>
                        <a:rPr lang="en-US" sz="2000" kern="0" dirty="0">
                          <a:solidFill>
                            <a:srgbClr val="000000"/>
                          </a:solidFill>
                          <a:latin typeface="Times New Roman" panose="02020503050405090304"/>
                          <a:ea typeface="宋体"/>
                          <a:cs typeface="Times New Roman" panose="02020503050405090304"/>
                        </a:rPr>
                        <a:t>• Adds “at the scene” feeling</a:t>
                      </a:r>
                      <a:endParaRPr lang="zh-CN" sz="2000" kern="100" dirty="0">
                        <a:latin typeface="Calibri"/>
                        <a:ea typeface="宋体"/>
                        <a:cs typeface="Times New Roman" panose="0202050305040509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0034" y="0"/>
            <a:ext cx="8229600" cy="511156"/>
          </a:xfrm>
        </p:spPr>
        <p:txBody>
          <a:bodyPr>
            <a:noAutofit/>
          </a:bodyPr>
          <a:lstStyle/>
          <a:p>
            <a:r>
              <a:rPr lang="en-US" altLang="zh-CN" sz="3600" dirty="0" smtClean="0">
                <a:latin typeface="+mn-lt"/>
                <a:cs typeface="Times New Roman" panose="02020503050405090304" pitchFamily="18" charset="0"/>
              </a:rPr>
              <a:t>Exercise-analysis of the news structure</a:t>
            </a:r>
            <a:endParaRPr lang="zh-CN" altLang="en-US" sz="3600" dirty="0">
              <a:latin typeface="+mn-lt"/>
              <a:cs typeface="Times New Roman" panose="02020503050405090304" pitchFamily="18" charset="0"/>
            </a:endParaRPr>
          </a:p>
        </p:txBody>
      </p:sp>
      <p:sp>
        <p:nvSpPr>
          <p:cNvPr id="3" name="内容占位符 2"/>
          <p:cNvSpPr>
            <a:spLocks noGrp="1"/>
          </p:cNvSpPr>
          <p:nvPr>
            <p:ph idx="1"/>
          </p:nvPr>
        </p:nvSpPr>
        <p:spPr>
          <a:xfrm>
            <a:off x="214282" y="500042"/>
            <a:ext cx="8715436" cy="6143668"/>
          </a:xfrm>
        </p:spPr>
        <p:txBody>
          <a:bodyPr>
            <a:noAutofit/>
          </a:bodyPr>
          <a:lstStyle/>
          <a:p>
            <a:pPr algn="ctr">
              <a:buNone/>
            </a:pPr>
            <a:r>
              <a:rPr lang="en-US" sz="1600" b="1" dirty="0" smtClean="0">
                <a:latin typeface="+mn-lt"/>
                <a:cs typeface="Times New Roman" panose="02020503050405090304" pitchFamily="18" charset="0"/>
              </a:rPr>
              <a:t>Students Grow Flying Sauce </a:t>
            </a:r>
            <a:endParaRPr lang="en-US" sz="1600" dirty="0" smtClean="0">
              <a:latin typeface="+mn-lt"/>
              <a:cs typeface="Times New Roman" panose="02020503050405090304" pitchFamily="18" charset="0"/>
            </a:endParaRPr>
          </a:p>
          <a:p>
            <a:pPr algn="ctr">
              <a:buNone/>
            </a:pPr>
            <a:r>
              <a:rPr lang="en-US" sz="1600" dirty="0" smtClean="0">
                <a:latin typeface="+mn-lt"/>
                <a:cs typeface="Times New Roman" panose="02020503050405090304" pitchFamily="18" charset="0"/>
              </a:rPr>
              <a:t>Jim Wilkes, Science Reporter </a:t>
            </a:r>
            <a:endParaRPr lang="en-US" sz="1600" dirty="0" smtClean="0">
              <a:latin typeface="+mn-lt"/>
              <a:cs typeface="Times New Roman" panose="02020503050405090304" pitchFamily="18" charset="0"/>
            </a:endParaRPr>
          </a:p>
          <a:p>
            <a:r>
              <a:rPr lang="en-US" sz="1600" dirty="0" smtClean="0">
                <a:latin typeface="+mn-lt"/>
                <a:cs typeface="Times New Roman" panose="02020503050405090304" pitchFamily="18" charset="0"/>
              </a:rPr>
              <a:t>TORONTO - In the cult movie classic Attack of the Killer Tomatoes, mutant  vegetables cut a deadly swath through the community, consuming everyone in their path. </a:t>
            </a:r>
            <a:endParaRPr lang="en-US" sz="1600" dirty="0" smtClean="0">
              <a:latin typeface="+mn-lt"/>
              <a:cs typeface="Times New Roman" panose="02020503050405090304" pitchFamily="18" charset="0"/>
            </a:endParaRPr>
          </a:p>
          <a:p>
            <a:r>
              <a:rPr lang="en-US" sz="1600" dirty="0" smtClean="0">
                <a:latin typeface="+mn-lt"/>
                <a:cs typeface="Times New Roman" panose="02020503050405090304" pitchFamily="18" charset="0"/>
              </a:rPr>
              <a:t>But Canadian astronaut Bob </a:t>
            </a:r>
            <a:r>
              <a:rPr lang="en-US" sz="1600" dirty="0" err="1" smtClean="0">
                <a:latin typeface="+mn-lt"/>
                <a:cs typeface="Times New Roman" panose="02020503050405090304" pitchFamily="18" charset="0"/>
              </a:rPr>
              <a:t>Thirsk</a:t>
            </a:r>
            <a:r>
              <a:rPr lang="en-US" sz="1600" dirty="0" smtClean="0">
                <a:latin typeface="+mn-lt"/>
                <a:cs typeface="Times New Roman" panose="02020503050405090304" pitchFamily="18" charset="0"/>
              </a:rPr>
              <a:t> says Toronto students cultivating tomato seeds from space shouldn’t worry about like imitating art. </a:t>
            </a:r>
            <a:endParaRPr lang="en-US" sz="1600" dirty="0" smtClean="0">
              <a:latin typeface="+mn-lt"/>
              <a:cs typeface="Times New Roman" panose="02020503050405090304" pitchFamily="18" charset="0"/>
            </a:endParaRPr>
          </a:p>
          <a:p>
            <a:r>
              <a:rPr lang="en-US" sz="1600" dirty="0" smtClean="0">
                <a:latin typeface="+mn-lt"/>
                <a:cs typeface="Times New Roman" panose="02020503050405090304" pitchFamily="18" charset="0"/>
              </a:rPr>
              <a:t>“There should be no fear on the part of teachers or parents about any toxic fruit growing from these tomato plants,” said </a:t>
            </a:r>
            <a:r>
              <a:rPr lang="en-US" sz="1600" dirty="0" err="1" smtClean="0">
                <a:latin typeface="+mn-lt"/>
                <a:cs typeface="Times New Roman" panose="02020503050405090304" pitchFamily="18" charset="0"/>
              </a:rPr>
              <a:t>Thirsk</a:t>
            </a:r>
            <a:r>
              <a:rPr lang="en-US" sz="1600" dirty="0" smtClean="0">
                <a:latin typeface="+mn-lt"/>
                <a:cs typeface="Times New Roman" panose="02020503050405090304" pitchFamily="18" charset="0"/>
              </a:rPr>
              <a:t>, who flew aboard the shuttle Columbia on a 17-day mission in 1996. </a:t>
            </a:r>
            <a:endParaRPr lang="en-US" sz="1600" dirty="0" smtClean="0">
              <a:latin typeface="+mn-lt"/>
              <a:cs typeface="Times New Roman" panose="02020503050405090304" pitchFamily="18" charset="0"/>
            </a:endParaRPr>
          </a:p>
          <a:p>
            <a:r>
              <a:rPr lang="en-US" sz="1600" dirty="0" smtClean="0">
                <a:latin typeface="+mn-lt"/>
                <a:cs typeface="Times New Roman" panose="02020503050405090304" pitchFamily="18" charset="0"/>
              </a:rPr>
              <a:t>He said he’ll eat tomatoes produced from the high-flying seeds or use them to make salsa or ketchup. </a:t>
            </a:r>
            <a:endParaRPr lang="en-US" sz="1600" dirty="0" smtClean="0">
              <a:latin typeface="+mn-lt"/>
              <a:cs typeface="Times New Roman" panose="02020503050405090304" pitchFamily="18" charset="0"/>
            </a:endParaRPr>
          </a:p>
          <a:p>
            <a:r>
              <a:rPr lang="en-US" sz="1600" dirty="0" err="1" smtClean="0">
                <a:latin typeface="+mn-lt"/>
                <a:cs typeface="Times New Roman" panose="02020503050405090304" pitchFamily="18" charset="0"/>
              </a:rPr>
              <a:t>Thirsk</a:t>
            </a:r>
            <a:r>
              <a:rPr lang="en-US" sz="1600" dirty="0" smtClean="0">
                <a:latin typeface="+mn-lt"/>
                <a:cs typeface="Times New Roman" panose="02020503050405090304" pitchFamily="18" charset="0"/>
              </a:rPr>
              <a:t> visited students at St. </a:t>
            </a:r>
            <a:r>
              <a:rPr lang="en-US" sz="1600" dirty="0" err="1" smtClean="0">
                <a:latin typeface="+mn-lt"/>
                <a:cs typeface="Times New Roman" panose="02020503050405090304" pitchFamily="18" charset="0"/>
              </a:rPr>
              <a:t>Cecillia</a:t>
            </a:r>
            <a:r>
              <a:rPr lang="en-US" sz="1600" dirty="0" smtClean="0">
                <a:latin typeface="+mn-lt"/>
                <a:cs typeface="Times New Roman" panose="02020503050405090304" pitchFamily="18" charset="0"/>
              </a:rPr>
              <a:t> Catholic School on Annette St. yesterday to check up on their experiments with tomato seeds taken into space by astronaut Mark </a:t>
            </a:r>
            <a:r>
              <a:rPr lang="en-US" sz="1600" dirty="0" err="1" smtClean="0">
                <a:latin typeface="+mn-lt"/>
                <a:cs typeface="Times New Roman" panose="02020503050405090304" pitchFamily="18" charset="0"/>
              </a:rPr>
              <a:t>Garneau</a:t>
            </a:r>
            <a:r>
              <a:rPr lang="en-US" sz="1600" dirty="0" smtClean="0">
                <a:latin typeface="+mn-lt"/>
                <a:cs typeface="Times New Roman" panose="02020503050405090304" pitchFamily="18" charset="0"/>
              </a:rPr>
              <a:t>. </a:t>
            </a:r>
            <a:endParaRPr lang="en-US" sz="1600" dirty="0" smtClean="0">
              <a:latin typeface="+mn-lt"/>
              <a:cs typeface="Times New Roman" panose="02020503050405090304" pitchFamily="18" charset="0"/>
            </a:endParaRPr>
          </a:p>
          <a:p>
            <a:r>
              <a:rPr lang="en-US" sz="1600" dirty="0" smtClean="0">
                <a:latin typeface="+mn-lt"/>
                <a:cs typeface="Times New Roman" panose="02020503050405090304" pitchFamily="18" charset="0"/>
              </a:rPr>
              <a:t>The </a:t>
            </a:r>
            <a:r>
              <a:rPr lang="en-US" sz="1600" dirty="0" err="1" smtClean="0">
                <a:latin typeface="+mn-lt"/>
                <a:cs typeface="Times New Roman" panose="02020503050405090304" pitchFamily="18" charset="0"/>
              </a:rPr>
              <a:t>Tomatosphere</a:t>
            </a:r>
            <a:r>
              <a:rPr lang="en-US" sz="1600" dirty="0" smtClean="0">
                <a:latin typeface="+mn-lt"/>
                <a:cs typeface="Times New Roman" panose="02020503050405090304" pitchFamily="18" charset="0"/>
              </a:rPr>
              <a:t> project involves 2,500 secondary school classrooms across Canada growing 400,000 seeds, half of which made the trip to space. Space plants are said to grow faster and taller. </a:t>
            </a:r>
            <a:endParaRPr lang="en-US" sz="1600" dirty="0" smtClean="0">
              <a:latin typeface="+mn-lt"/>
              <a:cs typeface="Times New Roman" panose="02020503050405090304" pitchFamily="18" charset="0"/>
            </a:endParaRPr>
          </a:p>
          <a:p>
            <a:r>
              <a:rPr lang="en-US" sz="1600" dirty="0" smtClean="0">
                <a:latin typeface="+mn-lt"/>
                <a:cs typeface="Times New Roman" panose="02020503050405090304" pitchFamily="18" charset="0"/>
              </a:rPr>
              <a:t>“The space-flown seeds made 170 orbits of the Earth, travelled more than 7 million kilometers and spent 12 days weightless,” </a:t>
            </a:r>
            <a:r>
              <a:rPr lang="en-US" sz="1600" dirty="0" err="1" smtClean="0">
                <a:latin typeface="+mn-lt"/>
                <a:cs typeface="Times New Roman" panose="02020503050405090304" pitchFamily="18" charset="0"/>
              </a:rPr>
              <a:t>Thirsk</a:t>
            </a:r>
            <a:r>
              <a:rPr lang="en-US" sz="1600" dirty="0" smtClean="0">
                <a:latin typeface="+mn-lt"/>
                <a:cs typeface="Times New Roman" panose="02020503050405090304" pitchFamily="18" charset="0"/>
              </a:rPr>
              <a:t> said. </a:t>
            </a:r>
            <a:endParaRPr lang="en-US" sz="1600" dirty="0" smtClean="0">
              <a:latin typeface="+mn-lt"/>
              <a:cs typeface="Times New Roman" panose="02020503050405090304" pitchFamily="18" charset="0"/>
            </a:endParaRPr>
          </a:p>
          <a:p>
            <a:r>
              <a:rPr lang="en-US" sz="1600" dirty="0" smtClean="0">
                <a:latin typeface="+mn-lt"/>
                <a:cs typeface="Times New Roman" panose="02020503050405090304" pitchFamily="18" charset="0"/>
              </a:rPr>
              <a:t>At the end of June, schools will send results of their experiment to the Canadian Space Agency which will compile the date and make conclusions. </a:t>
            </a:r>
            <a:endParaRPr lang="en-US" sz="1600" dirty="0" smtClean="0">
              <a:latin typeface="+mn-lt"/>
              <a:cs typeface="Times New Roman" panose="02020503050405090304" pitchFamily="18" charset="0"/>
            </a:endParaRPr>
          </a:p>
          <a:p>
            <a:r>
              <a:rPr lang="en-US" sz="1600" dirty="0" err="1" smtClean="0">
                <a:latin typeface="+mn-lt"/>
                <a:cs typeface="Times New Roman" panose="02020503050405090304" pitchFamily="18" charset="0"/>
              </a:rPr>
              <a:t>Thirsk</a:t>
            </a:r>
            <a:r>
              <a:rPr lang="en-US" sz="1600" dirty="0" smtClean="0">
                <a:latin typeface="+mn-lt"/>
                <a:cs typeface="Times New Roman" panose="02020503050405090304" pitchFamily="18" charset="0"/>
              </a:rPr>
              <a:t> said the program is designed to introduce space science to young Canadians. “I can see that in these classrooms we have potential future Canadian scientists and astronauts,” he said. “I find that incredibly exciting.” </a:t>
            </a:r>
            <a:endParaRPr lang="zh-CN" altLang="en-US" sz="1600" dirty="0">
              <a:latin typeface="+mn-lt"/>
              <a:cs typeface="Times New Roman" panose="0202050305040509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mn-lt"/>
              </a:rPr>
              <a:t>Discussion</a:t>
            </a:r>
            <a:endParaRPr lang="zh-CN" altLang="en-US" dirty="0">
              <a:latin typeface="+mn-lt"/>
            </a:endParaRPr>
          </a:p>
        </p:txBody>
      </p:sp>
      <p:sp>
        <p:nvSpPr>
          <p:cNvPr id="3" name="内容占位符 2"/>
          <p:cNvSpPr>
            <a:spLocks noGrp="1"/>
          </p:cNvSpPr>
          <p:nvPr>
            <p:ph idx="1"/>
          </p:nvPr>
        </p:nvSpPr>
        <p:spPr/>
        <p:txBody>
          <a:bodyPr>
            <a:normAutofit/>
          </a:bodyPr>
          <a:lstStyle/>
          <a:p>
            <a:r>
              <a:rPr lang="en-US" altLang="zh-CN" sz="2800" b="1" dirty="0" smtClean="0">
                <a:solidFill>
                  <a:schemeClr val="tx2"/>
                </a:solidFill>
                <a:latin typeface="+mn-lt"/>
                <a:ea typeface="+mj-ea"/>
                <a:cs typeface="+mj-cs"/>
              </a:rPr>
              <a:t>Will humans be replaced by robots in the </a:t>
            </a:r>
            <a:endParaRPr lang="en-US" altLang="zh-CN" sz="2800" b="1" dirty="0" smtClean="0">
              <a:solidFill>
                <a:schemeClr val="tx2"/>
              </a:solidFill>
              <a:latin typeface="+mn-lt"/>
              <a:ea typeface="+mj-ea"/>
              <a:cs typeface="+mj-cs"/>
            </a:endParaRPr>
          </a:p>
          <a:p>
            <a:pPr marL="0" indent="0">
              <a:buNone/>
            </a:pPr>
            <a:r>
              <a:rPr lang="en-US" altLang="zh-CN" sz="2800" b="1" dirty="0" smtClean="0">
                <a:solidFill>
                  <a:schemeClr val="tx2"/>
                </a:solidFill>
                <a:latin typeface="+mn-lt"/>
                <a:ea typeface="+mj-ea"/>
                <a:cs typeface="+mj-cs"/>
              </a:rPr>
              <a:t>future?</a:t>
            </a:r>
            <a:endParaRPr lang="zh-CN" altLang="en-US" sz="2800" b="1" dirty="0" smtClean="0">
              <a:solidFill>
                <a:schemeClr val="tx2"/>
              </a:solidFill>
              <a:latin typeface="+mn-lt"/>
              <a:ea typeface="+mj-ea"/>
              <a:cs typeface="+mj-cs"/>
            </a:endParaRP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image" Target="../media/image3.jpeg"/></Relationships>
</file>

<file path=ppt/theme/theme1.xml><?xml version="1.0" encoding="utf-8"?>
<a:theme xmlns:a="http://schemas.openxmlformats.org/drawingml/2006/main" name="龙腾四海">
  <a:themeElements>
    <a:clrScheme name="龙腾四海">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龙腾四海">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龙腾四海">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Dragon</Template>
  <TotalTime>0</TotalTime>
  <Words>3332</Words>
  <Application>WPS 文字</Application>
  <PresentationFormat>全屏显示(4:3)</PresentationFormat>
  <Paragraphs>75</Paragraphs>
  <Slides>8</Slides>
  <Notes>0</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8</vt:i4>
      </vt:variant>
    </vt:vector>
  </HeadingPairs>
  <TitlesOfParts>
    <vt:vector size="30" baseType="lpstr">
      <vt:lpstr>Arial</vt:lpstr>
      <vt:lpstr>方正书宋_GBK</vt:lpstr>
      <vt:lpstr>Wingdings</vt:lpstr>
      <vt:lpstr>Wingdings 2</vt:lpstr>
      <vt:lpstr>Arial</vt:lpstr>
      <vt:lpstr>Times New Roman</vt:lpstr>
      <vt:lpstr>Times New Roman</vt:lpstr>
      <vt:lpstr>宋体</vt:lpstr>
      <vt:lpstr>汉仪书宋二KW</vt:lpstr>
      <vt:lpstr>Calibri</vt:lpstr>
      <vt:lpstr>Cambria</vt:lpstr>
      <vt:lpstr>苹方-简</vt:lpstr>
      <vt:lpstr>微软雅黑</vt:lpstr>
      <vt:lpstr>汉仪旗黑</vt:lpstr>
      <vt:lpstr>宋体</vt:lpstr>
      <vt:lpstr>Arial Unicode MS</vt:lpstr>
      <vt:lpstr>隶书</vt:lpstr>
      <vt:lpstr>宋体-简</vt:lpstr>
      <vt:lpstr>Maiandra GD</vt:lpstr>
      <vt:lpstr>华文楷体</vt:lpstr>
      <vt:lpstr>Helvetica Neue</vt:lpstr>
      <vt:lpstr>龙腾四海</vt:lpstr>
      <vt:lpstr>Unit 4 Automation and Robots</vt:lpstr>
      <vt:lpstr>Language features of news (structure) </vt:lpstr>
      <vt:lpstr>PowerPoint 演示文稿</vt:lpstr>
      <vt:lpstr>PowerPoint 演示文稿</vt:lpstr>
      <vt:lpstr>PowerPoint 演示文稿</vt:lpstr>
      <vt:lpstr>PowerPoint 演示文稿</vt:lpstr>
      <vt:lpstr>Exercise-analysis of the news structure</vt:lpstr>
      <vt:lpstr>Discussion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aaronhu</dc:creator>
  <cp:lastModifiedBy>renfang</cp:lastModifiedBy>
  <cp:revision>37</cp:revision>
  <dcterms:created xsi:type="dcterms:W3CDTF">2021-05-17T08:04:19Z</dcterms:created>
  <dcterms:modified xsi:type="dcterms:W3CDTF">2021-05-17T08:04:19Z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2052-3.5.1.5630</vt:lpwstr>
  </property>
</Properties>
</file>