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7"/>
  </p:notesMasterIdLst>
  <p:sldIdLst>
    <p:sldId id="256" r:id="rId5"/>
    <p:sldId id="257" r:id="rId6"/>
    <p:sldId id="279" r:id="rId8"/>
    <p:sldId id="280" r:id="rId9"/>
    <p:sldId id="281" r:id="rId10"/>
    <p:sldId id="283" r:id="rId11"/>
    <p:sldId id="284" r:id="rId12"/>
    <p:sldId id="285" r:id="rId13"/>
    <p:sldId id="287" r:id="rId14"/>
    <p:sldId id="290" r:id="rId15"/>
    <p:sldId id="282" r:id="rId16"/>
    <p:sldId id="293" r:id="rId17"/>
    <p:sldId id="292" r:id="rId18"/>
    <p:sldId id="294" r:id="rId19"/>
    <p:sldId id="332" r:id="rId20"/>
    <p:sldId id="333" r:id="rId21"/>
    <p:sldId id="334" r:id="rId2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5" d="100"/>
          <a:sy n="65" d="100"/>
        </p:scale>
        <p:origin x="-1536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indent="0" algn="r"/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*</a:t>
            </a:r>
            <a:endParaRPr lang="zh-CN" altLang="en-US" sz="1200" dirty="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indent="0" algn="r"/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*</a:t>
            </a:r>
            <a:endParaRPr lang="zh-CN" altLang="en-US" sz="1200" dirty="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662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662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indent="0" algn="r"/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*</a:t>
            </a:r>
            <a:endParaRPr lang="zh-CN" altLang="en-US" sz="1200" dirty="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867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867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indent="0" algn="r"/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*</a:t>
            </a:r>
            <a:endParaRPr lang="zh-CN" altLang="en-US" sz="1200" dirty="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072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07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indent="0" algn="r"/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*</a:t>
            </a:r>
            <a:endParaRPr lang="zh-CN" altLang="en-US" sz="1200" dirty="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277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27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indent="0" algn="r"/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*</a:t>
            </a:r>
            <a:endParaRPr lang="zh-CN" altLang="en-US" sz="1200" dirty="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48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48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indent="0" algn="r"/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*</a:t>
            </a:r>
            <a:endParaRPr lang="zh-CN" altLang="en-US" sz="1200" dirty="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686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68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indent="0" algn="r"/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*</a:t>
            </a:r>
            <a:endParaRPr lang="zh-CN" altLang="en-US" sz="1200" dirty="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891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89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indent="0" algn="r"/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*</a:t>
            </a:r>
            <a:endParaRPr lang="zh-CN" altLang="en-US" sz="1200" dirty="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09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09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p>
            <a:pPr lvl="0" indent="0" algn="r"/>
            <a:r>
              <a:rPr lang="zh-CN" altLang="en-US" sz="1200" dirty="0">
                <a:latin typeface="Arial" panose="020B0604020202090204" pitchFamily="34" charset="0"/>
                <a:ea typeface="宋体" pitchFamily="2" charset="-122"/>
              </a:rPr>
              <a:t>*</a:t>
            </a:r>
            <a:endParaRPr lang="zh-CN" altLang="en-US" sz="1200" dirty="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9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buFont typeface="Arial" panose="020B0604020202090204" pitchFamily="34" charset="0"/>
              <a:buNone/>
              <a:defRPr sz="1400" noProof="1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buFont typeface="Arial" panose="020B0604020202090204" pitchFamily="34" charset="0"/>
              <a:buNone/>
              <a:defRPr sz="1400" noProof="1">
                <a:latin typeface="Arial" panose="020B060402020209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13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21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2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buFont typeface="Arial" panose="020B0604020202090204" pitchFamily="34" charset="0"/>
              <a:buNone/>
              <a:defRPr sz="1400" noProof="1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buFont typeface="Arial" panose="020B0604020202090204" pitchFamily="34" charset="0"/>
              <a:buNone/>
              <a:defRPr sz="1400" noProof="1">
                <a:latin typeface="Arial" panose="020B060402020209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13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21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2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ln/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sz="4400" kern="1200" dirty="0">
                <a:latin typeface="+mj-lt"/>
                <a:ea typeface="+mj-ea"/>
                <a:cs typeface="+mj-cs"/>
              </a:rPr>
              <a:t>Unit 3</a:t>
            </a:r>
            <a:endParaRPr lang="zh-CN" altLang="zh-CN" sz="4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122" name="Rectangle 3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ln/>
        </p:spPr>
        <p:txBody>
          <a:bodyPr vert="horz" wrap="square" lIns="91440" tIns="45720" rIns="91440" bIns="45720" anchor="t"/>
          <a:p>
            <a:pPr eaLnBrk="1" hangingPunct="1"/>
            <a:r>
              <a:rPr lang="en-US" altLang="zh-CN" sz="3200" kern="1200" dirty="0">
                <a:latin typeface="+mn-lt"/>
                <a:ea typeface="+mn-ea"/>
                <a:cs typeface="+mn-cs"/>
              </a:rPr>
              <a:t>Telecommunications</a:t>
            </a:r>
            <a:endParaRPr lang="en-US" altLang="zh-CN" sz="3200" kern="1200" dirty="0"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dirty="0"/>
              <a:t>Features of News Headlines </a:t>
            </a:r>
            <a:endParaRPr lang="zh-CN" altLang="en-US" dirty="0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642938" y="2500313"/>
            <a:ext cx="7829550" cy="1543050"/>
          </a:xfrm>
          <a:ln/>
        </p:spPr>
        <p:txBody>
          <a:bodyPr vert="horz" wrap="square" lIns="91440" tIns="45720" rIns="91440" bIns="45720" anchor="t"/>
          <a:p>
            <a:pPr eaLnBrk="1" hangingPunct="1"/>
            <a:r>
              <a:rPr lang="en-US" altLang="zh-CN" dirty="0"/>
              <a:t>Grammatical features</a:t>
            </a:r>
            <a:endParaRPr lang="en-US" altLang="zh-CN" dirty="0"/>
          </a:p>
          <a:p>
            <a:pPr eaLnBrk="1" hangingPunct="1"/>
            <a:r>
              <a:rPr lang="en-US" altLang="zh-CN" dirty="0"/>
              <a:t>Lexical features</a:t>
            </a:r>
            <a:endParaRPr lang="en-US" altLang="zh-CN" dirty="0"/>
          </a:p>
          <a:p>
            <a:pPr eaLnBrk="1" hangingPunct="1">
              <a:buNone/>
            </a:pP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标题 1"/>
          <p:cNvSpPr>
            <a:spLocks noGrp="1"/>
          </p:cNvSpPr>
          <p:nvPr>
            <p:ph type="title"/>
          </p:nvPr>
        </p:nvSpPr>
        <p:spPr>
          <a:xfrm>
            <a:off x="500063" y="0"/>
            <a:ext cx="8229600" cy="1143000"/>
          </a:xfrm>
          <a:ln/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sz="3200" dirty="0"/>
              <a:t>Grammatical Features</a:t>
            </a:r>
            <a:endParaRPr lang="en-US" altLang="zh-CN" sz="3200" dirty="0"/>
          </a:p>
        </p:txBody>
      </p:sp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xfrm>
            <a:off x="571500" y="1143000"/>
            <a:ext cx="8072438" cy="5000625"/>
          </a:xfrm>
          <a:ln/>
        </p:spPr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en-US" altLang="zh-CN" dirty="0"/>
              <a:t>1.Omission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1) Omission of  indefinite articles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 Firm Provides Clinical Training for Rural</a:t>
            </a:r>
            <a:br>
              <a:rPr lang="en-US" altLang="zh-CN" dirty="0"/>
            </a:br>
            <a:r>
              <a:rPr lang="en-US" altLang="zh-CN" dirty="0"/>
              <a:t>Areas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(= 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 firm Provides Clinical Training for Rural</a:t>
            </a:r>
            <a:br>
              <a:rPr lang="en-US" altLang="zh-CN" dirty="0"/>
            </a:br>
            <a:r>
              <a:rPr lang="en-US" altLang="zh-CN" dirty="0"/>
              <a:t>Areas </a:t>
            </a:r>
            <a:br>
              <a:rPr lang="en-US" altLang="zh-CN" dirty="0"/>
            </a:br>
            <a:r>
              <a:rPr lang="en-US" altLang="zh-CN" dirty="0"/>
              <a:t>37 Killed in Italian Plane Crash 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 (= 37 Killed in </a:t>
            </a:r>
            <a:r>
              <a:rPr lang="en-US" altLang="zh-CN" dirty="0">
                <a:solidFill>
                  <a:srgbClr val="FF0000"/>
                </a:solidFill>
              </a:rPr>
              <a:t>an </a:t>
            </a:r>
            <a:r>
              <a:rPr lang="en-US" altLang="zh-CN" dirty="0"/>
              <a:t>Italian Plane Crash)</a:t>
            </a:r>
            <a:br>
              <a:rPr lang="en-US" altLang="zh-CN" dirty="0"/>
            </a:b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标题 1"/>
          <p:cNvSpPr>
            <a:spLocks noGrp="1"/>
          </p:cNvSpPr>
          <p:nvPr>
            <p:ph type="title"/>
          </p:nvPr>
        </p:nvSpPr>
        <p:spPr>
          <a:xfrm>
            <a:off x="500063" y="0"/>
            <a:ext cx="8229600" cy="1143000"/>
          </a:xfrm>
          <a:ln/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sz="3200" dirty="0"/>
              <a:t>Grammatical Features</a:t>
            </a:r>
            <a:endParaRPr lang="en-US" altLang="zh-CN" sz="3200" dirty="0"/>
          </a:p>
        </p:txBody>
      </p:sp>
      <p:sp>
        <p:nvSpPr>
          <p:cNvPr id="25602" name="内容占位符 2"/>
          <p:cNvSpPr>
            <a:spLocks noGrp="1"/>
          </p:cNvSpPr>
          <p:nvPr>
            <p:ph idx="1"/>
          </p:nvPr>
        </p:nvSpPr>
        <p:spPr>
          <a:xfrm>
            <a:off x="571500" y="1143000"/>
            <a:ext cx="8358188" cy="5357813"/>
          </a:xfrm>
          <a:ln/>
        </p:spPr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en-US" altLang="zh-CN" dirty="0"/>
              <a:t>2) Omission of conjunctions and pronouns</a:t>
            </a:r>
            <a:br>
              <a:rPr lang="en-US" altLang="zh-CN" dirty="0"/>
            </a:br>
            <a:r>
              <a:rPr lang="en-US" altLang="zh-CN" dirty="0"/>
              <a:t> 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 Laurel, Aquino Cut Ties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 (=Laurel </a:t>
            </a:r>
            <a:r>
              <a:rPr lang="en-US" altLang="zh-CN" dirty="0">
                <a:solidFill>
                  <a:srgbClr val="FF0000"/>
                </a:solidFill>
              </a:rPr>
              <a:t>and </a:t>
            </a:r>
            <a:r>
              <a:rPr lang="en-US" altLang="zh-CN" dirty="0"/>
              <a:t>Aquino Cut Ties)</a:t>
            </a: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Mother, Daughter Share Fulbright Year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(=</a:t>
            </a:r>
            <a:r>
              <a:rPr lang="en-US" altLang="zh-CN" dirty="0">
                <a:solidFill>
                  <a:srgbClr val="FF0000"/>
                </a:solidFill>
              </a:rPr>
              <a:t>A </a:t>
            </a:r>
            <a:r>
              <a:rPr lang="en-US" altLang="zh-CN" dirty="0"/>
              <a:t>Mother </a:t>
            </a:r>
            <a:r>
              <a:rPr lang="en-US" altLang="zh-CN" dirty="0">
                <a:solidFill>
                  <a:srgbClr val="FF0000"/>
                </a:solidFill>
              </a:rPr>
              <a:t>and Her </a:t>
            </a:r>
            <a:r>
              <a:rPr lang="en-US" altLang="zh-CN" dirty="0"/>
              <a:t>Daughter Share </a:t>
            </a:r>
            <a:r>
              <a:rPr lang="en-US" altLang="zh-CN" dirty="0">
                <a:solidFill>
                  <a:srgbClr val="FF0000"/>
                </a:solidFill>
              </a:rPr>
              <a:t>a </a:t>
            </a:r>
            <a:r>
              <a:rPr lang="en-US" altLang="zh-CN" dirty="0"/>
              <a:t>Fulbright Year)</a:t>
            </a:r>
            <a:endParaRPr lang="en-US" altLang="zh-CN" dirty="0"/>
          </a:p>
          <a:p>
            <a:pPr eaLnBrk="1" hangingPunct="1">
              <a:buNone/>
            </a:pPr>
            <a:br>
              <a:rPr lang="en-US" altLang="zh-CN" dirty="0"/>
            </a:br>
            <a:endParaRPr lang="en-US" altLang="zh-CN" dirty="0"/>
          </a:p>
          <a:p>
            <a:pPr eaLnBrk="1" hangingPunct="1">
              <a:buNone/>
            </a:pPr>
            <a:endParaRPr lang="zh-CN" altLang="en-US" dirty="0"/>
          </a:p>
          <a:p>
            <a:pPr eaLnBrk="1" hangingPunct="1">
              <a:buNone/>
            </a:pP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标题 1"/>
          <p:cNvSpPr>
            <a:spLocks noGrp="1"/>
          </p:cNvSpPr>
          <p:nvPr>
            <p:ph type="title"/>
          </p:nvPr>
        </p:nvSpPr>
        <p:spPr>
          <a:xfrm>
            <a:off x="500063" y="0"/>
            <a:ext cx="8229600" cy="1143000"/>
          </a:xfrm>
          <a:ln/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sz="3200" dirty="0"/>
              <a:t>Grammatical Features</a:t>
            </a:r>
            <a:endParaRPr lang="en-US" altLang="zh-CN" sz="3200" dirty="0"/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571500" y="1143000"/>
            <a:ext cx="8215313" cy="2357438"/>
          </a:xfrm>
          <a:ln/>
        </p:spPr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en-US" altLang="zh-CN" dirty="0"/>
              <a:t>3) Omission of “be”,  no matter what forms it acts as.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Pope to visit Japan in February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 (=Pope </a:t>
            </a:r>
            <a:r>
              <a:rPr lang="en-US" altLang="zh-CN" dirty="0">
                <a:solidFill>
                  <a:srgbClr val="FF0000"/>
                </a:solidFill>
              </a:rPr>
              <a:t>is</a:t>
            </a:r>
            <a:r>
              <a:rPr lang="en-US" altLang="zh-CN" dirty="0"/>
              <a:t> to visit Japan in February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8688" y="3571875"/>
            <a:ext cx="8215313" cy="30464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Three Dead After Inhaling Oven Gas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(=Three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Are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Dead After Inhaling Oven Gas)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  <a:sym typeface="+mn-ea"/>
              </a:rPr>
              <a:t>Food Prices Soaring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  <a:sym typeface="+mn-ea"/>
              </a:rPr>
              <a:t>(=Food Prices 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  <a:sym typeface="+mn-ea"/>
              </a:rPr>
              <a:t>Are 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  <a:sym typeface="+mn-ea"/>
              </a:rPr>
              <a:t>Soaring)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b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55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55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89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charRg st="89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标题 1"/>
          <p:cNvSpPr>
            <a:spLocks noGrp="1"/>
          </p:cNvSpPr>
          <p:nvPr>
            <p:ph type="title"/>
          </p:nvPr>
        </p:nvSpPr>
        <p:spPr>
          <a:xfrm>
            <a:off x="500063" y="0"/>
            <a:ext cx="8229600" cy="1143000"/>
          </a:xfrm>
          <a:ln/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sz="3200" dirty="0"/>
              <a:t>Grammatical Features</a:t>
            </a:r>
            <a:endParaRPr lang="en-US" altLang="zh-CN" sz="3200" dirty="0"/>
          </a:p>
        </p:txBody>
      </p:sp>
      <p:sp>
        <p:nvSpPr>
          <p:cNvPr id="29698" name="内容占位符 2"/>
          <p:cNvSpPr>
            <a:spLocks noGrp="1"/>
          </p:cNvSpPr>
          <p:nvPr>
            <p:ph idx="1"/>
          </p:nvPr>
        </p:nvSpPr>
        <p:spPr>
          <a:xfrm>
            <a:off x="642938" y="1000125"/>
            <a:ext cx="8143875" cy="5500688"/>
          </a:xfrm>
          <a:ln/>
        </p:spPr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en-US" altLang="zh-CN" dirty="0"/>
              <a:t>2. Tenses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1)  Wide use of present tenses to describe something happening in the past as well as in the present  </a:t>
            </a:r>
            <a:br>
              <a:rPr lang="en-US" altLang="zh-CN" dirty="0"/>
            </a:b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 Earthquake Rocks Turkey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i="1" dirty="0"/>
              <a:t>  Nightclub fire kills 233 in Brazil 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i="1" dirty="0"/>
              <a:t>  Obama says struggling over whether to intervene in Syria  </a:t>
            </a:r>
            <a:br>
              <a:rPr lang="en-US" altLang="zh-CN" dirty="0"/>
            </a:br>
            <a:r>
              <a:rPr lang="en-US" altLang="zh-CN" dirty="0"/>
              <a:t>Living Costs Going up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标题 1"/>
          <p:cNvSpPr>
            <a:spLocks noGrp="1"/>
          </p:cNvSpPr>
          <p:nvPr>
            <p:ph type="title"/>
          </p:nvPr>
        </p:nvSpPr>
        <p:spPr>
          <a:xfrm>
            <a:off x="500063" y="0"/>
            <a:ext cx="8229600" cy="1143000"/>
          </a:xfrm>
          <a:ln/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sz="3200" dirty="0"/>
              <a:t>Grammatical Features</a:t>
            </a:r>
            <a:endParaRPr lang="en-US" altLang="zh-CN" sz="3200" dirty="0"/>
          </a:p>
        </p:txBody>
      </p:sp>
      <p:sp>
        <p:nvSpPr>
          <p:cNvPr id="31746" name="内容占位符 2"/>
          <p:cNvSpPr>
            <a:spLocks noGrp="1"/>
          </p:cNvSpPr>
          <p:nvPr>
            <p:ph idx="1"/>
          </p:nvPr>
        </p:nvSpPr>
        <p:spPr>
          <a:xfrm>
            <a:off x="642938" y="1500188"/>
            <a:ext cx="8501062" cy="5000625"/>
          </a:xfrm>
          <a:ln/>
        </p:spPr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en-US" altLang="zh-CN" dirty="0"/>
              <a:t>2) Future tense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 Linking verb + infinitive phrase</a:t>
            </a: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Largest Chinese Trade Delegation to Visit US in Nov.</a:t>
            </a:r>
            <a:endParaRPr lang="zh-CN" altLang="en-US" dirty="0"/>
          </a:p>
          <a:p>
            <a:pPr>
              <a:buNone/>
            </a:pPr>
            <a:r>
              <a:rPr lang="en-US" altLang="zh-CN" dirty="0"/>
              <a:t> (=The Largest Chinese Trade Delegation is to Visit US in Nov.)</a:t>
            </a:r>
            <a:endParaRPr lang="zh-CN" altLang="en-US" dirty="0"/>
          </a:p>
          <a:p>
            <a:pPr eaLnBrk="1" hangingPunct="1">
              <a:buNone/>
            </a:pPr>
            <a:br>
              <a:rPr lang="en-US" altLang="zh-CN" dirty="0"/>
            </a:b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标题 1"/>
          <p:cNvSpPr>
            <a:spLocks noGrp="1"/>
          </p:cNvSpPr>
          <p:nvPr>
            <p:ph type="title"/>
          </p:nvPr>
        </p:nvSpPr>
        <p:spPr>
          <a:xfrm>
            <a:off x="500063" y="0"/>
            <a:ext cx="8229600" cy="1143000"/>
          </a:xfrm>
          <a:ln/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sz="3200" dirty="0"/>
              <a:t>Grammatical Features</a:t>
            </a:r>
            <a:endParaRPr lang="en-US" altLang="zh-CN" sz="3200" dirty="0"/>
          </a:p>
        </p:txBody>
      </p:sp>
      <p:sp>
        <p:nvSpPr>
          <p:cNvPr id="33794" name="内容占位符 2"/>
          <p:cNvSpPr>
            <a:spLocks noGrp="1"/>
          </p:cNvSpPr>
          <p:nvPr>
            <p:ph idx="1"/>
          </p:nvPr>
        </p:nvSpPr>
        <p:spPr>
          <a:xfrm>
            <a:off x="642938" y="857250"/>
            <a:ext cx="8501062" cy="5786438"/>
          </a:xfrm>
          <a:ln/>
        </p:spPr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en-US" altLang="zh-CN" dirty="0"/>
              <a:t> 3. Voice</a:t>
            </a: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1)  Passive voice used when the receiver of the event or action is more important than the executor</a:t>
            </a:r>
            <a:endParaRPr lang="zh-CN" altLang="en-US" dirty="0"/>
          </a:p>
          <a:p>
            <a:pPr eaLnBrk="1" hangingPunct="1">
              <a:buNone/>
            </a:pP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Journalist Fired in Spy Debate 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(=A Journalist Is Fired in a Spy Debate)</a:t>
            </a: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  <a:p>
            <a:pPr eaLnBrk="1" hangingPunct="1">
              <a:buNone/>
            </a:pPr>
            <a:r>
              <a:rPr lang="en-US" altLang="zh-CN" i="1" dirty="0"/>
              <a:t> Manipulation found in Singapore’s FX market</a:t>
            </a:r>
            <a:endParaRPr lang="zh-CN" altLang="en-US" dirty="0"/>
          </a:p>
          <a:p>
            <a:pPr eaLnBrk="1" hangingPunct="1">
              <a:buNone/>
            </a:pP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标题 1"/>
          <p:cNvSpPr>
            <a:spLocks noGrp="1"/>
          </p:cNvSpPr>
          <p:nvPr>
            <p:ph type="title"/>
          </p:nvPr>
        </p:nvSpPr>
        <p:spPr>
          <a:xfrm>
            <a:off x="500063" y="0"/>
            <a:ext cx="8229600" cy="1143000"/>
          </a:xfrm>
          <a:ln/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sz="3200" dirty="0"/>
              <a:t>Grammatical Features</a:t>
            </a:r>
            <a:endParaRPr lang="en-US" altLang="zh-CN" sz="3200" dirty="0"/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>
          <a:xfrm>
            <a:off x="298450" y="1214438"/>
            <a:ext cx="8845550" cy="5200650"/>
          </a:xfrm>
          <a:ln/>
        </p:spPr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en-US" altLang="zh-CN" dirty="0"/>
              <a:t>2) Active voice more widely used to make headlines  more colorful and appealing.</a:t>
            </a: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  <a:p>
            <a:pPr eaLnBrk="1" hangingPunct="1">
              <a:buNone/>
            </a:pPr>
            <a:r>
              <a:rPr lang="en-US" altLang="zh-CN" i="1" dirty="0"/>
              <a:t>  Fed waits for job market to perk up </a:t>
            </a:r>
            <a:endParaRPr lang="en-US" altLang="zh-CN" i="1" dirty="0"/>
          </a:p>
          <a:p>
            <a:pPr eaLnBrk="1" hangingPunct="1">
              <a:buNone/>
            </a:pPr>
            <a:r>
              <a:rPr lang="zh-CN" altLang="en-US" dirty="0"/>
              <a:t>美联储等待就业市场回暖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i="1" dirty="0"/>
              <a:t> Sanofi expects FDA decision on Lemtrada in H2 2013</a:t>
            </a:r>
            <a:r>
              <a:rPr lang="en-US" altLang="zh-CN" dirty="0"/>
              <a:t>  </a:t>
            </a:r>
            <a:endParaRPr lang="en-US" altLang="zh-CN" dirty="0"/>
          </a:p>
          <a:p>
            <a:pPr eaLnBrk="1" hangingPunct="1">
              <a:buNone/>
            </a:pPr>
            <a:r>
              <a:rPr lang="zh-CN" altLang="en-US" dirty="0"/>
              <a:t>赛诺菲</a:t>
            </a:r>
            <a:r>
              <a:rPr lang="zh-CN" dirty="0"/>
              <a:t>预计FDA将在2013年下半年对Lemtrada做出决定</a:t>
            </a:r>
            <a:br>
              <a:rPr lang="en-US" altLang="zh-CN" dirty="0"/>
            </a:b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标题 1"/>
          <p:cNvSpPr>
            <a:spLocks noGrp="1"/>
          </p:cNvSpPr>
          <p:nvPr>
            <p:ph type="title"/>
          </p:nvPr>
        </p:nvSpPr>
        <p:spPr>
          <a:xfrm>
            <a:off x="500063" y="0"/>
            <a:ext cx="8229600" cy="1143000"/>
          </a:xfrm>
          <a:ln/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sz="3200" dirty="0"/>
              <a:t>Lexical Features</a:t>
            </a:r>
            <a:endParaRPr lang="en-US" altLang="zh-CN" sz="3200" dirty="0"/>
          </a:p>
        </p:txBody>
      </p:sp>
      <p:sp>
        <p:nvSpPr>
          <p:cNvPr id="37890" name="内容占位符 2"/>
          <p:cNvSpPr>
            <a:spLocks noGrp="1"/>
          </p:cNvSpPr>
          <p:nvPr>
            <p:ph idx="1"/>
          </p:nvPr>
        </p:nvSpPr>
        <p:spPr>
          <a:xfrm>
            <a:off x="571500" y="1214438"/>
            <a:ext cx="8358188" cy="5000625"/>
          </a:xfrm>
          <a:ln/>
        </p:spPr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en-US" altLang="zh-CN" dirty="0"/>
              <a:t>1.Preference for short words to save space and avoid being wordy</a:t>
            </a: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Allowance to Be </a:t>
            </a:r>
            <a:r>
              <a:rPr lang="en-US" altLang="zh-CN" b="1" dirty="0">
                <a:solidFill>
                  <a:srgbClr val="FF0000"/>
                </a:solidFill>
              </a:rPr>
              <a:t>Cut</a:t>
            </a:r>
            <a:r>
              <a:rPr lang="en-US" altLang="zh-CN" dirty="0">
                <a:solidFill>
                  <a:srgbClr val="FF0000"/>
                </a:solidFill>
              </a:rPr>
              <a:t> </a:t>
            </a:r>
            <a:r>
              <a:rPr lang="en-US" altLang="zh-CN" dirty="0"/>
              <a:t>in 200,000 Families</a:t>
            </a: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Reshuffle </a:t>
            </a:r>
            <a:r>
              <a:rPr lang="en-US" altLang="zh-CN" b="1" dirty="0">
                <a:solidFill>
                  <a:srgbClr val="FF0000"/>
                </a:solidFill>
              </a:rPr>
              <a:t>Axe</a:t>
            </a:r>
            <a:r>
              <a:rPr lang="en-US" altLang="zh-CN" dirty="0">
                <a:solidFill>
                  <a:srgbClr val="FF0000"/>
                </a:solidFill>
              </a:rPr>
              <a:t>s </a:t>
            </a:r>
            <a:r>
              <a:rPr lang="en-US" altLang="zh-CN" dirty="0"/>
              <a:t>France‘s’ Cabinet</a:t>
            </a: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Ethiopia </a:t>
            </a:r>
            <a:r>
              <a:rPr lang="en-US" altLang="zh-CN" b="1" dirty="0">
                <a:solidFill>
                  <a:srgbClr val="FF0000"/>
                </a:solidFill>
              </a:rPr>
              <a:t>Jail</a:t>
            </a:r>
            <a:r>
              <a:rPr lang="en-US" altLang="zh-CN" dirty="0">
                <a:solidFill>
                  <a:srgbClr val="FF0000"/>
                </a:solidFill>
              </a:rPr>
              <a:t>s </a:t>
            </a:r>
            <a:r>
              <a:rPr lang="en-US" altLang="zh-CN" dirty="0"/>
              <a:t>Jews Escaping to Israel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标题 1"/>
          <p:cNvSpPr>
            <a:spLocks noGrp="1"/>
          </p:cNvSpPr>
          <p:nvPr>
            <p:ph type="title"/>
          </p:nvPr>
        </p:nvSpPr>
        <p:spPr>
          <a:xfrm>
            <a:off x="500063" y="0"/>
            <a:ext cx="8229600" cy="1143000"/>
          </a:xfrm>
          <a:ln/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sz="3200" dirty="0"/>
              <a:t>Lexical Features</a:t>
            </a:r>
            <a:endParaRPr lang="en-US" altLang="zh-CN" sz="3200" dirty="0"/>
          </a:p>
        </p:txBody>
      </p:sp>
      <p:sp>
        <p:nvSpPr>
          <p:cNvPr id="39938" name="内容占位符 2"/>
          <p:cNvSpPr>
            <a:spLocks noGrp="1"/>
          </p:cNvSpPr>
          <p:nvPr>
            <p:ph idx="1"/>
          </p:nvPr>
        </p:nvSpPr>
        <p:spPr>
          <a:xfrm>
            <a:off x="642938" y="1071563"/>
            <a:ext cx="8501062" cy="5286375"/>
          </a:xfrm>
          <a:ln/>
        </p:spPr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en-US" altLang="zh-CN" dirty="0"/>
              <a:t>2.Wide use of shortenings 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 (acronyms, abbreviations, clippings)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i="1" dirty="0"/>
              <a:t>   Americans cash in on £3</a:t>
            </a:r>
            <a:r>
              <a:rPr lang="en-US" altLang="zh-CN" i="1" dirty="0">
                <a:solidFill>
                  <a:srgbClr val="FF0000"/>
                </a:solidFill>
              </a:rPr>
              <a:t>bn</a:t>
            </a:r>
            <a:r>
              <a:rPr lang="en-US" altLang="zh-CN" i="1" dirty="0"/>
              <a:t> City office deal   </a:t>
            </a:r>
            <a:r>
              <a:rPr lang="en-US" altLang="zh-CN" dirty="0"/>
              <a:t>               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    (bn refers to billion) 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i="1" dirty="0"/>
              <a:t>  </a:t>
            </a:r>
            <a:r>
              <a:rPr lang="en-US" altLang="zh-CN" i="1" dirty="0">
                <a:solidFill>
                  <a:srgbClr val="FF0000"/>
                </a:solidFill>
              </a:rPr>
              <a:t>Fed </a:t>
            </a:r>
            <a:r>
              <a:rPr lang="en-US" altLang="zh-CN" i="1" dirty="0"/>
              <a:t>waits for job market to perk up</a:t>
            </a:r>
            <a:endParaRPr lang="en-US" altLang="zh-CN" i="1" dirty="0"/>
          </a:p>
          <a:p>
            <a:pPr eaLnBrk="1" hangingPunct="1">
              <a:buNone/>
            </a:pPr>
            <a:r>
              <a:rPr lang="en-US" altLang="zh-CN" dirty="0"/>
              <a:t>     (Fed = Federal Reserve)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</a:t>
            </a:r>
            <a:r>
              <a:rPr lang="en-US" altLang="zh-CN" i="1" dirty="0"/>
              <a:t>The slanting of a </a:t>
            </a:r>
            <a:r>
              <a:rPr lang="en-US" altLang="zh-CN" i="1" dirty="0">
                <a:solidFill>
                  <a:srgbClr val="FF0000"/>
                </a:solidFill>
              </a:rPr>
              <a:t>tech </a:t>
            </a:r>
            <a:r>
              <a:rPr lang="en-US" altLang="zh-CN" i="1" dirty="0"/>
              <a:t>hero  </a:t>
            </a:r>
            <a:endParaRPr lang="en-US" altLang="zh-CN" i="1" dirty="0"/>
          </a:p>
          <a:p>
            <a:pPr eaLnBrk="1" hangingPunct="1">
              <a:buNone/>
            </a:pPr>
            <a:r>
              <a:rPr lang="en-US" altLang="zh-CN" dirty="0"/>
              <a:t>     (tech = technology)</a:t>
            </a:r>
            <a:endParaRPr lang="en-US" altLang="zh-CN" dirty="0"/>
          </a:p>
          <a:p>
            <a:pPr eaLnBrk="1" hangingPunct="1">
              <a:buNone/>
            </a:pPr>
            <a:br>
              <a:rPr lang="en-US" altLang="zh-CN" dirty="0"/>
            </a:br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标题 1"/>
          <p:cNvSpPr>
            <a:spLocks noGrp="1"/>
          </p:cNvSpPr>
          <p:nvPr>
            <p:ph type="title"/>
          </p:nvPr>
        </p:nvSpPr>
        <p:spPr>
          <a:xfrm>
            <a:off x="428625" y="0"/>
            <a:ext cx="8229600" cy="1143000"/>
          </a:xfrm>
          <a:ln/>
        </p:spPr>
        <p:txBody>
          <a:bodyPr vert="horz" wrap="square" lIns="91440" tIns="45720" rIns="91440" bIns="45720" anchor="ctr"/>
          <a:p>
            <a:r>
              <a:rPr lang="en-US" altLang="zh-CN" dirty="0"/>
              <a:t>Exercise</a:t>
            </a:r>
            <a:endParaRPr lang="zh-CN" altLang="en-US" dirty="0"/>
          </a:p>
        </p:txBody>
      </p:sp>
      <p:sp>
        <p:nvSpPr>
          <p:cNvPr id="41986" name="内容占位符 2"/>
          <p:cNvSpPr>
            <a:spLocks noGrp="1"/>
          </p:cNvSpPr>
          <p:nvPr>
            <p:ph idx="1"/>
          </p:nvPr>
        </p:nvSpPr>
        <p:spPr>
          <a:xfrm>
            <a:off x="357188" y="500063"/>
            <a:ext cx="8501062" cy="5929312"/>
          </a:xfrm>
          <a:ln/>
        </p:spPr>
        <p:txBody>
          <a:bodyPr vert="horz" wrap="square" lIns="91440" tIns="45720" rIns="91440" bIns="45720" anchor="t"/>
          <a:p>
            <a:pPr>
              <a:buNone/>
            </a:pPr>
            <a:r>
              <a:rPr lang="en-US" altLang="zh-CN" dirty="0"/>
              <a:t> Give a shorter word with similar meaning of the underlined words in the headlines.</a:t>
            </a:r>
            <a:endParaRPr lang="en-US" altLang="zh-CN" dirty="0"/>
          </a:p>
          <a:p>
            <a:pPr>
              <a:buNone/>
            </a:pPr>
            <a:br>
              <a:rPr lang="en-US" altLang="zh-CN" dirty="0"/>
            </a:br>
            <a:r>
              <a:rPr lang="en-US" altLang="zh-CN" dirty="0"/>
              <a:t>1 Fannie, Freddie Narrow Losses but Seek      More </a:t>
            </a:r>
            <a:r>
              <a:rPr lang="en-US" altLang="zh-CN" u="sng" dirty="0"/>
              <a:t>Assistance</a:t>
            </a:r>
            <a:endParaRPr lang="en-US" altLang="zh-CN" u="sng" dirty="0"/>
          </a:p>
          <a:p>
            <a:pPr>
              <a:buNone/>
            </a:pPr>
            <a:r>
              <a:rPr lang="en-US" altLang="zh-CN" dirty="0"/>
              <a:t>   2 Conservatives </a:t>
            </a:r>
            <a:r>
              <a:rPr lang="en-US" altLang="zh-CN" u="sng" dirty="0"/>
              <a:t>Threaten </a:t>
            </a:r>
            <a:r>
              <a:rPr lang="en-US" altLang="zh-CN" dirty="0"/>
              <a:t>to Make Gay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 Marriage 2012 Issue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3 Google Asks Swiss Court to Lift Street 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View </a:t>
            </a:r>
            <a:r>
              <a:rPr lang="en-US" altLang="zh-CN" u="sng" dirty="0"/>
              <a:t>Restrictions</a:t>
            </a:r>
            <a:endParaRPr lang="en-US" altLang="zh-CN" u="sng" dirty="0"/>
          </a:p>
          <a:p>
            <a:pPr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标题 1"/>
          <p:cNvSpPr>
            <a:spLocks noGrp="1"/>
          </p:cNvSpPr>
          <p:nvPr>
            <p:ph type="title"/>
          </p:nvPr>
        </p:nvSpPr>
        <p:spPr>
          <a:xfrm>
            <a:off x="428625" y="0"/>
            <a:ext cx="8229600" cy="1143000"/>
          </a:xfrm>
          <a:ln/>
        </p:spPr>
        <p:txBody>
          <a:bodyPr vert="horz" wrap="square" lIns="91440" tIns="45720" rIns="91440" bIns="45720" anchor="ctr"/>
          <a:p>
            <a:r>
              <a:rPr lang="en-US" altLang="zh-CN" dirty="0"/>
              <a:t>Exercise</a:t>
            </a:r>
            <a:endParaRPr lang="zh-CN" altLang="en-US" dirty="0"/>
          </a:p>
        </p:txBody>
      </p:sp>
      <p:sp>
        <p:nvSpPr>
          <p:cNvPr id="43010" name="内容占位符 2"/>
          <p:cNvSpPr>
            <a:spLocks noGrp="1"/>
          </p:cNvSpPr>
          <p:nvPr>
            <p:ph idx="1"/>
          </p:nvPr>
        </p:nvSpPr>
        <p:spPr>
          <a:xfrm>
            <a:off x="285750" y="1428750"/>
            <a:ext cx="8858250" cy="4714875"/>
          </a:xfrm>
          <a:ln/>
        </p:spPr>
        <p:txBody>
          <a:bodyPr vert="horz" wrap="square" lIns="91440" tIns="45720" rIns="91440" bIns="45720" anchor="t"/>
          <a:p>
            <a:pPr>
              <a:buNone/>
            </a:pPr>
            <a:r>
              <a:rPr lang="en-US" altLang="zh-CN" dirty="0"/>
              <a:t>4 </a:t>
            </a:r>
            <a:r>
              <a:rPr lang="en-US" altLang="zh-CN" u="sng" dirty="0"/>
              <a:t>Investigation</a:t>
            </a:r>
            <a:r>
              <a:rPr lang="en-US" altLang="zh-CN" dirty="0"/>
              <a:t> of Violence, Mass Escapes 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from Egypt Prisons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5 Spain: 5 Dead, 3 Injured in Military Academy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</a:t>
            </a:r>
            <a:r>
              <a:rPr lang="en-US" altLang="zh-CN" u="sng" dirty="0"/>
              <a:t> Explosion</a:t>
            </a:r>
            <a:endParaRPr lang="en-US" altLang="zh-CN" u="sng" dirty="0"/>
          </a:p>
          <a:p>
            <a:pPr>
              <a:buNone/>
            </a:pPr>
            <a:r>
              <a:rPr lang="en-US" altLang="zh-CN" dirty="0"/>
              <a:t>6 Russia Raises Key Interest Rate to </a:t>
            </a:r>
            <a:r>
              <a:rPr lang="en-US" altLang="zh-CN" u="sng" dirty="0"/>
              <a:t>Check</a:t>
            </a:r>
            <a:endParaRPr lang="en-US" altLang="zh-CN" u="sng" dirty="0"/>
          </a:p>
          <a:p>
            <a:pPr>
              <a:buNone/>
            </a:pPr>
            <a:r>
              <a:rPr lang="en-US" altLang="zh-CN" dirty="0"/>
              <a:t>  Inflation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标题 1"/>
          <p:cNvSpPr>
            <a:spLocks noGrp="1"/>
          </p:cNvSpPr>
          <p:nvPr>
            <p:ph type="title"/>
          </p:nvPr>
        </p:nvSpPr>
        <p:spPr>
          <a:xfrm>
            <a:off x="428625" y="0"/>
            <a:ext cx="8229600" cy="1143000"/>
          </a:xfrm>
          <a:ln/>
        </p:spPr>
        <p:txBody>
          <a:bodyPr vert="horz" wrap="square" lIns="91440" tIns="45720" rIns="91440" bIns="45720" anchor="ctr"/>
          <a:p>
            <a:r>
              <a:rPr lang="en-US" altLang="zh-CN" dirty="0"/>
              <a:t>Exercise</a:t>
            </a:r>
            <a:endParaRPr lang="zh-CN" altLang="en-US" dirty="0"/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428625" y="928688"/>
            <a:ext cx="8286750" cy="5929312"/>
          </a:xfrm>
          <a:ln/>
        </p:spPr>
        <p:txBody>
          <a:bodyPr vert="horz" wrap="square" lIns="91440" tIns="45720" rIns="91440" bIns="45720" anchor="t"/>
          <a:p>
            <a:pPr>
              <a:buNone/>
            </a:pPr>
            <a:r>
              <a:rPr lang="en-US" altLang="zh-CN" dirty="0"/>
              <a:t> Give the complete forms of the shortenings in the following headlines and translate</a:t>
            </a:r>
            <a:br>
              <a:rPr lang="en-US" altLang="zh-CN" dirty="0"/>
            </a:br>
            <a:r>
              <a:rPr lang="en-US" altLang="zh-CN" dirty="0"/>
              <a:t>them into Chinese.</a:t>
            </a:r>
            <a:br>
              <a:rPr lang="en-US" altLang="zh-CN" dirty="0"/>
            </a:br>
            <a:r>
              <a:rPr lang="en-US" altLang="zh-CN" dirty="0"/>
              <a:t> 1 College </a:t>
            </a:r>
            <a:r>
              <a:rPr lang="en-US" altLang="zh-CN" b="1" dirty="0"/>
              <a:t>Grads</a:t>
            </a:r>
            <a:r>
              <a:rPr lang="en-US" altLang="zh-CN" dirty="0"/>
              <a:t> Face Tough Employment    Market</a:t>
            </a:r>
            <a:br>
              <a:rPr lang="en-US" altLang="zh-CN" dirty="0"/>
            </a:br>
            <a:r>
              <a:rPr lang="en-US" altLang="zh-CN" dirty="0"/>
              <a:t>2 Diplomats: Syria Evades </a:t>
            </a:r>
            <a:r>
              <a:rPr lang="en-US" altLang="zh-CN" b="1" dirty="0"/>
              <a:t>Nuke</a:t>
            </a:r>
            <a:r>
              <a:rPr lang="en-US" altLang="zh-CN" dirty="0"/>
              <a:t> Probe</a:t>
            </a:r>
            <a:br>
              <a:rPr lang="en-US" altLang="zh-CN" dirty="0"/>
            </a:br>
            <a:r>
              <a:rPr lang="en-US" altLang="zh-CN" dirty="0"/>
              <a:t>3 Olympic </a:t>
            </a:r>
            <a:r>
              <a:rPr lang="en-US" altLang="zh-CN" b="1" dirty="0"/>
              <a:t>Champ</a:t>
            </a:r>
            <a:r>
              <a:rPr lang="en-US" altLang="zh-CN" dirty="0"/>
              <a:t> Demong Chasing Gold    at Nordic Worlds</a:t>
            </a:r>
            <a:br>
              <a:rPr lang="en-US" altLang="zh-CN" dirty="0"/>
            </a:br>
            <a:r>
              <a:rPr lang="en-US" altLang="zh-CN" dirty="0"/>
              <a:t>4  Judge: No Sentencing Delay for </a:t>
            </a:r>
            <a:r>
              <a:rPr lang="en-US" altLang="zh-CN" b="1" dirty="0"/>
              <a:t>Doc</a:t>
            </a:r>
            <a:r>
              <a:rPr lang="en-US" altLang="zh-CN" dirty="0"/>
              <a:t> in     Ark. Bombing</a:t>
            </a:r>
            <a:br>
              <a:rPr lang="en-US" altLang="zh-CN" dirty="0"/>
            </a:b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0" end="3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charRg st="0" end="3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标题 1"/>
          <p:cNvSpPr>
            <a:spLocks noGrp="1"/>
          </p:cNvSpPr>
          <p:nvPr>
            <p:ph type="title"/>
          </p:nvPr>
        </p:nvSpPr>
        <p:spPr>
          <a:xfrm>
            <a:off x="428625" y="0"/>
            <a:ext cx="8229600" cy="1143000"/>
          </a:xfrm>
          <a:ln/>
        </p:spPr>
        <p:txBody>
          <a:bodyPr vert="horz" wrap="square" lIns="91440" tIns="45720" rIns="91440" bIns="45720" anchor="ctr"/>
          <a:p>
            <a:r>
              <a:rPr lang="en-US" altLang="zh-CN" dirty="0"/>
              <a:t>Exercise</a:t>
            </a:r>
            <a:endParaRPr lang="zh-CN" altLang="en-US" dirty="0"/>
          </a:p>
        </p:txBody>
      </p:sp>
      <p:sp>
        <p:nvSpPr>
          <p:cNvPr id="45058" name="内容占位符 2"/>
          <p:cNvSpPr>
            <a:spLocks noGrp="1"/>
          </p:cNvSpPr>
          <p:nvPr>
            <p:ph idx="1"/>
          </p:nvPr>
        </p:nvSpPr>
        <p:spPr>
          <a:xfrm>
            <a:off x="357188" y="500063"/>
            <a:ext cx="8501062" cy="5929312"/>
          </a:xfrm>
          <a:ln/>
        </p:spPr>
        <p:txBody>
          <a:bodyPr vert="horz" wrap="square" lIns="91440" tIns="45720" rIns="91440" bIns="45720" anchor="t"/>
          <a:p>
            <a:pPr>
              <a:buNone/>
            </a:pPr>
            <a:r>
              <a:rPr lang="en-US" altLang="zh-CN" dirty="0"/>
              <a:t> Give a shorter word with similar meaning of the underlined words in the headlines.</a:t>
            </a:r>
            <a:endParaRPr lang="en-US" altLang="zh-CN" dirty="0"/>
          </a:p>
          <a:p>
            <a:pPr>
              <a:buNone/>
            </a:pPr>
            <a:br>
              <a:rPr lang="en-US" altLang="zh-CN" dirty="0"/>
            </a:br>
            <a:r>
              <a:rPr lang="en-US" altLang="zh-CN" dirty="0"/>
              <a:t>1 Fannie, Freddie Narrow Losses but Seek      More </a:t>
            </a:r>
            <a:r>
              <a:rPr lang="en-US" altLang="zh-CN" u="sng" dirty="0">
                <a:solidFill>
                  <a:srgbClr val="FF0000"/>
                </a:solidFill>
              </a:rPr>
              <a:t>Aid</a:t>
            </a:r>
            <a:endParaRPr lang="en-US" altLang="zh-CN" u="sng" dirty="0"/>
          </a:p>
          <a:p>
            <a:pPr>
              <a:buNone/>
            </a:pPr>
            <a:r>
              <a:rPr lang="en-US" altLang="zh-CN" dirty="0"/>
              <a:t>   2 Conservatives </a:t>
            </a:r>
            <a:r>
              <a:rPr lang="en-US" altLang="zh-CN" u="sng" dirty="0">
                <a:solidFill>
                  <a:srgbClr val="FF0000"/>
                </a:solidFill>
              </a:rPr>
              <a:t>vow </a:t>
            </a:r>
            <a:r>
              <a:rPr lang="en-US" altLang="zh-CN" dirty="0"/>
              <a:t>to Make Gay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 Marriage 2012 Issue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3 Google Asks Swiss Court to Lift Street 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View </a:t>
            </a:r>
            <a:r>
              <a:rPr lang="en-US" altLang="zh-CN" u="sng" dirty="0">
                <a:solidFill>
                  <a:srgbClr val="FF0000"/>
                </a:solidFill>
              </a:rPr>
              <a:t>curbs</a:t>
            </a:r>
            <a:endParaRPr lang="en-US" altLang="zh-CN" u="sng" dirty="0"/>
          </a:p>
          <a:p>
            <a:pPr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标题 1"/>
          <p:cNvSpPr>
            <a:spLocks noGrp="1"/>
          </p:cNvSpPr>
          <p:nvPr>
            <p:ph type="title"/>
          </p:nvPr>
        </p:nvSpPr>
        <p:spPr>
          <a:xfrm>
            <a:off x="428625" y="0"/>
            <a:ext cx="8229600" cy="1143000"/>
          </a:xfrm>
          <a:ln/>
        </p:spPr>
        <p:txBody>
          <a:bodyPr vert="horz" wrap="square" lIns="91440" tIns="45720" rIns="91440" bIns="45720" anchor="ctr"/>
          <a:p>
            <a:r>
              <a:rPr lang="en-US" altLang="zh-CN" dirty="0"/>
              <a:t>Exercise</a:t>
            </a:r>
            <a:endParaRPr lang="zh-CN" altLang="en-US" dirty="0"/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428625" y="928688"/>
            <a:ext cx="8286750" cy="5929312"/>
          </a:xfrm>
          <a:ln/>
        </p:spPr>
        <p:txBody>
          <a:bodyPr vert="horz" wrap="square" lIns="91440" tIns="45720" rIns="91440" bIns="45720" anchor="t"/>
          <a:p>
            <a:pPr>
              <a:buNone/>
            </a:pPr>
            <a:r>
              <a:rPr lang="en-US" altLang="zh-CN" dirty="0"/>
              <a:t>  Give the complete forms of the shortenings in the following headlines and translate</a:t>
            </a:r>
            <a:br>
              <a:rPr lang="en-US" altLang="zh-CN" dirty="0"/>
            </a:br>
            <a:r>
              <a:rPr lang="en-US" altLang="zh-CN" dirty="0"/>
              <a:t>them into Chinese.</a:t>
            </a:r>
            <a:br>
              <a:rPr lang="en-US" altLang="zh-CN" dirty="0"/>
            </a:br>
            <a:r>
              <a:rPr lang="en-US" altLang="zh-CN" dirty="0"/>
              <a:t> 1 College </a:t>
            </a:r>
            <a:r>
              <a:rPr lang="en-US" altLang="zh-CN" b="1" dirty="0"/>
              <a:t>Grads</a:t>
            </a:r>
            <a:r>
              <a:rPr lang="en-US" altLang="zh-CN" dirty="0"/>
              <a:t> Face Tough Employment    Market</a:t>
            </a:r>
            <a:br>
              <a:rPr lang="en-US" altLang="zh-CN" dirty="0"/>
            </a:br>
            <a:r>
              <a:rPr lang="en-US" altLang="zh-CN" dirty="0"/>
              <a:t>2 Diplomats: Syria Evades </a:t>
            </a:r>
            <a:r>
              <a:rPr lang="en-US" altLang="zh-CN" b="1" dirty="0"/>
              <a:t>Nuke</a:t>
            </a:r>
            <a:r>
              <a:rPr lang="en-US" altLang="zh-CN" dirty="0"/>
              <a:t> Probe</a:t>
            </a:r>
            <a:br>
              <a:rPr lang="en-US" altLang="zh-CN" dirty="0"/>
            </a:br>
            <a:r>
              <a:rPr lang="en-US" altLang="zh-CN" dirty="0"/>
              <a:t>3 Olympic </a:t>
            </a:r>
            <a:r>
              <a:rPr lang="en-US" altLang="zh-CN" b="1" dirty="0"/>
              <a:t>Champ</a:t>
            </a:r>
            <a:r>
              <a:rPr lang="en-US" altLang="zh-CN" dirty="0"/>
              <a:t> Demong Chasing Gold    at Nordic Worlds</a:t>
            </a:r>
            <a:br>
              <a:rPr lang="en-US" altLang="zh-CN" dirty="0"/>
            </a:br>
            <a:r>
              <a:rPr lang="en-US" altLang="zh-CN" dirty="0"/>
              <a:t>4  Judge: No Sentencing Delay for </a:t>
            </a:r>
            <a:r>
              <a:rPr lang="en-US" altLang="zh-CN" b="1" dirty="0"/>
              <a:t>Doc</a:t>
            </a:r>
            <a:r>
              <a:rPr lang="en-US" altLang="zh-CN" dirty="0"/>
              <a:t> in     Ark. Bombing</a:t>
            </a:r>
            <a:br>
              <a:rPr lang="en-US" altLang="zh-CN" dirty="0"/>
            </a:b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0" end="3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charRg st="0" end="3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xfrm>
            <a:off x="428625" y="0"/>
            <a:ext cx="8229600" cy="1143000"/>
          </a:xfrm>
          <a:ln/>
        </p:spPr>
        <p:txBody>
          <a:bodyPr vert="horz" wrap="square" lIns="91440" tIns="45720" rIns="91440" bIns="45720" anchor="ctr"/>
          <a:p>
            <a:r>
              <a:rPr lang="en-US" altLang="zh-CN" dirty="0"/>
              <a:t>Exercise</a:t>
            </a:r>
            <a:endParaRPr lang="zh-CN" altLang="en-US" dirty="0"/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428625" y="928688"/>
            <a:ext cx="8286750" cy="5929313"/>
          </a:xfrm>
        </p:spPr>
        <p:txBody>
          <a:bodyPr vert="horz" wrap="square" lIns="91440" tIns="45720" rIns="91440" bIns="45720" anchor="t"/>
          <a:p>
            <a:pPr fontAlgn="base">
              <a:buNone/>
            </a:pPr>
            <a:r>
              <a:rPr lang="en-US" altLang="zh-CN" strike="noStrike" noProof="1" dirty="0"/>
              <a:t> Give the complete forms of the shortenings in the following headlines and translate</a:t>
            </a:r>
            <a:br>
              <a:rPr lang="en-US" altLang="zh-CN" dirty="0"/>
            </a:br>
            <a:r>
              <a:rPr lang="en-US" altLang="zh-CN" strike="noStrike" noProof="1" dirty="0"/>
              <a:t>them into Chinese.</a:t>
            </a:r>
            <a:endParaRPr lang="en-US" altLang="zh-CN" strike="noStrike" noProof="1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altLang="zh-CN" strike="noStrike" noProof="1" dirty="0"/>
              <a:t>College </a:t>
            </a:r>
            <a:r>
              <a:rPr lang="en-US" altLang="zh-CN" b="1" strike="noStrike" noProof="1" dirty="0">
                <a:solidFill>
                  <a:srgbClr val="FF0000"/>
                </a:solidFill>
              </a:rPr>
              <a:t>Graduates </a:t>
            </a:r>
            <a:r>
              <a:rPr lang="en-US" altLang="zh-CN" strike="noStrike" noProof="1" dirty="0"/>
              <a:t>Face Tough  Employment Market大学毕业生面临严峻的就业市场</a:t>
            </a:r>
            <a:endParaRPr lang="en-US" altLang="zh-CN" strike="noStrike" noProof="1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altLang="zh-CN" strike="noStrike" noProof="1" dirty="0"/>
              <a:t>Diplomats: Syria Evades </a:t>
            </a:r>
            <a:r>
              <a:rPr lang="en-US" altLang="zh-CN" b="1" strike="noStrike" noProof="1" dirty="0">
                <a:solidFill>
                  <a:srgbClr val="FF0000"/>
                </a:solidFill>
              </a:rPr>
              <a:t>Nuclear</a:t>
            </a:r>
            <a:r>
              <a:rPr lang="en-US" altLang="zh-CN" strike="noStrike" noProof="1" dirty="0">
                <a:solidFill>
                  <a:srgbClr val="FF0000"/>
                </a:solidFill>
              </a:rPr>
              <a:t> </a:t>
            </a:r>
            <a:r>
              <a:rPr lang="en-US" altLang="zh-CN" strike="noStrike" noProof="1" dirty="0"/>
              <a:t>Probe外交官:叙利亚逃避核调查</a:t>
            </a:r>
            <a:endParaRPr lang="en-US" altLang="zh-CN" strike="noStrike" noProof="1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altLang="zh-CN" strike="noStrike" noProof="1" dirty="0"/>
              <a:t>Olympic </a:t>
            </a:r>
            <a:r>
              <a:rPr lang="en-US" altLang="zh-CN" b="1" strike="noStrike" noProof="1" dirty="0">
                <a:solidFill>
                  <a:srgbClr val="FF0000"/>
                </a:solidFill>
              </a:rPr>
              <a:t>Champion</a:t>
            </a:r>
            <a:r>
              <a:rPr lang="en-US" altLang="zh-CN" strike="noStrike" noProof="1" dirty="0">
                <a:solidFill>
                  <a:srgbClr val="FF0000"/>
                </a:solidFill>
              </a:rPr>
              <a:t> </a:t>
            </a:r>
            <a:r>
              <a:rPr lang="en-US" altLang="zh-CN" strike="noStrike" noProof="1" dirty="0"/>
              <a:t>Demong Chasing  Gold  at Nordic Worlds奥运会冠军德蒙在北欧世界比赛中争夺金牌</a:t>
            </a:r>
            <a:endParaRPr lang="en-US" altLang="zh-CN" strike="noStrike" noProof="1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altLang="zh-CN" strike="noStrike" noProof="1" dirty="0"/>
              <a:t> Judge: No Sentencing Delay for </a:t>
            </a:r>
            <a:endParaRPr lang="en-US" altLang="zh-CN" strike="noStrike" noProof="1" dirty="0"/>
          </a:p>
          <a:p>
            <a:pPr marL="0" indent="0" fontAlgn="base">
              <a:buFont typeface="+mj-lt"/>
              <a:buNone/>
            </a:pPr>
            <a:r>
              <a:rPr lang="en-US" altLang="zh-CN" b="1" strike="noStrike" noProof="1" dirty="0">
                <a:solidFill>
                  <a:srgbClr val="FF0000"/>
                </a:solidFill>
              </a:rPr>
              <a:t>Doctor </a:t>
            </a:r>
            <a:r>
              <a:rPr lang="en-US" altLang="zh-CN" strike="noStrike" noProof="1" dirty="0">
                <a:solidFill>
                  <a:srgbClr val="FF0000"/>
                </a:solidFill>
              </a:rPr>
              <a:t> </a:t>
            </a:r>
            <a:r>
              <a:rPr lang="en-US" altLang="zh-CN" strike="noStrike" noProof="1" dirty="0"/>
              <a:t>in  </a:t>
            </a:r>
            <a:r>
              <a:rPr lang="en-US" altLang="zh-CN" strike="noStrike" noProof="1" dirty="0">
                <a:solidFill>
                  <a:srgbClr val="FF0000"/>
                </a:solidFill>
              </a:rPr>
              <a:t>Arkensas </a:t>
            </a:r>
            <a:r>
              <a:rPr lang="en-US" altLang="zh-CN" strike="noStrike" noProof="1" dirty="0"/>
              <a:t>Bombing法官:在阿肯萨斯爆炸案中，不能延迟对医生的宣判</a:t>
            </a:r>
            <a:br>
              <a:rPr lang="en-US" altLang="zh-CN" dirty="0"/>
            </a:br>
            <a:endParaRPr lang="en-US" altLang="zh-CN" strike="noStrike" noProof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0" end="3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charRg st="0" end="3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104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charRg st="104" end="1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166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charRg st="166" end="2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216" end="2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charRg st="216" end="2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291" end="3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59">
                                            <p:txEl>
                                              <p:charRg st="291" end="3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324" end="3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59">
                                            <p:txEl>
                                              <p:charRg st="324" end="3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3984</Words>
  <Application>WPS 文字</Application>
  <PresentationFormat>全屏显示(4:3)</PresentationFormat>
  <Paragraphs>150</Paragraphs>
  <Slides>17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方正书宋_GBK</vt:lpstr>
      <vt:lpstr>Wingdings</vt:lpstr>
      <vt:lpstr>宋体</vt:lpstr>
      <vt:lpstr>等线</vt:lpstr>
      <vt:lpstr>汉仪书宋二KW</vt:lpstr>
      <vt:lpstr>微软雅黑</vt:lpstr>
      <vt:lpstr>汉仪旗黑</vt:lpstr>
      <vt:lpstr>宋体</vt:lpstr>
      <vt:lpstr>Arial Unicode MS</vt:lpstr>
      <vt:lpstr>汉仪中等线KW</vt:lpstr>
      <vt:lpstr>默认设计模板</vt:lpstr>
      <vt:lpstr>1_默认设计模板</vt:lpstr>
      <vt:lpstr>2_默认设计模板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</dc:title>
  <dc:creator>michael</dc:creator>
  <cp:lastModifiedBy>renfang</cp:lastModifiedBy>
  <cp:revision>93</cp:revision>
  <dcterms:created xsi:type="dcterms:W3CDTF">2021-05-17T08:03:14Z</dcterms:created>
  <dcterms:modified xsi:type="dcterms:W3CDTF">2021-05-17T08:03:14Z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2052-3.5.1.5630</vt:lpwstr>
  </property>
</Properties>
</file>