
<file path=[Content_Types].xml><?xml version="1.0" encoding="utf-8"?>
<Types xmlns="http://schemas.openxmlformats.org/package/2006/content-types">
  <Default Extension="png" ContentType="image/png"/>
  <Default Extension="wdp" ContentType="image/vnd.ms-photo"/>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0"/>
  </p:notesMasterIdLst>
  <p:sldIdLst>
    <p:sldId id="256" r:id="rId3"/>
    <p:sldId id="270" r:id="rId4"/>
    <p:sldId id="271" r:id="rId5"/>
    <p:sldId id="272" r:id="rId6"/>
    <p:sldId id="273" r:id="rId7"/>
    <p:sldId id="274" r:id="rId8"/>
    <p:sldId id="275" r:id="rId9"/>
    <p:sldId id="276" r:id="rId10"/>
    <p:sldId id="285" r:id="rId11"/>
    <p:sldId id="286" r:id="rId12"/>
    <p:sldId id="277" r:id="rId13"/>
    <p:sldId id="287" r:id="rId14"/>
    <p:sldId id="288" r:id="rId15"/>
    <p:sldId id="278" r:id="rId16"/>
    <p:sldId id="290" r:id="rId17"/>
    <p:sldId id="279" r:id="rId18"/>
    <p:sldId id="291" r:id="rId19"/>
  </p:sldIdLst>
  <p:sldSz cx="24384000" cy="13716000"/>
  <p:notesSz cx="6858000" cy="9144000"/>
  <p:embeddedFont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defRPr kumimoji="0" sz="5000" b="0" i="0" u="none" strike="noStrike" cap="none" spc="0" normalizeH="0" baseline="0">
        <a:ln>
          <a:noFill/>
        </a:ln>
        <a:solidFill>
          <a:srgbClr val="5E5E5E"/>
        </a:solidFill>
        <a:effectLst/>
        <a:uFillTx/>
        <a:latin typeface="Helvetica Neue" panose="02000503000000020004"/>
        <a:ea typeface="Helvetica Neue" panose="02000503000000020004"/>
        <a:cs typeface="Helvetica Neue" panose="02000503000000020004"/>
        <a:sym typeface="Helvetica Neue" panose="02000503000000020004"/>
      </a:defRPr>
    </a:lvl1pPr>
    <a:lvl2pPr marL="0" marR="0" indent="0" algn="ctr" defTabSz="825500" rtl="0" fontAlgn="auto" latinLnBrk="0" hangingPunct="0">
      <a:lnSpc>
        <a:spcPct val="100000"/>
      </a:lnSpc>
      <a:spcBef>
        <a:spcPts val="0"/>
      </a:spcBef>
      <a:spcAft>
        <a:spcPts val="0"/>
      </a:spcAft>
      <a:buClrTx/>
      <a:buSzTx/>
      <a:buFontTx/>
      <a:buNone/>
      <a:defRPr kumimoji="0" sz="5000" b="0" i="0" u="none" strike="noStrike" cap="none" spc="0" normalizeH="0" baseline="0">
        <a:ln>
          <a:noFill/>
        </a:ln>
        <a:solidFill>
          <a:srgbClr val="5E5E5E"/>
        </a:solidFill>
        <a:effectLst/>
        <a:uFillTx/>
        <a:latin typeface="Helvetica Neue" panose="02000503000000020004"/>
        <a:ea typeface="Helvetica Neue" panose="02000503000000020004"/>
        <a:cs typeface="Helvetica Neue" panose="02000503000000020004"/>
        <a:sym typeface="Helvetica Neue" panose="02000503000000020004"/>
      </a:defRPr>
    </a:lvl2pPr>
    <a:lvl3pPr marL="0" marR="0" indent="0" algn="ctr" defTabSz="825500" rtl="0" fontAlgn="auto" latinLnBrk="0" hangingPunct="0">
      <a:lnSpc>
        <a:spcPct val="100000"/>
      </a:lnSpc>
      <a:spcBef>
        <a:spcPts val="0"/>
      </a:spcBef>
      <a:spcAft>
        <a:spcPts val="0"/>
      </a:spcAft>
      <a:buClrTx/>
      <a:buSzTx/>
      <a:buFontTx/>
      <a:buNone/>
      <a:defRPr kumimoji="0" sz="5000" b="0" i="0" u="none" strike="noStrike" cap="none" spc="0" normalizeH="0" baseline="0">
        <a:ln>
          <a:noFill/>
        </a:ln>
        <a:solidFill>
          <a:srgbClr val="5E5E5E"/>
        </a:solidFill>
        <a:effectLst/>
        <a:uFillTx/>
        <a:latin typeface="Helvetica Neue" panose="02000503000000020004"/>
        <a:ea typeface="Helvetica Neue" panose="02000503000000020004"/>
        <a:cs typeface="Helvetica Neue" panose="02000503000000020004"/>
        <a:sym typeface="Helvetica Neue" panose="02000503000000020004"/>
      </a:defRPr>
    </a:lvl3pPr>
    <a:lvl4pPr marL="0" marR="0" indent="0" algn="ctr" defTabSz="825500" rtl="0" fontAlgn="auto" latinLnBrk="0" hangingPunct="0">
      <a:lnSpc>
        <a:spcPct val="100000"/>
      </a:lnSpc>
      <a:spcBef>
        <a:spcPts val="0"/>
      </a:spcBef>
      <a:spcAft>
        <a:spcPts val="0"/>
      </a:spcAft>
      <a:buClrTx/>
      <a:buSzTx/>
      <a:buFontTx/>
      <a:buNone/>
      <a:defRPr kumimoji="0" sz="5000" b="0" i="0" u="none" strike="noStrike" cap="none" spc="0" normalizeH="0" baseline="0">
        <a:ln>
          <a:noFill/>
        </a:ln>
        <a:solidFill>
          <a:srgbClr val="5E5E5E"/>
        </a:solidFill>
        <a:effectLst/>
        <a:uFillTx/>
        <a:latin typeface="Helvetica Neue" panose="02000503000000020004"/>
        <a:ea typeface="Helvetica Neue" panose="02000503000000020004"/>
        <a:cs typeface="Helvetica Neue" panose="02000503000000020004"/>
        <a:sym typeface="Helvetica Neue" panose="02000503000000020004"/>
      </a:defRPr>
    </a:lvl4pPr>
    <a:lvl5pPr marL="0" marR="0" indent="0" algn="ctr" defTabSz="825500" rtl="0" fontAlgn="auto" latinLnBrk="0" hangingPunct="0">
      <a:lnSpc>
        <a:spcPct val="100000"/>
      </a:lnSpc>
      <a:spcBef>
        <a:spcPts val="0"/>
      </a:spcBef>
      <a:spcAft>
        <a:spcPts val="0"/>
      </a:spcAft>
      <a:buClrTx/>
      <a:buSzTx/>
      <a:buFontTx/>
      <a:buNone/>
      <a:defRPr kumimoji="0" sz="5000" b="0" i="0" u="none" strike="noStrike" cap="none" spc="0" normalizeH="0" baseline="0">
        <a:ln>
          <a:noFill/>
        </a:ln>
        <a:solidFill>
          <a:srgbClr val="5E5E5E"/>
        </a:solidFill>
        <a:effectLst/>
        <a:uFillTx/>
        <a:latin typeface="Helvetica Neue" panose="02000503000000020004"/>
        <a:ea typeface="Helvetica Neue" panose="02000503000000020004"/>
        <a:cs typeface="Helvetica Neue" panose="02000503000000020004"/>
        <a:sym typeface="Helvetica Neue" panose="02000503000000020004"/>
      </a:defRPr>
    </a:lvl5pPr>
    <a:lvl6pPr marL="0" marR="0" indent="0" algn="ctr" defTabSz="825500" rtl="0" fontAlgn="auto" latinLnBrk="0" hangingPunct="0">
      <a:lnSpc>
        <a:spcPct val="100000"/>
      </a:lnSpc>
      <a:spcBef>
        <a:spcPts val="0"/>
      </a:spcBef>
      <a:spcAft>
        <a:spcPts val="0"/>
      </a:spcAft>
      <a:buClrTx/>
      <a:buSzTx/>
      <a:buFontTx/>
      <a:buNone/>
      <a:defRPr kumimoji="0" sz="5000" b="0" i="0" u="none" strike="noStrike" cap="none" spc="0" normalizeH="0" baseline="0">
        <a:ln>
          <a:noFill/>
        </a:ln>
        <a:solidFill>
          <a:srgbClr val="5E5E5E"/>
        </a:solidFill>
        <a:effectLst/>
        <a:uFillTx/>
        <a:latin typeface="Helvetica Neue" panose="02000503000000020004"/>
        <a:ea typeface="Helvetica Neue" panose="02000503000000020004"/>
        <a:cs typeface="Helvetica Neue" panose="02000503000000020004"/>
        <a:sym typeface="Helvetica Neue" panose="02000503000000020004"/>
      </a:defRPr>
    </a:lvl6pPr>
    <a:lvl7pPr marL="0" marR="0" indent="0" algn="ctr" defTabSz="825500" rtl="0" fontAlgn="auto" latinLnBrk="0" hangingPunct="0">
      <a:lnSpc>
        <a:spcPct val="100000"/>
      </a:lnSpc>
      <a:spcBef>
        <a:spcPts val="0"/>
      </a:spcBef>
      <a:spcAft>
        <a:spcPts val="0"/>
      </a:spcAft>
      <a:buClrTx/>
      <a:buSzTx/>
      <a:buFontTx/>
      <a:buNone/>
      <a:defRPr kumimoji="0" sz="5000" b="0" i="0" u="none" strike="noStrike" cap="none" spc="0" normalizeH="0" baseline="0">
        <a:ln>
          <a:noFill/>
        </a:ln>
        <a:solidFill>
          <a:srgbClr val="5E5E5E"/>
        </a:solidFill>
        <a:effectLst/>
        <a:uFillTx/>
        <a:latin typeface="Helvetica Neue" panose="02000503000000020004"/>
        <a:ea typeface="Helvetica Neue" panose="02000503000000020004"/>
        <a:cs typeface="Helvetica Neue" panose="02000503000000020004"/>
        <a:sym typeface="Helvetica Neue" panose="02000503000000020004"/>
      </a:defRPr>
    </a:lvl7pPr>
    <a:lvl8pPr marL="0" marR="0" indent="0" algn="ctr" defTabSz="825500" rtl="0" fontAlgn="auto" latinLnBrk="0" hangingPunct="0">
      <a:lnSpc>
        <a:spcPct val="100000"/>
      </a:lnSpc>
      <a:spcBef>
        <a:spcPts val="0"/>
      </a:spcBef>
      <a:spcAft>
        <a:spcPts val="0"/>
      </a:spcAft>
      <a:buClrTx/>
      <a:buSzTx/>
      <a:buFontTx/>
      <a:buNone/>
      <a:defRPr kumimoji="0" sz="5000" b="0" i="0" u="none" strike="noStrike" cap="none" spc="0" normalizeH="0" baseline="0">
        <a:ln>
          <a:noFill/>
        </a:ln>
        <a:solidFill>
          <a:srgbClr val="5E5E5E"/>
        </a:solidFill>
        <a:effectLst/>
        <a:uFillTx/>
        <a:latin typeface="Helvetica Neue" panose="02000503000000020004"/>
        <a:ea typeface="Helvetica Neue" panose="02000503000000020004"/>
        <a:cs typeface="Helvetica Neue" panose="02000503000000020004"/>
        <a:sym typeface="Helvetica Neue" panose="02000503000000020004"/>
      </a:defRPr>
    </a:lvl8pPr>
    <a:lvl9pPr marL="0" marR="0" indent="0" algn="ctr" defTabSz="825500" rtl="0" fontAlgn="auto" latinLnBrk="0" hangingPunct="0">
      <a:lnSpc>
        <a:spcPct val="100000"/>
      </a:lnSpc>
      <a:spcBef>
        <a:spcPts val="0"/>
      </a:spcBef>
      <a:spcAft>
        <a:spcPts val="0"/>
      </a:spcAft>
      <a:buClrTx/>
      <a:buSzTx/>
      <a:buFontTx/>
      <a:buNone/>
      <a:defRPr kumimoji="0" sz="5000" b="0" i="0" u="none" strike="noStrike" cap="none" spc="0" normalizeH="0" baseline="0">
        <a:ln>
          <a:noFill/>
        </a:ln>
        <a:solidFill>
          <a:srgbClr val="5E5E5E"/>
        </a:solidFill>
        <a:effectLst/>
        <a:uFillTx/>
        <a:latin typeface="Helvetica Neue" panose="02000503000000020004"/>
        <a:ea typeface="Helvetica Neue" panose="02000503000000020004"/>
        <a:cs typeface="Helvetica Neue" panose="02000503000000020004"/>
        <a:sym typeface="Helvetica Neue" panose="020005030000000200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p:nvPr>
            <p:ph type="sldImg"/>
          </p:nvPr>
        </p:nvSpPr>
        <p:spPr>
          <a:xfrm>
            <a:off x="1143000" y="685800"/>
            <a:ext cx="4572000" cy="3429000"/>
          </a:xfrm>
          <a:prstGeom prst="rect">
            <a:avLst/>
          </a:prstGeom>
        </p:spPr>
        <p:txBody>
          <a:bodyPr/>
          <a:lstStyle/>
          <a:p/>
        </p:txBody>
      </p:sp>
      <p:sp>
        <p:nvSpPr>
          <p:cNvPr id="117" name="Shape 117"/>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Helvetica Neue" panose="02000503000000020004"/>
        <a:ea typeface="Helvetica Neue" panose="02000503000000020004"/>
        <a:cs typeface="Helvetica Neue" panose="02000503000000020004"/>
        <a:sym typeface="Helvetica Neue" panose="02000503000000020004"/>
      </a:defRPr>
    </a:lvl1pPr>
    <a:lvl2pPr indent="228600" defTabSz="457200" latinLnBrk="0">
      <a:lnSpc>
        <a:spcPct val="118000"/>
      </a:lnSpc>
      <a:defRPr sz="2200">
        <a:latin typeface="Helvetica Neue" panose="02000503000000020004"/>
        <a:ea typeface="Helvetica Neue" panose="02000503000000020004"/>
        <a:cs typeface="Helvetica Neue" panose="02000503000000020004"/>
        <a:sym typeface="Helvetica Neue" panose="02000503000000020004"/>
      </a:defRPr>
    </a:lvl2pPr>
    <a:lvl3pPr indent="457200" defTabSz="457200" latinLnBrk="0">
      <a:lnSpc>
        <a:spcPct val="118000"/>
      </a:lnSpc>
      <a:defRPr sz="2200">
        <a:latin typeface="Helvetica Neue" panose="02000503000000020004"/>
        <a:ea typeface="Helvetica Neue" panose="02000503000000020004"/>
        <a:cs typeface="Helvetica Neue" panose="02000503000000020004"/>
        <a:sym typeface="Helvetica Neue" panose="02000503000000020004"/>
      </a:defRPr>
    </a:lvl3pPr>
    <a:lvl4pPr indent="685800" defTabSz="457200" latinLnBrk="0">
      <a:lnSpc>
        <a:spcPct val="118000"/>
      </a:lnSpc>
      <a:defRPr sz="2200">
        <a:latin typeface="Helvetica Neue" panose="02000503000000020004"/>
        <a:ea typeface="Helvetica Neue" panose="02000503000000020004"/>
        <a:cs typeface="Helvetica Neue" panose="02000503000000020004"/>
        <a:sym typeface="Helvetica Neue" panose="02000503000000020004"/>
      </a:defRPr>
    </a:lvl4pPr>
    <a:lvl5pPr indent="914400" defTabSz="457200" latinLnBrk="0">
      <a:lnSpc>
        <a:spcPct val="118000"/>
      </a:lnSpc>
      <a:defRPr sz="2200">
        <a:latin typeface="Helvetica Neue" panose="02000503000000020004"/>
        <a:ea typeface="Helvetica Neue" panose="02000503000000020004"/>
        <a:cs typeface="Helvetica Neue" panose="02000503000000020004"/>
        <a:sym typeface="Helvetica Neue" panose="02000503000000020004"/>
      </a:defRPr>
    </a:lvl5pPr>
    <a:lvl6pPr indent="1143000" defTabSz="457200" latinLnBrk="0">
      <a:lnSpc>
        <a:spcPct val="118000"/>
      </a:lnSpc>
      <a:defRPr sz="2200">
        <a:latin typeface="Helvetica Neue" panose="02000503000000020004"/>
        <a:ea typeface="Helvetica Neue" panose="02000503000000020004"/>
        <a:cs typeface="Helvetica Neue" panose="02000503000000020004"/>
        <a:sym typeface="Helvetica Neue" panose="02000503000000020004"/>
      </a:defRPr>
    </a:lvl6pPr>
    <a:lvl7pPr indent="1371600" defTabSz="457200" latinLnBrk="0">
      <a:lnSpc>
        <a:spcPct val="118000"/>
      </a:lnSpc>
      <a:defRPr sz="2200">
        <a:latin typeface="Helvetica Neue" panose="02000503000000020004"/>
        <a:ea typeface="Helvetica Neue" panose="02000503000000020004"/>
        <a:cs typeface="Helvetica Neue" panose="02000503000000020004"/>
        <a:sym typeface="Helvetica Neue" panose="02000503000000020004"/>
      </a:defRPr>
    </a:lvl7pPr>
    <a:lvl8pPr indent="1600200" defTabSz="457200" latinLnBrk="0">
      <a:lnSpc>
        <a:spcPct val="118000"/>
      </a:lnSpc>
      <a:defRPr sz="2200">
        <a:latin typeface="Helvetica Neue" panose="02000503000000020004"/>
        <a:ea typeface="Helvetica Neue" panose="02000503000000020004"/>
        <a:cs typeface="Helvetica Neue" panose="02000503000000020004"/>
        <a:sym typeface="Helvetica Neue" panose="02000503000000020004"/>
      </a:defRPr>
    </a:lvl8pPr>
    <a:lvl9pPr indent="1828800" defTabSz="457200" latinLnBrk="0">
      <a:lnSpc>
        <a:spcPct val="118000"/>
      </a:lnSpc>
      <a:defRPr sz="2200">
        <a:latin typeface="Helvetica Neue" panose="02000503000000020004"/>
        <a:ea typeface="Helvetica Neue" panose="02000503000000020004"/>
        <a:cs typeface="Helvetica Neue" panose="02000503000000020004"/>
        <a:sym typeface="Helvetica Neue" panose="02000503000000020004"/>
      </a:defRPr>
    </a:lvl9pPr>
  </p:notesStyle>
</p:notesMaster>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 uri="{28A0092B-C50C-407E-A947-70E740481C1C}">
                <a14:useLocalDpi xmlns:a14="http://schemas.microsoft.com/office/drawing/2010/main" val="0"/>
              </a:ext>
            </a:extLst>
          </a:blip>
          <a:srcRect l="17878" t="35012" b="43146"/>
          <a:stretch>
            <a:fillRect/>
          </a:stretch>
        </p:blipFill>
        <p:spPr>
          <a:xfrm>
            <a:off x="0" y="0"/>
            <a:ext cx="11675466" cy="4332302"/>
          </a:xfrm>
          <a:prstGeom prst="rect">
            <a:avLst/>
          </a:prstGeom>
        </p:spPr>
      </p:pic>
      <p:pic>
        <p:nvPicPr>
          <p:cNvPr id="12" name="图片 11"/>
          <p:cNvPicPr>
            <a:picLocks noChangeAspect="1"/>
          </p:cNvPicPr>
          <p:nvPr/>
        </p:nvPicPr>
        <p:blipFill rotWithShape="1">
          <a:blip r:embed="rId4" cstate="print">
            <a:extLst>
              <a:ext uri="{28A0092B-C50C-407E-A947-70E740481C1C}">
                <a14:useLocalDpi xmlns:a14="http://schemas.microsoft.com/office/drawing/2010/main" val="0"/>
              </a:ext>
            </a:extLst>
          </a:blip>
          <a:srcRect/>
          <a:stretch>
            <a:fillRect/>
          </a:stretch>
        </p:blipFill>
        <p:spPr>
          <a:xfrm>
            <a:off x="15646398" y="10109200"/>
            <a:ext cx="8737602" cy="3606800"/>
          </a:xfrm>
          <a:prstGeom prst="rect">
            <a:avLst/>
          </a:prstGeom>
        </p:spPr>
      </p:pic>
      <p:sp>
        <p:nvSpPr>
          <p:cNvPr id="14" name="Rectangle 5"/>
          <p:cNvSpPr>
            <a:spLocks noChangeArrowheads="1"/>
          </p:cNvSpPr>
          <p:nvPr/>
        </p:nvSpPr>
        <p:spPr bwMode="auto">
          <a:xfrm>
            <a:off x="4945724" y="4097338"/>
            <a:ext cx="14492550" cy="5521326"/>
          </a:xfrm>
          <a:prstGeom prst="rect">
            <a:avLst/>
          </a:prstGeom>
          <a:noFill/>
          <a:ln w="381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800">
              <a:ea typeface="华文细黑" panose="02010600040101010101" pitchFamily="2" charset="-122"/>
            </a:endParaRPr>
          </a:p>
        </p:txBody>
      </p:sp>
      <p:sp>
        <p:nvSpPr>
          <p:cNvPr id="15" name="矩形: 圆角 14"/>
          <p:cNvSpPr/>
          <p:nvPr/>
        </p:nvSpPr>
        <p:spPr>
          <a:xfrm>
            <a:off x="10001250" y="8096712"/>
            <a:ext cx="4381498" cy="971088"/>
          </a:xfrm>
          <a:prstGeom prst="roundRect">
            <a:avLst>
              <a:gd name="adj" fmla="val 500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endParaRPr lang="zh-CN" altLang="en-US" sz="1800" dirty="0">
              <a:solidFill>
                <a:srgbClr val="3D7351"/>
              </a:solidFill>
              <a:latin typeface="黑体" panose="02010609060101010101" pitchFamily="49" charset="-122"/>
              <a:ea typeface="黑体" panose="02010609060101010101" pitchFamily="49" charset="-122"/>
            </a:endParaRPr>
          </a:p>
        </p:txBody>
      </p:sp>
      <p:sp>
        <p:nvSpPr>
          <p:cNvPr id="7" name="标题 1"/>
          <p:cNvSpPr>
            <a:spLocks noGrp="1"/>
          </p:cNvSpPr>
          <p:nvPr>
            <p:ph type="ctrTitle" hasCustomPrompt="1"/>
          </p:nvPr>
        </p:nvSpPr>
        <p:spPr>
          <a:xfrm>
            <a:off x="4945724" y="4097336"/>
            <a:ext cx="14492550" cy="3999374"/>
          </a:xfrm>
        </p:spPr>
        <p:txBody>
          <a:bodyPr anchor="ctr" anchorCtr="0">
            <a:normAutofit/>
          </a:bodyPr>
          <a:lstStyle>
            <a:lvl1pPr algn="ctr">
              <a:defRPr sz="13200">
                <a:solidFill>
                  <a:schemeClr val="bg1"/>
                </a:solidFill>
              </a:defRPr>
            </a:lvl1pPr>
          </a:lstStyle>
          <a:p>
            <a:r>
              <a:rPr lang="zh-CN" altLang="en-US" dirty="0"/>
              <a:t>单击此处编辑标题</a:t>
            </a:r>
            <a:endParaRPr lang="zh-CN" altLang="en-US" dirty="0"/>
          </a:p>
        </p:txBody>
      </p:sp>
      <p:sp>
        <p:nvSpPr>
          <p:cNvPr id="8" name="副标题 2"/>
          <p:cNvSpPr>
            <a:spLocks noGrp="1"/>
          </p:cNvSpPr>
          <p:nvPr>
            <p:ph type="subTitle" idx="1" hasCustomPrompt="1"/>
          </p:nvPr>
        </p:nvSpPr>
        <p:spPr>
          <a:xfrm>
            <a:off x="10001250" y="8096712"/>
            <a:ext cx="4381500" cy="971088"/>
          </a:xfrm>
        </p:spPr>
        <p:txBody>
          <a:bodyPr anchor="ctr" anchorCtr="0">
            <a:normAutofit/>
          </a:bodyPr>
          <a:lstStyle>
            <a:lvl1pPr marL="0" indent="0" algn="ctr">
              <a:buNone/>
              <a:defRPr sz="3600">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smtClean="0"/>
              <a:t>副标题</a:t>
            </a:r>
            <a:endParaRPr lang="zh-CN" altLang="en-US" dirty="0"/>
          </a:p>
        </p:txBody>
      </p:sp>
      <p:sp>
        <p:nvSpPr>
          <p:cNvPr id="9" name="日期占位符 3"/>
          <p:cNvSpPr>
            <a:spLocks noGrp="1"/>
          </p:cNvSpPr>
          <p:nvPr>
            <p:ph type="dt" sz="half" idx="10"/>
          </p:nvPr>
        </p:nvSpPr>
        <p:spPr>
          <a:xfrm>
            <a:off x="1676400" y="12712700"/>
            <a:ext cx="5486400" cy="730250"/>
          </a:xfrm>
        </p:spPr>
        <p:txBody>
          <a:bodyPr/>
          <a:lstStyle/>
          <a:p>
            <a:fld id="{D997B5FA-0921-464F-AAE1-844C04324D75}" type="datetimeFigureOut">
              <a:rPr lang="zh-CN" altLang="en-US" smtClean="0"/>
            </a:fld>
            <a:endParaRPr lang="zh-CN" altLang="en-US" dirty="0"/>
          </a:p>
        </p:txBody>
      </p:sp>
      <p:sp>
        <p:nvSpPr>
          <p:cNvPr id="10" name="页脚占位符 4"/>
          <p:cNvSpPr>
            <a:spLocks noGrp="1"/>
          </p:cNvSpPr>
          <p:nvPr>
            <p:ph type="ftr" sz="quarter" idx="11"/>
          </p:nvPr>
        </p:nvSpPr>
        <p:spPr>
          <a:xfrm>
            <a:off x="8077200" y="12712700"/>
            <a:ext cx="8229600" cy="730250"/>
          </a:xfrm>
        </p:spPr>
        <p:txBody>
          <a:bodyPr/>
          <a:lstStyle/>
          <a:p>
            <a:endParaRPr lang="zh-CN" altLang="en-US"/>
          </a:p>
        </p:txBody>
      </p:sp>
      <p:sp>
        <p:nvSpPr>
          <p:cNvPr id="11" name="灯片编号占位符 5"/>
          <p:cNvSpPr>
            <a:spLocks noGrp="1"/>
          </p:cNvSpPr>
          <p:nvPr>
            <p:ph type="sldNum" sz="quarter" idx="12"/>
          </p:nvPr>
        </p:nvSpPr>
        <p:spPr>
          <a:xfrm>
            <a:off x="17221200" y="12712700"/>
            <a:ext cx="5486400" cy="730250"/>
          </a:xfrm>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chor="b" anchorCtr="0"/>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lvl1pPr>
              <a:defRPr sz="4800"/>
            </a:lvl1pPr>
            <a:lvl2pPr>
              <a:defRPr sz="4000"/>
            </a:lvl2pPr>
            <a:lvl3pPr>
              <a:defRPr sz="3600"/>
            </a:lvl3pPr>
            <a:lvl4pPr>
              <a:defRPr sz="3600"/>
            </a:lvl4pPr>
            <a:lvl5pPr>
              <a:defRPr sz="36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15646398" y="10109200"/>
            <a:ext cx="8737602" cy="3606800"/>
          </a:xfrm>
          <a:prstGeom prst="rect">
            <a:avLst/>
          </a:prstGeom>
        </p:spPr>
      </p:pic>
      <p:sp>
        <p:nvSpPr>
          <p:cNvPr id="9" name="椭圆 8"/>
          <p:cNvSpPr/>
          <p:nvPr/>
        </p:nvSpPr>
        <p:spPr>
          <a:xfrm>
            <a:off x="11120888" y="4453282"/>
            <a:ext cx="2142220" cy="214222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文本框 9"/>
          <p:cNvSpPr txBox="1"/>
          <p:nvPr/>
        </p:nvSpPr>
        <p:spPr>
          <a:xfrm>
            <a:off x="11120890" y="4453282"/>
            <a:ext cx="2142220" cy="2142220"/>
          </a:xfrm>
          <a:prstGeom prst="rect">
            <a:avLst/>
          </a:prstGeom>
          <a:noFill/>
        </p:spPr>
        <p:txBody>
          <a:bodyPr wrap="square" rtlCol="0" anchor="ctr" anchorCtr="0">
            <a:normAutofit/>
          </a:bodyPr>
          <a:lstStyle/>
          <a:p>
            <a:pPr algn="ctr"/>
            <a:r>
              <a:rPr lang="en-US" altLang="zh-CN" sz="4000" dirty="0">
                <a:solidFill>
                  <a:srgbClr val="708265"/>
                </a:solidFill>
                <a:latin typeface="华文细黑" panose="02010600040101010101" pitchFamily="2" charset="-122"/>
                <a:ea typeface="华文细黑" panose="02010600040101010101" pitchFamily="2" charset="-122"/>
              </a:rPr>
              <a:t>01</a:t>
            </a:r>
            <a:endParaRPr lang="zh-CN" altLang="en-US" sz="4000" dirty="0">
              <a:solidFill>
                <a:srgbClr val="708265"/>
              </a:solidFill>
              <a:latin typeface="华文细黑" panose="02010600040101010101" pitchFamily="2" charset="-122"/>
              <a:ea typeface="华文细黑" panose="02010600040101010101" pitchFamily="2" charset="-122"/>
            </a:endParaRPr>
          </a:p>
        </p:txBody>
      </p:sp>
      <p:sp>
        <p:nvSpPr>
          <p:cNvPr id="11" name="Rectangle 5"/>
          <p:cNvSpPr>
            <a:spLocks noChangeArrowheads="1"/>
          </p:cNvSpPr>
          <p:nvPr/>
        </p:nvSpPr>
        <p:spPr bwMode="auto">
          <a:xfrm>
            <a:off x="4945724" y="4097338"/>
            <a:ext cx="14492550" cy="5521326"/>
          </a:xfrm>
          <a:prstGeom prst="rect">
            <a:avLst/>
          </a:prstGeom>
          <a:noFill/>
          <a:ln w="38100" cap="flat">
            <a:solidFill>
              <a:srgbClr val="3D735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800">
              <a:ea typeface="华文细黑" panose="02010600040101010101" pitchFamily="2" charset="-122"/>
            </a:endParaRPr>
          </a:p>
        </p:txBody>
      </p:sp>
      <p:pic>
        <p:nvPicPr>
          <p:cNvPr id="8" name="图片 7"/>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 uri="{28A0092B-C50C-407E-A947-70E740481C1C}">
                <a14:useLocalDpi xmlns:a14="http://schemas.microsoft.com/office/drawing/2010/main" val="0"/>
              </a:ext>
            </a:extLst>
          </a:blip>
          <a:srcRect l="17878" t="35012" b="43146"/>
          <a:stretch>
            <a:fillRect/>
          </a:stretch>
        </p:blipFill>
        <p:spPr>
          <a:xfrm>
            <a:off x="-2" y="0"/>
            <a:ext cx="11675462" cy="4332302"/>
          </a:xfrm>
          <a:prstGeom prst="rect">
            <a:avLst/>
          </a:prstGeom>
        </p:spPr>
      </p:pic>
      <p:sp>
        <p:nvSpPr>
          <p:cNvPr id="2" name="标题 1"/>
          <p:cNvSpPr>
            <a:spLocks noGrp="1"/>
          </p:cNvSpPr>
          <p:nvPr>
            <p:ph type="title"/>
          </p:nvPr>
        </p:nvSpPr>
        <p:spPr>
          <a:xfrm>
            <a:off x="4945724" y="6716482"/>
            <a:ext cx="14492550" cy="1713158"/>
          </a:xfrm>
        </p:spPr>
        <p:txBody>
          <a:bodyPr anchor="ctr" anchorCtr="0">
            <a:normAutofit/>
          </a:bodyPr>
          <a:lstStyle>
            <a:lvl1pPr algn="ctr">
              <a:defRPr sz="8000"/>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4945724" y="8550618"/>
            <a:ext cx="14492550" cy="1068046"/>
          </a:xfrm>
        </p:spPr>
        <p:txBody>
          <a:bodyPr>
            <a:normAutofit/>
          </a:bodyPr>
          <a:lstStyle>
            <a:lvl1pPr marL="0" indent="0" algn="ctr">
              <a:buNone/>
              <a:defRPr sz="3600">
                <a:solidFill>
                  <a:schemeClr val="tx1"/>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chor="b" anchorCtr="0"/>
          <a:lstStyle/>
          <a:p>
            <a:r>
              <a:rPr lang="zh-CN" altLang="en-US"/>
              <a:t>单击此处编辑母版标题样式</a:t>
            </a:r>
            <a:endParaRPr lang="zh-CN" altLang="en-US"/>
          </a:p>
        </p:txBody>
      </p:sp>
      <p:sp>
        <p:nvSpPr>
          <p:cNvPr id="3" name="内容占位符 2"/>
          <p:cNvSpPr>
            <a:spLocks noGrp="1"/>
          </p:cNvSpPr>
          <p:nvPr>
            <p:ph sz="half" idx="1"/>
          </p:nvPr>
        </p:nvSpPr>
        <p:spPr>
          <a:xfrm>
            <a:off x="1676400" y="3651250"/>
            <a:ext cx="10363200" cy="8702676"/>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12344400" y="3651250"/>
            <a:ext cx="10363200" cy="8702676"/>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679576" y="730250"/>
            <a:ext cx="21031200" cy="2651126"/>
          </a:xfrm>
        </p:spPr>
        <p:txBody>
          <a:bodyPr anchor="b" anchorCtr="0"/>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1679576" y="3489922"/>
            <a:ext cx="10315574"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1679576" y="5231218"/>
            <a:ext cx="10315574" cy="7148108"/>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12344400" y="3489922"/>
            <a:ext cx="1036637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12344400" y="5231218"/>
            <a:ext cx="10366376" cy="7148108"/>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9" name="Rectangle 5"/>
          <p:cNvSpPr>
            <a:spLocks noChangeArrowheads="1"/>
          </p:cNvSpPr>
          <p:nvPr/>
        </p:nvSpPr>
        <p:spPr bwMode="auto">
          <a:xfrm>
            <a:off x="4945724" y="4097338"/>
            <a:ext cx="14492550" cy="5521326"/>
          </a:xfrm>
          <a:prstGeom prst="rect">
            <a:avLst/>
          </a:prstGeom>
          <a:noFill/>
          <a:ln w="38100"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800">
              <a:ea typeface="华文细黑" panose="02010600040101010101" pitchFamily="2" charset="-122"/>
            </a:endParaRPr>
          </a:p>
        </p:txBody>
      </p:sp>
      <p:pic>
        <p:nvPicPr>
          <p:cNvPr id="8" name="图片 7"/>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15646398" y="10109200"/>
            <a:ext cx="8737602" cy="3606800"/>
          </a:xfrm>
          <a:prstGeom prst="rect">
            <a:avLst/>
          </a:prstGeom>
        </p:spPr>
      </p:pic>
      <p:pic>
        <p:nvPicPr>
          <p:cNvPr id="7" name="图片 6"/>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 uri="{28A0092B-C50C-407E-A947-70E740481C1C}">
                <a14:useLocalDpi xmlns:a14="http://schemas.microsoft.com/office/drawing/2010/main" val="0"/>
              </a:ext>
            </a:extLst>
          </a:blip>
          <a:srcRect l="17878" t="35012" b="43146"/>
          <a:stretch>
            <a:fillRect/>
          </a:stretch>
        </p:blipFill>
        <p:spPr>
          <a:xfrm>
            <a:off x="-2" y="0"/>
            <a:ext cx="11675462" cy="4332302"/>
          </a:xfrm>
          <a:prstGeom prst="rect">
            <a:avLst/>
          </a:prstGeom>
        </p:spPr>
      </p:pic>
      <p:sp>
        <p:nvSpPr>
          <p:cNvPr id="2" name="标题 1"/>
          <p:cNvSpPr>
            <a:spLocks noGrp="1"/>
          </p:cNvSpPr>
          <p:nvPr>
            <p:ph type="title" hasCustomPrompt="1"/>
          </p:nvPr>
        </p:nvSpPr>
        <p:spPr>
          <a:xfrm>
            <a:off x="4945724" y="4097338"/>
            <a:ext cx="14492550" cy="5521326"/>
          </a:xfrm>
        </p:spPr>
        <p:txBody>
          <a:bodyPr>
            <a:normAutofit/>
          </a:bodyPr>
          <a:lstStyle>
            <a:lvl1pPr algn="ctr">
              <a:defRPr sz="9600" b="1">
                <a:solidFill>
                  <a:schemeClr val="bg1"/>
                </a:solidFill>
              </a:defRPr>
            </a:lvl1pPr>
          </a:lstStyle>
          <a:p>
            <a:r>
              <a:rPr lang="zh-CN" altLang="en-US" dirty="0"/>
              <a:t>单击此处编辑标题</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676400" y="1427346"/>
            <a:ext cx="9363308" cy="2856322"/>
          </a:xfrm>
        </p:spPr>
        <p:txBody>
          <a:bodyPr anchor="t" anchorCtr="0">
            <a:normAutofit/>
          </a:bodyPr>
          <a:lstStyle>
            <a:lvl1pPr>
              <a:defRPr sz="7200"/>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11285034" y="1427346"/>
            <a:ext cx="11423764" cy="10807200"/>
          </a:xfr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zh-CN" altLang="en-US" dirty="0"/>
          </a:p>
        </p:txBody>
      </p:sp>
      <p:sp>
        <p:nvSpPr>
          <p:cNvPr id="4" name="文本占位符 3"/>
          <p:cNvSpPr>
            <a:spLocks noGrp="1"/>
          </p:cNvSpPr>
          <p:nvPr>
            <p:ph type="body" sz="half" idx="2"/>
          </p:nvPr>
        </p:nvSpPr>
        <p:spPr>
          <a:xfrm>
            <a:off x="1676400" y="4627746"/>
            <a:ext cx="9363308" cy="7623176"/>
          </a:xfrm>
        </p:spPr>
        <p:txBody>
          <a:bodyPr>
            <a:normAutofit/>
          </a:bodyPr>
          <a:lstStyle>
            <a:lvl1pPr marL="0" indent="0">
              <a:buNone/>
              <a:defRPr sz="36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nvPr>
        </p:nvSpPr>
        <p:spPr>
          <a:xfrm>
            <a:off x="20889796" y="730250"/>
            <a:ext cx="1817802" cy="11623676"/>
          </a:xfrm>
        </p:spPr>
        <p:txBody>
          <a:bodyPr vert="eaVert">
            <a:normAutofit/>
          </a:bodyPr>
          <a:lstStyle>
            <a:lvl1pPr>
              <a:defRPr sz="8800"/>
            </a:lvl1pPr>
          </a:lstStyle>
          <a:p>
            <a:r>
              <a:rPr lang="zh-CN" altLang="en-US" dirty="0"/>
              <a:t>单击此处编辑标题</a:t>
            </a:r>
            <a:endParaRPr lang="zh-CN" altLang="en-US" dirty="0"/>
          </a:p>
        </p:txBody>
      </p:sp>
      <p:sp>
        <p:nvSpPr>
          <p:cNvPr id="3" name="竖排文字占位符 2"/>
          <p:cNvSpPr>
            <a:spLocks noGrp="1"/>
          </p:cNvSpPr>
          <p:nvPr>
            <p:ph type="body" orient="vert" idx="1"/>
          </p:nvPr>
        </p:nvSpPr>
        <p:spPr>
          <a:xfrm>
            <a:off x="1676398" y="730250"/>
            <a:ext cx="18892886" cy="11623676"/>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1676400" y="1103086"/>
            <a:ext cx="21031200" cy="11117942"/>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6" name="标题文本"/>
          <p:cNvSpPr txBox="1"/>
          <p:nvPr>
            <p:ph type="title" hasCustomPrompt="1"/>
          </p:nvPr>
        </p:nvSpPr>
        <p:spPr>
          <a:prstGeom prst="rect">
            <a:avLst/>
          </a:prstGeom>
        </p:spPr>
        <p:txBody>
          <a:bodyPr/>
          <a:lstStyle/>
          <a:p>
            <a:r>
              <a:t>标题文本</a:t>
            </a:r>
          </a:p>
        </p:txBody>
      </p:sp>
      <p:sp>
        <p:nvSpPr>
          <p:cNvPr id="57" name="正文级别 1…"/>
          <p:cNvSpPr txBox="1"/>
          <p:nvPr>
            <p:ph type="body" idx="1" hasCustomPrompt="1"/>
          </p:nvPr>
        </p:nvSpPr>
        <p:spPr>
          <a:xfrm>
            <a:off x="1473200" y="3898900"/>
            <a:ext cx="21437600" cy="8039100"/>
          </a:xfrm>
          <a:prstGeom prst="rect">
            <a:avLst/>
          </a:prstGeom>
        </p:spPr>
        <p:txBody>
          <a:bodyPr/>
          <a:lstStyle>
            <a:lvl1pPr>
              <a:buBlip>
                <a:blip r:embed="rId2"/>
              </a:buBlip>
            </a:lvl1pPr>
            <a:lvl2pPr>
              <a:buBlip>
                <a:blip r:embed="rId2"/>
              </a:buBlip>
            </a:lvl2pPr>
            <a:lvl3pPr>
              <a:buBlip>
                <a:blip r:embed="rId2"/>
              </a:buBlip>
            </a:lvl3pPr>
            <a:lvl4pPr>
              <a:buBlip>
                <a:blip r:embed="rId2"/>
              </a:buBlip>
            </a:lvl4pPr>
            <a:lvl5pPr>
              <a:buBlip>
                <a:blip r:embed="rId2"/>
              </a:buBlip>
            </a:lvl5p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tags" Target="../tags/tag3.xml"/><Relationship Id="rId13" Type="http://schemas.openxmlformats.org/officeDocument/2006/relationships/tags" Target="../tags/tag2.xml"/><Relationship Id="rId12" Type="http://schemas.openxmlformats.org/officeDocument/2006/relationships/tags" Target="../tags/tag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标题占位符 1"/>
          <p:cNvSpPr>
            <a:spLocks noGrp="1"/>
          </p:cNvSpPr>
          <p:nvPr>
            <p:ph type="title"/>
            <p:custDataLst>
              <p:tags r:id="rId12"/>
            </p:custDataLst>
          </p:nvPr>
        </p:nvSpPr>
        <p:spPr>
          <a:xfrm>
            <a:off x="1676400" y="730250"/>
            <a:ext cx="21031200" cy="2651126"/>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8" name="文本占位符 2"/>
          <p:cNvSpPr>
            <a:spLocks noGrp="1"/>
          </p:cNvSpPr>
          <p:nvPr>
            <p:ph type="body" idx="1"/>
            <p:custDataLst>
              <p:tags r:id="rId13"/>
            </p:custDataLst>
          </p:nvPr>
        </p:nvSpPr>
        <p:spPr>
          <a:xfrm>
            <a:off x="1676400" y="3651250"/>
            <a:ext cx="21031200" cy="8702676"/>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日期占位符 3"/>
          <p:cNvSpPr>
            <a:spLocks noGrp="1"/>
          </p:cNvSpPr>
          <p:nvPr>
            <p:ph type="dt" sz="half" idx="2"/>
          </p:nvPr>
        </p:nvSpPr>
        <p:spPr>
          <a:xfrm>
            <a:off x="1676400" y="12712700"/>
            <a:ext cx="5486400" cy="730250"/>
          </a:xfrm>
          <a:prstGeom prst="rect">
            <a:avLst/>
          </a:prstGeom>
        </p:spPr>
        <p:txBody>
          <a:bodyPr vert="horz" lIns="91440" tIns="45720" rIns="91440" bIns="45720" rtlCol="0" anchor="ctr">
            <a:normAutofit/>
          </a:bodyPr>
          <a:lstStyle>
            <a:lvl1pPr algn="ctr">
              <a:defRPr sz="2400">
                <a:solidFill>
                  <a:schemeClr val="bg1">
                    <a:lumMod val="50000"/>
                  </a:schemeClr>
                </a:solidFill>
                <a:latin typeface="黑体" panose="02010609060101010101" pitchFamily="49" charset="-122"/>
                <a:ea typeface="黑体" panose="02010609060101010101" pitchFamily="49" charset="-122"/>
              </a:defRPr>
            </a:lvl1pPr>
          </a:lstStyle>
          <a:p>
            <a:fld id="{D997B5FA-0921-464F-AAE1-844C04324D75}" type="datetimeFigureOut">
              <a:rPr lang="zh-CN" altLang="en-US" smtClean="0"/>
            </a:fld>
            <a:endParaRPr lang="zh-CN" altLang="en-US" dirty="0"/>
          </a:p>
        </p:txBody>
      </p:sp>
      <p:sp>
        <p:nvSpPr>
          <p:cNvPr id="10" name="页脚占位符 4"/>
          <p:cNvSpPr>
            <a:spLocks noGrp="1"/>
          </p:cNvSpPr>
          <p:nvPr>
            <p:ph type="ftr" sz="quarter" idx="3"/>
          </p:nvPr>
        </p:nvSpPr>
        <p:spPr>
          <a:xfrm>
            <a:off x="8077200" y="12712700"/>
            <a:ext cx="8229600" cy="730250"/>
          </a:xfrm>
          <a:prstGeom prst="rect">
            <a:avLst/>
          </a:prstGeom>
        </p:spPr>
        <p:txBody>
          <a:bodyPr vert="horz" lIns="91440" tIns="45720" rIns="91440" bIns="45720" rtlCol="0" anchor="ctr">
            <a:normAutofit/>
          </a:bodyPr>
          <a:lstStyle>
            <a:lvl1pPr algn="ctr">
              <a:defRPr sz="2400">
                <a:solidFill>
                  <a:schemeClr val="bg1">
                    <a:lumMod val="50000"/>
                  </a:schemeClr>
                </a:solidFill>
                <a:latin typeface="黑体" panose="02010609060101010101" pitchFamily="49" charset="-122"/>
                <a:ea typeface="黑体" panose="02010609060101010101" pitchFamily="49" charset="-122"/>
              </a:defRPr>
            </a:lvl1pPr>
          </a:lstStyle>
          <a:p>
            <a:endParaRPr lang="zh-CN" altLang="en-US"/>
          </a:p>
        </p:txBody>
      </p:sp>
      <p:sp>
        <p:nvSpPr>
          <p:cNvPr id="11" name="灯片编号占位符 5"/>
          <p:cNvSpPr>
            <a:spLocks noGrp="1"/>
          </p:cNvSpPr>
          <p:nvPr>
            <p:ph type="sldNum" sz="quarter" idx="4"/>
          </p:nvPr>
        </p:nvSpPr>
        <p:spPr>
          <a:xfrm>
            <a:off x="17221200" y="12712700"/>
            <a:ext cx="5486400" cy="730250"/>
          </a:xfrm>
          <a:prstGeom prst="rect">
            <a:avLst/>
          </a:prstGeom>
        </p:spPr>
        <p:txBody>
          <a:bodyPr vert="horz" lIns="91440" tIns="45720" rIns="91440" bIns="45720" rtlCol="0" anchor="ctr">
            <a:normAutofit/>
          </a:bodyPr>
          <a:lstStyle>
            <a:lvl1pPr algn="ctr">
              <a:defRPr sz="2400">
                <a:solidFill>
                  <a:schemeClr val="bg1">
                    <a:lumMod val="50000"/>
                  </a:schemeClr>
                </a:solidFill>
                <a:latin typeface="黑体" panose="02010609060101010101" pitchFamily="49" charset="-122"/>
                <a:ea typeface="黑体" panose="02010609060101010101" pitchFamily="49" charset="-122"/>
              </a:defRPr>
            </a:lvl1pPr>
          </a:lstStyle>
          <a:p>
            <a:fld id="{565CE74E-AB26-4998-AD42-012C4C1AD076}" type="slidenum">
              <a:rPr lang="zh-CN" altLang="en-US" smtClean="0"/>
            </a:fld>
            <a:endParaRPr lang="zh-CN" altLang="en-US"/>
          </a:p>
        </p:txBody>
      </p:sp>
      <p:sp>
        <p:nvSpPr>
          <p:cNvPr id="2"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ct val="401000"/>
        </a:spcBef>
        <a:buFont typeface="Arial" panose="020B0604020202090204" pitchFamily="34" charset="0"/>
        <a:buChar char="•"/>
        <a:defRPr sz="4800" kern="1200">
          <a:solidFill>
            <a:schemeClr val="tx1"/>
          </a:solidFill>
          <a:latin typeface="+mn-lt"/>
          <a:ea typeface="+mn-ea"/>
          <a:cs typeface="+mn-cs"/>
        </a:defRPr>
      </a:lvl1pPr>
      <a:lvl2pPr marL="1371600" indent="-457200" algn="l" defTabSz="1828800" rtl="0" eaLnBrk="1" latinLnBrk="0" hangingPunct="1">
        <a:lnSpc>
          <a:spcPct val="90000"/>
        </a:lnSpc>
        <a:spcBef>
          <a:spcPct val="201000"/>
        </a:spcBef>
        <a:buFont typeface="Arial" panose="020B0604020202090204" pitchFamily="34" charset="0"/>
        <a:buChar char="•"/>
        <a:defRPr sz="4000" kern="1200">
          <a:solidFill>
            <a:schemeClr val="tx1"/>
          </a:solidFill>
          <a:latin typeface="+mn-lt"/>
          <a:ea typeface="+mn-ea"/>
          <a:cs typeface="+mn-cs"/>
        </a:defRPr>
      </a:lvl2pPr>
      <a:lvl3pPr marL="2286000" indent="-457200" algn="l" defTabSz="1828800" rtl="0" eaLnBrk="1" latinLnBrk="0" hangingPunct="1">
        <a:lnSpc>
          <a:spcPct val="90000"/>
        </a:lnSpc>
        <a:spcBef>
          <a:spcPct val="201000"/>
        </a:spcBef>
        <a:buFont typeface="Arial" panose="020B0604020202090204" pitchFamily="34" charset="0"/>
        <a:buChar char="•"/>
        <a:defRPr sz="3600" kern="1200">
          <a:solidFill>
            <a:schemeClr val="tx1"/>
          </a:solidFill>
          <a:latin typeface="+mn-lt"/>
          <a:ea typeface="+mn-ea"/>
          <a:cs typeface="+mn-cs"/>
        </a:defRPr>
      </a:lvl3pPr>
      <a:lvl4pPr marL="3200400" indent="-457200" algn="l" defTabSz="1828800" rtl="0" eaLnBrk="1" latinLnBrk="0" hangingPunct="1">
        <a:lnSpc>
          <a:spcPct val="90000"/>
        </a:lnSpc>
        <a:spcBef>
          <a:spcPct val="201000"/>
        </a:spcBef>
        <a:buFont typeface="Arial" panose="020B060402020209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ct val="201000"/>
        </a:spcBef>
        <a:buFont typeface="Arial" panose="020B060402020209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ct val="201000"/>
        </a:spcBef>
        <a:buFont typeface="Arial" panose="020B060402020209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9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9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9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hemeOverride" Target="../theme/themeOverride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hemeOverride" Target="../theme/themeOverride6.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hemeOverride" Target="../theme/themeOverride7.xml"/><Relationship Id="rId2" Type="http://schemas.openxmlformats.org/officeDocument/2006/relationships/image" Target="../media/image5.jpeg"/><Relationship Id="rId1" Type="http://schemas.openxmlformats.org/officeDocument/2006/relationships/slide" Target="slide9.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hemeOverride" Target="../theme/themeOverride8.xml"/><Relationship Id="rId2" Type="http://schemas.openxmlformats.org/officeDocument/2006/relationships/image" Target="../media/image5.jpeg"/><Relationship Id="rId1" Type="http://schemas.openxmlformats.org/officeDocument/2006/relationships/slide" Target="slide8.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hemeOverride" Target="../theme/themeOverride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hemeOverride" Target="../theme/themeOverride10.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hemeOverride" Target="../theme/themeOverride1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hemeOverride" Target="../theme/themeOverride1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hemeOverride" Target="../theme/themeOverride1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hemeOverride" Target="../theme/themeOverride1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hemeOverride" Target="../theme/themeOverride1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hemeOverride" Target="../theme/themeOverr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custDataLst>
              <p:tags r:id="rId1"/>
            </p:custDataLst>
          </p:nvPr>
        </p:nvSpPr>
        <p:spPr/>
        <p:txBody>
          <a:bodyPr>
            <a:normAutofit/>
          </a:bodyPr>
          <a:p>
            <a:pPr marL="285750" lvl="0" indent="-285750" algn="l" fontAlgn="ctr">
              <a:lnSpc>
                <a:spcPct val="130000"/>
              </a:lnSpc>
              <a:spcBef>
                <a:spcPts val="1000"/>
              </a:spcBef>
              <a:spcAft>
                <a:spcPts val="0"/>
              </a:spcAft>
              <a:buSzPct val="100000"/>
              <a:buFont typeface="Wingdings" panose="05000000000000000000" charset="0"/>
              <a:buChar char="l"/>
            </a:pPr>
            <a:r>
              <a:rPr sz="4800" smtClean="0">
                <a:solidFill>
                  <a:schemeClr val="bg1"/>
                </a:solidFill>
              </a:rPr>
              <a:t>Unit 5 New Materials</a:t>
            </a:r>
            <a:endParaRPr sz="4800" smtClean="0">
              <a:solidFill>
                <a:schemeClr val="bg1"/>
              </a:solidFill>
            </a:endParaRPr>
          </a:p>
          <a:p>
            <a:pPr marL="285750" lvl="1" indent="0" algn="l">
              <a:lnSpc>
                <a:spcPct val="90000"/>
              </a:lnSpc>
              <a:spcBef>
                <a:spcPts val="0"/>
              </a:spcBef>
              <a:spcAft>
                <a:spcPts val="0"/>
              </a:spcAft>
              <a:buSzPct val="100000"/>
              <a:buFont typeface="Arial" panose="020B0604020202090204" pitchFamily="34" charset="0"/>
              <a:buNone/>
            </a:pPr>
            <a:r>
              <a:rPr sz="1600" smtClean="0">
                <a:solidFill>
                  <a:schemeClr val="bg1"/>
                </a:solidFill>
              </a:rPr>
              <a:t>Features</a:t>
            </a:r>
            <a:endParaRPr sz="1600" smtClean="0">
              <a:solidFill>
                <a:schemeClr val="bg1"/>
              </a:solidFill>
            </a:endParaRPr>
          </a:p>
        </p:txBody>
      </p:sp>
    </p:spTree>
    <p:custDataLst>
      <p:tags r:id="rId2"/>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6" name="What is a Feature?"/>
          <p:cNvSpPr txBox="1"/>
          <p:nvPr>
            <p:ph type="title"/>
          </p:nvPr>
        </p:nvSpPr>
        <p:spPr>
          <a:prstGeom prst="rect">
            <a:avLst/>
          </a:prstGeom>
        </p:spPr>
        <p:txBody>
          <a:bodyPr/>
          <a:lstStyle/>
          <a:p>
            <a:r>
              <a:t>What is a Feature?</a:t>
            </a:r>
          </a:p>
        </p:txBody>
      </p:sp>
      <p:sp>
        <p:nvSpPr>
          <p:cNvPr id="197" name="A feature story is all about the details: painting a picture of a person, event, or place on the written page so your topic becomes alive to the reader. They allow a writer to be creative. It's not just about facts; feature stories are more about storyte"/>
          <p:cNvSpPr txBox="1"/>
          <p:nvPr>
            <p:ph type="body" idx="1"/>
          </p:nvPr>
        </p:nvSpPr>
        <p:spPr>
          <a:xfrm>
            <a:off x="1473200" y="3898900"/>
            <a:ext cx="21437600" cy="3098800"/>
          </a:xfrm>
          <a:prstGeom prst="rect">
            <a:avLst/>
          </a:prstGeom>
        </p:spPr>
        <p:txBody>
          <a:bodyPr>
            <a:noAutofit/>
          </a:bodyPr>
          <a:lstStyle>
            <a:lvl1pPr marL="0" indent="0" defTabSz="457200">
              <a:spcBef>
                <a:spcPts val="0"/>
              </a:spcBef>
              <a:buSzTx/>
              <a:buNone/>
              <a:defRPr sz="4400">
                <a:solidFill>
                  <a:srgbClr val="02020B"/>
                </a:solidFill>
                <a:latin typeface="Arial" panose="020B0604020202090204"/>
                <a:ea typeface="Arial" panose="020B0604020202090204"/>
                <a:cs typeface="Arial" panose="020B0604020202090204"/>
                <a:sym typeface="Arial" panose="020B0604020202090204"/>
              </a:defRPr>
            </a:lvl1pPr>
          </a:lstStyle>
          <a:p>
            <a:r>
              <a:rPr sz="6600"/>
              <a:t>A feature story is all about the details: painting a picture of a person, event, or place on the written page so your topic becomes alive to the reader. They allow a writer to be creative. It's not just about facts; feature stories are more about storytelling and weaving an interesting narrative.</a:t>
            </a:r>
            <a:endParaRPr sz="6600"/>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7">
                                            <p:txEl>
                                              <p:pRg st="0" end="0"/>
                                            </p:txEl>
                                          </p:spTgt>
                                        </p:tgtEl>
                                        <p:attrNameLst>
                                          <p:attrName>style.visibility</p:attrName>
                                        </p:attrNameLst>
                                      </p:cBhvr>
                                      <p:to>
                                        <p:strVal val="visible"/>
                                      </p:to>
                                    </p:set>
                                    <p:animEffect transition="in" filter="blinds(horizontal)">
                                      <p:cBhvr>
                                        <p:cTn id="7" dur="500"/>
                                        <p:tgtEl>
                                          <p:spTgt spid="19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9" name="Types of Features"/>
          <p:cNvSpPr txBox="1"/>
          <p:nvPr>
            <p:ph type="title"/>
          </p:nvPr>
        </p:nvSpPr>
        <p:spPr>
          <a:prstGeom prst="rect">
            <a:avLst/>
          </a:prstGeom>
        </p:spPr>
        <p:txBody>
          <a:bodyPr/>
          <a:lstStyle/>
          <a:p>
            <a:r>
              <a:t>Types of Features </a:t>
            </a:r>
          </a:p>
        </p:txBody>
      </p:sp>
      <p:sp>
        <p:nvSpPr>
          <p:cNvPr id="200" name="News Feature…"/>
          <p:cNvSpPr txBox="1"/>
          <p:nvPr>
            <p:ph type="body" idx="1"/>
          </p:nvPr>
        </p:nvSpPr>
        <p:spPr>
          <a:prstGeom prst="rect">
            <a:avLst/>
          </a:prstGeom>
        </p:spPr>
        <p:txBody>
          <a:bodyPr/>
          <a:lstStyle/>
          <a:p>
            <a:pPr marL="788670" indent="-788670" defTabSz="457200">
              <a:spcBef>
                <a:spcPts val="0"/>
              </a:spcBef>
              <a:buSzPct val="100000"/>
              <a:buChar char="•"/>
              <a:defRPr sz="6900" b="1">
                <a:solidFill>
                  <a:srgbClr val="282828"/>
                </a:solidFill>
                <a:latin typeface="Helvetica"/>
                <a:ea typeface="Helvetica"/>
                <a:cs typeface="Helvetica"/>
                <a:sym typeface="Helvetica"/>
              </a:defRPr>
            </a:pPr>
            <a:r>
              <a:t>News Feature</a:t>
            </a:r>
          </a:p>
          <a:p>
            <a:pPr marL="788670" indent="-788670" defTabSz="457200">
              <a:spcBef>
                <a:spcPts val="0"/>
              </a:spcBef>
              <a:buSzPct val="100000"/>
              <a:buChar char="•"/>
              <a:defRPr sz="6900" b="1">
                <a:solidFill>
                  <a:srgbClr val="282828"/>
                </a:solidFill>
                <a:latin typeface="Helvetica"/>
                <a:ea typeface="Helvetica"/>
                <a:cs typeface="Helvetica"/>
                <a:sym typeface="Helvetica"/>
              </a:defRPr>
            </a:pPr>
            <a:r>
              <a:t>Profile</a:t>
            </a:r>
          </a:p>
          <a:p>
            <a:pPr marL="788670" indent="-788670" defTabSz="457200">
              <a:spcBef>
                <a:spcPts val="0"/>
              </a:spcBef>
              <a:buSzPct val="100000"/>
              <a:buChar char="•"/>
              <a:defRPr sz="6900" b="1">
                <a:solidFill>
                  <a:srgbClr val="282828"/>
                </a:solidFill>
                <a:latin typeface="Helvetica"/>
                <a:ea typeface="Helvetica"/>
                <a:cs typeface="Helvetica"/>
                <a:sym typeface="Helvetica"/>
              </a:defRPr>
            </a:pPr>
            <a:r>
              <a:t>Spot Feature</a:t>
            </a:r>
          </a:p>
          <a:p>
            <a:pPr marL="788670" indent="-788670" defTabSz="457200">
              <a:spcBef>
                <a:spcPts val="0"/>
              </a:spcBef>
              <a:buSzPct val="100000"/>
              <a:buChar char="•"/>
              <a:defRPr sz="6900" b="1">
                <a:solidFill>
                  <a:srgbClr val="282828"/>
                </a:solidFill>
                <a:latin typeface="Helvetica"/>
                <a:ea typeface="Helvetica"/>
                <a:cs typeface="Helvetica"/>
                <a:sym typeface="Helvetica"/>
              </a:defRPr>
            </a:pPr>
            <a:r>
              <a:t>Trend</a:t>
            </a:r>
          </a:p>
          <a:p>
            <a:pPr marL="788670" indent="-788670" defTabSz="457200">
              <a:spcBef>
                <a:spcPts val="0"/>
              </a:spcBef>
              <a:buSzPct val="100000"/>
              <a:buChar char="•"/>
              <a:defRPr sz="6900" b="1">
                <a:solidFill>
                  <a:srgbClr val="282828"/>
                </a:solidFill>
                <a:latin typeface="Helvetica"/>
                <a:ea typeface="Helvetica"/>
                <a:cs typeface="Helvetica"/>
                <a:sym typeface="Helvetica"/>
              </a:defRPr>
            </a:pPr>
            <a:r>
              <a:t>Live-In</a:t>
            </a:r>
          </a:p>
          <a:p>
            <a:pPr marL="0" indent="0" defTabSz="457200">
              <a:spcBef>
                <a:spcPts val="0"/>
              </a:spcBef>
              <a:buSzTx/>
              <a:buNone/>
              <a:defRPr sz="4400">
                <a:solidFill>
                  <a:srgbClr val="02020B"/>
                </a:solidFill>
                <a:latin typeface="Arial" panose="020B0604020202090204"/>
                <a:ea typeface="Arial" panose="020B0604020202090204"/>
                <a:cs typeface="Arial" panose="020B0604020202090204"/>
                <a:sym typeface="Arial" panose="020B0604020202090204"/>
              </a:defRPr>
            </a:pPr>
            <a:r>
              <a:rPr u="sng"/>
              <a:t>https://www.thoughtco.com/different-kinds-of-feature-stories-you-can-write-2074322</a:t>
            </a:r>
            <a:endParaRPr u="sng"/>
          </a:p>
        </p:txBody>
      </p:sp>
    </p:spTree>
  </p:cSld>
  <p:clrMapOvr>
    <a:overrideClrMapping bg1="lt1" tx1="dk1" bg2="lt2" tx2="dk2" accent1="accent1" accent2="accent2" accent3="accent3" accent4="accent4" accent5="accent5" accent6="accent6" hlink="hlink" folHlink="folHlink"/>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2" name="Types of Features"/>
          <p:cNvSpPr txBox="1"/>
          <p:nvPr>
            <p:ph type="title"/>
          </p:nvPr>
        </p:nvSpPr>
        <p:spPr>
          <a:prstGeom prst="rect">
            <a:avLst/>
          </a:prstGeom>
        </p:spPr>
        <p:txBody>
          <a:bodyPr/>
          <a:lstStyle/>
          <a:p>
            <a:r>
              <a:t>Types of Features </a:t>
            </a:r>
          </a:p>
        </p:txBody>
      </p:sp>
      <p:sp>
        <p:nvSpPr>
          <p:cNvPr id="203" name="人物特写Profile…"/>
          <p:cNvSpPr txBox="1"/>
          <p:nvPr>
            <p:ph type="body" idx="1"/>
          </p:nvPr>
        </p:nvSpPr>
        <p:spPr>
          <a:xfrm>
            <a:off x="1829344" y="3892550"/>
            <a:ext cx="21437601" cy="8039100"/>
          </a:xfrm>
          <a:prstGeom prst="rect">
            <a:avLst/>
          </a:prstGeom>
        </p:spPr>
        <p:txBody>
          <a:bodyPr/>
          <a:lstStyle/>
          <a:p>
            <a:pPr marL="788670" indent="-788670" defTabSz="457200">
              <a:spcBef>
                <a:spcPts val="0"/>
              </a:spcBef>
              <a:buSzPct val="100000"/>
              <a:buChar char="•"/>
              <a:defRPr sz="6900" b="1">
                <a:solidFill>
                  <a:srgbClr val="282828"/>
                </a:solidFill>
                <a:latin typeface="Helvetica"/>
                <a:ea typeface="Helvetica"/>
                <a:cs typeface="Helvetica"/>
                <a:sym typeface="Helvetica"/>
              </a:defRPr>
            </a:pPr>
            <a:r>
              <a:t>人物特写Profile</a:t>
            </a:r>
          </a:p>
          <a:p>
            <a:pPr marL="788670" indent="-788670" defTabSz="457200">
              <a:spcBef>
                <a:spcPts val="0"/>
              </a:spcBef>
              <a:buSzPct val="100000"/>
              <a:buChar char="•"/>
              <a:defRPr sz="6900" b="1">
                <a:solidFill>
                  <a:srgbClr val="282828"/>
                </a:solidFill>
                <a:latin typeface="Helvetica"/>
                <a:ea typeface="Helvetica"/>
                <a:cs typeface="Helvetica"/>
                <a:sym typeface="Helvetica"/>
              </a:defRPr>
            </a:pPr>
            <a:r>
              <a:t>事件特写WHAT-feature</a:t>
            </a:r>
          </a:p>
          <a:p>
            <a:pPr marL="788670" indent="-788670" defTabSz="457200">
              <a:spcBef>
                <a:spcPts val="0"/>
              </a:spcBef>
              <a:buSzPct val="100000"/>
              <a:buChar char="•"/>
              <a:defRPr sz="6900" b="1">
                <a:solidFill>
                  <a:srgbClr val="282828"/>
                </a:solidFill>
                <a:latin typeface="Helvetica"/>
                <a:ea typeface="Helvetica"/>
                <a:cs typeface="Helvetica"/>
                <a:sym typeface="Helvetica"/>
              </a:defRPr>
            </a:pPr>
            <a:r>
              <a:t>旅游特写locality feature; travelogue</a:t>
            </a:r>
          </a:p>
          <a:p>
            <a:pPr marL="788670" indent="-788670" defTabSz="457200">
              <a:spcBef>
                <a:spcPts val="0"/>
              </a:spcBef>
              <a:buSzPct val="100000"/>
              <a:buChar char="•"/>
              <a:defRPr sz="6900" b="1">
                <a:solidFill>
                  <a:srgbClr val="282828"/>
                </a:solidFill>
                <a:latin typeface="Helvetica"/>
                <a:ea typeface="Helvetica"/>
                <a:cs typeface="Helvetica"/>
                <a:sym typeface="Helvetica"/>
              </a:defRPr>
            </a:pPr>
            <a:r>
              <a:t>亲历特写personal experience feature; eyewitness  account; eye-account; I-account</a:t>
            </a:r>
          </a:p>
          <a:p>
            <a:pPr marL="0" indent="0" defTabSz="457200">
              <a:spcBef>
                <a:spcPts val="0"/>
              </a:spcBef>
              <a:buSzTx/>
              <a:buNone/>
              <a:defRPr sz="4400">
                <a:solidFill>
                  <a:srgbClr val="02020B"/>
                </a:solidFill>
                <a:latin typeface="Arial" panose="020B0604020202090204"/>
                <a:ea typeface="Arial" panose="020B0604020202090204"/>
                <a:cs typeface="Arial" panose="020B0604020202090204"/>
                <a:sym typeface="Arial" panose="020B0604020202090204"/>
              </a:defRPr>
            </a:pPr>
            <a:r>
              <a:rPr u="sng"/>
              <a:t> </a:t>
            </a:r>
            <a:endParaRPr u="sng"/>
          </a:p>
        </p:txBody>
      </p:sp>
    </p:spTree>
  </p:cSld>
  <p:clrMapOvr>
    <a:overrideClrMapping bg1="lt1" tx1="dk1" bg2="lt2" tx2="dk2" accent1="accent1" accent2="accent2" accent3="accent3" accent4="accent4" accent5="accent5" accent6="accent6" hlink="hlink" folHlink="folHlink"/>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5" name="Definitions of Features"/>
          <p:cNvSpPr txBox="1"/>
          <p:nvPr>
            <p:ph type="title"/>
          </p:nvPr>
        </p:nvSpPr>
        <p:spPr>
          <a:prstGeom prst="rect">
            <a:avLst/>
          </a:prstGeom>
        </p:spPr>
        <p:txBody>
          <a:bodyPr/>
          <a:lstStyle/>
          <a:p>
            <a:r>
              <a:t>Definitions of Features </a:t>
            </a:r>
          </a:p>
        </p:txBody>
      </p:sp>
      <p:sp>
        <p:nvSpPr>
          <p:cNvPr id="206" name="A news feature is a type of feature story written in the style of a news article. It tackles a topic with painstaking detail and requires facts and research to back the story.…"/>
          <p:cNvSpPr txBox="1"/>
          <p:nvPr>
            <p:ph type="body" idx="1"/>
          </p:nvPr>
        </p:nvSpPr>
        <p:spPr>
          <a:xfrm>
            <a:off x="1270000" y="3070225"/>
            <a:ext cx="21437600" cy="7004050"/>
          </a:xfrm>
          <a:prstGeom prst="rect">
            <a:avLst/>
          </a:prstGeom>
        </p:spPr>
        <p:txBody>
          <a:bodyPr>
            <a:noAutofit/>
          </a:bodyPr>
          <a:lstStyle/>
          <a:p>
            <a:pPr marL="0" indent="0" defTabSz="457200">
              <a:spcBef>
                <a:spcPts val="0"/>
              </a:spcBef>
              <a:buSzTx/>
              <a:buNone/>
              <a:defRPr sz="4400">
                <a:solidFill>
                  <a:srgbClr val="02020B"/>
                </a:solidFill>
                <a:latin typeface="Arial" panose="020B0604020202090204"/>
                <a:ea typeface="Arial" panose="020B0604020202090204"/>
                <a:cs typeface="Arial" panose="020B0604020202090204"/>
                <a:sym typeface="Arial" panose="020B0604020202090204"/>
              </a:defRPr>
            </a:pPr>
            <a:r>
              <a:rPr sz="6000" b="1"/>
              <a:t>A news feature is a type of feature story written in the style of a news article.</a:t>
            </a:r>
            <a:r>
              <a:rPr sz="6000"/>
              <a:t> It tackles a topic with painstaking detail and requires facts and research to back the story.</a:t>
            </a:r>
            <a:endParaRPr sz="6000"/>
          </a:p>
          <a:p>
            <a:pPr marL="0" indent="0" defTabSz="457200">
              <a:spcBef>
                <a:spcPts val="0"/>
              </a:spcBef>
              <a:buSzTx/>
              <a:buNone/>
              <a:defRPr sz="4400">
                <a:solidFill>
                  <a:srgbClr val="02020B"/>
                </a:solidFill>
                <a:latin typeface="Arial" panose="020B0604020202090204"/>
                <a:ea typeface="Arial" panose="020B0604020202090204"/>
                <a:cs typeface="Arial" panose="020B0604020202090204"/>
                <a:sym typeface="Arial" panose="020B0604020202090204"/>
              </a:defRPr>
            </a:pPr>
            <a:endParaRPr sz="6000"/>
          </a:p>
          <a:p>
            <a:pPr marL="0" indent="0" defTabSz="457200">
              <a:spcBef>
                <a:spcPts val="0"/>
              </a:spcBef>
              <a:buSzTx/>
              <a:buNone/>
              <a:defRPr sz="4400">
                <a:solidFill>
                  <a:srgbClr val="02020B"/>
                </a:solidFill>
                <a:latin typeface="Arial" panose="020B0604020202090204"/>
                <a:ea typeface="Arial" panose="020B0604020202090204"/>
                <a:cs typeface="Arial" panose="020B0604020202090204"/>
                <a:sym typeface="Arial" panose="020B0604020202090204"/>
              </a:defRPr>
            </a:pPr>
            <a:r>
              <a:rPr sz="6000"/>
              <a:t>News features are increasingly found in publications, as they are more engaging for readers than hard news. To write a news feature, journalists must focus on </a:t>
            </a:r>
            <a:r>
              <a:rPr sz="6000" u="sng"/>
              <a:t>a specific topic </a:t>
            </a:r>
            <a:r>
              <a:rPr sz="6000"/>
              <a:t>that can be thoroughly covered within a given word count. The topic must also be important and include firsthand accounts of real people, opinions from experts and facts and evidences to establish the truth and gravity of the issue. Though their topics have a local focus, news features should put everything together and show that there's larger context to the issue.</a:t>
            </a:r>
            <a:endParaRPr sz="6000"/>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6">
                                            <p:txEl>
                                              <p:pRg st="0" end="0"/>
                                            </p:txEl>
                                          </p:spTgt>
                                        </p:tgtEl>
                                        <p:attrNameLst>
                                          <p:attrName>style.visibility</p:attrName>
                                        </p:attrNameLst>
                                      </p:cBhvr>
                                      <p:to>
                                        <p:strVal val="visible"/>
                                      </p:to>
                                    </p:set>
                                    <p:anim calcmode="lin" valueType="num">
                                      <p:cBhvr additive="base">
                                        <p:cTn id="7" dur="500" fill="hold"/>
                                        <p:tgtEl>
                                          <p:spTgt spid="20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6">
                                            <p:txEl>
                                              <p:pRg st="2" end="2"/>
                                            </p:txEl>
                                          </p:spTgt>
                                        </p:tgtEl>
                                        <p:attrNameLst>
                                          <p:attrName>style.visibility</p:attrName>
                                        </p:attrNameLst>
                                      </p:cBhvr>
                                      <p:to>
                                        <p:strVal val="visible"/>
                                      </p:to>
                                    </p:set>
                                    <p:anim calcmode="lin" valueType="num">
                                      <p:cBhvr additive="base">
                                        <p:cTn id="13" dur="500" fill="hold"/>
                                        <p:tgtEl>
                                          <p:spTgt spid="20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8" name="Definitions of Features"/>
          <p:cNvSpPr txBox="1"/>
          <p:nvPr>
            <p:ph type="title"/>
          </p:nvPr>
        </p:nvSpPr>
        <p:spPr>
          <a:prstGeom prst="rect">
            <a:avLst/>
          </a:prstGeom>
        </p:spPr>
        <p:txBody>
          <a:bodyPr/>
          <a:lstStyle/>
          <a:p>
            <a:r>
              <a:t>Definitions of Features </a:t>
            </a:r>
          </a:p>
        </p:txBody>
      </p:sp>
      <p:sp>
        <p:nvSpPr>
          <p:cNvPr id="209" name="A news feature brings out the best in a reporter. It reflects the reporter’s writing skills and hard work. It is built around a news point and has plenty of information to hold reader attention.…"/>
          <p:cNvSpPr txBox="1"/>
          <p:nvPr>
            <p:ph type="body" idx="1"/>
          </p:nvPr>
        </p:nvSpPr>
        <p:spPr>
          <a:xfrm>
            <a:off x="1473200" y="3898900"/>
            <a:ext cx="21437600" cy="5374005"/>
          </a:xfrm>
          <a:prstGeom prst="rect">
            <a:avLst/>
          </a:prstGeom>
        </p:spPr>
        <p:txBody>
          <a:bodyPr>
            <a:normAutofit fontScale="80000"/>
          </a:bodyPr>
          <a:lstStyle/>
          <a:p>
            <a:pPr marL="0" indent="0" defTabSz="457200">
              <a:spcBef>
                <a:spcPts val="600"/>
              </a:spcBef>
              <a:buSzTx/>
              <a:buNone/>
              <a:defRPr sz="4800">
                <a:solidFill>
                  <a:srgbClr val="000000"/>
                </a:solidFill>
                <a:latin typeface="Times Roman"/>
                <a:ea typeface="Times Roman"/>
                <a:cs typeface="Times Roman"/>
                <a:sym typeface="Times Roman"/>
              </a:defRPr>
            </a:pPr>
            <a:r>
              <a:rPr sz="6600"/>
              <a:t>A news feature brings out the best in a reporter. It reflects the reporter’s writing skills and hard work. It is built around a news point and has plenty of information to hold reader attention.</a:t>
            </a:r>
            <a:endParaRPr sz="6600"/>
          </a:p>
          <a:p>
            <a:pPr marL="0" indent="0" defTabSz="457200">
              <a:spcBef>
                <a:spcPts val="600"/>
              </a:spcBef>
              <a:buSzTx/>
              <a:buNone/>
              <a:defRPr sz="4800">
                <a:solidFill>
                  <a:srgbClr val="000000"/>
                </a:solidFill>
                <a:latin typeface="Times Roman"/>
                <a:ea typeface="Times Roman"/>
                <a:cs typeface="Times Roman"/>
                <a:sym typeface="Times Roman"/>
              </a:defRPr>
            </a:pPr>
            <a:r>
              <a:rPr sz="6600"/>
              <a:t>There is no one single way in which a news feature can be written. Each writer has his own style, which may differ from subject to subject. This is what makes news features unique.</a:t>
            </a:r>
            <a:endParaRPr sz="1600"/>
          </a:p>
          <a:p>
            <a:pPr marL="0" indent="0" defTabSz="457200">
              <a:spcBef>
                <a:spcPts val="0"/>
              </a:spcBef>
              <a:buSzTx/>
              <a:buNone/>
              <a:defRPr sz="3200">
                <a:solidFill>
                  <a:srgbClr val="02020B"/>
                </a:solidFill>
                <a:latin typeface="Arial" panose="020B0604020202090204"/>
                <a:ea typeface="Arial" panose="020B0604020202090204"/>
                <a:cs typeface="Arial" panose="020B0604020202090204"/>
                <a:sym typeface="Arial" panose="020B0604020202090204"/>
              </a:defRPr>
            </a:pPr>
            <a:r>
              <a:rPr u="sng"/>
              <a:t>https://www.thoughtco.com/tips-for-producing-great-news-features-2074291</a:t>
            </a:r>
            <a:endParaRPr u="sng"/>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9">
                                            <p:txEl>
                                              <p:pRg st="0" end="0"/>
                                            </p:txEl>
                                          </p:spTgt>
                                        </p:tgtEl>
                                        <p:attrNameLst>
                                          <p:attrName>style.visibility</p:attrName>
                                        </p:attrNameLst>
                                      </p:cBhvr>
                                      <p:to>
                                        <p:strVal val="visible"/>
                                      </p:to>
                                    </p:set>
                                    <p:anim calcmode="lin" valueType="num">
                                      <p:cBhvr additive="base">
                                        <p:cTn id="7" dur="500" fill="hold"/>
                                        <p:tgtEl>
                                          <p:spTgt spid="20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9">
                                            <p:txEl>
                                              <p:pRg st="1" end="1"/>
                                            </p:txEl>
                                          </p:spTgt>
                                        </p:tgtEl>
                                        <p:attrNameLst>
                                          <p:attrName>style.visibility</p:attrName>
                                        </p:attrNameLst>
                                      </p:cBhvr>
                                      <p:to>
                                        <p:strVal val="visible"/>
                                      </p:to>
                                    </p:set>
                                    <p:anim calcmode="lin" valueType="num">
                                      <p:cBhvr additive="base">
                                        <p:cTn id="13" dur="500" fill="hold"/>
                                        <p:tgtEl>
                                          <p:spTgt spid="20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9">
                                            <p:txEl>
                                              <p:pRg st="2" end="2"/>
                                            </p:txEl>
                                          </p:spTgt>
                                        </p:tgtEl>
                                        <p:attrNameLst>
                                          <p:attrName>style.visibility</p:attrName>
                                        </p:attrNameLst>
                                      </p:cBhvr>
                                      <p:to>
                                        <p:strVal val="visible"/>
                                      </p:to>
                                    </p:set>
                                    <p:anim calcmode="lin" valueType="num">
                                      <p:cBhvr additive="base">
                                        <p:cTn id="19" dur="500" fill="hold"/>
                                        <p:tgtEl>
                                          <p:spTgt spid="20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11" name="Definitions of Features"/>
          <p:cNvSpPr txBox="1"/>
          <p:nvPr>
            <p:ph type="title"/>
          </p:nvPr>
        </p:nvSpPr>
        <p:spPr>
          <a:prstGeom prst="rect">
            <a:avLst/>
          </a:prstGeom>
        </p:spPr>
        <p:txBody>
          <a:bodyPr/>
          <a:lstStyle/>
          <a:p>
            <a:r>
              <a:t>Definitions of Features </a:t>
            </a:r>
          </a:p>
        </p:txBody>
      </p:sp>
      <p:sp>
        <p:nvSpPr>
          <p:cNvPr id="212" name="A &quot;profile feature&quot; is a newspaper article that explores the background and character of a particular person (or group). The focus should be on a news angle or a single aspect of the subject's personal or professional life.…"/>
          <p:cNvSpPr txBox="1"/>
          <p:nvPr>
            <p:ph type="body" idx="1"/>
          </p:nvPr>
        </p:nvSpPr>
        <p:spPr>
          <a:xfrm>
            <a:off x="467995" y="3148330"/>
            <a:ext cx="22239605" cy="10291445"/>
          </a:xfrm>
          <a:prstGeom prst="rect">
            <a:avLst/>
          </a:prstGeom>
        </p:spPr>
        <p:txBody>
          <a:bodyPr>
            <a:noAutofit/>
          </a:bodyPr>
          <a:lstStyle/>
          <a:p>
            <a:pPr marL="0" indent="0" defTabSz="457200">
              <a:spcBef>
                <a:spcPts val="0"/>
              </a:spcBef>
              <a:buSzTx/>
              <a:buNone/>
              <a:defRPr sz="4400">
                <a:solidFill>
                  <a:srgbClr val="444444"/>
                </a:solidFill>
              </a:defRPr>
            </a:pPr>
            <a:r>
              <a:rPr sz="6600"/>
              <a:t>A "profile feature" is a newspaper article that explores the background and character of a particular person (or group). The focus should be on a news angle or a single aspect of the subject's personal or professional life.</a:t>
            </a:r>
            <a:endParaRPr sz="6600"/>
          </a:p>
          <a:p>
            <a:pPr marL="0" indent="0" defTabSz="457200">
              <a:spcBef>
                <a:spcPts val="0"/>
              </a:spcBef>
              <a:buSzTx/>
              <a:buNone/>
              <a:defRPr sz="4400">
                <a:solidFill>
                  <a:srgbClr val="444444"/>
                </a:solidFill>
              </a:defRPr>
            </a:pPr>
            <a:endParaRPr sz="6600"/>
          </a:p>
          <a:p>
            <a:pPr marL="0" indent="0" defTabSz="457200">
              <a:spcBef>
                <a:spcPts val="0"/>
              </a:spcBef>
              <a:buSzTx/>
              <a:buNone/>
              <a:defRPr sz="4400">
                <a:solidFill>
                  <a:srgbClr val="444444"/>
                </a:solidFill>
              </a:defRPr>
            </a:pPr>
            <a:r>
              <a:rPr sz="6600"/>
              <a:t>A travelogue is a truthful account of an individual’s experiences traveling, usually told in the past tense and in the first person.</a:t>
            </a:r>
            <a:endParaRPr sz="6600"/>
          </a:p>
          <a:p>
            <a:pPr marL="0" indent="0" defTabSz="457200">
              <a:spcBef>
                <a:spcPts val="0"/>
              </a:spcBef>
              <a:buSzTx/>
              <a:buNone/>
              <a:defRPr sz="4400">
                <a:solidFill>
                  <a:srgbClr val="444444"/>
                </a:solidFill>
              </a:defRPr>
            </a:pPr>
            <a:endParaRPr sz="6600"/>
          </a:p>
          <a:p>
            <a:pPr marL="0" indent="0" defTabSz="457200">
              <a:spcBef>
                <a:spcPts val="0"/>
              </a:spcBef>
              <a:buSzTx/>
              <a:buNone/>
              <a:defRPr sz="4400">
                <a:solidFill>
                  <a:srgbClr val="444444"/>
                </a:solidFill>
              </a:defRPr>
            </a:pPr>
            <a:r>
              <a:rPr sz="6600">
                <a:solidFill>
                  <a:srgbClr val="666666"/>
                </a:solidFill>
              </a:rPr>
              <a:t>Eyewitness account definition:</a:t>
            </a:r>
            <a:r>
              <a:rPr sz="6600"/>
              <a:t> a description given by someone who was present at an event</a:t>
            </a:r>
            <a:r>
              <a:rPr sz="6600">
                <a:solidFill>
                  <a:srgbClr val="666666"/>
                </a:solidFill>
              </a:rPr>
              <a:t>.</a:t>
            </a:r>
            <a:r>
              <a:rPr sz="6600" u="sng"/>
              <a:t> </a:t>
            </a:r>
            <a:endParaRPr sz="6600" u="sng"/>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12">
                                            <p:txEl>
                                              <p:pRg st="0" end="0"/>
                                            </p:txEl>
                                          </p:spTgt>
                                        </p:tgtEl>
                                        <p:attrNameLst>
                                          <p:attrName>style.visibility</p:attrName>
                                        </p:attrNameLst>
                                      </p:cBhvr>
                                      <p:to>
                                        <p:strVal val="visible"/>
                                      </p:to>
                                    </p:set>
                                    <p:animEffect transition="in" filter="diamond(in)">
                                      <p:cBhvr>
                                        <p:cTn id="7" dur="2000"/>
                                        <p:tgtEl>
                                          <p:spTgt spid="2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212">
                                            <p:txEl>
                                              <p:pRg st="2" end="2"/>
                                            </p:txEl>
                                          </p:spTgt>
                                        </p:tgtEl>
                                        <p:attrNameLst>
                                          <p:attrName>style.visibility</p:attrName>
                                        </p:attrNameLst>
                                      </p:cBhvr>
                                      <p:to>
                                        <p:strVal val="visible"/>
                                      </p:to>
                                    </p:set>
                                    <p:animEffect transition="in" filter="diamond(in)">
                                      <p:cBhvr>
                                        <p:cTn id="12" dur="2000"/>
                                        <p:tgtEl>
                                          <p:spTgt spid="2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212">
                                            <p:txEl>
                                              <p:pRg st="4" end="4"/>
                                            </p:txEl>
                                          </p:spTgt>
                                        </p:tgtEl>
                                        <p:attrNameLst>
                                          <p:attrName>style.visibility</p:attrName>
                                        </p:attrNameLst>
                                      </p:cBhvr>
                                      <p:to>
                                        <p:strVal val="visible"/>
                                      </p:to>
                                    </p:set>
                                    <p:animEffect transition="in" filter="diamond(in)">
                                      <p:cBhvr>
                                        <p:cTn id="17" dur="2000"/>
                                        <p:tgtEl>
                                          <p:spTgt spid="2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14" name="Difference between a News story and  a Feature"/>
          <p:cNvSpPr txBox="1"/>
          <p:nvPr>
            <p:ph type="title"/>
          </p:nvPr>
        </p:nvSpPr>
        <p:spPr>
          <a:xfrm>
            <a:off x="1473200" y="0"/>
            <a:ext cx="21437600" cy="2325881"/>
          </a:xfrm>
          <a:prstGeom prst="rect">
            <a:avLst/>
          </a:prstGeom>
        </p:spPr>
        <p:txBody>
          <a:bodyPr/>
          <a:lstStyle>
            <a:lvl1pPr defTabSz="577850">
              <a:defRPr sz="7560">
                <a:effectLst>
                  <a:outerShdw blurRad="44450" dist="8890" dir="5400000" rotWithShape="0">
                    <a:srgbClr val="000000">
                      <a:alpha val="30000"/>
                    </a:srgbClr>
                  </a:outerShdw>
                </a:effectLst>
              </a:defRPr>
            </a:lvl1pPr>
          </a:lstStyle>
          <a:p>
            <a:r>
              <a:t>Difference between a News story and  a Feature </a:t>
            </a:r>
          </a:p>
        </p:txBody>
      </p:sp>
      <p:sp>
        <p:nvSpPr>
          <p:cNvPr id="215" name="1.Time factor – features are not as time-dependent as news stories…"/>
          <p:cNvSpPr txBox="1"/>
          <p:nvPr>
            <p:ph type="body" idx="1"/>
          </p:nvPr>
        </p:nvSpPr>
        <p:spPr>
          <a:xfrm>
            <a:off x="1905635" y="2134870"/>
            <a:ext cx="21693505" cy="11012170"/>
          </a:xfrm>
          <a:prstGeom prst="rect">
            <a:avLst/>
          </a:prstGeom>
        </p:spPr>
        <p:txBody>
          <a:bodyPr>
            <a:normAutofit lnSpcReduction="10000"/>
          </a:bodyPr>
          <a:lstStyle/>
          <a:p>
            <a:pPr marL="0" indent="0" defTabSz="410845">
              <a:spcBef>
                <a:spcPts val="500"/>
              </a:spcBef>
              <a:buSzTx/>
              <a:buNone/>
              <a:defRPr sz="4320">
                <a:solidFill>
                  <a:srgbClr val="000000"/>
                </a:solidFill>
                <a:latin typeface="Times Roman"/>
                <a:ea typeface="Times Roman"/>
                <a:cs typeface="Times Roman"/>
                <a:sym typeface="Times Roman"/>
              </a:defRPr>
            </a:pPr>
            <a:r>
              <a:t>1.</a:t>
            </a:r>
            <a:r>
              <a:rPr b="1"/>
              <a:t>Time factor </a:t>
            </a:r>
            <a:endParaRPr b="1"/>
          </a:p>
          <a:p>
            <a:pPr marL="0" indent="0" defTabSz="410845">
              <a:spcBef>
                <a:spcPts val="500"/>
              </a:spcBef>
              <a:buSzTx/>
              <a:buNone/>
              <a:defRPr sz="4320">
                <a:solidFill>
                  <a:srgbClr val="000000"/>
                </a:solidFill>
                <a:latin typeface="Times Roman"/>
                <a:ea typeface="Times Roman"/>
                <a:cs typeface="Times Roman"/>
                <a:sym typeface="Times Roman"/>
              </a:defRPr>
            </a:pPr>
            <a:endParaRPr b="1"/>
          </a:p>
          <a:p>
            <a:pPr marL="0" indent="0" defTabSz="410845">
              <a:spcBef>
                <a:spcPts val="500"/>
              </a:spcBef>
              <a:buSzTx/>
              <a:buNone/>
              <a:defRPr sz="4320">
                <a:solidFill>
                  <a:srgbClr val="000000"/>
                </a:solidFill>
                <a:latin typeface="Times Roman"/>
                <a:ea typeface="Times Roman"/>
                <a:cs typeface="Times Roman"/>
                <a:sym typeface="Times Roman"/>
              </a:defRPr>
            </a:pPr>
            <a:r>
              <a:t>2. </a:t>
            </a:r>
            <a:r>
              <a:rPr b="1"/>
              <a:t>Writing style</a:t>
            </a:r>
            <a:r>
              <a:t> </a:t>
            </a:r>
          </a:p>
          <a:p>
            <a:pPr marL="0" indent="0" defTabSz="410845">
              <a:spcBef>
                <a:spcPts val="500"/>
              </a:spcBef>
              <a:buSzTx/>
              <a:buNone/>
              <a:defRPr sz="4320">
                <a:solidFill>
                  <a:srgbClr val="000000"/>
                </a:solidFill>
                <a:latin typeface="Times Roman"/>
                <a:ea typeface="Times Roman"/>
                <a:cs typeface="Times Roman"/>
                <a:sym typeface="Times Roman"/>
              </a:defRPr>
            </a:pPr>
          </a:p>
          <a:p>
            <a:pPr marL="0" indent="0" defTabSz="410845">
              <a:spcBef>
                <a:spcPts val="500"/>
              </a:spcBef>
              <a:buSzTx/>
              <a:buNone/>
              <a:defRPr sz="4320">
                <a:solidFill>
                  <a:srgbClr val="000000"/>
                </a:solidFill>
                <a:latin typeface="Times Roman"/>
                <a:ea typeface="Times Roman"/>
                <a:cs typeface="Times Roman"/>
                <a:sym typeface="Times Roman"/>
              </a:defRPr>
            </a:pPr>
            <a:r>
              <a:t>3. </a:t>
            </a:r>
            <a:r>
              <a:rPr b="1"/>
              <a:t>The length </a:t>
            </a:r>
            <a:endParaRPr b="1"/>
          </a:p>
          <a:p>
            <a:pPr marL="0" indent="0" defTabSz="410845">
              <a:spcBef>
                <a:spcPts val="500"/>
              </a:spcBef>
              <a:buSzTx/>
              <a:buNone/>
              <a:defRPr sz="4320">
                <a:solidFill>
                  <a:srgbClr val="000000"/>
                </a:solidFill>
                <a:latin typeface="Times Roman"/>
                <a:ea typeface="Times Roman"/>
                <a:cs typeface="Times Roman"/>
                <a:sym typeface="Times Roman"/>
              </a:defRPr>
            </a:pPr>
            <a:endParaRPr b="1"/>
          </a:p>
          <a:p>
            <a:pPr marL="0" indent="0" defTabSz="410845">
              <a:spcBef>
                <a:spcPts val="500"/>
              </a:spcBef>
              <a:buSzTx/>
              <a:buNone/>
              <a:defRPr sz="4320">
                <a:solidFill>
                  <a:srgbClr val="000000"/>
                </a:solidFill>
                <a:latin typeface="Times Roman"/>
                <a:ea typeface="Times Roman"/>
                <a:cs typeface="Times Roman"/>
                <a:sym typeface="Times Roman"/>
              </a:defRPr>
            </a:pPr>
            <a:r>
              <a:t>4. </a:t>
            </a:r>
            <a:r>
              <a:rPr b="1"/>
              <a:t>The lead </a:t>
            </a:r>
            <a:endParaRPr b="1"/>
          </a:p>
          <a:p>
            <a:pPr marL="0" indent="0" defTabSz="410845">
              <a:spcBef>
                <a:spcPts val="500"/>
              </a:spcBef>
              <a:buSzTx/>
              <a:buNone/>
              <a:defRPr sz="4320">
                <a:solidFill>
                  <a:srgbClr val="000000"/>
                </a:solidFill>
                <a:latin typeface="Times Roman"/>
                <a:ea typeface="Times Roman"/>
                <a:cs typeface="Times Roman"/>
                <a:sym typeface="Times Roman"/>
              </a:defRPr>
            </a:pPr>
            <a:endParaRPr b="1"/>
          </a:p>
          <a:p>
            <a:pPr marL="0" indent="0" defTabSz="410845">
              <a:spcBef>
                <a:spcPts val="500"/>
              </a:spcBef>
              <a:buSzTx/>
              <a:buNone/>
              <a:defRPr sz="4320">
                <a:solidFill>
                  <a:srgbClr val="000000"/>
                </a:solidFill>
                <a:latin typeface="Times Roman"/>
                <a:ea typeface="Times Roman"/>
                <a:cs typeface="Times Roman"/>
                <a:sym typeface="Times Roman"/>
              </a:defRPr>
            </a:pPr>
            <a:r>
              <a:t>5. </a:t>
            </a:r>
            <a:r>
              <a:rPr b="1"/>
              <a:t>The ending</a:t>
            </a:r>
            <a:endParaRPr b="1"/>
          </a:p>
          <a:p>
            <a:pPr marL="0" indent="0" defTabSz="410845">
              <a:spcBef>
                <a:spcPts val="500"/>
              </a:spcBef>
              <a:buSzTx/>
              <a:buNone/>
              <a:defRPr sz="4320">
                <a:solidFill>
                  <a:srgbClr val="000000"/>
                </a:solidFill>
                <a:latin typeface="Times Roman"/>
                <a:ea typeface="Times Roman"/>
                <a:cs typeface="Times Roman"/>
                <a:sym typeface="Times Roman"/>
              </a:defRPr>
            </a:pPr>
          </a:p>
          <a:p>
            <a:pPr marL="0" indent="0" defTabSz="410845">
              <a:spcBef>
                <a:spcPts val="500"/>
              </a:spcBef>
              <a:buSzTx/>
              <a:buNone/>
              <a:defRPr sz="4320">
                <a:solidFill>
                  <a:srgbClr val="000000"/>
                </a:solidFill>
                <a:latin typeface="Times Roman"/>
                <a:ea typeface="Times Roman"/>
                <a:cs typeface="Times Roman"/>
                <a:sym typeface="Times Roman"/>
              </a:defRPr>
            </a:pPr>
            <a:r>
              <a:rPr u="sng"/>
              <a:t>https://hosbeg.com/difference-between-a-news-story-and-a-feature/</a:t>
            </a:r>
            <a:endParaRPr u="sng"/>
          </a:p>
        </p:txBody>
      </p:sp>
      <p:sp>
        <p:nvSpPr>
          <p:cNvPr id="2" name="右箭头 1">
            <a:hlinkClick r:id="rId1" action="ppaction://hlinksldjump"/>
          </p:cNvPr>
          <p:cNvSpPr/>
          <p:nvPr/>
        </p:nvSpPr>
        <p:spPr>
          <a:xfrm>
            <a:off x="6791325" y="4121785"/>
            <a:ext cx="1800225" cy="791845"/>
          </a:xfrm>
          <a:prstGeom prst="rightArrow">
            <a:avLst/>
          </a:prstGeom>
          <a:blipFill rotWithShape="1">
            <a:blip r:embed="rId2"/>
            <a:srcRect/>
            <a:tile tx="0" ty="0" sx="100000" sy="100000" flip="none" algn="tl"/>
          </a:blip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upright="0">
            <a:spAutoFit/>
          </a:bodyPr>
          <a:p>
            <a:pPr marL="0" marR="0" indent="0" algn="ctr" defTabSz="825500" rtl="0" fontAlgn="auto" latinLnBrk="0" hangingPunct="0">
              <a:lnSpc>
                <a:spcPct val="100000"/>
              </a:lnSpc>
              <a:spcBef>
                <a:spcPts val="0"/>
              </a:spcBef>
              <a:spcAft>
                <a:spcPts val="0"/>
              </a:spcAft>
              <a:buClrTx/>
              <a:buSzTx/>
              <a:buFontTx/>
              <a:buNone/>
            </a:pPr>
            <a:endParaRPr kumimoji="0" lang="zh-CN" altLang="en-US" sz="5000" b="0" i="0" u="none" strike="noStrike" cap="none" spc="0" normalizeH="0" baseline="0">
              <a:ln>
                <a:noFill/>
              </a:ln>
              <a:solidFill>
                <a:srgbClr val="FFFFFF"/>
              </a:solidFill>
              <a:effectLst/>
              <a:uFillTx/>
              <a:latin typeface="Helvetica Neue" panose="02000503000000020004"/>
              <a:ea typeface="Helvetica Neue" panose="02000503000000020004"/>
              <a:cs typeface="Helvetica Neue" panose="02000503000000020004"/>
              <a:sym typeface="Helvetica Neue" panose="02000503000000020004"/>
            </a:endParaRPr>
          </a:p>
        </p:txBody>
      </p:sp>
    </p:spTree>
  </p:cSld>
  <p:clrMapOvr>
    <a:overrideClrMapping bg1="lt1" tx1="dk1" bg2="lt2" tx2="dk2" accent1="accent1" accent2="accent2" accent3="accent3" accent4="accent4" accent5="accent5" accent6="accent6" hlink="hlink" folHlink="folHlink"/>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
                                            <p:txEl>
                                              <p:pRg st="0" end="0"/>
                                            </p:txEl>
                                          </p:spTgt>
                                        </p:tgtEl>
                                        <p:attrNameLst>
                                          <p:attrName>style.visibility</p:attrName>
                                        </p:attrNameLst>
                                      </p:cBhvr>
                                      <p:to>
                                        <p:strVal val="visible"/>
                                      </p:to>
                                    </p:set>
                                    <p:anim calcmode="lin" valueType="num">
                                      <p:cBhvr additive="base">
                                        <p:cTn id="7" dur="500" fill="hold"/>
                                        <p:tgtEl>
                                          <p:spTgt spid="2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
                                            <p:txEl>
                                              <p:pRg st="2" end="2"/>
                                            </p:txEl>
                                          </p:spTgt>
                                        </p:tgtEl>
                                        <p:attrNameLst>
                                          <p:attrName>style.visibility</p:attrName>
                                        </p:attrNameLst>
                                      </p:cBhvr>
                                      <p:to>
                                        <p:strVal val="visible"/>
                                      </p:to>
                                    </p:set>
                                    <p:anim calcmode="lin" valueType="num">
                                      <p:cBhvr additive="base">
                                        <p:cTn id="13" dur="500" fill="hold"/>
                                        <p:tgtEl>
                                          <p:spTgt spid="2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
                                            <p:txEl>
                                              <p:pRg st="4" end="4"/>
                                            </p:txEl>
                                          </p:spTgt>
                                        </p:tgtEl>
                                        <p:attrNameLst>
                                          <p:attrName>style.visibility</p:attrName>
                                        </p:attrNameLst>
                                      </p:cBhvr>
                                      <p:to>
                                        <p:strVal val="visible"/>
                                      </p:to>
                                    </p:set>
                                    <p:anim calcmode="lin" valueType="num">
                                      <p:cBhvr additive="base">
                                        <p:cTn id="19" dur="500" fill="hold"/>
                                        <p:tgtEl>
                                          <p:spTgt spid="21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15">
                                            <p:txEl>
                                              <p:pRg st="6" end="6"/>
                                            </p:txEl>
                                          </p:spTgt>
                                        </p:tgtEl>
                                        <p:attrNameLst>
                                          <p:attrName>style.visibility</p:attrName>
                                        </p:attrNameLst>
                                      </p:cBhvr>
                                      <p:to>
                                        <p:strVal val="visible"/>
                                      </p:to>
                                    </p:set>
                                    <p:anim calcmode="lin" valueType="num">
                                      <p:cBhvr additive="base">
                                        <p:cTn id="25" dur="500" fill="hold"/>
                                        <p:tgtEl>
                                          <p:spTgt spid="21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15">
                                            <p:txEl>
                                              <p:pRg st="8" end="8"/>
                                            </p:txEl>
                                          </p:spTgt>
                                        </p:tgtEl>
                                        <p:attrNameLst>
                                          <p:attrName>style.visibility</p:attrName>
                                        </p:attrNameLst>
                                      </p:cBhvr>
                                      <p:to>
                                        <p:strVal val="visible"/>
                                      </p:to>
                                    </p:set>
                                    <p:anim calcmode="lin" valueType="num">
                                      <p:cBhvr additive="base">
                                        <p:cTn id="31" dur="500" fill="hold"/>
                                        <p:tgtEl>
                                          <p:spTgt spid="215">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5">
                                            <p:txEl>
                                              <p:pRg st="10" end="10"/>
                                            </p:txEl>
                                          </p:spTgt>
                                        </p:tgtEl>
                                        <p:attrNameLst>
                                          <p:attrName>style.visibility</p:attrName>
                                        </p:attrNameLst>
                                      </p:cBhvr>
                                      <p:to>
                                        <p:strVal val="visible"/>
                                      </p:to>
                                    </p:set>
                                    <p:anim calcmode="lin" valueType="num">
                                      <p:cBhvr additive="base">
                                        <p:cTn id="37" dur="500" fill="hold"/>
                                        <p:tgtEl>
                                          <p:spTgt spid="215">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1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checkerboard(across)">
                                      <p:cBhvr>
                                        <p:cTn id="4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 grpId="0" uiExpand="1" build="p"/>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14" name="Difference between a News story and  a Feature"/>
          <p:cNvSpPr txBox="1"/>
          <p:nvPr>
            <p:ph type="title"/>
          </p:nvPr>
        </p:nvSpPr>
        <p:spPr>
          <a:xfrm>
            <a:off x="1473200" y="0"/>
            <a:ext cx="21437600" cy="2325881"/>
          </a:xfrm>
          <a:prstGeom prst="rect">
            <a:avLst/>
          </a:prstGeom>
        </p:spPr>
        <p:txBody>
          <a:bodyPr/>
          <a:lstStyle>
            <a:lvl1pPr defTabSz="577850">
              <a:defRPr sz="7560">
                <a:effectLst>
                  <a:outerShdw blurRad="44450" dist="8890" dir="5400000" rotWithShape="0">
                    <a:srgbClr val="000000">
                      <a:alpha val="30000"/>
                    </a:srgbClr>
                  </a:outerShdw>
                </a:effectLst>
              </a:defRPr>
            </a:lvl1pPr>
          </a:lstStyle>
          <a:p>
            <a:r>
              <a:t>Difference between a News story and  a Feature </a:t>
            </a:r>
          </a:p>
        </p:txBody>
      </p:sp>
      <p:sp>
        <p:nvSpPr>
          <p:cNvPr id="215" name="1.Time factor – features are not as time-dependent as news stories…"/>
          <p:cNvSpPr txBox="1"/>
          <p:nvPr>
            <p:ph type="body" idx="1"/>
          </p:nvPr>
        </p:nvSpPr>
        <p:spPr>
          <a:xfrm>
            <a:off x="1905635" y="2134870"/>
            <a:ext cx="21693505" cy="11012170"/>
          </a:xfrm>
          <a:prstGeom prst="rect">
            <a:avLst/>
          </a:prstGeom>
        </p:spPr>
        <p:txBody>
          <a:bodyPr>
            <a:normAutofit lnSpcReduction="10000"/>
          </a:bodyPr>
          <a:lstStyle/>
          <a:p>
            <a:pPr marL="0" indent="0" defTabSz="410845">
              <a:spcBef>
                <a:spcPts val="500"/>
              </a:spcBef>
              <a:buSzTx/>
              <a:buNone/>
              <a:defRPr sz="4320">
                <a:solidFill>
                  <a:srgbClr val="000000"/>
                </a:solidFill>
                <a:latin typeface="Times Roman"/>
                <a:ea typeface="Times Roman"/>
                <a:cs typeface="Times Roman"/>
                <a:sym typeface="Times Roman"/>
              </a:defRPr>
            </a:pPr>
            <a:r>
              <a:t>1.</a:t>
            </a:r>
            <a:r>
              <a:rPr b="1"/>
              <a:t>Time factor</a:t>
            </a:r>
            <a:r>
              <a:t> </a:t>
            </a:r>
            <a:r>
              <a:rPr b="1"/>
              <a:t>– </a:t>
            </a:r>
            <a:r>
              <a:t>features are not as time-dependent as news stories</a:t>
            </a:r>
          </a:p>
          <a:p>
            <a:pPr marL="0" indent="0" defTabSz="410845">
              <a:spcBef>
                <a:spcPts val="500"/>
              </a:spcBef>
              <a:buSzTx/>
              <a:buNone/>
              <a:defRPr sz="4320">
                <a:solidFill>
                  <a:srgbClr val="000000"/>
                </a:solidFill>
                <a:latin typeface="Times Roman"/>
                <a:ea typeface="Times Roman"/>
                <a:cs typeface="Times Roman"/>
                <a:sym typeface="Times Roman"/>
              </a:defRPr>
            </a:pPr>
            <a:r>
              <a:t>2. </a:t>
            </a:r>
            <a:r>
              <a:rPr b="1"/>
              <a:t>Writing style</a:t>
            </a:r>
            <a:r>
              <a:t> </a:t>
            </a:r>
            <a:r>
              <a:rPr b="1"/>
              <a:t>– </a:t>
            </a:r>
            <a:r>
              <a:t>News stories: go straight to the point; use simple and very effective words to deliver the facts quickly. Feature stories: have a creative structure</a:t>
            </a:r>
            <a:r>
              <a:rPr lang="en-US"/>
              <a:t>, </a:t>
            </a:r>
            <a:r>
              <a:t> colorful and flowery.</a:t>
            </a:r>
          </a:p>
          <a:p>
            <a:pPr marL="0" indent="0" defTabSz="410845">
              <a:spcBef>
                <a:spcPts val="500"/>
              </a:spcBef>
              <a:buSzTx/>
              <a:buNone/>
              <a:defRPr sz="4320">
                <a:solidFill>
                  <a:srgbClr val="000000"/>
                </a:solidFill>
                <a:latin typeface="Times Roman"/>
                <a:ea typeface="Times Roman"/>
                <a:cs typeface="Times Roman"/>
                <a:sym typeface="Times Roman"/>
              </a:defRPr>
            </a:pPr>
            <a:r>
              <a:t>3. </a:t>
            </a:r>
            <a:r>
              <a:rPr b="1"/>
              <a:t>The length –</a:t>
            </a:r>
            <a:r>
              <a:t> a news story is shorter than a feature story</a:t>
            </a:r>
            <a:r>
              <a:rPr lang="en-US"/>
              <a:t>, </a:t>
            </a:r>
            <a:r>
              <a:t>can vary from just a couple of sentences to about 600 words, but a feature story can be longer than 2000 words – especially in magazines.</a:t>
            </a:r>
          </a:p>
          <a:p>
            <a:pPr marL="0" indent="0" defTabSz="410845">
              <a:spcBef>
                <a:spcPts val="500"/>
              </a:spcBef>
              <a:buSzTx/>
              <a:buNone/>
              <a:defRPr sz="4320">
                <a:solidFill>
                  <a:srgbClr val="000000"/>
                </a:solidFill>
                <a:latin typeface="Times Roman"/>
                <a:ea typeface="Times Roman"/>
                <a:cs typeface="Times Roman"/>
                <a:sym typeface="Times Roman"/>
              </a:defRPr>
            </a:pPr>
            <a:r>
              <a:t>4. </a:t>
            </a:r>
            <a:r>
              <a:rPr b="1"/>
              <a:t>The lead –</a:t>
            </a:r>
            <a:r>
              <a:t> the lead of a feature does not give the news instead it gets the reader interested in reading the rest of the story. News story leads sell the story. They tell what the news is about and tell all the most important details about the news.</a:t>
            </a:r>
          </a:p>
          <a:p>
            <a:pPr marL="0" indent="0" defTabSz="410845">
              <a:spcBef>
                <a:spcPts val="500"/>
              </a:spcBef>
              <a:buSzTx/>
              <a:buNone/>
              <a:defRPr sz="4320">
                <a:solidFill>
                  <a:srgbClr val="000000"/>
                </a:solidFill>
                <a:latin typeface="Times Roman"/>
                <a:ea typeface="Times Roman"/>
                <a:cs typeface="Times Roman"/>
                <a:sym typeface="Times Roman"/>
              </a:defRPr>
            </a:pPr>
            <a:r>
              <a:t>5. </a:t>
            </a:r>
            <a:r>
              <a:rPr b="1"/>
              <a:t>The ending –</a:t>
            </a:r>
            <a:r>
              <a:t> a news story can end anywhere after the most important things have been mentioned, but a feature story has to be ended in specific manner. Features have to end in such a way that the reader feels satisfied for having kept on reading. The feature ending is more like a reward to the reader.</a:t>
            </a:r>
          </a:p>
          <a:p>
            <a:pPr marL="240030" indent="-240030" defTabSz="410845">
              <a:spcBef>
                <a:spcPts val="0"/>
              </a:spcBef>
              <a:buSzTx/>
              <a:buNone/>
              <a:defRPr sz="1350">
                <a:solidFill>
                  <a:srgbClr val="222222"/>
                </a:solidFill>
                <a:latin typeface="Verdana" panose="020B0804030504040204"/>
                <a:ea typeface="Verdana" panose="020B0804030504040204"/>
                <a:cs typeface="Verdana" panose="020B0804030504040204"/>
                <a:sym typeface="Verdana" panose="020B0804030504040204"/>
              </a:defRPr>
            </a:pPr>
          </a:p>
          <a:p>
            <a:pPr marL="0" indent="0" defTabSz="410845">
              <a:spcBef>
                <a:spcPts val="500"/>
              </a:spcBef>
              <a:buSzTx/>
              <a:buNone/>
              <a:defRPr sz="4320">
                <a:solidFill>
                  <a:srgbClr val="000000"/>
                </a:solidFill>
                <a:latin typeface="Times Roman"/>
                <a:ea typeface="Times Roman"/>
                <a:cs typeface="Times Roman"/>
                <a:sym typeface="Times Roman"/>
              </a:defRPr>
            </a:pPr>
            <a:r>
              <a:rPr u="sng"/>
              <a:t>https://hosbeg.com/difference-between-a-news-story-and-a-feature/</a:t>
            </a:r>
            <a:endParaRPr u="sng"/>
          </a:p>
        </p:txBody>
      </p:sp>
      <p:sp>
        <p:nvSpPr>
          <p:cNvPr id="2" name="左箭头 1">
            <a:hlinkClick r:id="rId1" action="ppaction://hlinksldjump"/>
          </p:cNvPr>
          <p:cNvSpPr/>
          <p:nvPr/>
        </p:nvSpPr>
        <p:spPr>
          <a:xfrm>
            <a:off x="21769070" y="12114530"/>
            <a:ext cx="1512570" cy="792480"/>
          </a:xfrm>
          <a:prstGeom prst="leftArrow">
            <a:avLst/>
          </a:prstGeom>
          <a:blipFill rotWithShape="1">
            <a:blip r:embed="rId2"/>
            <a:srcRect/>
            <a:tile tx="0" ty="0" sx="100000" sy="100000" flip="none" algn="tl"/>
          </a:blip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upright="0">
            <a:spAutoFit/>
          </a:bodyPr>
          <a:p>
            <a:pPr marL="0" marR="0" indent="0" algn="ctr" defTabSz="825500" rtl="0" fontAlgn="auto" latinLnBrk="0" hangingPunct="0">
              <a:lnSpc>
                <a:spcPct val="100000"/>
              </a:lnSpc>
              <a:spcBef>
                <a:spcPts val="0"/>
              </a:spcBef>
              <a:spcAft>
                <a:spcPts val="0"/>
              </a:spcAft>
              <a:buClrTx/>
              <a:buSzTx/>
              <a:buFontTx/>
              <a:buNone/>
            </a:pPr>
            <a:endParaRPr kumimoji="0" lang="zh-CN" altLang="en-US" sz="5000" b="0" i="0" u="none" strike="noStrike" cap="none" spc="0" normalizeH="0" baseline="0">
              <a:ln>
                <a:noFill/>
              </a:ln>
              <a:solidFill>
                <a:srgbClr val="FFFFFF"/>
              </a:solidFill>
              <a:effectLst/>
              <a:uFillTx/>
              <a:latin typeface="Helvetica Neue" panose="02000503000000020004"/>
              <a:ea typeface="Helvetica Neue" panose="02000503000000020004"/>
              <a:cs typeface="Helvetica Neue" panose="02000503000000020004"/>
              <a:sym typeface="Helvetica Neue" panose="02000503000000020004"/>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
                                            <p:txEl>
                                              <p:pRg st="0" end="0"/>
                                            </p:txEl>
                                          </p:spTgt>
                                        </p:tgtEl>
                                        <p:attrNameLst>
                                          <p:attrName>style.visibility</p:attrName>
                                        </p:attrNameLst>
                                      </p:cBhvr>
                                      <p:to>
                                        <p:strVal val="visible"/>
                                      </p:to>
                                    </p:set>
                                    <p:anim calcmode="lin" valueType="num">
                                      <p:cBhvr additive="base">
                                        <p:cTn id="7" dur="500" fill="hold"/>
                                        <p:tgtEl>
                                          <p:spTgt spid="2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
                                            <p:txEl>
                                              <p:pRg st="1" end="1"/>
                                            </p:txEl>
                                          </p:spTgt>
                                        </p:tgtEl>
                                        <p:attrNameLst>
                                          <p:attrName>style.visibility</p:attrName>
                                        </p:attrNameLst>
                                      </p:cBhvr>
                                      <p:to>
                                        <p:strVal val="visible"/>
                                      </p:to>
                                    </p:set>
                                    <p:anim calcmode="lin" valueType="num">
                                      <p:cBhvr additive="base">
                                        <p:cTn id="13" dur="500" fill="hold"/>
                                        <p:tgtEl>
                                          <p:spTgt spid="2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
                                            <p:txEl>
                                              <p:pRg st="2" end="2"/>
                                            </p:txEl>
                                          </p:spTgt>
                                        </p:tgtEl>
                                        <p:attrNameLst>
                                          <p:attrName>style.visibility</p:attrName>
                                        </p:attrNameLst>
                                      </p:cBhvr>
                                      <p:to>
                                        <p:strVal val="visible"/>
                                      </p:to>
                                    </p:set>
                                    <p:anim calcmode="lin" valueType="num">
                                      <p:cBhvr additive="base">
                                        <p:cTn id="19" dur="500" fill="hold"/>
                                        <p:tgtEl>
                                          <p:spTgt spid="2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15">
                                            <p:txEl>
                                              <p:pRg st="3" end="3"/>
                                            </p:txEl>
                                          </p:spTgt>
                                        </p:tgtEl>
                                        <p:attrNameLst>
                                          <p:attrName>style.visibility</p:attrName>
                                        </p:attrNameLst>
                                      </p:cBhvr>
                                      <p:to>
                                        <p:strVal val="visible"/>
                                      </p:to>
                                    </p:set>
                                    <p:anim calcmode="lin" valueType="num">
                                      <p:cBhvr additive="base">
                                        <p:cTn id="25" dur="500" fill="hold"/>
                                        <p:tgtEl>
                                          <p:spTgt spid="2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15">
                                            <p:txEl>
                                              <p:pRg st="4" end="4"/>
                                            </p:txEl>
                                          </p:spTgt>
                                        </p:tgtEl>
                                        <p:attrNameLst>
                                          <p:attrName>style.visibility</p:attrName>
                                        </p:attrNameLst>
                                      </p:cBhvr>
                                      <p:to>
                                        <p:strVal val="visible"/>
                                      </p:to>
                                    </p:set>
                                    <p:anim calcmode="lin" valueType="num">
                                      <p:cBhvr additive="base">
                                        <p:cTn id="31" dur="500" fill="hold"/>
                                        <p:tgtEl>
                                          <p:spTgt spid="2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5">
                                            <p:txEl>
                                              <p:pRg st="6" end="6"/>
                                            </p:txEl>
                                          </p:spTgt>
                                        </p:tgtEl>
                                        <p:attrNameLst>
                                          <p:attrName>style.visibility</p:attrName>
                                        </p:attrNameLst>
                                      </p:cBhvr>
                                      <p:to>
                                        <p:strVal val="visible"/>
                                      </p:to>
                                    </p:set>
                                    <p:anim calcmode="lin" valueType="num">
                                      <p:cBhvr additive="base">
                                        <p:cTn id="37" dur="500" fill="hold"/>
                                        <p:tgtEl>
                                          <p:spTgt spid="21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1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17" name="Structure of a Feature"/>
          <p:cNvSpPr txBox="1"/>
          <p:nvPr>
            <p:ph type="title"/>
          </p:nvPr>
        </p:nvSpPr>
        <p:spPr>
          <a:xfrm>
            <a:off x="1473200" y="0"/>
            <a:ext cx="21437600" cy="2325881"/>
          </a:xfrm>
          <a:prstGeom prst="rect">
            <a:avLst/>
          </a:prstGeom>
        </p:spPr>
        <p:txBody>
          <a:bodyPr/>
          <a:lstStyle>
            <a:lvl1pPr defTabSz="577850">
              <a:defRPr sz="7560">
                <a:effectLst>
                  <a:outerShdw blurRad="44450" dist="8890" dir="5400000" rotWithShape="0">
                    <a:srgbClr val="000000">
                      <a:alpha val="30000"/>
                    </a:srgbClr>
                  </a:outerShdw>
                </a:effectLst>
              </a:defRPr>
            </a:lvl1pPr>
          </a:lstStyle>
          <a:p>
            <a:r>
              <a:t>Structure of a Feature </a:t>
            </a:r>
          </a:p>
        </p:txBody>
      </p:sp>
      <p:sp>
        <p:nvSpPr>
          <p:cNvPr id="218" name="1.Intro or Lead The lead must attract immediate attention and pull the reader into the story. Leads can vary in style and content. You can use description, narration, dialogue, question, unusual statement, call to action, comparison-contrast.…"/>
          <p:cNvSpPr txBox="1"/>
          <p:nvPr>
            <p:ph type="body" idx="1"/>
          </p:nvPr>
        </p:nvSpPr>
        <p:spPr>
          <a:xfrm>
            <a:off x="1670050" y="2134870"/>
            <a:ext cx="21929090" cy="10970260"/>
          </a:xfrm>
          <a:prstGeom prst="rect">
            <a:avLst/>
          </a:prstGeom>
        </p:spPr>
        <p:txBody>
          <a:bodyPr>
            <a:normAutofit/>
          </a:bodyPr>
          <a:lstStyle/>
          <a:p>
            <a:pPr marL="0" indent="0" defTabSz="424815">
              <a:spcBef>
                <a:spcPts val="600"/>
              </a:spcBef>
              <a:buSzTx/>
              <a:buNone/>
              <a:defRPr sz="4465">
                <a:solidFill>
                  <a:srgbClr val="000000"/>
                </a:solidFill>
                <a:latin typeface="Times Roman"/>
                <a:ea typeface="Times Roman"/>
                <a:cs typeface="Times Roman"/>
                <a:sym typeface="Times Roman"/>
              </a:defRPr>
            </a:pPr>
            <a:r>
              <a:rPr sz="6600" b="1">
                <a:latin typeface="Times New Roman" panose="02020503050405090304"/>
                <a:ea typeface="Times New Roman" panose="02020503050405090304"/>
                <a:cs typeface="Times New Roman" panose="02020503050405090304"/>
              </a:rPr>
              <a:t>1.Intro or Lead </a:t>
            </a:r>
            <a:endParaRPr sz="6600" b="1">
              <a:latin typeface="Times New Roman" panose="02020503050405090304"/>
              <a:ea typeface="Times New Roman" panose="02020503050405090304"/>
              <a:cs typeface="Times New Roman" panose="02020503050405090304"/>
            </a:endParaRPr>
          </a:p>
          <a:p>
            <a:pPr marL="0" indent="0" defTabSz="424815">
              <a:spcBef>
                <a:spcPts val="600"/>
              </a:spcBef>
              <a:buSzTx/>
              <a:buNone/>
              <a:defRPr sz="4465">
                <a:solidFill>
                  <a:srgbClr val="000000"/>
                </a:solidFill>
                <a:latin typeface="Times Roman"/>
                <a:ea typeface="Times Roman"/>
                <a:cs typeface="Times Roman"/>
                <a:sym typeface="Times Roman"/>
              </a:defRPr>
            </a:pPr>
            <a:r>
              <a:rPr sz="6600" b="1">
                <a:latin typeface="Times New Roman" panose="02020503050405090304"/>
                <a:ea typeface="Times New Roman" panose="02020503050405090304"/>
                <a:cs typeface="Times New Roman" panose="02020503050405090304"/>
              </a:rPr>
              <a:t>2.Transition</a:t>
            </a:r>
            <a:endParaRPr sz="6600">
              <a:latin typeface="Times New Roman" panose="02020503050405090304"/>
              <a:ea typeface="Times New Roman" panose="02020503050405090304"/>
              <a:cs typeface="Times New Roman" panose="02020503050405090304"/>
            </a:endParaRPr>
          </a:p>
          <a:p>
            <a:pPr marL="0" indent="0" defTabSz="424815">
              <a:spcBef>
                <a:spcPts val="0"/>
              </a:spcBef>
              <a:buSzTx/>
              <a:buNone/>
              <a:defRPr sz="4370" b="1">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6600"/>
              <a:t>3. Body</a:t>
            </a:r>
            <a:endParaRPr sz="6600">
              <a:sym typeface="Times Roman"/>
            </a:endParaRPr>
          </a:p>
          <a:p>
            <a:pPr marL="0" indent="0" defTabSz="424815">
              <a:spcBef>
                <a:spcPts val="0"/>
              </a:spcBef>
              <a:buSzTx/>
              <a:buNone/>
              <a:defRPr sz="4370">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6600" b="1">
                <a:sym typeface="Times Roman"/>
              </a:rPr>
              <a:t>4. Conclusion</a:t>
            </a:r>
            <a:endParaRPr sz="6600" b="1">
              <a:sym typeface="Times Roman"/>
            </a:endParaRPr>
          </a:p>
          <a:p>
            <a:pPr marL="0" indent="0" defTabSz="424815">
              <a:spcBef>
                <a:spcPts val="0"/>
              </a:spcBef>
              <a:buSzTx/>
              <a:buNone/>
              <a:defRPr sz="4370">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6600" b="1">
                <a:sym typeface="Times Roman"/>
              </a:rPr>
              <a:t>5. Length</a:t>
            </a:r>
            <a:endParaRPr sz="6600" b="1">
              <a:sym typeface="Times Roman"/>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17" name="Structure of a Feature"/>
          <p:cNvSpPr txBox="1"/>
          <p:nvPr>
            <p:ph type="title"/>
          </p:nvPr>
        </p:nvSpPr>
        <p:spPr>
          <a:xfrm>
            <a:off x="1473200" y="0"/>
            <a:ext cx="21437600" cy="2325881"/>
          </a:xfrm>
          <a:prstGeom prst="rect">
            <a:avLst/>
          </a:prstGeom>
        </p:spPr>
        <p:txBody>
          <a:bodyPr/>
          <a:lstStyle>
            <a:lvl1pPr defTabSz="577850">
              <a:defRPr sz="7560">
                <a:effectLst>
                  <a:outerShdw blurRad="44450" dist="8890" dir="5400000" rotWithShape="0">
                    <a:srgbClr val="000000">
                      <a:alpha val="30000"/>
                    </a:srgbClr>
                  </a:outerShdw>
                </a:effectLst>
              </a:defRPr>
            </a:lvl1pPr>
          </a:lstStyle>
          <a:p>
            <a:r>
              <a:rPr lang="en-US"/>
              <a:t>Structure of a Feature - Intro or Lead</a:t>
            </a:r>
            <a:endParaRPr lang="en-US"/>
          </a:p>
        </p:txBody>
      </p:sp>
      <p:sp>
        <p:nvSpPr>
          <p:cNvPr id="218" name="1.Intro or Lead The lead must attract immediate attention and pull the reader into the story. Leads can vary in style and content. You can use description, narration, dialogue, question, unusual statement, call to action, comparison-contrast.…"/>
          <p:cNvSpPr txBox="1"/>
          <p:nvPr>
            <p:ph type="body" idx="1"/>
          </p:nvPr>
        </p:nvSpPr>
        <p:spPr>
          <a:xfrm>
            <a:off x="1670050" y="2134870"/>
            <a:ext cx="21929090" cy="10970260"/>
          </a:xfrm>
          <a:prstGeom prst="rect">
            <a:avLst/>
          </a:prstGeom>
        </p:spPr>
        <p:txBody>
          <a:bodyPr>
            <a:normAutofit lnSpcReduction="10000"/>
          </a:bodyPr>
          <a:lstStyle/>
          <a:p>
            <a:pPr marL="0" indent="0" defTabSz="424815">
              <a:spcBef>
                <a:spcPts val="600"/>
              </a:spcBef>
              <a:buSzTx/>
              <a:buNone/>
              <a:defRPr sz="4465">
                <a:solidFill>
                  <a:srgbClr val="000000"/>
                </a:solidFill>
                <a:latin typeface="Times Roman"/>
                <a:ea typeface="Times Roman"/>
                <a:cs typeface="Times Roman"/>
                <a:sym typeface="Times Roman"/>
              </a:defRPr>
            </a:pPr>
            <a:r>
              <a:rPr sz="6600" b="1">
                <a:latin typeface="Times New Roman" panose="02020503050405090304"/>
                <a:ea typeface="Times New Roman" panose="02020503050405090304"/>
                <a:cs typeface="Times New Roman" panose="02020503050405090304"/>
              </a:rPr>
              <a:t>1.Intro or Lead </a:t>
            </a:r>
            <a:r>
              <a:rPr sz="6600">
                <a:latin typeface="Times New Roman" panose="02020503050405090304"/>
                <a:ea typeface="Times New Roman" panose="02020503050405090304"/>
                <a:cs typeface="Times New Roman" panose="02020503050405090304"/>
              </a:rPr>
              <a:t>The lead must attract immediate attention and pull the reader </a:t>
            </a:r>
            <a:endParaRPr sz="6600">
              <a:latin typeface="Times New Roman" panose="02020503050405090304"/>
              <a:ea typeface="Times New Roman" panose="02020503050405090304"/>
              <a:cs typeface="Times New Roman" panose="02020503050405090304"/>
            </a:endParaRPr>
          </a:p>
          <a:p>
            <a:pPr marL="0" indent="0" defTabSz="424815">
              <a:spcBef>
                <a:spcPts val="600"/>
              </a:spcBef>
              <a:buSzTx/>
              <a:buNone/>
              <a:defRPr sz="4465">
                <a:solidFill>
                  <a:srgbClr val="000000"/>
                </a:solidFill>
                <a:latin typeface="Times Roman"/>
                <a:ea typeface="Times Roman"/>
                <a:cs typeface="Times Roman"/>
                <a:sym typeface="Times Roman"/>
              </a:defRPr>
            </a:pPr>
            <a:r>
              <a:rPr sz="6600">
                <a:latin typeface="Times New Roman" panose="02020503050405090304"/>
                <a:ea typeface="Times New Roman" panose="02020503050405090304"/>
                <a:cs typeface="Times New Roman" panose="02020503050405090304"/>
              </a:rPr>
              <a:t>into the story. </a:t>
            </a:r>
            <a:endParaRPr sz="6600">
              <a:latin typeface="Times New Roman" panose="02020503050405090304"/>
              <a:ea typeface="Times New Roman" panose="02020503050405090304"/>
              <a:cs typeface="Times New Roman" panose="02020503050405090304"/>
            </a:endParaRPr>
          </a:p>
          <a:p>
            <a:pPr marL="0" indent="0" defTabSz="424815">
              <a:spcBef>
                <a:spcPts val="600"/>
              </a:spcBef>
              <a:buSzTx/>
              <a:buNone/>
              <a:defRPr sz="4465">
                <a:solidFill>
                  <a:srgbClr val="000000"/>
                </a:solidFill>
                <a:latin typeface="Times Roman"/>
                <a:ea typeface="Times Roman"/>
                <a:cs typeface="Times Roman"/>
                <a:sym typeface="Times Roman"/>
              </a:defRPr>
            </a:pPr>
            <a:r>
              <a:rPr sz="6600">
                <a:latin typeface="Times New Roman" panose="02020503050405090304"/>
                <a:ea typeface="Times New Roman" panose="02020503050405090304"/>
                <a:cs typeface="Times New Roman" panose="02020503050405090304"/>
              </a:rPr>
              <a:t>Leads can vary in style and content. You can use description, narration, dialogue, question, unusual statement, call to action, comparison-contrast. </a:t>
            </a:r>
            <a:endParaRPr sz="6600">
              <a:latin typeface="Times New Roman" panose="02020503050405090304"/>
              <a:ea typeface="Times New Roman" panose="02020503050405090304"/>
              <a:cs typeface="Times New Roman" panose="02020503050405090304"/>
            </a:endParaRPr>
          </a:p>
          <a:p>
            <a:pPr marL="0" indent="0" defTabSz="424815">
              <a:spcBef>
                <a:spcPts val="600"/>
              </a:spcBef>
              <a:buSzTx/>
              <a:buNone/>
              <a:defRPr sz="4465">
                <a:solidFill>
                  <a:srgbClr val="000000"/>
                </a:solidFill>
                <a:latin typeface="Times Roman"/>
                <a:ea typeface="Times Roman"/>
                <a:cs typeface="Times Roman"/>
                <a:sym typeface="Times Roman"/>
              </a:defRPr>
            </a:pPr>
            <a:endParaRPr>
              <a:latin typeface="Times Roman"/>
              <a:ea typeface="Times Roman"/>
              <a:cs typeface="Times Roman"/>
              <a:sym typeface="Times Roman"/>
            </a:endParaRPr>
          </a:p>
          <a:p>
            <a:pPr marL="0" indent="0" defTabSz="424815">
              <a:spcBef>
                <a:spcPts val="0"/>
              </a:spcBef>
              <a:buSzTx/>
              <a:buNone/>
              <a:defRPr sz="1490">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endParaRPr>
              <a:latin typeface="Times Roman"/>
              <a:ea typeface="Times Roman"/>
              <a:cs typeface="Times Roman"/>
              <a:sym typeface="Times Roman"/>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17" name="Structure of a Feature"/>
          <p:cNvSpPr txBox="1"/>
          <p:nvPr>
            <p:ph type="title"/>
          </p:nvPr>
        </p:nvSpPr>
        <p:spPr>
          <a:xfrm>
            <a:off x="1473200" y="0"/>
            <a:ext cx="21437600" cy="2325881"/>
          </a:xfrm>
          <a:prstGeom prst="rect">
            <a:avLst/>
          </a:prstGeom>
        </p:spPr>
        <p:txBody>
          <a:bodyPr/>
          <a:lstStyle>
            <a:lvl1pPr defTabSz="577850">
              <a:defRPr sz="7560">
                <a:effectLst>
                  <a:outerShdw blurRad="44450" dist="8890" dir="5400000" rotWithShape="0">
                    <a:srgbClr val="000000">
                      <a:alpha val="30000"/>
                    </a:srgbClr>
                  </a:outerShdw>
                </a:effectLst>
              </a:defRPr>
            </a:lvl1pPr>
          </a:lstStyle>
          <a:p>
            <a:r>
              <a:t>Structure of a Feature </a:t>
            </a:r>
            <a:r>
              <a:rPr lang="en-US"/>
              <a:t>- Transtion</a:t>
            </a:r>
            <a:r>
              <a:t> </a:t>
            </a:r>
          </a:p>
        </p:txBody>
      </p:sp>
      <p:sp>
        <p:nvSpPr>
          <p:cNvPr id="218" name="1.Intro or Lead The lead must attract immediate attention and pull the reader into the story. Leads can vary in style and content. You can use description, narration, dialogue, question, unusual statement, call to action, comparison-contrast.…"/>
          <p:cNvSpPr txBox="1"/>
          <p:nvPr>
            <p:ph type="body" idx="1"/>
          </p:nvPr>
        </p:nvSpPr>
        <p:spPr>
          <a:xfrm>
            <a:off x="1670050" y="2134870"/>
            <a:ext cx="21929090" cy="10970260"/>
          </a:xfrm>
          <a:prstGeom prst="rect">
            <a:avLst/>
          </a:prstGeom>
        </p:spPr>
        <p:txBody>
          <a:bodyPr>
            <a:normAutofit lnSpcReduction="10000"/>
          </a:bodyPr>
          <a:lstStyle/>
          <a:p>
            <a:pPr marL="0" indent="0" defTabSz="424815">
              <a:spcBef>
                <a:spcPts val="600"/>
              </a:spcBef>
              <a:buSzTx/>
              <a:buNone/>
              <a:defRPr sz="4465">
                <a:solidFill>
                  <a:srgbClr val="000000"/>
                </a:solidFill>
                <a:latin typeface="Times Roman"/>
                <a:ea typeface="Times Roman"/>
                <a:cs typeface="Times Roman"/>
                <a:sym typeface="Times Roman"/>
              </a:defRPr>
            </a:pPr>
            <a:r>
              <a:rPr sz="6600" b="1">
                <a:latin typeface="Times New Roman" panose="02020503050405090304"/>
                <a:ea typeface="Times New Roman" panose="02020503050405090304"/>
                <a:cs typeface="Times New Roman" panose="02020503050405090304"/>
              </a:rPr>
              <a:t>2.Transition</a:t>
            </a:r>
            <a:endParaRPr sz="6600" b="1">
              <a:latin typeface="Times New Roman" panose="02020503050405090304"/>
              <a:ea typeface="Times New Roman" panose="02020503050405090304"/>
              <a:cs typeface="Times New Roman" panose="02020503050405090304"/>
            </a:endParaRPr>
          </a:p>
          <a:p>
            <a:pPr marL="0" indent="0" defTabSz="424815">
              <a:spcBef>
                <a:spcPts val="600"/>
              </a:spcBef>
              <a:buSzTx/>
              <a:buNone/>
              <a:defRPr sz="4465">
                <a:solidFill>
                  <a:srgbClr val="000000"/>
                </a:solidFill>
                <a:latin typeface="Times Roman"/>
                <a:ea typeface="Times Roman"/>
                <a:cs typeface="Times Roman"/>
                <a:sym typeface="Times Roman"/>
              </a:defRPr>
            </a:pPr>
            <a:r>
              <a:rPr sz="6600">
                <a:latin typeface="Times New Roman" panose="02020503050405090304"/>
                <a:ea typeface="Times New Roman" panose="02020503050405090304"/>
                <a:cs typeface="Times New Roman" panose="02020503050405090304"/>
              </a:rPr>
              <a:t>No matter how good the lead is, you need a solid transition into </a:t>
            </a:r>
            <a:endParaRPr sz="6600">
              <a:latin typeface="Times New Roman" panose="02020503050405090304"/>
              <a:ea typeface="Times New Roman" panose="02020503050405090304"/>
              <a:cs typeface="Times New Roman" panose="02020503050405090304"/>
            </a:endParaRPr>
          </a:p>
          <a:p>
            <a:pPr marL="0" indent="0" defTabSz="424815">
              <a:spcBef>
                <a:spcPts val="600"/>
              </a:spcBef>
              <a:buSzTx/>
              <a:buNone/>
              <a:defRPr sz="4465">
                <a:solidFill>
                  <a:srgbClr val="000000"/>
                </a:solidFill>
                <a:latin typeface="Times Roman"/>
                <a:ea typeface="Times Roman"/>
                <a:cs typeface="Times Roman"/>
                <a:sym typeface="Times Roman"/>
              </a:defRPr>
            </a:pPr>
            <a:r>
              <a:rPr sz="6600">
                <a:latin typeface="Times New Roman" panose="02020503050405090304"/>
                <a:ea typeface="Times New Roman" panose="02020503050405090304"/>
                <a:cs typeface="Times New Roman" panose="02020503050405090304"/>
              </a:rPr>
              <a:t>the body of the feature. If you think of the lead as a lure to attract the audience, then the transition sets the hook. </a:t>
            </a:r>
            <a:endParaRPr sz="6600">
              <a:latin typeface="Times New Roman" panose="02020503050405090304"/>
              <a:ea typeface="Times New Roman" panose="02020503050405090304"/>
              <a:cs typeface="Times New Roman" panose="02020503050405090304"/>
            </a:endParaRPr>
          </a:p>
          <a:p>
            <a:pPr marL="0" indent="0" defTabSz="424815">
              <a:spcBef>
                <a:spcPts val="600"/>
              </a:spcBef>
              <a:buSzTx/>
              <a:buNone/>
              <a:defRPr sz="4465">
                <a:solidFill>
                  <a:srgbClr val="000000"/>
                </a:solidFill>
                <a:latin typeface="Times Roman"/>
                <a:ea typeface="Times Roman"/>
                <a:cs typeface="Times Roman"/>
                <a:sym typeface="Times Roman"/>
              </a:defRPr>
            </a:pPr>
            <a:r>
              <a:rPr sz="6600">
                <a:latin typeface="Times New Roman" panose="02020503050405090304"/>
                <a:ea typeface="Times New Roman" panose="02020503050405090304"/>
                <a:cs typeface="Times New Roman" panose="02020503050405090304"/>
              </a:rPr>
              <a:t>It makes the reader want to continue.  And it promises some kind of satisfaction  or reward. The reward can be entertainment, information or self-awareness but has to be something of value to the reader.</a:t>
            </a:r>
            <a:endParaRPr sz="4370">
              <a:latin typeface="Times New Roman" panose="02020503050405090304"/>
              <a:ea typeface="Times New Roman" panose="02020503050405090304"/>
              <a:cs typeface="Times New Roman" panose="02020503050405090304"/>
            </a:endParaRPr>
          </a:p>
          <a:p>
            <a:pPr marL="0" indent="0" defTabSz="424815">
              <a:spcBef>
                <a:spcPts val="0"/>
              </a:spcBef>
              <a:buSzTx/>
              <a:buNone/>
              <a:defRPr sz="4370" b="1">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endParaRPr>
              <a:latin typeface="Times Roman"/>
              <a:ea typeface="Times Roman"/>
              <a:cs typeface="Times Roman"/>
              <a:sym typeface="Times Roman"/>
            </a:endParaRPr>
          </a:p>
          <a:p>
            <a:pPr marL="0" indent="0" defTabSz="424815">
              <a:spcBef>
                <a:spcPts val="0"/>
              </a:spcBef>
              <a:buSzTx/>
              <a:buNone/>
              <a:defRPr sz="1490">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endParaRPr>
              <a:latin typeface="Times Roman"/>
              <a:ea typeface="Times Roman"/>
              <a:cs typeface="Times Roman"/>
              <a:sym typeface="Times Roman"/>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17" name="Structure of a Feature"/>
          <p:cNvSpPr txBox="1"/>
          <p:nvPr>
            <p:ph type="title"/>
          </p:nvPr>
        </p:nvSpPr>
        <p:spPr>
          <a:xfrm>
            <a:off x="1473200" y="0"/>
            <a:ext cx="21437600" cy="2325881"/>
          </a:xfrm>
          <a:prstGeom prst="rect">
            <a:avLst/>
          </a:prstGeom>
        </p:spPr>
        <p:txBody>
          <a:bodyPr/>
          <a:lstStyle>
            <a:lvl1pPr defTabSz="577850">
              <a:defRPr sz="7560">
                <a:effectLst>
                  <a:outerShdw blurRad="44450" dist="8890" dir="5400000" rotWithShape="0">
                    <a:srgbClr val="000000">
                      <a:alpha val="30000"/>
                    </a:srgbClr>
                  </a:outerShdw>
                </a:effectLst>
              </a:defRPr>
            </a:lvl1pPr>
          </a:lstStyle>
          <a:p>
            <a:r>
              <a:t>Structure of a Feature </a:t>
            </a:r>
            <a:r>
              <a:rPr lang="en-US"/>
              <a:t>- Body</a:t>
            </a:r>
            <a:endParaRPr lang="en-US"/>
          </a:p>
        </p:txBody>
      </p:sp>
      <p:sp>
        <p:nvSpPr>
          <p:cNvPr id="218" name="1.Intro or Lead The lead must attract immediate attention and pull the reader into the story. Leads can vary in style and content. You can use description, narration, dialogue, question, unusual statement, call to action, comparison-contrast.…"/>
          <p:cNvSpPr txBox="1"/>
          <p:nvPr>
            <p:ph type="body" idx="1"/>
          </p:nvPr>
        </p:nvSpPr>
        <p:spPr>
          <a:xfrm>
            <a:off x="1670050" y="2134870"/>
            <a:ext cx="21929090" cy="10970260"/>
          </a:xfrm>
          <a:prstGeom prst="rect">
            <a:avLst/>
          </a:prstGeom>
        </p:spPr>
        <p:txBody>
          <a:bodyPr>
            <a:normAutofit lnSpcReduction="10000"/>
          </a:bodyPr>
          <a:lstStyle/>
          <a:p>
            <a:pPr marL="0" indent="0" defTabSz="424815">
              <a:spcBef>
                <a:spcPts val="600"/>
              </a:spcBef>
              <a:buSzTx/>
              <a:buNone/>
              <a:defRPr sz="4465">
                <a:solidFill>
                  <a:srgbClr val="000000"/>
                </a:solidFill>
                <a:latin typeface="Times Roman"/>
                <a:ea typeface="Times Roman"/>
                <a:cs typeface="Times Roman"/>
                <a:sym typeface="Times Roman"/>
              </a:defRPr>
            </a:pPr>
            <a:r>
              <a:rPr sz="6600"/>
              <a:t>3. Body</a:t>
            </a:r>
            <a:endParaRPr sz="6600" b="0">
              <a:latin typeface="Times Roman"/>
              <a:ea typeface="Times Roman"/>
              <a:cs typeface="Times Roman"/>
              <a:sym typeface="Times Roman"/>
            </a:endParaRPr>
          </a:p>
          <a:p>
            <a:pPr marL="0" indent="0" defTabSz="424815">
              <a:spcBef>
                <a:spcPts val="0"/>
              </a:spcBef>
              <a:buSzTx/>
              <a:buNone/>
              <a:defRPr sz="4370">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6600"/>
              <a:t>Sound knowledge of the subject, coupled with good writing </a:t>
            </a:r>
            <a:endParaRPr sz="6600"/>
          </a:p>
          <a:p>
            <a:pPr marL="0" indent="0" defTabSz="424815">
              <a:spcBef>
                <a:spcPts val="0"/>
              </a:spcBef>
              <a:buSzTx/>
              <a:buNone/>
              <a:defRPr sz="4370">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6600"/>
              <a:t>skills, will let you take the reader through a variety of experiences. You should use the standard writing devices of crisp dialogue, documental but vivid fact and detail, </a:t>
            </a:r>
            <a:endParaRPr sz="6600"/>
          </a:p>
          <a:p>
            <a:pPr marL="0" indent="0" defTabSz="424815">
              <a:spcBef>
                <a:spcPts val="0"/>
              </a:spcBef>
              <a:buSzTx/>
              <a:buNone/>
              <a:defRPr sz="4370">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6600"/>
              <a:t>careful observation, suspense and if appropriate, plot.</a:t>
            </a:r>
            <a:endParaRPr>
              <a:latin typeface="Times Roman"/>
              <a:ea typeface="Times Roman"/>
              <a:cs typeface="Times Roman"/>
              <a:sym typeface="Times Roman"/>
            </a:endParaRPr>
          </a:p>
          <a:p>
            <a:pPr marL="0" indent="0" defTabSz="424815">
              <a:spcBef>
                <a:spcPts val="0"/>
              </a:spcBef>
              <a:buSzTx/>
              <a:buNone/>
              <a:defRPr sz="1490">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endParaRPr>
              <a:latin typeface="Times Roman"/>
              <a:ea typeface="Times Roman"/>
              <a:cs typeface="Times Roman"/>
              <a:sym typeface="Times Roman"/>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20" name="Structure of a Feature"/>
          <p:cNvSpPr txBox="1"/>
          <p:nvPr>
            <p:ph type="title"/>
          </p:nvPr>
        </p:nvSpPr>
        <p:spPr>
          <a:xfrm>
            <a:off x="1473200" y="76527"/>
            <a:ext cx="21437600" cy="1799178"/>
          </a:xfrm>
          <a:prstGeom prst="rect">
            <a:avLst/>
          </a:prstGeom>
        </p:spPr>
        <p:txBody>
          <a:bodyPr/>
          <a:lstStyle>
            <a:lvl1pPr defTabSz="445770">
              <a:defRPr sz="5830">
                <a:effectLst>
                  <a:outerShdw blurRad="34290" dist="6858" dir="5400000" rotWithShape="0">
                    <a:srgbClr val="000000">
                      <a:alpha val="30000"/>
                    </a:srgbClr>
                  </a:outerShdw>
                </a:effectLst>
              </a:defRPr>
            </a:lvl1pPr>
          </a:lstStyle>
          <a:p>
            <a:r>
              <a:t>Structure of a Feature </a:t>
            </a:r>
            <a:r>
              <a:rPr lang="en-US"/>
              <a:t>- Body</a:t>
            </a:r>
            <a:endParaRPr lang="en-US"/>
          </a:p>
        </p:txBody>
      </p:sp>
      <p:sp>
        <p:nvSpPr>
          <p:cNvPr id="221" name="3.1 Body is the major area…"/>
          <p:cNvSpPr txBox="1"/>
          <p:nvPr>
            <p:ph type="body" idx="1"/>
          </p:nvPr>
        </p:nvSpPr>
        <p:spPr>
          <a:xfrm>
            <a:off x="1254760" y="1875790"/>
            <a:ext cx="21656040" cy="11330305"/>
          </a:xfrm>
          <a:prstGeom prst="rect">
            <a:avLst/>
          </a:prstGeom>
        </p:spPr>
        <p:txBody>
          <a:bodyPr>
            <a:noAutofit/>
          </a:bodyPr>
          <a:lstStyle/>
          <a:p>
            <a:pPr marL="0" indent="0" defTabSz="319405">
              <a:spcBef>
                <a:spcPts val="400"/>
              </a:spcBef>
              <a:buSzTx/>
              <a:buNone/>
              <a:defRPr sz="3360" b="1">
                <a:solidFill>
                  <a:srgbClr val="000000"/>
                </a:solidFill>
                <a:latin typeface="Times Roman"/>
                <a:ea typeface="Times Roman"/>
                <a:cs typeface="Times Roman"/>
                <a:sym typeface="Times Roman"/>
              </a:defRPr>
            </a:pPr>
            <a:r>
              <a:rPr sz="4400"/>
              <a:t>3.1 Body is the major area </a:t>
            </a:r>
            <a:endParaRPr sz="4400"/>
          </a:p>
          <a:p>
            <a:pPr marL="0" indent="0" defTabSz="319405">
              <a:spcBef>
                <a:spcPts val="400"/>
              </a:spcBef>
              <a:buSzTx/>
              <a:buNone/>
              <a:defRPr sz="3360">
                <a:solidFill>
                  <a:srgbClr val="000000"/>
                </a:solidFill>
                <a:latin typeface="Times Roman"/>
                <a:ea typeface="Times Roman"/>
                <a:cs typeface="Times Roman"/>
                <a:sym typeface="Times Roman"/>
              </a:defRPr>
            </a:pPr>
            <a:r>
              <a:rPr sz="4400"/>
              <a:t>Whenever, one is writing the body of a feature  which can carry many short pieces</a:t>
            </a:r>
            <a:endParaRPr sz="4400"/>
          </a:p>
          <a:p>
            <a:pPr marL="0" indent="0" defTabSz="319405">
              <a:spcBef>
                <a:spcPts val="400"/>
              </a:spcBef>
              <a:buSzTx/>
              <a:buNone/>
              <a:defRPr sz="3360">
                <a:solidFill>
                  <a:srgbClr val="000000"/>
                </a:solidFill>
                <a:latin typeface="Times Roman"/>
                <a:ea typeface="Times Roman"/>
                <a:cs typeface="Times Roman"/>
                <a:sym typeface="Times Roman"/>
              </a:defRPr>
            </a:pPr>
            <a:r>
              <a:rPr sz="4400"/>
              <a:t> following points must be kept in mind.</a:t>
            </a:r>
            <a:endParaRPr sz="4400"/>
          </a:p>
          <a:p>
            <a:pPr marL="0" indent="0" defTabSz="319405">
              <a:spcBef>
                <a:spcPts val="400"/>
              </a:spcBef>
              <a:buSzTx/>
              <a:buNone/>
              <a:defRPr sz="3360">
                <a:solidFill>
                  <a:srgbClr val="000000"/>
                </a:solidFill>
                <a:latin typeface="Times Roman"/>
                <a:ea typeface="Times Roman"/>
                <a:cs typeface="Times Roman"/>
                <a:sym typeface="Times Roman"/>
              </a:defRPr>
            </a:pPr>
            <a:r>
              <a:rPr sz="4400" b="1"/>
              <a:t>3.2 Never fill it, important part </a:t>
            </a:r>
            <a:r>
              <a:rPr sz="4400"/>
              <a:t>People can try to fill the part only may be thinking that the reader has been gripped into a </a:t>
            </a:r>
            <a:endParaRPr sz="4400"/>
          </a:p>
          <a:p>
            <a:pPr marL="0" indent="0" defTabSz="319405">
              <a:spcBef>
                <a:spcPts val="400"/>
              </a:spcBef>
              <a:buSzTx/>
              <a:buNone/>
              <a:defRPr sz="3360">
                <a:solidFill>
                  <a:srgbClr val="000000"/>
                </a:solidFill>
                <a:latin typeface="Times Roman"/>
                <a:ea typeface="Times Roman"/>
                <a:cs typeface="Times Roman"/>
                <a:sym typeface="Times Roman"/>
              </a:defRPr>
            </a:pPr>
            <a:r>
              <a:rPr sz="4400"/>
              <a:t>certain situation and he will stick to reading the feature. It is never the case as the newspaper reading is a willing one, and if the reader feels that he is being bored or over-burdened, he might leave it even in the middle of the feature. So every word and concept must be rightly written and </a:t>
            </a:r>
            <a:endParaRPr sz="4400"/>
          </a:p>
          <a:p>
            <a:pPr marL="0" indent="0" defTabSz="319405">
              <a:spcBef>
                <a:spcPts val="400"/>
              </a:spcBef>
              <a:buSzTx/>
              <a:buNone/>
              <a:defRPr sz="3360">
                <a:solidFill>
                  <a:srgbClr val="000000"/>
                </a:solidFill>
                <a:latin typeface="Times Roman"/>
                <a:ea typeface="Times Roman"/>
                <a:cs typeface="Times Roman"/>
                <a:sym typeface="Times Roman"/>
              </a:defRPr>
            </a:pPr>
            <a:r>
              <a:rPr sz="4400"/>
              <a:t>rightly placed. </a:t>
            </a:r>
            <a:endParaRPr sz="4400"/>
          </a:p>
          <a:p>
            <a:pPr marL="0" indent="0" defTabSz="319405">
              <a:spcBef>
                <a:spcPts val="400"/>
              </a:spcBef>
              <a:buSzTx/>
              <a:buNone/>
              <a:defRPr sz="3360" b="1">
                <a:solidFill>
                  <a:srgbClr val="000000"/>
                </a:solidFill>
                <a:latin typeface="Times Roman"/>
                <a:ea typeface="Times Roman"/>
                <a:cs typeface="Times Roman"/>
                <a:sym typeface="Times Roman"/>
              </a:defRPr>
            </a:pPr>
            <a:r>
              <a:rPr sz="4400"/>
              <a:t>3.3 Should be well-connected, forceful and coordinated </a:t>
            </a:r>
            <a:endParaRPr sz="4400"/>
          </a:p>
          <a:p>
            <a:pPr marL="0" indent="0" defTabSz="319405">
              <a:spcBef>
                <a:spcPts val="400"/>
              </a:spcBef>
              <a:buSzTx/>
              <a:buNone/>
              <a:defRPr sz="3360">
                <a:solidFill>
                  <a:srgbClr val="000000"/>
                </a:solidFill>
                <a:latin typeface="Times Roman"/>
                <a:ea typeface="Times Roman"/>
                <a:cs typeface="Times Roman"/>
                <a:sym typeface="Times Roman"/>
              </a:defRPr>
            </a:pPr>
            <a:r>
              <a:rPr sz="4400"/>
              <a:t>All the paragraphs of the main body should be well-connected with each other. </a:t>
            </a:r>
            <a:endParaRPr sz="4400"/>
          </a:p>
          <a:p>
            <a:pPr marL="0" indent="0" defTabSz="319405">
              <a:spcBef>
                <a:spcPts val="400"/>
              </a:spcBef>
              <a:buSzTx/>
              <a:buNone/>
              <a:defRPr sz="3360">
                <a:solidFill>
                  <a:srgbClr val="000000"/>
                </a:solidFill>
                <a:latin typeface="Times Roman"/>
                <a:ea typeface="Times Roman"/>
                <a:cs typeface="Times Roman"/>
                <a:sym typeface="Times Roman"/>
              </a:defRPr>
            </a:pPr>
            <a:r>
              <a:rPr sz="4400"/>
              <a:t>Jumping from one idea to another should be well-thought and must be seen whether it is getting its connection to the previous or the following paragraphs. </a:t>
            </a:r>
            <a:endParaRPr sz="4400"/>
          </a:p>
          <a:p>
            <a:pPr marL="0" indent="0" defTabSz="319405">
              <a:spcBef>
                <a:spcPts val="400"/>
              </a:spcBef>
              <a:buSzTx/>
              <a:buNone/>
              <a:defRPr sz="3360">
                <a:solidFill>
                  <a:srgbClr val="000000"/>
                </a:solidFill>
                <a:latin typeface="Times Roman"/>
                <a:ea typeface="Times Roman"/>
                <a:cs typeface="Times Roman"/>
                <a:sym typeface="Times Roman"/>
              </a:defRPr>
            </a:pPr>
            <a:r>
              <a:rPr sz="4400"/>
              <a:t>Never take it for granted that the reader is going to form linkages in the thought process. </a:t>
            </a:r>
            <a:endParaRPr sz="4400"/>
          </a:p>
          <a:p>
            <a:pPr marL="0" indent="0" defTabSz="319405">
              <a:spcBef>
                <a:spcPts val="400"/>
              </a:spcBef>
              <a:buSzTx/>
              <a:buNone/>
              <a:defRPr sz="3360">
                <a:solidFill>
                  <a:srgbClr val="000000"/>
                </a:solidFill>
                <a:latin typeface="Times Roman"/>
                <a:ea typeface="Times Roman"/>
                <a:cs typeface="Times Roman"/>
                <a:sym typeface="Times Roman"/>
              </a:defRPr>
            </a:pPr>
            <a:endParaRPr sz="4400"/>
          </a:p>
          <a:p>
            <a:pPr marL="0" indent="0" defTabSz="319405">
              <a:spcBef>
                <a:spcPts val="400"/>
              </a:spcBef>
              <a:buSzTx/>
              <a:buNone/>
              <a:defRPr sz="3360">
                <a:solidFill>
                  <a:srgbClr val="000000"/>
                </a:solidFill>
                <a:latin typeface="Times Roman"/>
                <a:ea typeface="Times Roman"/>
                <a:cs typeface="Times Roman"/>
                <a:sym typeface="Times Roman"/>
              </a:defRPr>
            </a:pPr>
            <a:r>
              <a:rPr sz="4400"/>
              <a:t>https://www.zeepedia.com/read.php?structure_of_features_intro_or_lead_transition_body_feature_and_column_writing&amp;b=74&amp;c=8</a:t>
            </a:r>
            <a:endParaRPr sz="4400"/>
          </a:p>
        </p:txBody>
      </p:sp>
    </p:spTree>
  </p:cSld>
  <p:clrMapOvr>
    <a:overrideClrMapping bg1="lt1" tx1="dk1" bg2="lt2" tx2="dk2" accent1="accent1" accent2="accent2" accent3="accent3" accent4="accent4" accent5="accent5" accent6="accent6" hlink="hlink" folHlink="folHlink"/>
  </p:clrMapOvr>
  <p:transition spd="med">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1">
                                            <p:txEl>
                                              <p:pRg st="0" end="0"/>
                                            </p:txEl>
                                          </p:spTgt>
                                        </p:tgtEl>
                                        <p:attrNameLst>
                                          <p:attrName>style.visibility</p:attrName>
                                        </p:attrNameLst>
                                      </p:cBhvr>
                                      <p:to>
                                        <p:strVal val="visible"/>
                                      </p:to>
                                    </p:set>
                                    <p:anim calcmode="lin" valueType="num">
                                      <p:cBhvr additive="base">
                                        <p:cTn id="7" dur="500" fill="hold"/>
                                        <p:tgtEl>
                                          <p:spTgt spid="22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1">
                                            <p:txEl>
                                              <p:pRg st="1" end="1"/>
                                            </p:txEl>
                                          </p:spTgt>
                                        </p:tgtEl>
                                        <p:attrNameLst>
                                          <p:attrName>style.visibility</p:attrName>
                                        </p:attrNameLst>
                                      </p:cBhvr>
                                      <p:to>
                                        <p:strVal val="visible"/>
                                      </p:to>
                                    </p:set>
                                    <p:anim calcmode="lin" valueType="num">
                                      <p:cBhvr additive="base">
                                        <p:cTn id="13" dur="500" fill="hold"/>
                                        <p:tgtEl>
                                          <p:spTgt spid="22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1">
                                            <p:txEl>
                                              <p:pRg st="2" end="2"/>
                                            </p:txEl>
                                          </p:spTgt>
                                        </p:tgtEl>
                                        <p:attrNameLst>
                                          <p:attrName>style.visibility</p:attrName>
                                        </p:attrNameLst>
                                      </p:cBhvr>
                                      <p:to>
                                        <p:strVal val="visible"/>
                                      </p:to>
                                    </p:set>
                                    <p:anim calcmode="lin" valueType="num">
                                      <p:cBhvr additive="base">
                                        <p:cTn id="19" dur="500" fill="hold"/>
                                        <p:tgtEl>
                                          <p:spTgt spid="22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1">
                                            <p:txEl>
                                              <p:pRg st="3" end="3"/>
                                            </p:txEl>
                                          </p:spTgt>
                                        </p:tgtEl>
                                        <p:attrNameLst>
                                          <p:attrName>style.visibility</p:attrName>
                                        </p:attrNameLst>
                                      </p:cBhvr>
                                      <p:to>
                                        <p:strVal val="visible"/>
                                      </p:to>
                                    </p:set>
                                    <p:anim calcmode="lin" valueType="num">
                                      <p:cBhvr additive="base">
                                        <p:cTn id="25" dur="500" fill="hold"/>
                                        <p:tgtEl>
                                          <p:spTgt spid="22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21">
                                            <p:txEl>
                                              <p:pRg st="4" end="4"/>
                                            </p:txEl>
                                          </p:spTgt>
                                        </p:tgtEl>
                                        <p:attrNameLst>
                                          <p:attrName>style.visibility</p:attrName>
                                        </p:attrNameLst>
                                      </p:cBhvr>
                                      <p:to>
                                        <p:strVal val="visible"/>
                                      </p:to>
                                    </p:set>
                                    <p:anim calcmode="lin" valueType="num">
                                      <p:cBhvr additive="base">
                                        <p:cTn id="31" dur="500" fill="hold"/>
                                        <p:tgtEl>
                                          <p:spTgt spid="22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21">
                                            <p:txEl>
                                              <p:pRg st="5" end="5"/>
                                            </p:txEl>
                                          </p:spTgt>
                                        </p:tgtEl>
                                        <p:attrNameLst>
                                          <p:attrName>style.visibility</p:attrName>
                                        </p:attrNameLst>
                                      </p:cBhvr>
                                      <p:to>
                                        <p:strVal val="visible"/>
                                      </p:to>
                                    </p:set>
                                    <p:anim calcmode="lin" valueType="num">
                                      <p:cBhvr additive="base">
                                        <p:cTn id="37" dur="500" fill="hold"/>
                                        <p:tgtEl>
                                          <p:spTgt spid="22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2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21">
                                            <p:txEl>
                                              <p:pRg st="6" end="6"/>
                                            </p:txEl>
                                          </p:spTgt>
                                        </p:tgtEl>
                                        <p:attrNameLst>
                                          <p:attrName>style.visibility</p:attrName>
                                        </p:attrNameLst>
                                      </p:cBhvr>
                                      <p:to>
                                        <p:strVal val="visible"/>
                                      </p:to>
                                    </p:set>
                                    <p:anim calcmode="lin" valueType="num">
                                      <p:cBhvr additive="base">
                                        <p:cTn id="43" dur="500" fill="hold"/>
                                        <p:tgtEl>
                                          <p:spTgt spid="221">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2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21">
                                            <p:txEl>
                                              <p:pRg st="7" end="7"/>
                                            </p:txEl>
                                          </p:spTgt>
                                        </p:tgtEl>
                                        <p:attrNameLst>
                                          <p:attrName>style.visibility</p:attrName>
                                        </p:attrNameLst>
                                      </p:cBhvr>
                                      <p:to>
                                        <p:strVal val="visible"/>
                                      </p:to>
                                    </p:set>
                                    <p:anim calcmode="lin" valueType="num">
                                      <p:cBhvr additive="base">
                                        <p:cTn id="49" dur="500" fill="hold"/>
                                        <p:tgtEl>
                                          <p:spTgt spid="221">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2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21">
                                            <p:txEl>
                                              <p:pRg st="8" end="8"/>
                                            </p:txEl>
                                          </p:spTgt>
                                        </p:tgtEl>
                                        <p:attrNameLst>
                                          <p:attrName>style.visibility</p:attrName>
                                        </p:attrNameLst>
                                      </p:cBhvr>
                                      <p:to>
                                        <p:strVal val="visible"/>
                                      </p:to>
                                    </p:set>
                                    <p:anim calcmode="lin" valueType="num">
                                      <p:cBhvr additive="base">
                                        <p:cTn id="55" dur="500" fill="hold"/>
                                        <p:tgtEl>
                                          <p:spTgt spid="221">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2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21">
                                            <p:txEl>
                                              <p:pRg st="9" end="9"/>
                                            </p:txEl>
                                          </p:spTgt>
                                        </p:tgtEl>
                                        <p:attrNameLst>
                                          <p:attrName>style.visibility</p:attrName>
                                        </p:attrNameLst>
                                      </p:cBhvr>
                                      <p:to>
                                        <p:strVal val="visible"/>
                                      </p:to>
                                    </p:set>
                                    <p:anim calcmode="lin" valueType="num">
                                      <p:cBhvr additive="base">
                                        <p:cTn id="61" dur="500" fill="hold"/>
                                        <p:tgtEl>
                                          <p:spTgt spid="221">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21">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21">
                                            <p:txEl>
                                              <p:pRg st="11" end="11"/>
                                            </p:txEl>
                                          </p:spTgt>
                                        </p:tgtEl>
                                        <p:attrNameLst>
                                          <p:attrName>style.visibility</p:attrName>
                                        </p:attrNameLst>
                                      </p:cBhvr>
                                      <p:to>
                                        <p:strVal val="visible"/>
                                      </p:to>
                                    </p:set>
                                    <p:anim calcmode="lin" valueType="num">
                                      <p:cBhvr additive="base">
                                        <p:cTn id="67" dur="500" fill="hold"/>
                                        <p:tgtEl>
                                          <p:spTgt spid="221">
                                            <p:txEl>
                                              <p:pRg st="11" end="1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221">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20" name="Structure of a Feature"/>
          <p:cNvSpPr txBox="1"/>
          <p:nvPr>
            <p:ph type="title"/>
          </p:nvPr>
        </p:nvSpPr>
        <p:spPr>
          <a:xfrm>
            <a:off x="1473200" y="76527"/>
            <a:ext cx="21437600" cy="1799178"/>
          </a:xfrm>
          <a:prstGeom prst="rect">
            <a:avLst/>
          </a:prstGeom>
        </p:spPr>
        <p:txBody>
          <a:bodyPr/>
          <a:lstStyle>
            <a:lvl1pPr defTabSz="445770">
              <a:defRPr sz="5830">
                <a:effectLst>
                  <a:outerShdw blurRad="34290" dist="6858" dir="5400000" rotWithShape="0">
                    <a:srgbClr val="000000">
                      <a:alpha val="30000"/>
                    </a:srgbClr>
                  </a:outerShdw>
                </a:effectLst>
              </a:defRPr>
            </a:lvl1pPr>
          </a:lstStyle>
          <a:p>
            <a:r>
              <a:t>Structure of a Feature </a:t>
            </a:r>
            <a:r>
              <a:rPr lang="en-US"/>
              <a:t>- Body</a:t>
            </a:r>
            <a:endParaRPr lang="en-US"/>
          </a:p>
        </p:txBody>
      </p:sp>
      <p:sp>
        <p:nvSpPr>
          <p:cNvPr id="221" name="3.1 Body is the major area…"/>
          <p:cNvSpPr txBox="1"/>
          <p:nvPr>
            <p:ph type="body" idx="1"/>
          </p:nvPr>
        </p:nvSpPr>
        <p:spPr>
          <a:xfrm>
            <a:off x="1203960" y="1875790"/>
            <a:ext cx="22395180" cy="11645900"/>
          </a:xfrm>
          <a:prstGeom prst="rect">
            <a:avLst/>
          </a:prstGeom>
        </p:spPr>
        <p:txBody>
          <a:bodyPr>
            <a:noAutofit/>
          </a:bodyPr>
          <a:lstStyle/>
          <a:p>
            <a:pPr marL="0" indent="0" defTabSz="319405">
              <a:spcBef>
                <a:spcPts val="400"/>
              </a:spcBef>
              <a:buSzTx/>
              <a:buNone/>
              <a:defRPr sz="3360" b="1">
                <a:solidFill>
                  <a:srgbClr val="000000"/>
                </a:solidFill>
                <a:latin typeface="Times Roman"/>
                <a:ea typeface="Times Roman"/>
                <a:cs typeface="Times Roman"/>
                <a:sym typeface="Times Roman"/>
              </a:defRPr>
            </a:pPr>
            <a:r>
              <a:rPr sz="4400"/>
              <a:t>3.4 Avoid unnecessary details </a:t>
            </a:r>
            <a:endParaRPr sz="4400"/>
          </a:p>
          <a:p>
            <a:pPr marL="0" indent="0" defTabSz="319405">
              <a:spcBef>
                <a:spcPts val="400"/>
              </a:spcBef>
              <a:buSzTx/>
              <a:buNone/>
              <a:defRPr sz="3360">
                <a:solidFill>
                  <a:srgbClr val="000000"/>
                </a:solidFill>
                <a:latin typeface="Times Roman"/>
                <a:ea typeface="Times Roman"/>
                <a:cs typeface="Times Roman"/>
                <a:sym typeface="Times Roman"/>
              </a:defRPr>
            </a:pPr>
            <a:r>
              <a:rPr sz="4400"/>
              <a:t>When we say a particular portion of a feature is the main body, it never means that every detail should be put in order to fill that body. </a:t>
            </a:r>
            <a:endParaRPr sz="4400"/>
          </a:p>
          <a:p>
            <a:pPr marL="0" indent="0" defTabSz="319405">
              <a:spcBef>
                <a:spcPts val="400"/>
              </a:spcBef>
              <a:buSzTx/>
              <a:buNone/>
              <a:defRPr sz="3360">
                <a:solidFill>
                  <a:srgbClr val="000000"/>
                </a:solidFill>
                <a:latin typeface="Times Roman"/>
                <a:ea typeface="Times Roman"/>
                <a:cs typeface="Times Roman"/>
                <a:sym typeface="Times Roman"/>
              </a:defRPr>
            </a:pPr>
            <a:r>
              <a:rPr sz="4400"/>
              <a:t>There must be only relevant details without any stuffing-the-sack idea. The writer must consider that the main body is as important as the other portions of the feature. Concentrating in the same manner like the way the Intro or the Lead is written, the reader will remain absorbed in the story.</a:t>
            </a:r>
            <a:endParaRPr sz="4400"/>
          </a:p>
          <a:p>
            <a:pPr marL="0" indent="0" defTabSz="333375">
              <a:spcBef>
                <a:spcPts val="400"/>
              </a:spcBef>
              <a:buSzTx/>
              <a:buNone/>
              <a:defRPr sz="3505" b="1">
                <a:solidFill>
                  <a:srgbClr val="000000"/>
                </a:solidFill>
                <a:latin typeface="Times Roman"/>
                <a:ea typeface="Times Roman"/>
                <a:cs typeface="Times Roman"/>
                <a:sym typeface="Times Roman"/>
              </a:defRPr>
            </a:pPr>
            <a:r>
              <a:rPr sz="4400">
                <a:sym typeface="+mn-ea"/>
              </a:rPr>
              <a:t>3.5 But never omit important if it is required so</a:t>
            </a:r>
            <a:endParaRPr sz="4400">
              <a:sym typeface="+mn-ea"/>
            </a:endParaRPr>
          </a:p>
          <a:p>
            <a:pPr marL="0" indent="0" defTabSz="333375">
              <a:spcBef>
                <a:spcPts val="400"/>
              </a:spcBef>
              <a:buSzTx/>
              <a:buNone/>
              <a:defRPr sz="3505">
                <a:solidFill>
                  <a:srgbClr val="000000"/>
                </a:solidFill>
                <a:latin typeface="Times Roman"/>
                <a:ea typeface="Times Roman"/>
                <a:cs typeface="Times Roman"/>
                <a:sym typeface="Times Roman"/>
              </a:defRPr>
            </a:pPr>
            <a:r>
              <a:rPr sz="4400">
                <a:sym typeface="+mn-ea"/>
              </a:rPr>
              <a:t>If unnecessary details are to be avoided, then it never means that the </a:t>
            </a:r>
            <a:endParaRPr sz="4400">
              <a:sym typeface="+mn-ea"/>
            </a:endParaRPr>
          </a:p>
          <a:p>
            <a:pPr marL="0" indent="0" defTabSz="333375">
              <a:spcBef>
                <a:spcPts val="400"/>
              </a:spcBef>
              <a:buSzTx/>
              <a:buNone/>
              <a:defRPr sz="3505">
                <a:solidFill>
                  <a:srgbClr val="000000"/>
                </a:solidFill>
                <a:latin typeface="Times Roman"/>
                <a:ea typeface="Times Roman"/>
                <a:cs typeface="Times Roman"/>
                <a:sym typeface="Times Roman"/>
              </a:defRPr>
            </a:pPr>
            <a:r>
              <a:rPr sz="4400">
                <a:sym typeface="+mn-ea"/>
              </a:rPr>
              <a:t>important should be missed oromitted from the feature. Obviously the </a:t>
            </a:r>
            <a:endParaRPr sz="4400">
              <a:sym typeface="+mn-ea"/>
            </a:endParaRPr>
          </a:p>
          <a:p>
            <a:pPr marL="0" indent="0" defTabSz="333375">
              <a:spcBef>
                <a:spcPts val="400"/>
              </a:spcBef>
              <a:buSzTx/>
              <a:buNone/>
              <a:defRPr sz="3505">
                <a:solidFill>
                  <a:srgbClr val="000000"/>
                </a:solidFill>
                <a:latin typeface="Times Roman"/>
                <a:ea typeface="Times Roman"/>
                <a:cs typeface="Times Roman"/>
                <a:sym typeface="Times Roman"/>
              </a:defRPr>
            </a:pPr>
            <a:r>
              <a:rPr sz="4400">
                <a:sym typeface="+mn-ea"/>
              </a:rPr>
              <a:t>responsibility of keeping this intact and observing the rule lies with the writer.</a:t>
            </a:r>
            <a:endParaRPr sz="4400">
              <a:sym typeface="+mn-ea"/>
            </a:endParaRPr>
          </a:p>
          <a:p>
            <a:pPr marL="0" indent="0" defTabSz="333375">
              <a:spcBef>
                <a:spcPts val="400"/>
              </a:spcBef>
              <a:buSzTx/>
              <a:buNone/>
              <a:defRPr sz="3505">
                <a:solidFill>
                  <a:srgbClr val="000000"/>
                </a:solidFill>
                <a:latin typeface="Times Roman"/>
                <a:ea typeface="Times Roman"/>
                <a:cs typeface="Times Roman"/>
                <a:sym typeface="Times Roman"/>
              </a:defRPr>
            </a:pPr>
            <a:r>
              <a:rPr sz="4400" b="1">
                <a:sym typeface="+mn-ea"/>
              </a:rPr>
              <a:t>3.</a:t>
            </a:r>
            <a:r>
              <a:rPr lang="en-US" sz="4400" b="1">
                <a:sym typeface="+mn-ea"/>
              </a:rPr>
              <a:t>6</a:t>
            </a:r>
            <a:r>
              <a:rPr sz="4400" b="1">
                <a:sym typeface="+mn-ea"/>
              </a:rPr>
              <a:t> Building towards the climax</a:t>
            </a:r>
            <a:endParaRPr sz="4400" b="1"/>
          </a:p>
          <a:p>
            <a:pPr marL="0" indent="0" defTabSz="333375">
              <a:spcBef>
                <a:spcPts val="400"/>
              </a:spcBef>
              <a:buSzTx/>
              <a:buNone/>
              <a:defRPr sz="3505">
                <a:solidFill>
                  <a:srgbClr val="000000"/>
                </a:solidFill>
                <a:latin typeface="Times Roman"/>
                <a:ea typeface="Times Roman"/>
                <a:cs typeface="Times Roman"/>
                <a:sym typeface="Times Roman"/>
              </a:defRPr>
            </a:pPr>
            <a:r>
              <a:rPr sz="4400">
                <a:sym typeface="+mn-ea"/>
              </a:rPr>
              <a:t>Main body should be used as a portion, which is building the feature towards the climax. Hence, it must be planned in this manner that reader is expecting </a:t>
            </a:r>
            <a:endParaRPr sz="4400">
              <a:sym typeface="+mn-ea"/>
            </a:endParaRPr>
          </a:p>
          <a:p>
            <a:pPr marL="0" indent="0" defTabSz="333375">
              <a:spcBef>
                <a:spcPts val="400"/>
              </a:spcBef>
              <a:buSzTx/>
              <a:buNone/>
              <a:defRPr sz="3505">
                <a:solidFill>
                  <a:srgbClr val="000000"/>
                </a:solidFill>
                <a:latin typeface="Times Roman"/>
                <a:ea typeface="Times Roman"/>
                <a:cs typeface="Times Roman"/>
                <a:sym typeface="Times Roman"/>
              </a:defRPr>
            </a:pPr>
            <a:r>
              <a:rPr sz="4400">
                <a:sym typeface="+mn-ea"/>
              </a:rPr>
              <a:t>the climax after the main body</a:t>
            </a:r>
            <a:r>
              <a:rPr sz="4400" b="1">
                <a:sym typeface="+mn-ea"/>
              </a:rPr>
              <a:t>.</a:t>
            </a:r>
            <a:endParaRPr sz="4400" b="1">
              <a:sym typeface="+mn-ea"/>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23" name="Structure of a Feature"/>
          <p:cNvSpPr txBox="1"/>
          <p:nvPr>
            <p:ph type="title"/>
          </p:nvPr>
        </p:nvSpPr>
        <p:spPr>
          <a:xfrm>
            <a:off x="1473200" y="76527"/>
            <a:ext cx="21437600" cy="1799178"/>
          </a:xfrm>
          <a:prstGeom prst="rect">
            <a:avLst/>
          </a:prstGeom>
        </p:spPr>
        <p:txBody>
          <a:bodyPr/>
          <a:lstStyle>
            <a:lvl1pPr defTabSz="445770">
              <a:defRPr sz="5830">
                <a:effectLst>
                  <a:outerShdw blurRad="34290" dist="6858" dir="5400000" rotWithShape="0">
                    <a:srgbClr val="000000">
                      <a:alpha val="30000"/>
                    </a:srgbClr>
                  </a:outerShdw>
                </a:effectLst>
              </a:defRPr>
            </a:lvl1pPr>
          </a:lstStyle>
          <a:p>
            <a:r>
              <a:t>Structure of a Feature </a:t>
            </a:r>
            <a:r>
              <a:rPr lang="en-US"/>
              <a:t>- Conclusion</a:t>
            </a:r>
            <a:endParaRPr lang="en-US"/>
          </a:p>
        </p:txBody>
      </p:sp>
      <p:sp>
        <p:nvSpPr>
          <p:cNvPr id="224" name="3.5 But never omit important if it is required so…"/>
          <p:cNvSpPr txBox="1"/>
          <p:nvPr>
            <p:ph type="body" idx="1"/>
          </p:nvPr>
        </p:nvSpPr>
        <p:spPr>
          <a:xfrm>
            <a:off x="1229360" y="1403985"/>
            <a:ext cx="22369780" cy="12117705"/>
          </a:xfrm>
          <a:prstGeom prst="rect">
            <a:avLst/>
          </a:prstGeom>
        </p:spPr>
        <p:txBody>
          <a:bodyPr/>
          <a:lstStyle/>
          <a:p>
            <a:pPr marL="0" indent="0" defTabSz="333375">
              <a:spcBef>
                <a:spcPts val="400"/>
              </a:spcBef>
              <a:buSzTx/>
              <a:buNone/>
              <a:defRPr sz="3505" b="1">
                <a:solidFill>
                  <a:srgbClr val="000000"/>
                </a:solidFill>
                <a:latin typeface="Times Roman"/>
                <a:ea typeface="Times Roman"/>
                <a:cs typeface="Times Roman"/>
                <a:sym typeface="Times Roman"/>
              </a:defRPr>
            </a:pPr>
            <a:endParaRPr b="1"/>
          </a:p>
          <a:p>
            <a:pPr marL="0" indent="0" defTabSz="333375">
              <a:spcBef>
                <a:spcPts val="400"/>
              </a:spcBef>
              <a:buSzTx/>
              <a:buNone/>
              <a:defRPr sz="3505" b="1">
                <a:solidFill>
                  <a:srgbClr val="000000"/>
                </a:solidFill>
                <a:latin typeface="Times Roman"/>
                <a:ea typeface="Times Roman"/>
                <a:cs typeface="Times Roman"/>
                <a:sym typeface="Times Roman"/>
              </a:defRPr>
            </a:pPr>
          </a:p>
          <a:p>
            <a:pPr marL="0" indent="0" defTabSz="333375">
              <a:spcBef>
                <a:spcPts val="400"/>
              </a:spcBef>
              <a:buSzTx/>
              <a:buNone/>
              <a:defRPr sz="3505" b="1">
                <a:solidFill>
                  <a:srgbClr val="000000"/>
                </a:solidFill>
                <a:latin typeface="Times Roman"/>
                <a:ea typeface="Times Roman"/>
                <a:cs typeface="Times Roman"/>
                <a:sym typeface="Times Roman"/>
              </a:defRPr>
            </a:pPr>
            <a:r>
              <a:rPr sz="6600"/>
              <a:t>4 Conclusion</a:t>
            </a:r>
            <a:endParaRPr sz="6600" b="0"/>
          </a:p>
          <a:p>
            <a:pPr marL="0" indent="0" defTabSz="333375">
              <a:spcBef>
                <a:spcPts val="400"/>
              </a:spcBef>
              <a:buSzTx/>
              <a:buNone/>
              <a:defRPr sz="3505" b="1">
                <a:solidFill>
                  <a:srgbClr val="000000"/>
                </a:solidFill>
                <a:latin typeface="Times Roman"/>
                <a:ea typeface="Times Roman"/>
                <a:cs typeface="Times Roman"/>
                <a:sym typeface="Times Roman"/>
              </a:defRPr>
            </a:pPr>
            <a:r>
              <a:rPr sz="6600" b="0"/>
              <a:t>The conclusion should give the reader a sense of </a:t>
            </a:r>
            <a:endParaRPr sz="6600" b="0"/>
          </a:p>
          <a:p>
            <a:pPr marL="0" indent="0" defTabSz="333375">
              <a:spcBef>
                <a:spcPts val="400"/>
              </a:spcBef>
              <a:buSzTx/>
              <a:buNone/>
              <a:defRPr sz="3505" b="1">
                <a:solidFill>
                  <a:srgbClr val="000000"/>
                </a:solidFill>
                <a:latin typeface="Times Roman"/>
                <a:ea typeface="Times Roman"/>
                <a:cs typeface="Times Roman"/>
                <a:sym typeface="Times Roman"/>
              </a:defRPr>
            </a:pPr>
            <a:r>
              <a:rPr sz="6600" b="0"/>
              <a:t>satisfaction. You need to tie the conclusion to the lead sothat the story has unity. Often you can do this through a short, tight summary, occasionally, </a:t>
            </a:r>
            <a:endParaRPr sz="6600" b="0"/>
          </a:p>
          <a:p>
            <a:pPr marL="0" indent="0" defTabSz="333375">
              <a:spcBef>
                <a:spcPts val="400"/>
              </a:spcBef>
              <a:buSzTx/>
              <a:buNone/>
              <a:defRPr sz="3505" b="1">
                <a:solidFill>
                  <a:srgbClr val="000000"/>
                </a:solidFill>
                <a:latin typeface="Times Roman"/>
                <a:ea typeface="Times Roman"/>
                <a:cs typeface="Times Roman"/>
                <a:sym typeface="Times Roman"/>
              </a:defRPr>
            </a:pPr>
            <a:r>
              <a:rPr sz="6600" b="0"/>
              <a:t>you can conclude with an anecdote or a quote that </a:t>
            </a:r>
            <a:endParaRPr sz="6600" b="0"/>
          </a:p>
          <a:p>
            <a:pPr marL="0" indent="0" defTabSz="333375">
              <a:spcBef>
                <a:spcPts val="400"/>
              </a:spcBef>
              <a:buSzTx/>
              <a:buNone/>
              <a:defRPr sz="3505" b="1">
                <a:solidFill>
                  <a:srgbClr val="000000"/>
                </a:solidFill>
                <a:latin typeface="Times Roman"/>
                <a:ea typeface="Times Roman"/>
                <a:cs typeface="Times Roman"/>
                <a:sym typeface="Times Roman"/>
              </a:defRPr>
            </a:pPr>
            <a:r>
              <a:rPr sz="6600" b="0"/>
              <a:t>sums up the substance of the story. With a narrative </a:t>
            </a:r>
            <a:endParaRPr sz="6600" b="0"/>
          </a:p>
          <a:p>
            <a:pPr marL="0" indent="0" defTabSz="333375">
              <a:spcBef>
                <a:spcPts val="400"/>
              </a:spcBef>
              <a:buSzTx/>
              <a:buNone/>
              <a:defRPr sz="3505" b="1">
                <a:solidFill>
                  <a:srgbClr val="000000"/>
                </a:solidFill>
                <a:latin typeface="Times Roman"/>
                <a:ea typeface="Times Roman"/>
                <a:cs typeface="Times Roman"/>
                <a:sym typeface="Times Roman"/>
              </a:defRPr>
            </a:pPr>
            <a:r>
              <a:rPr sz="6600" b="0"/>
              <a:t>approach, you build toward a climax.</a:t>
            </a:r>
            <a:endParaRPr b="0"/>
          </a:p>
          <a:p>
            <a:pPr marL="0" indent="0" defTabSz="333375">
              <a:spcBef>
                <a:spcPts val="400"/>
              </a:spcBef>
              <a:buSzTx/>
              <a:buNone/>
              <a:defRPr sz="3505">
                <a:solidFill>
                  <a:srgbClr val="000000"/>
                </a:solidFill>
                <a:latin typeface="Times Roman"/>
                <a:ea typeface="Times Roman"/>
                <a:cs typeface="Times Roman"/>
                <a:sym typeface="Times Roman"/>
              </a:defRPr>
            </a:pPr>
          </a:p>
          <a:p>
            <a:pPr marL="0" indent="0" defTabSz="333375">
              <a:spcBef>
                <a:spcPts val="400"/>
              </a:spcBef>
              <a:buSzTx/>
              <a:buNone/>
              <a:defRPr sz="3505">
                <a:solidFill>
                  <a:srgbClr val="000000"/>
                </a:solidFill>
                <a:latin typeface="Times Roman"/>
                <a:ea typeface="Times Roman"/>
                <a:cs typeface="Times Roman"/>
                <a:sym typeface="Times Roman"/>
              </a:defRPr>
            </a:pPr>
          </a:p>
        </p:txBody>
      </p:sp>
    </p:spTree>
  </p:cSld>
  <p:clrMapOvr>
    <a:overrideClrMapping bg1="lt1" tx1="dk1" bg2="lt2" tx2="dk2" accent1="accent1" accent2="accent2" accent3="accent3" accent4="accent4" accent5="accent5" accent6="accent6" hlink="hlink" folHlink="folHlink"/>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23" name="Structure of a Feature"/>
          <p:cNvSpPr txBox="1"/>
          <p:nvPr>
            <p:ph type="title"/>
          </p:nvPr>
        </p:nvSpPr>
        <p:spPr>
          <a:xfrm>
            <a:off x="1473200" y="387042"/>
            <a:ext cx="21437600" cy="1799178"/>
          </a:xfrm>
          <a:prstGeom prst="rect">
            <a:avLst/>
          </a:prstGeom>
        </p:spPr>
        <p:txBody>
          <a:bodyPr/>
          <a:lstStyle>
            <a:lvl1pPr defTabSz="445770">
              <a:defRPr sz="5830">
                <a:effectLst>
                  <a:outerShdw blurRad="34290" dist="6858" dir="5400000" rotWithShape="0">
                    <a:srgbClr val="000000">
                      <a:alpha val="30000"/>
                    </a:srgbClr>
                  </a:outerShdw>
                </a:effectLst>
              </a:defRPr>
            </a:lvl1pPr>
          </a:lstStyle>
          <a:p>
            <a:r>
              <a:t>Structure of a Feature </a:t>
            </a:r>
            <a:r>
              <a:rPr lang="en-US"/>
              <a:t>- Length</a:t>
            </a:r>
            <a:endParaRPr lang="en-US"/>
          </a:p>
        </p:txBody>
      </p:sp>
      <p:sp>
        <p:nvSpPr>
          <p:cNvPr id="224" name="3.5 But never omit important if it is required so…"/>
          <p:cNvSpPr txBox="1"/>
          <p:nvPr>
            <p:ph type="body" idx="1"/>
          </p:nvPr>
        </p:nvSpPr>
        <p:spPr>
          <a:xfrm>
            <a:off x="1473200" y="2649220"/>
            <a:ext cx="22369780" cy="8416925"/>
          </a:xfrm>
          <a:prstGeom prst="rect">
            <a:avLst/>
          </a:prstGeom>
        </p:spPr>
        <p:txBody>
          <a:bodyPr>
            <a:normAutofit fontScale="90000" lnSpcReduction="20000"/>
          </a:bodyPr>
          <a:lstStyle/>
          <a:p>
            <a:pPr marL="0" indent="0" defTabSz="333375">
              <a:spcBef>
                <a:spcPts val="400"/>
              </a:spcBef>
              <a:buSzTx/>
              <a:buNone/>
              <a:defRPr sz="3505" b="1">
                <a:solidFill>
                  <a:srgbClr val="000000"/>
                </a:solidFill>
                <a:latin typeface="Times Roman"/>
                <a:ea typeface="Times Roman"/>
                <a:cs typeface="Times Roman"/>
                <a:sym typeface="Times Roman"/>
              </a:defRPr>
            </a:pPr>
            <a:endParaRPr b="1"/>
          </a:p>
          <a:p>
            <a:pPr marL="0" indent="0" defTabSz="333375">
              <a:spcBef>
                <a:spcPts val="400"/>
              </a:spcBef>
              <a:buSzTx/>
              <a:buNone/>
              <a:defRPr sz="3505" b="1">
                <a:solidFill>
                  <a:srgbClr val="000000"/>
                </a:solidFill>
                <a:latin typeface="Times Roman"/>
                <a:ea typeface="Times Roman"/>
                <a:cs typeface="Times Roman"/>
                <a:sym typeface="Times Roman"/>
              </a:defRPr>
            </a:pPr>
          </a:p>
          <a:p>
            <a:pPr marL="0" indent="0" defTabSz="333375">
              <a:spcBef>
                <a:spcPts val="400"/>
              </a:spcBef>
              <a:buSzTx/>
              <a:buNone/>
              <a:defRPr sz="3505" b="1">
                <a:solidFill>
                  <a:srgbClr val="000000"/>
                </a:solidFill>
                <a:latin typeface="Times Roman"/>
                <a:ea typeface="Times Roman"/>
                <a:cs typeface="Times Roman"/>
                <a:sym typeface="Times Roman"/>
              </a:defRPr>
            </a:pPr>
            <a:endParaRPr b="0"/>
          </a:p>
          <a:p>
            <a:pPr marL="0" indent="0" defTabSz="333375">
              <a:spcBef>
                <a:spcPts val="400"/>
              </a:spcBef>
              <a:buSzTx/>
              <a:buNone/>
              <a:defRPr sz="3505">
                <a:solidFill>
                  <a:srgbClr val="000000"/>
                </a:solidFill>
                <a:latin typeface="Times Roman"/>
                <a:ea typeface="Times Roman"/>
                <a:cs typeface="Times Roman"/>
                <a:sym typeface="Times Roman"/>
              </a:defRPr>
            </a:pPr>
          </a:p>
          <a:p>
            <a:pPr marL="0" indent="0" defTabSz="333375">
              <a:spcBef>
                <a:spcPts val="400"/>
              </a:spcBef>
              <a:buSzTx/>
              <a:buNone/>
              <a:defRPr sz="3505" b="1">
                <a:solidFill>
                  <a:srgbClr val="000000"/>
                </a:solidFill>
                <a:latin typeface="Times Roman"/>
                <a:ea typeface="Times Roman"/>
                <a:cs typeface="Times Roman"/>
                <a:sym typeface="Times Roman"/>
              </a:defRPr>
            </a:pPr>
            <a:r>
              <a:rPr sz="6600"/>
              <a:t>5 Length</a:t>
            </a:r>
            <a:endParaRPr sz="6600"/>
          </a:p>
          <a:p>
            <a:pPr marL="0" indent="0" defTabSz="333375">
              <a:spcBef>
                <a:spcPts val="400"/>
              </a:spcBef>
              <a:buSzTx/>
              <a:buNone/>
              <a:defRPr sz="3505" b="1">
                <a:solidFill>
                  <a:srgbClr val="000000"/>
                </a:solidFill>
                <a:latin typeface="Times Roman"/>
                <a:ea typeface="Times Roman"/>
                <a:cs typeface="Times Roman"/>
                <a:sym typeface="Times Roman"/>
              </a:defRPr>
            </a:pPr>
            <a:endParaRPr sz="6600" b="0"/>
          </a:p>
          <a:p>
            <a:pPr marL="0" indent="0" defTabSz="333375">
              <a:spcBef>
                <a:spcPts val="0"/>
              </a:spcBef>
              <a:buSzTx/>
              <a:buNone/>
              <a:defRPr sz="3505">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6600"/>
              <a:t>If a reporter asks how long a feature story should be, the editor </a:t>
            </a:r>
            <a:endParaRPr sz="6600"/>
          </a:p>
          <a:p>
            <a:pPr marL="0" indent="0" defTabSz="333375">
              <a:spcBef>
                <a:spcPts val="0"/>
              </a:spcBef>
              <a:buSzTx/>
              <a:buNone/>
              <a:defRPr sz="3505">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6600"/>
              <a:t>may reply, 'as long as you keep it interesting.'  Feature  stories  vary in length from two or three paragraphs to 15 or 20 triple-spaced sheets ofcopy. Readers' interest is  the  main  yardstick </a:t>
            </a:r>
            <a:endParaRPr sz="6600"/>
          </a:p>
          <a:p>
            <a:pPr marL="0" indent="0" defTabSz="333375">
              <a:spcBef>
                <a:spcPts val="0"/>
              </a:spcBef>
              <a:buSzTx/>
              <a:buNone/>
              <a:defRPr sz="3505">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6600"/>
              <a:t>by which they are judged. And editors are paid to accurately</a:t>
            </a:r>
            <a:endParaRPr sz="6600">
              <a:latin typeface="Times Roman"/>
              <a:ea typeface="Times Roman"/>
              <a:cs typeface="Times Roman"/>
              <a:sym typeface="Times Roman"/>
            </a:endParaRPr>
          </a:p>
          <a:p>
            <a:pPr marL="0" indent="0" defTabSz="333375">
              <a:spcBef>
                <a:spcPts val="0"/>
              </a:spcBef>
              <a:buSzTx/>
              <a:buNone/>
              <a:defRPr sz="3505">
                <a:solidFill>
                  <a:srgbClr val="000000"/>
                </a:solidFill>
                <a:latin typeface="Times New Roman" panose="02020503050405090304"/>
                <a:ea typeface="Times New Roman" panose="02020503050405090304"/>
                <a:cs typeface="Times New Roman" panose="02020503050405090304"/>
                <a:sym typeface="Times New Roman" panose="02020503050405090304"/>
              </a:defRPr>
            </a:pPr>
            <a:r>
              <a:rPr sz="6600"/>
              <a:t>assess readers' interest.</a:t>
            </a:r>
            <a:endParaRPr>
              <a:latin typeface="Times Roman"/>
              <a:ea typeface="Times Roman"/>
              <a:cs typeface="Times Roman"/>
              <a:sym typeface="Times Roman"/>
            </a:endParaRPr>
          </a:p>
          <a:p>
            <a:pPr marL="0" indent="0" defTabSz="333375">
              <a:spcBef>
                <a:spcPts val="400"/>
              </a:spcBef>
              <a:buSzTx/>
              <a:buNone/>
              <a:defRPr sz="3505">
                <a:solidFill>
                  <a:srgbClr val="000000"/>
                </a:solidFill>
                <a:latin typeface="Times Roman"/>
                <a:ea typeface="Times Roman"/>
                <a:cs typeface="Times Roman"/>
                <a:sym typeface="Times Roman"/>
              </a:defRPr>
            </a:pPr>
          </a:p>
        </p:txBody>
      </p:sp>
    </p:spTree>
  </p:cSld>
  <p:clrMapOvr>
    <a:overrideClrMapping bg1="lt1" tx1="dk1" bg2="lt2" tx2="dk2" accent1="accent1" accent2="accent2" accent3="accent3" accent4="accent4" accent5="accent5" accent6="accent6" hlink="hlink" folHlink="folHlink"/>
  </p:clrMapOvr>
  <p:transition spd="med"/>
</p:sld>
</file>

<file path=ppt/tags/tag1.xml><?xml version="1.0" encoding="utf-8"?>
<p:tagLst xmlns:p="http://schemas.openxmlformats.org/presentationml/2006/main">
  <p:tag name="KSO_WM_TAG_VERSION" val="1.0"/>
  <p:tag name="KSO_WM_TEMPLATE_CATEGORY" val="custom"/>
  <p:tag name="KSO_WM_TEMPLATE_INDEX" val="20181616"/>
</p:tagLst>
</file>

<file path=ppt/tags/tag2.xml><?xml version="1.0" encoding="utf-8"?>
<p:tagLst xmlns:p="http://schemas.openxmlformats.org/presentationml/2006/main">
  <p:tag name="KSO_WM_TAG_VERSION" val="1.0"/>
  <p:tag name="KSO_WM_TEMPLATE_CATEGORY" val="custom"/>
  <p:tag name="KSO_WM_TEMPLATE_INDEX" val="20181616"/>
</p:tagLst>
</file>

<file path=ppt/tags/tag3.xml><?xml version="1.0" encoding="utf-8"?>
<p:tagLst xmlns:p="http://schemas.openxmlformats.org/presentationml/2006/main">
  <p:tag name="KSO_WM_TAG_VERSION" val="1.0"/>
  <p:tag name="KSO_WM_BEAUTIFY_FLAG" val="#wm#"/>
  <p:tag name="KSO_WM_COMBINE_RELATE_SLIDE_ID" val="background20180945_1"/>
  <p:tag name="KSO_WM_TEMPLATE_CATEGORY" val="custom"/>
  <p:tag name="KSO_WM_TEMPLATE_INDEX" val="20181616"/>
  <p:tag name="KSO_WM_TEMPLATE_SUBCATEGORY" val="combine"/>
  <p:tag name="KSO_WM_TEMPLATE_THUMBS_INDEX" val="1、4、5、6、12、13、19、22"/>
  <p:tag name="KSO_WM_TEMPLATE_TOPIC_ID" val="2869567"/>
  <p:tag name="KSO_WM_TEMPLATE_OUTLINE_ID" val="15"/>
  <p:tag name="KSO_WM_TEMPLATE_SCENE_ID" val="1"/>
  <p:tag name="KSO_WM_TEMPLATE_JOB_ID" val="2"/>
  <p:tag name="KSO_WM_TEMPLATE_TOPIC_DEFAULT" val="1"/>
</p:tagLst>
</file>

<file path=ppt/tags/tag4.xml><?xml version="1.0" encoding="utf-8"?>
<p:tagLst xmlns:p="http://schemas.openxmlformats.org/presentationml/2006/main">
  <p:tag name="KSO_WM_TEMPLATE_CATEGORY" val="custom"/>
  <p:tag name="KSO_WM_TEMPLATE_INDEX" val="20181616"/>
  <p:tag name="KSO_WM_TAG_VERSION" val="1.0"/>
  <p:tag name="KSO_WM_BEAUTIFY_FLAG" val="#wm#"/>
  <p:tag name="KSO_WM_UNIT_TYPE" val="a"/>
  <p:tag name="KSO_WM_UNIT_INDEX" val="1"/>
  <p:tag name="KSO_WM_UNIT_LAYERLEVEL" val="1"/>
  <p:tag name="KSO_WM_UNIT_VALUE" val="48"/>
  <p:tag name="KSO_WM_UNIT_ISCONTENTSTITLE" val="0"/>
  <p:tag name="KSO_WM_UNIT_HIGHLIGHT" val="0"/>
  <p:tag name="KSO_WM_UNIT_COMPATIBLE" val="0"/>
  <p:tag name="KSO_WM_UNIT_CLEAR" val="0"/>
  <p:tag name="KSO_WM_UNIT_ID" val="custom20181616_22*a*1"/>
  <p:tag name="KSO_WM_UNIT_PRESET_TEXT" val="Thank you for watching"/>
</p:tagLst>
</file>

<file path=ppt/tags/tag5.xml><?xml version="1.0" encoding="utf-8"?>
<p:tagLst xmlns:p="http://schemas.openxmlformats.org/presentationml/2006/main">
  <p:tag name="KSO_WM_TAG_VERSION" val="1.0"/>
  <p:tag name="KSO_WM_SLIDE_ITEM_CNT" val="1"/>
  <p:tag name="KSO_WM_SLIDE_LAYOUT" val="a"/>
  <p:tag name="KSO_WM_SLIDE_LAYOUT_CNT" val="1"/>
  <p:tag name="KSO_WM_SLIDE_TYPE" val="endPage"/>
  <p:tag name="KSO_WM_BEAUTIFY_FLAG" val="#wm#"/>
  <p:tag name="KSO_WM_COMBINE_RELATE_SLIDE_ID" val="background20180945_10"/>
  <p:tag name="KSO_WM_TEMPLATE_CATEGORY" val="custom"/>
  <p:tag name="KSO_WM_TEMPLATE_INDEX" val="20181616"/>
  <p:tag name="KSO_WM_SLIDE_ID" val="custom20181616_22"/>
  <p:tag name="KSO_WM_SLIDE_INDEX" val="22"/>
  <p:tag name="KSO_WM_TEMPLATE_SUBCATEGORY" val="combine"/>
  <p:tag name="KSO_WM_SLIDE_SUBTYPE" val="pureTxt"/>
</p:tagLst>
</file>

<file path=ppt/theme/_rels/theme2.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1_Office 主题">
  <a:themeElements>
    <a:clrScheme name="Office">
      <a:dk1>
        <a:srgbClr val="000000"/>
      </a:dk1>
      <a:lt1>
        <a:srgbClr val="3D7351"/>
      </a:lt1>
      <a:dk2>
        <a:srgbClr val="44546A"/>
      </a:dk2>
      <a:lt2>
        <a:srgbClr val="FFFAEA"/>
      </a:lt2>
      <a:accent1>
        <a:srgbClr val="3D7351"/>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armony">
  <a:themeElements>
    <a:clrScheme name="Harmony">
      <a:dk1>
        <a:srgbClr val="000000"/>
      </a:dk1>
      <a:lt1>
        <a:srgbClr val="FFFFFF"/>
      </a:lt1>
      <a:dk2>
        <a:srgbClr val="565F5F"/>
      </a:dk2>
      <a:lt2>
        <a:srgbClr val="C2CBCA"/>
      </a:lt2>
      <a:accent1>
        <a:srgbClr val="87AEC1"/>
      </a:accent1>
      <a:accent2>
        <a:srgbClr val="D6BB9E"/>
      </a:accent2>
      <a:accent3>
        <a:srgbClr val="CC7A69"/>
      </a:accent3>
      <a:accent4>
        <a:srgbClr val="EAAB5C"/>
      </a:accent4>
      <a:accent5>
        <a:srgbClr val="98C8C6"/>
      </a:accent5>
      <a:accent6>
        <a:srgbClr val="C3CD8B"/>
      </a:accent6>
      <a:hlink>
        <a:srgbClr val="0000FF"/>
      </a:hlink>
      <a:folHlink>
        <a:srgbClr val="FF00FF"/>
      </a:folHlink>
    </a:clrScheme>
    <a:fontScheme name="Harmony">
      <a:majorFont>
        <a:latin typeface="Baskerville"/>
        <a:ea typeface="Baskerville"/>
        <a:cs typeface="Baskerville"/>
      </a:majorFont>
      <a:minorFont>
        <a:latin typeface="Baskerville"/>
        <a:ea typeface="Baskerville"/>
        <a:cs typeface="Baskerville"/>
      </a:minorFont>
    </a:fontScheme>
    <a:fmtScheme name="Harmon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defRPr kumimoji="0" sz="5000" b="0" i="0" u="none" strike="noStrike" cap="none" spc="0" normalizeH="0" baseline="0">
            <a:ln>
              <a:noFill/>
            </a:ln>
            <a:solidFill>
              <a:srgbClr val="FFFFFF"/>
            </a:solidFill>
            <a:effectLst/>
            <a:uFillTx/>
            <a:latin typeface="Helvetica Neue" panose="02000503000000020004"/>
            <a:ea typeface="Helvetica Neue" panose="02000503000000020004"/>
            <a:cs typeface="Helvetica Neue" panose="02000503000000020004"/>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38100" cap="flat">
          <a:solidFill>
            <a:schemeClr val="accent5">
              <a:hueOff val="85969"/>
              <a:satOff val="-7805"/>
              <a:lumOff val="-38949"/>
            </a:schemeClr>
          </a:solidFill>
          <a:prstDash val="solid"/>
          <a:miter lim="400000"/>
        </a:ln>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defRPr kumimoji="0" sz="5000" b="0" i="0" u="none" strike="noStrike" cap="none" spc="0" normalizeH="0" baseline="0">
            <a:ln>
              <a:noFill/>
            </a:ln>
            <a:solidFill>
              <a:srgbClr val="5E5E5E"/>
            </a:solidFill>
            <a:effectLst/>
            <a:uFillTx/>
            <a:latin typeface="Helvetica Neue" panose="02000503000000020004"/>
            <a:ea typeface="Helvetica Neue" panose="02000503000000020004"/>
            <a:cs typeface="Helvetica Neue" panose="02000503000000020004"/>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3D7351"/>
    </a:lt1>
    <a:dk2>
      <a:srgbClr val="44546A"/>
    </a:dk2>
    <a:lt2>
      <a:srgbClr val="FFFAEA"/>
    </a:lt2>
    <a:accent1>
      <a:srgbClr val="3D7351"/>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rgbClr val="000000"/>
    </a:dk1>
    <a:lt1>
      <a:srgbClr val="3D7351"/>
    </a:lt1>
    <a:dk2>
      <a:srgbClr val="44546A"/>
    </a:dk2>
    <a:lt2>
      <a:srgbClr val="FFFAEA"/>
    </a:lt2>
    <a:accent1>
      <a:srgbClr val="3D7351"/>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rgbClr val="000000"/>
    </a:dk1>
    <a:lt1>
      <a:srgbClr val="3D7351"/>
    </a:lt1>
    <a:dk2>
      <a:srgbClr val="44546A"/>
    </a:dk2>
    <a:lt2>
      <a:srgbClr val="FFFAEA"/>
    </a:lt2>
    <a:accent1>
      <a:srgbClr val="3D7351"/>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rgbClr val="000000"/>
    </a:dk1>
    <a:lt1>
      <a:srgbClr val="3D7351"/>
    </a:lt1>
    <a:dk2>
      <a:srgbClr val="44546A"/>
    </a:dk2>
    <a:lt2>
      <a:srgbClr val="FFFAEA"/>
    </a:lt2>
    <a:accent1>
      <a:srgbClr val="3D7351"/>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rgbClr val="000000"/>
    </a:dk1>
    <a:lt1>
      <a:srgbClr val="3D7351"/>
    </a:lt1>
    <a:dk2>
      <a:srgbClr val="44546A"/>
    </a:dk2>
    <a:lt2>
      <a:srgbClr val="FFFAEA"/>
    </a:lt2>
    <a:accent1>
      <a:srgbClr val="3D7351"/>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rgbClr val="000000"/>
    </a:dk1>
    <a:lt1>
      <a:srgbClr val="3D7351"/>
    </a:lt1>
    <a:dk2>
      <a:srgbClr val="44546A"/>
    </a:dk2>
    <a:lt2>
      <a:srgbClr val="FFFAEA"/>
    </a:lt2>
    <a:accent1>
      <a:srgbClr val="3D7351"/>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rgbClr val="000000"/>
    </a:dk1>
    <a:lt1>
      <a:srgbClr val="3D7351"/>
    </a:lt1>
    <a:dk2>
      <a:srgbClr val="44546A"/>
    </a:dk2>
    <a:lt2>
      <a:srgbClr val="FFFAEA"/>
    </a:lt2>
    <a:accent1>
      <a:srgbClr val="3D7351"/>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rgbClr val="000000"/>
    </a:dk1>
    <a:lt1>
      <a:srgbClr val="3D7351"/>
    </a:lt1>
    <a:dk2>
      <a:srgbClr val="44546A"/>
    </a:dk2>
    <a:lt2>
      <a:srgbClr val="FFFAEA"/>
    </a:lt2>
    <a:accent1>
      <a:srgbClr val="3D7351"/>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a:dk1>
      <a:srgbClr val="000000"/>
    </a:dk1>
    <a:lt1>
      <a:srgbClr val="3D7351"/>
    </a:lt1>
    <a:dk2>
      <a:srgbClr val="44546A"/>
    </a:dk2>
    <a:lt2>
      <a:srgbClr val="FFFAEA"/>
    </a:lt2>
    <a:accent1>
      <a:srgbClr val="3D7351"/>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a:dk1>
      <a:srgbClr val="000000"/>
    </a:dk1>
    <a:lt1>
      <a:srgbClr val="3D7351"/>
    </a:lt1>
    <a:dk2>
      <a:srgbClr val="44546A"/>
    </a:dk2>
    <a:lt2>
      <a:srgbClr val="FFFAEA"/>
    </a:lt2>
    <a:accent1>
      <a:srgbClr val="3D7351"/>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a:dk1>
      <a:srgbClr val="000000"/>
    </a:dk1>
    <a:lt1>
      <a:srgbClr val="3D7351"/>
    </a:lt1>
    <a:dk2>
      <a:srgbClr val="44546A"/>
    </a:dk2>
    <a:lt2>
      <a:srgbClr val="FFFAEA"/>
    </a:lt2>
    <a:accent1>
      <a:srgbClr val="3D7351"/>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a:dk1>
      <a:srgbClr val="000000"/>
    </a:dk1>
    <a:lt1>
      <a:srgbClr val="3D7351"/>
    </a:lt1>
    <a:dk2>
      <a:srgbClr val="44546A"/>
    </a:dk2>
    <a:lt2>
      <a:srgbClr val="FFFAEA"/>
    </a:lt2>
    <a:accent1>
      <a:srgbClr val="3D7351"/>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a:dk1>
      <a:srgbClr val="000000"/>
    </a:dk1>
    <a:lt1>
      <a:srgbClr val="3D7351"/>
    </a:lt1>
    <a:dk2>
      <a:srgbClr val="44546A"/>
    </a:dk2>
    <a:lt2>
      <a:srgbClr val="FFFAEA"/>
    </a:lt2>
    <a:accent1>
      <a:srgbClr val="3D7351"/>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Office">
    <a:dk1>
      <a:srgbClr val="000000"/>
    </a:dk1>
    <a:lt1>
      <a:srgbClr val="3D7351"/>
    </a:lt1>
    <a:dk2>
      <a:srgbClr val="44546A"/>
    </a:dk2>
    <a:lt2>
      <a:srgbClr val="FFFAEA"/>
    </a:lt2>
    <a:accent1>
      <a:srgbClr val="3D7351"/>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Office">
    <a:dk1>
      <a:srgbClr val="000000"/>
    </a:dk1>
    <a:lt1>
      <a:srgbClr val="3D7351"/>
    </a:lt1>
    <a:dk2>
      <a:srgbClr val="44546A"/>
    </a:dk2>
    <a:lt2>
      <a:srgbClr val="FFFAEA"/>
    </a:lt2>
    <a:accent1>
      <a:srgbClr val="3D7351"/>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Office">
    <a:dk1>
      <a:srgbClr val="000000"/>
    </a:dk1>
    <a:lt1>
      <a:srgbClr val="3D7351"/>
    </a:lt1>
    <a:dk2>
      <a:srgbClr val="44546A"/>
    </a:dk2>
    <a:lt2>
      <a:srgbClr val="FFFAEA"/>
    </a:lt2>
    <a:accent1>
      <a:srgbClr val="3D7351"/>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7620</Words>
  <Application>WPS 文字</Application>
  <PresentationFormat/>
  <Paragraphs>154</Paragraphs>
  <Slides>17</Slides>
  <Notes>0</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17</vt:i4>
      </vt:variant>
    </vt:vector>
  </HeadingPairs>
  <TitlesOfParts>
    <vt:vector size="41" baseType="lpstr">
      <vt:lpstr>Arial</vt:lpstr>
      <vt:lpstr>方正书宋_GBK</vt:lpstr>
      <vt:lpstr>Wingdings</vt:lpstr>
      <vt:lpstr>Helvetica Neue</vt:lpstr>
      <vt:lpstr>黑体</vt:lpstr>
      <vt:lpstr>汉仪中黑KW</vt:lpstr>
      <vt:lpstr>华文细黑</vt:lpstr>
      <vt:lpstr>黑体-简</vt:lpstr>
      <vt:lpstr>Wingdings</vt:lpstr>
      <vt:lpstr>Times Roman</vt:lpstr>
      <vt:lpstr>Thonburi</vt:lpstr>
      <vt:lpstr>Songti SC Regular</vt:lpstr>
      <vt:lpstr>Times New Roman</vt:lpstr>
      <vt:lpstr>Verdana</vt:lpstr>
      <vt:lpstr>Times New Roman Regular</vt:lpstr>
      <vt:lpstr>Helvetica Neue Black Condensed</vt:lpstr>
      <vt:lpstr>Arial</vt:lpstr>
      <vt:lpstr>Helvetica</vt:lpstr>
      <vt:lpstr>宋体</vt:lpstr>
      <vt:lpstr>汉仪书宋二KW</vt:lpstr>
      <vt:lpstr>微软雅黑</vt:lpstr>
      <vt:lpstr>汉仪旗黑</vt:lpstr>
      <vt:lpstr>Arial Unicode MS</vt:lpstr>
      <vt:lpstr>1_Office 主题</vt:lpstr>
      <vt:lpstr>Features</vt:lpstr>
      <vt:lpstr>What is a Feature?</vt:lpstr>
      <vt:lpstr>Types of Features </vt:lpstr>
      <vt:lpstr>Types of Features </vt:lpstr>
      <vt:lpstr>Definitions of Features </vt:lpstr>
      <vt:lpstr>Definitions of Features </vt:lpstr>
      <vt:lpstr>Definitions of Features </vt:lpstr>
      <vt:lpstr>Difference between a News story and  a Feature </vt:lpstr>
      <vt:lpstr>Difference between a News story and  a Feature </vt:lpstr>
      <vt:lpstr>Structure of a Feature </vt:lpstr>
      <vt:lpstr>Structure of a Feature - Intro or Lead</vt:lpstr>
      <vt:lpstr>Structure of a Feature - Transtion </vt:lpstr>
      <vt:lpstr>Structure of a Feature - Body</vt:lpstr>
      <vt:lpstr>Structure of a Feature - Body</vt:lpstr>
      <vt:lpstr>Structure of a Feature - Body</vt:lpstr>
      <vt:lpstr>Structure of a Feature - Conclusion</vt:lpstr>
      <vt:lpstr>Structure of a Feature - Length</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 New Materials- Features</dc:title>
  <dc:creator/>
  <cp:lastModifiedBy>renfang</cp:lastModifiedBy>
  <cp:revision>18</cp:revision>
  <dcterms:created xsi:type="dcterms:W3CDTF">2021-05-17T08:05:29Z</dcterms:created>
  <dcterms:modified xsi:type="dcterms:W3CDTF">2021-05-17T08:05:29Z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2052-3.5.1.5630</vt:lpwstr>
  </property>
</Properties>
</file>