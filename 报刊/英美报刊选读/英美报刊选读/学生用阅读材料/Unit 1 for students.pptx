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7" r:id="rId1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-114" y="-306"/>
      </p:cViewPr>
      <p:guideLst>
        <p:guide orient="horz" pos="2140"/>
        <p:guide pos="2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3738E2-3852-4CD0-A126-7C4AEC79F00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741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buFont typeface="Arial" panose="020B0604020202090204" pitchFamily="34" charset="0"/>
              <a:buNone/>
              <a:defRPr sz="1400" noProof="1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buFont typeface="Arial" panose="020B0604020202090204" pitchFamily="34" charset="0"/>
              <a:buNone/>
              <a:defRPr sz="1400" noProof="1">
                <a:latin typeface="Arial" panose="020B060402020209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vert="horz" wrap="square" lIns="91440" tIns="45720" rIns="91440" bIns="45720" anchor="ctr"/>
          <a:p>
            <a:pPr eaLnBrk="1" hangingPunct="1">
              <a:buClrTx/>
            </a:pPr>
            <a:r>
              <a:rPr lang="en-US" altLang="zh-CN" sz="4400" kern="1200">
                <a:latin typeface="+mj-lt"/>
                <a:ea typeface="+mj-ea"/>
                <a:cs typeface="+mj-cs"/>
              </a:rPr>
              <a:t>A Selection of English Newspaper &amp; Magazine Aritcles</a:t>
            </a:r>
            <a:endParaRPr lang="zh-CN" altLang="zh-CN" sz="4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vert="horz" wrap="square" lIns="91440" tIns="45720" rIns="91440" bIns="45720" anchor="t"/>
          <a:p>
            <a:pPr eaLnBrk="1" hangingPunct="1">
              <a:buClrTx/>
            </a:pPr>
            <a:r>
              <a:rPr lang="en-US" altLang="zh-CN" sz="3200" kern="1200">
                <a:latin typeface="Arial" panose="020B0604020202090204" pitchFamily="34" charset="0"/>
                <a:ea typeface="宋体" pitchFamily="2" charset="-122"/>
                <a:cs typeface="+mn-cs"/>
              </a:rPr>
              <a:t>Unit 1</a:t>
            </a:r>
            <a:endParaRPr lang="zh-CN" altLang="zh-CN" sz="3200" kern="1200" dirty="0"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eaLnBrk="1" hangingPunct="1">
              <a:buClrTx/>
            </a:pPr>
            <a:endParaRPr lang="en-US" altLang="zh-CN" sz="3200" kern="1200"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en-US" altLang="zh-CN"/>
              <a:t>Language features of news (Grammar) </a:t>
            </a:r>
            <a:endParaRPr lang="zh-CN" altLang="en-US" dirty="0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/>
            <a:r>
              <a:rPr lang="en-US" altLang="zh-CN"/>
              <a:t>Tense and Voice</a:t>
            </a:r>
            <a:endParaRPr lang="en-US" altLang="zh-CN"/>
          </a:p>
          <a:p>
            <a:pPr eaLnBrk="1" hangingPunct="1"/>
            <a:r>
              <a:rPr lang="en-US" altLang="zh-CN" err="1"/>
              <a:t>Gunston</a:t>
            </a:r>
            <a:r>
              <a:rPr lang="en-US" altLang="zh-CN"/>
              <a:t> Gets His Gong </a:t>
            </a:r>
            <a:endParaRPr lang="en-US" altLang="zh-CN"/>
          </a:p>
          <a:p>
            <a:pPr eaLnBrk="1" hangingPunct="1"/>
            <a:r>
              <a:rPr lang="en-US" altLang="zh-CN"/>
              <a:t>(=</a:t>
            </a:r>
            <a:r>
              <a:rPr lang="en-US" altLang="zh-CN" err="1"/>
              <a:t>Gunston</a:t>
            </a:r>
            <a:r>
              <a:rPr lang="en-US" altLang="zh-CN"/>
              <a:t> Got His Gong) </a:t>
            </a:r>
            <a:r>
              <a:rPr lang="en-US" altLang="zh-CN" err="1"/>
              <a:t>Gunston</a:t>
            </a:r>
            <a:r>
              <a:rPr lang="zh-CN" altLang="zh-CN" dirty="0"/>
              <a:t>获得奖章</a:t>
            </a:r>
            <a:endParaRPr lang="en-US" altLang="zh-CN"/>
          </a:p>
          <a:p>
            <a:pPr eaLnBrk="1" hangingPunct="1"/>
            <a:r>
              <a:rPr lang="en-US" altLang="zh-CN"/>
              <a:t>Using present simple tense for things that happened in the past.</a:t>
            </a:r>
            <a:endParaRPr lang="en-US" altLang="zh-CN"/>
          </a:p>
          <a:p>
            <a:pPr eaLnBrk="1" hangingPunct="1"/>
            <a:r>
              <a:rPr lang="zh-CN" altLang="zh-CN" dirty="0"/>
              <a:t>英语新闻标题常用一般现在时，从形式上增强报道的新鲜感、现实感和直接感。</a:t>
            </a:r>
            <a:endParaRPr lang="en-US" altLang="zh-CN"/>
          </a:p>
          <a:p>
            <a:pPr eaLnBrk="1" hangingPunct="1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6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39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75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40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en-US" altLang="zh-CN"/>
              <a:t>Tense</a:t>
            </a:r>
            <a:endParaRPr lang="zh-CN" altLang="en-US" dirty="0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/>
            <a:r>
              <a:rPr lang="en-US" altLang="zh-CN"/>
              <a:t>Prisoners To Go On Strike Tonight</a:t>
            </a:r>
            <a:endParaRPr lang="en-US" altLang="zh-CN"/>
          </a:p>
          <a:p>
            <a:pPr eaLnBrk="1" hangingPunct="1"/>
            <a:r>
              <a:rPr lang="en-US" altLang="zh-CN"/>
              <a:t> (=Prisoners Are To Go On Strike Tonight) </a:t>
            </a:r>
            <a:r>
              <a:rPr lang="zh-CN" altLang="zh-CN" dirty="0"/>
              <a:t>囚犯们今晚要罢工</a:t>
            </a:r>
            <a:endParaRPr lang="en-US" altLang="zh-CN"/>
          </a:p>
          <a:p>
            <a:pPr eaLnBrk="1" hangingPunct="1"/>
            <a:r>
              <a:rPr lang="en-US" altLang="zh-CN"/>
              <a:t>Linking </a:t>
            </a:r>
            <a:r>
              <a:rPr lang="en-US" altLang="zh-CN" err="1"/>
              <a:t>verb+infinitive</a:t>
            </a:r>
            <a:r>
              <a:rPr lang="en-US" altLang="zh-CN"/>
              <a:t> phrase</a:t>
            </a:r>
            <a:endParaRPr lang="en-US" altLang="zh-CN"/>
          </a:p>
          <a:p>
            <a:pPr eaLnBrk="1" hangingPunct="1"/>
            <a:r>
              <a:rPr lang="zh-CN" altLang="zh-CN" dirty="0"/>
              <a:t>“联系动词</a:t>
            </a:r>
            <a:r>
              <a:rPr lang="en-US" altLang="zh-CN"/>
              <a:t>+</a:t>
            </a:r>
            <a:r>
              <a:rPr lang="zh-CN" altLang="zh-CN" dirty="0"/>
              <a:t>动词不定式”结构，其中联系动词通常省略，以节省标题字数</a:t>
            </a:r>
            <a:endParaRPr lang="zh-CN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34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85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116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en-US" altLang="zh-CN"/>
              <a:t>Tense</a:t>
            </a:r>
            <a:endParaRPr lang="zh-CN" altLang="en-US" dirty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/>
              <a:t>US Troops Conducting War Games In Mideast </a:t>
            </a:r>
            <a:endParaRPr lang="en-US" altLang="zh-CN"/>
          </a:p>
          <a:p>
            <a:r>
              <a:rPr lang="en-US" altLang="zh-CN"/>
              <a:t>(=US Troops Are Conducting War Games In Mideast) </a:t>
            </a:r>
            <a:r>
              <a:rPr lang="zh-CN" altLang="zh-CN" dirty="0"/>
              <a:t>美国军队在中东进行演习</a:t>
            </a:r>
            <a:endParaRPr lang="en-US" altLang="zh-CN"/>
          </a:p>
          <a:p>
            <a:r>
              <a:rPr lang="zh-CN" altLang="zh-CN" dirty="0"/>
              <a:t>现在分词直接表示正在进行的动作或事件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43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104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en-US" altLang="zh-CN"/>
              <a:t>Voice</a:t>
            </a:r>
            <a:endParaRPr lang="zh-CN" altLang="en-US"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/>
              <a:t>Van </a:t>
            </a:r>
            <a:r>
              <a:rPr lang="en-US" altLang="zh-CN" err="1"/>
              <a:t>Goghs</a:t>
            </a:r>
            <a:r>
              <a:rPr lang="en-US" altLang="zh-CN"/>
              <a:t> Recovered After Theft </a:t>
            </a:r>
            <a:endParaRPr lang="en-US" altLang="zh-CN"/>
          </a:p>
          <a:p>
            <a:r>
              <a:rPr lang="en-US" altLang="zh-CN"/>
              <a:t>(=Van </a:t>
            </a:r>
            <a:r>
              <a:rPr lang="en-US" altLang="zh-CN" err="1"/>
              <a:t>Goghs</a:t>
            </a:r>
            <a:r>
              <a:rPr lang="en-US" altLang="zh-CN"/>
              <a:t> Are Recovered After Theft) </a:t>
            </a:r>
            <a:r>
              <a:rPr lang="zh-CN" altLang="zh-CN" dirty="0"/>
              <a:t>梵高的画失而复得</a:t>
            </a:r>
            <a:endParaRPr lang="en-US" altLang="zh-CN"/>
          </a:p>
          <a:p>
            <a:r>
              <a:rPr lang="en-US" altLang="zh-CN"/>
              <a:t>500 Reported Kill In S. Korean Building Collapse </a:t>
            </a:r>
            <a:r>
              <a:rPr lang="zh-CN" altLang="zh-CN" dirty="0"/>
              <a:t>（韩国建筑倒塌造成</a:t>
            </a:r>
            <a:r>
              <a:rPr lang="en-US" altLang="zh-CN"/>
              <a:t>500</a:t>
            </a:r>
            <a:r>
              <a:rPr lang="zh-CN" altLang="zh-CN" dirty="0"/>
              <a:t>人死亡）</a:t>
            </a:r>
            <a:endParaRPr lang="en-US" altLang="zh-CN"/>
          </a:p>
          <a:p>
            <a:r>
              <a:rPr lang="zh-CN" altLang="en-US" dirty="0"/>
              <a:t>使用被动语态时常省略</a:t>
            </a:r>
            <a:r>
              <a:rPr lang="en-US" altLang="zh-CN"/>
              <a:t>be, </a:t>
            </a:r>
            <a:r>
              <a:rPr lang="zh-CN" altLang="en-US" dirty="0"/>
              <a:t>更多使用主动语态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33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81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147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493713" y="1101725"/>
            <a:ext cx="8193087" cy="5024438"/>
          </a:xfrm>
        </p:spPr>
        <p:txBody>
          <a:bodyPr vert="horz" wrap="square" lIns="91440" tIns="45720" rIns="91440" bIns="45720" anchor="t"/>
          <a:p>
            <a:r>
              <a:rPr lang="en-US" altLang="zh-CN"/>
              <a:t>The group of five Senators, </a:t>
            </a:r>
            <a:r>
              <a:rPr lang="en-US" altLang="zh-CN" u="sng"/>
              <a:t>led by Frank Church, Democrat of Idaho, the committee chair-man</a:t>
            </a:r>
            <a:r>
              <a:rPr lang="en-US" altLang="zh-CN"/>
              <a:t>, is on a six-day visit to China.</a:t>
            </a:r>
            <a:endParaRPr lang="en-US" altLang="zh-CN"/>
          </a:p>
          <a:p>
            <a:r>
              <a:rPr lang="en-US" altLang="zh-CN"/>
              <a:t>Using parenthesis(</a:t>
            </a:r>
            <a:r>
              <a:rPr lang="zh-CN" altLang="en-US" dirty="0"/>
              <a:t>插入语</a:t>
            </a:r>
            <a:r>
              <a:rPr lang="en-US" altLang="zh-CN"/>
              <a:t>)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125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en-US" altLang="zh-CN" err="1"/>
              <a:t>Premodifiers</a:t>
            </a:r>
            <a:endParaRPr lang="zh-CN" altLang="en-US" dirty="0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/>
              <a:t>Deeply-carpeted conference room, hard-won result, heavily-guarded government complex, highly-sophisticated technology, sparsely-populated area.</a:t>
            </a:r>
            <a:endParaRPr lang="en-US" altLang="zh-CN"/>
          </a:p>
          <a:p>
            <a:r>
              <a:rPr lang="en-US" altLang="zh-CN"/>
              <a:t>Adv + past participle</a:t>
            </a:r>
            <a:endParaRPr lang="en-US" altLang="zh-CN"/>
          </a:p>
          <a:p>
            <a:r>
              <a:rPr lang="en-US" altLang="zh-CN"/>
              <a:t>Disaster-hit area, web-enabled phone, state-owned enterprise</a:t>
            </a:r>
            <a:endParaRPr lang="en-US" altLang="zh-CN"/>
          </a:p>
          <a:p>
            <a:r>
              <a:rPr lang="en-US" altLang="zh-CN"/>
              <a:t>noun+ past participle</a:t>
            </a:r>
            <a:endParaRPr lang="en-US" altLang="zh-CN"/>
          </a:p>
          <a:p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0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44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66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227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/>
              <a:t>Arms-reduction talks, hunger-strike </a:t>
            </a:r>
            <a:r>
              <a:rPr lang="en-US" altLang="zh-CN" err="1"/>
              <a:t>sitdown</a:t>
            </a:r>
            <a:r>
              <a:rPr lang="en-US" altLang="zh-CN"/>
              <a:t>, supply-demand imbalance</a:t>
            </a:r>
            <a:endParaRPr lang="en-US" altLang="zh-CN"/>
          </a:p>
          <a:p>
            <a:r>
              <a:rPr lang="en-US" altLang="zh-CN"/>
              <a:t>Noun + noun</a:t>
            </a:r>
            <a:endParaRPr lang="en-US" altLang="zh-CN"/>
          </a:p>
          <a:p>
            <a:r>
              <a:rPr lang="en-US" altLang="zh-CN"/>
              <a:t>Cancer-causing drugs, energy-saving device, oil-producing country, policy-making body</a:t>
            </a:r>
            <a:endParaRPr lang="en-US" altLang="zh-CN"/>
          </a:p>
          <a:p>
            <a:r>
              <a:rPr lang="en-US" altLang="zh-CN"/>
              <a:t>Noun + present participle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0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69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81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167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endParaRPr lang="zh-CN" altLang="en-US" dirty="0"/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 err="1"/>
              <a:t>Eathquake</a:t>
            </a:r>
            <a:r>
              <a:rPr lang="en-US" altLang="zh-CN"/>
              <a:t>-prone area,  baby-friendly hospital, interest-free loan, </a:t>
            </a:r>
            <a:endParaRPr lang="en-US" altLang="zh-CN"/>
          </a:p>
          <a:p>
            <a:r>
              <a:rPr lang="en-US" altLang="zh-CN"/>
              <a:t>Noun + </a:t>
            </a:r>
            <a:r>
              <a:rPr lang="en-US" altLang="zh-CN" err="1"/>
              <a:t>adj</a:t>
            </a:r>
            <a:endParaRPr lang="en-US" altLang="zh-CN"/>
          </a:p>
          <a:p>
            <a:r>
              <a:rPr lang="en-US" altLang="zh-CN"/>
              <a:t>Wait-and-see policy, touch-and-go tension, off-and-on war</a:t>
            </a:r>
            <a:endParaRPr lang="en-US" altLang="zh-CN"/>
          </a:p>
          <a:p>
            <a:r>
              <a:rPr lang="en-US" altLang="zh-CN"/>
              <a:t>Shorter-than-usual-time summit conference, the Be-kind-to-Animal campaign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68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79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137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en-US" altLang="zh-CN"/>
              <a:t>Exercise</a:t>
            </a:r>
            <a:endParaRPr lang="zh-CN" altLang="en-US" dirty="0"/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/>
              <a:t>Most economists predict that the cap-and-trade program will go forward.</a:t>
            </a:r>
            <a:endParaRPr lang="en-US" altLang="zh-CN"/>
          </a:p>
          <a:p>
            <a:r>
              <a:rPr lang="zh-CN" altLang="en-US" dirty="0"/>
              <a:t>排放限制与额度交易计划</a:t>
            </a:r>
            <a:endParaRPr lang="en-US" altLang="zh-CN"/>
          </a:p>
          <a:p>
            <a:r>
              <a:rPr lang="en-US" altLang="zh-CN"/>
              <a:t>Unlike Europe, the emerging market countries are not speaking with a unified voice.</a:t>
            </a:r>
            <a:endParaRPr lang="en-US" altLang="zh-CN"/>
          </a:p>
          <a:p>
            <a:r>
              <a:rPr lang="zh-CN" altLang="en-US" dirty="0"/>
              <a:t>新兴市场国家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72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84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168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en-US" altLang="zh-CN"/>
              <a:t>Source attribution(</a:t>
            </a:r>
            <a:r>
              <a:rPr lang="zh-CN" altLang="en-US" dirty="0"/>
              <a:t>出处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1100"/>
          </a:xfrm>
        </p:spPr>
        <p:txBody>
          <a:bodyPr vert="horz" wrap="square" lIns="91440" tIns="45720" rIns="91440" bIns="45720" anchor="t"/>
          <a:p>
            <a:r>
              <a:rPr lang="en-US" altLang="zh-CN"/>
              <a:t>Analysts, authoritative sources, authorities, circles (</a:t>
            </a:r>
            <a:r>
              <a:rPr lang="zh-CN" altLang="en-US" dirty="0"/>
              <a:t>方面</a:t>
            </a:r>
            <a:r>
              <a:rPr lang="en-US" altLang="zh-CN"/>
              <a:t>), industrial quarters (</a:t>
            </a:r>
            <a:r>
              <a:rPr lang="zh-CN" altLang="en-US" dirty="0"/>
              <a:t>产业界</a:t>
            </a:r>
            <a:r>
              <a:rPr lang="en-US" altLang="zh-CN"/>
              <a:t>), well-informed sources, observers, neutral sources (</a:t>
            </a:r>
            <a:r>
              <a:rPr lang="zh-CN" altLang="en-US" dirty="0"/>
              <a:t>中立人士</a:t>
            </a:r>
            <a:r>
              <a:rPr lang="en-US" altLang="zh-CN"/>
              <a:t>), in-circle sources, </a:t>
            </a:r>
            <a:r>
              <a:rPr lang="en-US" altLang="zh-CN" err="1"/>
              <a:t>spokesman(woman</a:t>
            </a:r>
            <a:r>
              <a:rPr lang="en-US" altLang="zh-CN"/>
              <a:t>),</a:t>
            </a:r>
            <a:r>
              <a:rPr lang="zh-CN" altLang="en-US" dirty="0"/>
              <a:t> </a:t>
            </a:r>
            <a:r>
              <a:rPr lang="en-US" altLang="zh-CN"/>
              <a:t>witnesses</a:t>
            </a:r>
            <a:endParaRPr lang="en-US" altLang="zh-CN"/>
          </a:p>
          <a:p>
            <a:r>
              <a:rPr lang="en-US" altLang="zh-CN"/>
              <a:t>According to an anonymous source, foreign radios announced…,</a:t>
            </a:r>
            <a:endParaRPr lang="en-US" altLang="zh-CN"/>
          </a:p>
          <a:p>
            <a:r>
              <a:rPr lang="en-US" altLang="zh-CN"/>
              <a:t>It is alleged that, it has been calculated that</a:t>
            </a:r>
            <a:endParaRPr lang="en-US" altLang="zh-CN"/>
          </a:p>
          <a:p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charRg st="0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charRg st="192" end="2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charRg st="253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en-US" altLang="zh-CN"/>
              <a:t>Discussion</a:t>
            </a:r>
            <a:endParaRPr lang="zh-CN" altLang="en-US" dirty="0"/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/>
              <a:t>Do you think the government of China should regulate AI?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2076</Words>
  <Application>WPS 文字</Application>
  <PresentationFormat>在屏幕上显示</PresentationFormat>
  <Paragraphs>75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方正书宋_GBK</vt:lpstr>
      <vt:lpstr>Wingdings</vt:lpstr>
      <vt:lpstr>宋体</vt:lpstr>
      <vt:lpstr>汉仪书宋二KW</vt:lpstr>
      <vt:lpstr>Georgia</vt:lpstr>
      <vt:lpstr>Times New Roman</vt:lpstr>
      <vt:lpstr>微软雅黑</vt:lpstr>
      <vt:lpstr>汉仪旗黑</vt:lpstr>
      <vt:lpstr>宋体</vt:lpstr>
      <vt:lpstr>Arial Unicode MS</vt:lpstr>
      <vt:lpstr>等线</vt:lpstr>
      <vt:lpstr>汉仪中等线KW</vt:lpstr>
      <vt:lpstr>1_默认设计模板</vt:lpstr>
      <vt:lpstr>A Selection of English Newspaper &amp; Magazine Aritcles</vt:lpstr>
      <vt:lpstr>Language features of news (Grammar) </vt:lpstr>
      <vt:lpstr>Tense</vt:lpstr>
      <vt:lpstr>Tense</vt:lpstr>
      <vt:lpstr>Voice</vt:lpstr>
      <vt:lpstr>PowerPoint 演示文稿</vt:lpstr>
      <vt:lpstr>Premodifiers</vt:lpstr>
      <vt:lpstr>PowerPoint 演示文稿</vt:lpstr>
      <vt:lpstr>PowerPoint 演示文稿</vt:lpstr>
      <vt:lpstr>Exercise</vt:lpstr>
      <vt:lpstr>Source attribution(出处)</vt:lpstr>
      <vt:lpstr>Discussion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</dc:title>
  <dc:creator>michael</dc:creator>
  <cp:lastModifiedBy>renfang</cp:lastModifiedBy>
  <cp:revision>64</cp:revision>
  <dcterms:created xsi:type="dcterms:W3CDTF">2021-05-17T08:00:19Z</dcterms:created>
  <dcterms:modified xsi:type="dcterms:W3CDTF">2021-05-17T08:00:19Z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2052-3.5.1.5630</vt:lpwstr>
  </property>
</Properties>
</file>