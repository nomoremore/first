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7"/>
  </p:notesMasterIdLst>
  <p:sldIdLst>
    <p:sldId id="256" r:id="rId4"/>
    <p:sldId id="278" r:id="rId5"/>
    <p:sldId id="304" r:id="rId6"/>
    <p:sldId id="279" r:id="rId7"/>
    <p:sldId id="280" r:id="rId8"/>
    <p:sldId id="281" r:id="rId9"/>
    <p:sldId id="284" r:id="rId10"/>
    <p:sldId id="285" r:id="rId11"/>
    <p:sldId id="282" r:id="rId12"/>
    <p:sldId id="283" r:id="rId13"/>
    <p:sldId id="259" r:id="rId14"/>
    <p:sldId id="305" r:id="rId15"/>
    <p:sldId id="277" r:id="rId16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506" y="-102"/>
      </p:cViewPr>
      <p:guideLst>
        <p:guide orient="horz" pos="215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zh-CN" dirty="0"/>
              <a:t>单击此处编辑母版标题样式</a:t>
            </a:r>
            <a:endParaRPr lang="zh-CN" altLang="zh-CN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zh-CN" dirty="0"/>
              <a:t>单击此处编辑母版文本样式</a:t>
            </a:r>
            <a:endParaRPr lang="zh-CN" altLang="zh-CN" dirty="0"/>
          </a:p>
          <a:p>
            <a:pPr lvl="1" indent="-285750"/>
            <a:r>
              <a:rPr lang="zh-CN" altLang="zh-CN" dirty="0"/>
              <a:t>第二级</a:t>
            </a:r>
            <a:endParaRPr lang="zh-CN" altLang="zh-CN" dirty="0"/>
          </a:p>
          <a:p>
            <a:pPr lvl="2" indent="-228600"/>
            <a:r>
              <a:rPr lang="zh-CN" altLang="zh-CN" dirty="0"/>
              <a:t>第三级</a:t>
            </a:r>
            <a:endParaRPr lang="zh-CN" altLang="zh-CN" dirty="0"/>
          </a:p>
          <a:p>
            <a:pPr lvl="3" indent="-228600"/>
            <a:r>
              <a:rPr lang="zh-CN" altLang="zh-CN" dirty="0"/>
              <a:t>第四级</a:t>
            </a:r>
            <a:endParaRPr lang="zh-CN" altLang="zh-CN" dirty="0"/>
          </a:p>
          <a:p>
            <a:pPr lvl="4" indent="-228600"/>
            <a:r>
              <a:rPr lang="zh-CN" altLang="zh-CN" dirty="0"/>
              <a:t>第五级</a:t>
            </a:r>
            <a:endParaRPr lang="zh-CN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eaLnBrk="1" fontAlgn="base" hangingPunct="1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1026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/>
          <a:lstStyle>
            <a:lvl1pPr algn="ctr">
              <a:buFont typeface="Arial" panose="020B0604020202090204" pitchFamily="34" charset="0"/>
              <a:buNone/>
              <a:defRPr sz="1400" noProof="1">
                <a:latin typeface="Arial" panose="020B0604020202090204" pitchFamily="34" charset="0"/>
              </a:defRPr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zh-CN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 fontAlgn="base"/>
            <a:fld id="{9A0DB2DC-4C9A-4742-B13C-FB6460FD3503}" type="slidenum">
              <a:rPr lang="zh-CN" altLang="zh-CN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zh-CN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3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17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1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>
                                            <p:txEl>
                                              <p:charRg st="2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9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spcBef>
          <a:spcPct val="0"/>
        </a:spcBef>
        <a:spcAft>
          <a:spcPct val="0"/>
        </a:spcAft>
        <a:buFont typeface="Arial" panose="020B060402020209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hemeOverride" Target="../theme/themeOverr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7" name="Rectangle 2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4400" kern="1200" dirty="0">
                <a:latin typeface="+mj-lt"/>
                <a:ea typeface="+mj-ea"/>
                <a:cs typeface="+mj-cs"/>
              </a:rPr>
              <a:t>Unit 2</a:t>
            </a:r>
            <a:endParaRPr lang="zh-CN" altLang="zh-CN" sz="4400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4098" name="Rectangle 3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ln/>
        </p:spPr>
        <p:txBody>
          <a:bodyPr vert="horz" wrap="square" lIns="91440" tIns="45720" rIns="91440" bIns="45720" anchor="t"/>
          <a:p>
            <a:pPr eaLnBrk="1" hangingPunct="1"/>
            <a:r>
              <a:rPr lang="en-US" altLang="zh-CN" sz="3200" kern="1200" dirty="0">
                <a:latin typeface="+mn-lt"/>
                <a:ea typeface="+mn-ea"/>
                <a:cs typeface="+mn-cs"/>
              </a:rPr>
              <a:t>Information Technology</a:t>
            </a:r>
            <a:endParaRPr lang="en-US" altLang="zh-CN" sz="3200" kern="1200" dirty="0">
              <a:latin typeface="+mn-lt"/>
              <a:ea typeface="+mn-ea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dirty="0"/>
              <a:t>Language features of news</a:t>
            </a:r>
            <a:endParaRPr lang="en-US" altLang="zh-CN" b="1" dirty="0">
              <a:latin typeface="Verdana" panose="020B0804030504040204" pitchFamily="34" charset="0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358775" y="2636838"/>
            <a:ext cx="3421063" cy="4752975"/>
          </a:xfrm>
          <a:ln/>
        </p:spPr>
        <p:txBody>
          <a:bodyPr vert="horz" wrap="square" lIns="91440" tIns="45720" rIns="91440" bIns="45720" anchor="t"/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express paper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bulletin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tabloid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review news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press office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publisher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chief editor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freelancer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correspondent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7411" name="Text Box 4"/>
          <p:cNvSpPr txBox="1"/>
          <p:nvPr/>
        </p:nvSpPr>
        <p:spPr>
          <a:xfrm>
            <a:off x="323850" y="1916113"/>
            <a:ext cx="4895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spcBef>
                <a:spcPct val="50000"/>
              </a:spcBef>
            </a:pPr>
            <a:r>
              <a:rPr lang="en-US" altLang="zh-CN" sz="2800" b="1" dirty="0">
                <a:solidFill>
                  <a:srgbClr val="800000"/>
                </a:solidFill>
                <a:latin typeface="华文新魏" pitchFamily="2" charset="-122"/>
                <a:ea typeface="华文新魏" pitchFamily="2" charset="-122"/>
              </a:rPr>
              <a:t>Journalistic terms</a:t>
            </a:r>
            <a:endParaRPr lang="en-US" altLang="zh-CN" sz="2800" b="1" dirty="0">
              <a:solidFill>
                <a:srgbClr val="8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7412" name="Text Box 5"/>
          <p:cNvSpPr txBox="1"/>
          <p:nvPr/>
        </p:nvSpPr>
        <p:spPr>
          <a:xfrm>
            <a:off x="4500563" y="2349500"/>
            <a:ext cx="4032250" cy="42910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spcBef>
                <a:spcPct val="50000"/>
              </a:spcBef>
              <a:buChar char="•"/>
            </a:pPr>
            <a:r>
              <a:rPr lang="en-US" altLang="zh-CN" dirty="0">
                <a:latin typeface="Verdana" panose="020B0804030504040204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contributor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headline news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running stories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criticism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profile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comic strip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supplement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wanted column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dirty="0"/>
              <a:t>Language features of news</a:t>
            </a:r>
            <a:endParaRPr lang="en-US" altLang="zh-CN" b="1" dirty="0">
              <a:latin typeface="Verdana" panose="020B0804030504040204" pitchFamily="34" charset="0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358775" y="2636838"/>
            <a:ext cx="3421063" cy="4752975"/>
          </a:xfrm>
          <a:ln/>
        </p:spPr>
        <p:txBody>
          <a:bodyPr vert="horz" wrap="square" lIns="91440" tIns="45720" rIns="91440" bIns="45720" anchor="t"/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express paper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bulletin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tabloid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review news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press office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publisher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chief editor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freelancer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eaLnBrk="1" hangingPunct="1"/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correspondent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8435" name="Text Box 4"/>
          <p:cNvSpPr txBox="1"/>
          <p:nvPr/>
        </p:nvSpPr>
        <p:spPr>
          <a:xfrm>
            <a:off x="323850" y="1916113"/>
            <a:ext cx="4895850" cy="519112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spcBef>
                <a:spcPct val="50000"/>
              </a:spcBef>
            </a:pPr>
            <a:r>
              <a:rPr lang="en-US" altLang="zh-CN" sz="2800" b="1" dirty="0">
                <a:solidFill>
                  <a:srgbClr val="800000"/>
                </a:solidFill>
                <a:latin typeface="华文新魏" pitchFamily="2" charset="-122"/>
                <a:ea typeface="华文新魏" pitchFamily="2" charset="-122"/>
              </a:rPr>
              <a:t>Journalistic terms</a:t>
            </a:r>
            <a:endParaRPr lang="en-US" altLang="zh-CN" sz="2800" b="1" dirty="0">
              <a:solidFill>
                <a:srgbClr val="8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18436" name="Text Box 5"/>
          <p:cNvSpPr txBox="1"/>
          <p:nvPr/>
        </p:nvSpPr>
        <p:spPr>
          <a:xfrm>
            <a:off x="4500563" y="2349500"/>
            <a:ext cx="4032250" cy="429101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p>
            <a:pPr indent="0">
              <a:spcBef>
                <a:spcPct val="50000"/>
              </a:spcBef>
              <a:buChar char="•"/>
            </a:pPr>
            <a:r>
              <a:rPr lang="en-US" altLang="zh-CN" dirty="0">
                <a:latin typeface="Verdana" panose="020B0804030504040204" pitchFamily="34" charset="0"/>
                <a:ea typeface="宋体" pitchFamily="2" charset="-122"/>
              </a:rPr>
              <a:t> </a:t>
            </a: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contributor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headline news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running stories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criticism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profile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comic strip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supplement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  <a:p>
            <a:pPr indent="0">
              <a:spcBef>
                <a:spcPct val="50000"/>
              </a:spcBef>
              <a:buChar char="•"/>
            </a:pPr>
            <a:r>
              <a:rPr lang="en-US" altLang="zh-CN" sz="2400" dirty="0">
                <a:latin typeface="华文新魏" pitchFamily="2" charset="-122"/>
                <a:ea typeface="华文新魏" pitchFamily="2" charset="-122"/>
              </a:rPr>
              <a:t> wanted column</a:t>
            </a:r>
            <a:endParaRPr lang="en-US" altLang="zh-CN" sz="2400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13050" y="2770188"/>
            <a:ext cx="1943100" cy="4616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快报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公告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小报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回顾新闻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新闻处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出版者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主编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自由职业者</a:t>
            </a:r>
            <a:endParaRPr lang="zh-CN" altLang="en-US" sz="2400" noProof="1"/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通讯员</a:t>
            </a:r>
            <a:endParaRPr lang="zh-CN" altLang="en-US" sz="2400" noProof="1"/>
          </a:p>
          <a:p>
            <a:pPr marL="285750" indent="-285750"/>
            <a:endParaRPr lang="zh-CN" altLang="en-US" noProof="1"/>
          </a:p>
          <a:p>
            <a:endParaRPr lang="zh-CN" altLang="en-US" noProof="1"/>
          </a:p>
          <a:p>
            <a:endParaRPr lang="zh-CN" altLang="en-US" noProof="1"/>
          </a:p>
        </p:txBody>
      </p:sp>
      <p:sp>
        <p:nvSpPr>
          <p:cNvPr id="4" name="文本框 3"/>
          <p:cNvSpPr txBox="1"/>
          <p:nvPr/>
        </p:nvSpPr>
        <p:spPr>
          <a:xfrm>
            <a:off x="6718300" y="2217738"/>
            <a:ext cx="1968500" cy="5446713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noProof="1">
                <a:latin typeface="Arial" panose="020B0604020202090204" pitchFamily="34" charset="0"/>
                <a:ea typeface="宋体" pitchFamily="2" charset="-122"/>
                <a:cs typeface="+mn-cs"/>
              </a:rPr>
              <a:t> </a:t>
            </a: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贡献者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头条新闻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流言蜚语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批评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概况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连环画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补充</a:t>
            </a:r>
            <a:endParaRPr lang="zh-CN" altLang="en-US" sz="2400" noProof="1"/>
          </a:p>
          <a:p>
            <a:pPr marL="34290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sz="2400" noProof="1">
                <a:latin typeface="Arial" panose="020B0604020202090204" pitchFamily="34" charset="0"/>
                <a:ea typeface="宋体" pitchFamily="2" charset="-122"/>
                <a:cs typeface="+mn-cs"/>
              </a:rPr>
              <a:t> 通栏</a:t>
            </a:r>
            <a:endParaRPr lang="zh-CN" altLang="en-US" sz="2400" noProof="1"/>
          </a:p>
          <a:p>
            <a:pPr marL="342900" indent="-342900"/>
            <a:endParaRPr lang="zh-CN" altLang="en-US" sz="2400" noProof="1"/>
          </a:p>
          <a:p>
            <a:endParaRPr lang="zh-CN" altLang="en-US" noProof="1"/>
          </a:p>
          <a:p>
            <a:endParaRPr lang="zh-CN" altLang="en-US" noProof="1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charRg st="0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14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14">
                                            <p:txEl>
                                              <p:charRg st="14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3314">
                                            <p:txEl>
                                              <p:charRg st="23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314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43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3314">
                                            <p:txEl>
                                              <p:charRg st="43" end="5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56" end="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314">
                                            <p:txEl>
                                              <p:charRg st="56" end="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3314">
                                            <p:txEl>
                                              <p:charRg st="66" end="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79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314">
                                            <p:txEl>
                                              <p:charRg st="79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charRg st="9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3314">
                                            <p:txEl>
                                              <p:charRg st="90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4" grpId="0" uiExpand="1" build="p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sz="3800" dirty="0"/>
              <a:t>What newspaper or magazine do you know or read?</a:t>
            </a:r>
            <a:endParaRPr lang="en-US" altLang="zh-CN" sz="3800" dirty="0"/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pPr>
              <a:buFont typeface="Wingdings" panose="05000000000000000000" pitchFamily="2" charset="2"/>
              <a:buNone/>
            </a:pPr>
            <a:endParaRPr lang="zh-CN" altLang="zh-CN" dirty="0"/>
          </a:p>
        </p:txBody>
      </p:sp>
      <p:sp>
        <p:nvSpPr>
          <p:cNvPr id="19459" name="Text Box 4"/>
          <p:cNvSpPr txBox="1"/>
          <p:nvPr/>
        </p:nvSpPr>
        <p:spPr>
          <a:xfrm>
            <a:off x="-92075" y="6361113"/>
            <a:ext cx="5594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indent="0" eaLnBrk="0" hangingPunct="0"/>
            <a:r>
              <a:rPr lang="en-US" altLang="zh-CN" dirty="0">
                <a:latin typeface="Arial" panose="020B0604020202090204" pitchFamily="34" charset="0"/>
                <a:ea typeface="宋体" pitchFamily="2" charset="-122"/>
              </a:rPr>
              <a:t>http://www.hjenglish.com/doc/myexam/104_1644.htm</a:t>
            </a:r>
            <a:endParaRPr lang="en-US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  <p:pic>
        <p:nvPicPr>
          <p:cNvPr id="19460" name="Picture 5" descr="1-1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0" y="1600200"/>
            <a:ext cx="3302000" cy="4572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9461" name="Picture 6" descr="370-China-Daily,-the-English-language-newspaper,-establishes-an-office-in-S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1400" y="2057400"/>
            <a:ext cx="5286375" cy="3962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sz="3800" dirty="0"/>
              <a:t>What newspaper or magazine do you know or read?</a:t>
            </a:r>
            <a:endParaRPr lang="en-US" altLang="zh-CN" sz="3800" dirty="0"/>
          </a:p>
        </p:txBody>
      </p:sp>
      <p:sp>
        <p:nvSpPr>
          <p:cNvPr id="20482" name="Rectangle 3"/>
          <p:cNvSpPr>
            <a:spLocks noGrp="1"/>
          </p:cNvSpPr>
          <p:nvPr>
            <p:ph idx="1"/>
          </p:nvPr>
        </p:nvSpPr>
        <p:spPr>
          <a:xfrm>
            <a:off x="457200" y="1490663"/>
            <a:ext cx="8229600" cy="4525962"/>
          </a:xfrm>
          <a:ln/>
        </p:spPr>
        <p:txBody>
          <a:bodyPr vert="horz" wrap="square" lIns="91440" tIns="45720" rIns="91440" bIns="45720" anchor="t"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纽约时报</a:t>
            </a:r>
            <a:r>
              <a:rPr lang="en-US" altLang="zh-CN" sz="3000" dirty="0"/>
              <a:t>》(</a:t>
            </a:r>
            <a:r>
              <a:rPr lang="en-US" altLang="zh-CN" sz="3000" i="1" dirty="0">
                <a:latin typeface="Arial Italic" panose="020B0604020202090204" charset="0"/>
              </a:rPr>
              <a:t>The New York Times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华盛顿邮报</a:t>
            </a:r>
            <a:r>
              <a:rPr lang="en-US" altLang="zh-CN" sz="3000" dirty="0"/>
              <a:t>》(</a:t>
            </a:r>
            <a:r>
              <a:rPr lang="en-US" altLang="zh-CN" sz="3000" i="1" dirty="0">
                <a:latin typeface="Arial Italic" panose="020B0604020202090204" charset="0"/>
              </a:rPr>
              <a:t>The Washington Post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时代</a:t>
            </a:r>
            <a:r>
              <a:rPr lang="en-US" altLang="zh-CN" sz="3000" dirty="0"/>
              <a:t>》</a:t>
            </a:r>
            <a:r>
              <a:rPr lang="zh-CN" altLang="en-US" sz="3000" dirty="0"/>
              <a:t>周刊</a:t>
            </a:r>
            <a:r>
              <a:rPr lang="en-US" altLang="zh-CN" sz="3000" dirty="0"/>
              <a:t>(</a:t>
            </a:r>
            <a:r>
              <a:rPr lang="en-US" altLang="zh-CN" sz="3000" i="1" dirty="0">
                <a:latin typeface="Arial Italic" panose="020B0604020202090204" charset="0"/>
              </a:rPr>
              <a:t>Time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泰晤士报</a:t>
            </a:r>
            <a:r>
              <a:rPr lang="en-US" altLang="zh-CN" sz="3000" dirty="0"/>
              <a:t>》(</a:t>
            </a:r>
            <a:r>
              <a:rPr lang="en-US" altLang="zh-CN" sz="3000" i="1" dirty="0">
                <a:latin typeface="Arial Italic" panose="020B0604020202090204" charset="0"/>
              </a:rPr>
              <a:t>The Times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经济学家</a:t>
            </a:r>
            <a:r>
              <a:rPr lang="en-US" altLang="zh-CN" sz="3000" dirty="0"/>
              <a:t>》(</a:t>
            </a:r>
            <a:r>
              <a:rPr lang="en-US" altLang="zh-CN" sz="3000" i="1" dirty="0">
                <a:latin typeface="Arial Italic" panose="020B0604020202090204" charset="0"/>
              </a:rPr>
              <a:t>The Economist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《</a:t>
            </a:r>
            <a:r>
              <a:rPr lang="zh-CN" altLang="en-US" sz="3000" dirty="0"/>
              <a:t>旁观者</a:t>
            </a:r>
            <a:r>
              <a:rPr lang="en-US" altLang="zh-CN" sz="3000" dirty="0"/>
              <a:t>》(</a:t>
            </a:r>
            <a:r>
              <a:rPr lang="en-US" altLang="zh-CN" sz="3000" i="1" dirty="0">
                <a:latin typeface="Arial Italic" panose="020B0604020202090204" charset="0"/>
              </a:rPr>
              <a:t>The Spectator</a:t>
            </a:r>
            <a:r>
              <a:rPr lang="en-US" altLang="zh-CN" sz="3000" dirty="0"/>
              <a:t>)</a:t>
            </a:r>
            <a:endParaRPr lang="en-US" altLang="zh-CN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3000" dirty="0"/>
              <a:t>  </a:t>
            </a:r>
            <a:r>
              <a:rPr lang="zh-CN" altLang="en-US" sz="3000" dirty="0"/>
              <a:t>著名的通讯社</a:t>
            </a:r>
            <a:r>
              <a:rPr lang="en-US" altLang="zh-CN" sz="3000" dirty="0"/>
              <a:t>:</a:t>
            </a:r>
            <a:endParaRPr lang="zh-CN" altLang="en-US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/>
              <a:t>  美国的美联社</a:t>
            </a:r>
            <a:r>
              <a:rPr lang="en-US" altLang="zh-CN" sz="3000" dirty="0"/>
              <a:t>(Associated Press</a:t>
            </a:r>
            <a:r>
              <a:rPr lang="zh-CN" altLang="en-US" sz="3000" dirty="0"/>
              <a:t>，</a:t>
            </a:r>
            <a:r>
              <a:rPr lang="en-US" altLang="zh-CN" sz="3000" dirty="0"/>
              <a:t>AP)</a:t>
            </a:r>
            <a:endParaRPr lang="zh-CN" altLang="en-US" sz="30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3000" dirty="0"/>
              <a:t>英国的路透社</a:t>
            </a:r>
            <a:r>
              <a:rPr lang="en-US" altLang="zh-CN" sz="3000" dirty="0"/>
              <a:t>(Reuter’S News Agency, Reuters)</a:t>
            </a:r>
            <a:endParaRPr lang="en-US" altLang="zh-CN" sz="3000" dirty="0"/>
          </a:p>
        </p:txBody>
      </p:sp>
      <p:sp>
        <p:nvSpPr>
          <p:cNvPr id="20483" name="Text Box 4"/>
          <p:cNvSpPr txBox="1"/>
          <p:nvPr/>
        </p:nvSpPr>
        <p:spPr>
          <a:xfrm>
            <a:off x="-92075" y="6361113"/>
            <a:ext cx="5594350" cy="366712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p>
            <a:pPr indent="0" eaLnBrk="0" hangingPunct="0"/>
            <a:r>
              <a:rPr lang="en-US" altLang="zh-CN" dirty="0">
                <a:latin typeface="Arial" panose="020B0604020202090204" pitchFamily="34" charset="0"/>
                <a:ea typeface="宋体" pitchFamily="2" charset="-122"/>
              </a:rPr>
              <a:t>http://www.hjenglish.com/doc/myexam/104_1644.htm</a:t>
            </a:r>
            <a:endParaRPr lang="en-US" altLang="zh-CN" dirty="0">
              <a:latin typeface="Arial" panose="020B0604020202090204" pitchFamily="34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sz="3600" dirty="0"/>
              <a:t>Language of news: compound word</a:t>
            </a:r>
            <a:endParaRPr lang="zh-CN" altLang="zh-CN" sz="36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395288" y="1125538"/>
            <a:ext cx="8353425" cy="518318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·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r>
              <a:rPr kumimoji="0" lang="en-US" altLang="zh-CN" sz="2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Compound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words are made up of two (or more) separate words. You can combine nouns (a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flatmate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), adjectives (lovesick) or verbs (jump-start) to make compound words.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7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sz="4000" dirty="0"/>
              <a:t>Three forms of compound words</a:t>
            </a:r>
            <a:endParaRPr lang="zh-CN" altLang="en-US" sz="4000" dirty="0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dirty="0"/>
              <a:t>one word: flatmate, lovesick 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two words: tourist guide, travel agent 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hyphenated: low-paid (adj.), film-goer (noun)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Noun compounds</a:t>
            </a:r>
            <a:endParaRPr lang="zh-CN" altLang="en-US" dirty="0"/>
          </a:p>
        </p:txBody>
      </p:sp>
      <p:sp>
        <p:nvSpPr>
          <p:cNvPr id="23554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dirty="0"/>
              <a:t>(n.+v.)sunrise, earthquake, daybreak, birth-control, haircut, dress-design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(v+n) playboy, watchdog, flashlight, typewriter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(v+prep)drawback, handout, ringback, breakup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swimming pool, waiting room, walking stick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safety belt, chairman, motorcycle 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Adjective compounds </a:t>
            </a:r>
            <a:br>
              <a:rPr lang="en-US" altLang="zh-CN" dirty="0"/>
            </a:br>
            <a:endParaRPr lang="zh-CN" altLang="zh-CN" dirty="0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539750" y="1125538"/>
            <a:ext cx="8229600" cy="4525962"/>
          </a:xfrm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sz="2800" dirty="0"/>
              <a:t>heart-breaking, self-defeating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homemade, handmade, handwritten,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hardworking, good-looking, easy-going, well-wishing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widespread, well-meant, 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well-timed, upbeat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tax free, self-conscious, grass green ,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smoke-free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r>
              <a:rPr lang="en-US" altLang="zh-CN" sz="2800" dirty="0"/>
              <a:t>·</a:t>
            </a:r>
            <a:endParaRPr lang="en-US" altLang="zh-CN" sz="28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Verb compounds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25602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dirty="0"/>
              <a:t>housekeep, lip-read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day-dream, window-shop, uplift</a:t>
            </a:r>
            <a:endParaRPr lang="en-US" altLang="zh-CN" dirty="0"/>
          </a:p>
          <a:p>
            <a:pPr>
              <a:lnSpc>
                <a:spcPct val="80000"/>
              </a:lnSpc>
            </a:pPr>
            <a:r>
              <a:rPr lang="en-US" altLang="zh-CN" dirty="0"/>
              <a:t>Spoon-feed</a:t>
            </a:r>
            <a:endParaRPr lang="en-US" altLang="zh-CN" dirty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pPr>
              <a:lnSpc>
                <a:spcPct val="80000"/>
              </a:lnSpc>
            </a:pPr>
            <a:r>
              <a:rPr lang="en-US" altLang="zh-CN" dirty="0"/>
              <a:t>Compounds with hyphens</a:t>
            </a:r>
            <a:endParaRPr lang="en-US" altLang="zh-CN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sz="2800" dirty="0"/>
              <a:t>The wait-and-see attitude, the life-and-death issue, the hit-and-run accident, the deficit-ridden state-owned enterprise, ready-to-eat food, after-sales service, a hide-and-seek game, a round-the-clock service, a by-no-means negligible role, a difficult-to-operate machine, a never-to-be-forgotten film, a corruption-free country, a terror-stricken country, a heart-in-the-mouth situation, an all-talk-no-action craven, a search-and-rescue mission, a win-win policy, take a “can-do” attitude</a:t>
            </a:r>
            <a:endParaRPr lang="en-US" altLang="zh-CN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7650" name="内容占位符 2"/>
          <p:cNvSpPr>
            <a:spLocks noGrp="1"/>
          </p:cNvSpPr>
          <p:nvPr>
            <p:ph idx="1"/>
          </p:nvPr>
        </p:nvSpPr>
        <p:spPr>
          <a:xfrm>
            <a:off x="457200" y="401638"/>
            <a:ext cx="8229600" cy="6030912"/>
          </a:xfrm>
          <a:ln/>
        </p:spPr>
        <p:txBody>
          <a:bodyPr vert="horz" wrap="square" lIns="91440" tIns="45720" rIns="91440" bIns="45720" anchor="t"/>
          <a:p>
            <a:pPr>
              <a:lnSpc>
                <a:spcPct val="80000"/>
              </a:lnSpc>
            </a:pPr>
            <a:r>
              <a:rPr lang="en-US" altLang="zh-CN" sz="2000" dirty="0"/>
              <a:t>The wait-and-see attitude观望的态度,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the life-and-death issue生死攸关的问题,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the hit-and-run accident肇事逃逸的事故,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the deficit-ridden state-owned enterprise亏损的国企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ready-to-eat food,即食的食品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after-sales service</a:t>
            </a:r>
            <a:r>
              <a:rPr lang="en-US" altLang="zh-CN" sz="2000" dirty="0">
                <a:sym typeface="宋体" pitchFamily="2" charset="-122"/>
              </a:rPr>
              <a:t>售后服务</a:t>
            </a:r>
            <a:r>
              <a:rPr lang="en-US" altLang="zh-CN" sz="2000" dirty="0"/>
              <a:t>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hide-and-seek game捉迷藏的游戏, cat-and-mouse game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round-the-clock service全天候的服务,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a by-no-means negligible role绝对不可忽视的作用,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difficult-to-operate machine一台难以操作的机器,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never-to-be-forgotten film一部永远不会被遗忘的电影,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a corruption-free country一个廉洁的/</a:t>
            </a:r>
            <a:r>
              <a:rPr lang="zh-CN" altLang="en-US" sz="2000" dirty="0"/>
              <a:t>没有腐败的</a:t>
            </a:r>
            <a:r>
              <a:rPr lang="en-US" altLang="zh-CN" sz="2000" dirty="0"/>
              <a:t>国家,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terror-stricken country一个被恐怖笼罩的国家,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a heart-in-the-mouth situation</a:t>
            </a:r>
            <a:r>
              <a:rPr lang="zh-CN" altLang="en-US" sz="2000" dirty="0"/>
              <a:t>一个</a:t>
            </a:r>
            <a:r>
              <a:rPr lang="en-US" altLang="zh-CN" sz="2000" dirty="0"/>
              <a:t>惊心动魄的情景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an all-talk-no-action craven一</a:t>
            </a:r>
            <a:r>
              <a:rPr lang="zh-CN" altLang="en-US" sz="2000" dirty="0"/>
              <a:t>光说不练的懦夫</a:t>
            </a:r>
            <a:r>
              <a:rPr lang="en-US" altLang="zh-CN" sz="2000" dirty="0"/>
              <a:t>/</a:t>
            </a:r>
            <a:r>
              <a:rPr lang="zh-CN" altLang="en-US" sz="2000" dirty="0"/>
              <a:t>胆小鬼</a:t>
            </a:r>
            <a:r>
              <a:rPr lang="en-US" altLang="zh-CN" sz="2000" dirty="0"/>
              <a:t>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search-and-rescue mission一个搜救任务, 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a win-win policy一个双赢的政策,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r>
              <a:rPr lang="en-US" altLang="zh-CN" sz="2000" dirty="0"/>
              <a:t> take a “can-do” attitude采取积极进取的态度</a:t>
            </a:r>
            <a:endParaRPr lang="en-US" altLang="zh-CN" sz="2000" dirty="0"/>
          </a:p>
          <a:p>
            <a:pPr>
              <a:lnSpc>
                <a:spcPct val="80000"/>
              </a:lnSpc>
            </a:pPr>
            <a:endParaRPr lang="en-US" altLang="zh-CN" sz="20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  <a:p>
            <a:pPr>
              <a:lnSpc>
                <a:spcPct val="80000"/>
              </a:lnSpc>
            </a:pPr>
            <a:endParaRPr lang="en-US" altLang="zh-CN" sz="280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ctr"/>
          <a:p>
            <a:r>
              <a:rPr lang="en-US" altLang="zh-CN" dirty="0"/>
              <a:t>Disscusion</a:t>
            </a:r>
            <a:endParaRPr lang="zh-CN" altLang="en-US" dirty="0"/>
          </a:p>
        </p:txBody>
      </p:sp>
      <p:sp>
        <p:nvSpPr>
          <p:cNvPr id="37891" name="内容占位符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/>
          <a:p>
            <a:r>
              <a:rPr lang="en-US" altLang="zh-CN" dirty="0"/>
              <a:t>Do you think governments in China should regulate w</a:t>
            </a:r>
            <a:r>
              <a:rPr lang="zh-CN" altLang="zh-CN" dirty="0"/>
              <a:t>eb </a:t>
            </a:r>
            <a:r>
              <a:rPr lang="en-US" altLang="zh-CN" dirty="0"/>
              <a:t>h</a:t>
            </a:r>
            <a:r>
              <a:rPr lang="zh-CN" altLang="zh-CN" dirty="0"/>
              <a:t>osts</a:t>
            </a:r>
            <a:r>
              <a:rPr lang="en-US" altLang="zh-CN" dirty="0"/>
              <a:t> or</a:t>
            </a:r>
            <a:r>
              <a:rPr lang="zh-CN" altLang="zh-CN" dirty="0"/>
              <a:t> </a:t>
            </a:r>
            <a:r>
              <a:rPr lang="en-US" altLang="zh-CN" dirty="0"/>
              <a:t>s</a:t>
            </a:r>
            <a:r>
              <a:rPr lang="zh-CN" altLang="zh-CN" dirty="0"/>
              <a:t>ervices </a:t>
            </a:r>
            <a:r>
              <a:rPr lang="en-US" altLang="zh-CN" dirty="0"/>
              <a:t>c</a:t>
            </a:r>
            <a:r>
              <a:rPr lang="zh-CN" altLang="zh-CN" dirty="0"/>
              <a:t>onnecting </a:t>
            </a:r>
            <a:r>
              <a:rPr lang="en-US" altLang="zh-CN" dirty="0"/>
              <a:t>w</a:t>
            </a:r>
            <a:r>
              <a:rPr lang="zh-CN" altLang="zh-CN" dirty="0"/>
              <a:t>ebsites </a:t>
            </a:r>
            <a:r>
              <a:rPr lang="en-US" altLang="zh-CN" dirty="0"/>
              <a:t>t</a:t>
            </a:r>
            <a:r>
              <a:rPr lang="zh-CN" altLang="zh-CN" dirty="0"/>
              <a:t>o </a:t>
            </a:r>
            <a:r>
              <a:rPr lang="en-US" altLang="zh-CN" dirty="0"/>
              <a:t>t</a:t>
            </a:r>
            <a:r>
              <a:rPr lang="zh-CN" altLang="zh-CN" dirty="0"/>
              <a:t>he </a:t>
            </a:r>
            <a:r>
              <a:rPr lang="en-US" altLang="zh-CN" dirty="0"/>
              <a:t>i</a:t>
            </a:r>
            <a:r>
              <a:rPr lang="zh-CN" altLang="zh-CN" dirty="0"/>
              <a:t>nternet</a:t>
            </a:r>
            <a:r>
              <a:rPr lang="en-US" altLang="zh-CN" dirty="0"/>
              <a:t> and how?</a:t>
            </a:r>
            <a:endParaRPr lang="zh-CN" altLang="en-US" dirty="0"/>
          </a:p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9EDEE"/>
    </a:accent5>
    <a:accent6>
      <a:srgbClr val="2D2D89"/>
    </a:accent6>
    <a:hlink>
      <a:srgbClr val="009999"/>
    </a:hlink>
    <a:folHlink>
      <a:srgbClr val="99CC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3121</Words>
  <Application>WPS 文字</Application>
  <PresentationFormat>全屏显示(4:3)</PresentationFormat>
  <Paragraphs>166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33" baseType="lpstr">
      <vt:lpstr>Arial</vt:lpstr>
      <vt:lpstr>方正书宋_GBK</vt:lpstr>
      <vt:lpstr>Wingdings</vt:lpstr>
      <vt:lpstr>宋体</vt:lpstr>
      <vt:lpstr>等线</vt:lpstr>
      <vt:lpstr>Verdana</vt:lpstr>
      <vt:lpstr>华文新魏</vt:lpstr>
      <vt:lpstr>Times New Roman</vt:lpstr>
      <vt:lpstr>汉仪书宋二KW</vt:lpstr>
      <vt:lpstr>苹方-简</vt:lpstr>
      <vt:lpstr>微软雅黑</vt:lpstr>
      <vt:lpstr>汉仪旗黑</vt:lpstr>
      <vt:lpstr>宋体</vt:lpstr>
      <vt:lpstr>Arial Unicode MS</vt:lpstr>
      <vt:lpstr>汉仪中等线KW</vt:lpstr>
      <vt:lpstr>Wingdings</vt:lpstr>
      <vt:lpstr>宋体-简</vt:lpstr>
      <vt:lpstr>Arial Italic</vt:lpstr>
      <vt:lpstr>默认设计模板</vt:lpstr>
      <vt:lpstr>1_默认设计模板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1</dc:title>
  <dc:creator>michael</dc:creator>
  <cp:lastModifiedBy>renfang</cp:lastModifiedBy>
  <cp:revision>50</cp:revision>
  <dcterms:created xsi:type="dcterms:W3CDTF">2021-05-17T08:02:02Z</dcterms:created>
  <dcterms:modified xsi:type="dcterms:W3CDTF">2021-05-17T08:02:02Z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2052-3.5.1.5630</vt:lpwstr>
  </property>
</Properties>
</file>