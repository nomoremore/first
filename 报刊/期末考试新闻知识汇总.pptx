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7"/>
  </p:notesMasterIdLst>
  <p:handoutMasterIdLst>
    <p:handoutMasterId r:id="rId65"/>
  </p:handoutMasterIdLst>
  <p:sldIdLst>
    <p:sldId id="256" r:id="rId4"/>
    <p:sldId id="267" r:id="rId5"/>
    <p:sldId id="257" r:id="rId6"/>
    <p:sldId id="258" r:id="rId8"/>
    <p:sldId id="259" r:id="rId9"/>
    <p:sldId id="260" r:id="rId10"/>
    <p:sldId id="261" r:id="rId11"/>
    <p:sldId id="262" r:id="rId12"/>
    <p:sldId id="263" r:id="rId13"/>
    <p:sldId id="264" r:id="rId14"/>
    <p:sldId id="265" r:id="rId15"/>
    <p:sldId id="266" r:id="rId16"/>
    <p:sldId id="268" r:id="rId17"/>
    <p:sldId id="269" r:id="rId18"/>
    <p:sldId id="270" r:id="rId19"/>
    <p:sldId id="271"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2" r:id="rId39"/>
    <p:sldId id="293" r:id="rId40"/>
    <p:sldId id="312"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3" r:id="rId59"/>
    <p:sldId id="314" r:id="rId60"/>
    <p:sldId id="315" r:id="rId61"/>
    <p:sldId id="316" r:id="rId62"/>
    <p:sldId id="317" r:id="rId63"/>
    <p:sldId id="318"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幻灯片图像占位符 1"/>
          <p:cNvSpPr>
            <a:spLocks noGrp="1" noRot="1" noChangeAspect="1" noTextEdit="1"/>
          </p:cNvSpPr>
          <p:nvPr>
            <p:ph type="sldImg"/>
          </p:nvPr>
        </p:nvSpPr>
        <p:spPr>
          <a:ln>
            <a:solidFill>
              <a:srgbClr val="000000"/>
            </a:solidFill>
            <a:miter/>
          </a:ln>
        </p:spPr>
      </p:sp>
      <p:sp>
        <p:nvSpPr>
          <p:cNvPr id="22530"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253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传统意义上的</a:t>
            </a:r>
            <a:r>
              <a:rPr lang="en-US" altLang="zh-CN"/>
              <a:t> “Express” </a:t>
            </a:r>
            <a:r>
              <a:rPr lang="zh-CN" altLang="en-US"/>
              <a:t>如英国《每日快报》</a:t>
            </a:r>
            <a:r>
              <a:rPr lang="en-US" altLang="zh-CN"/>
              <a:t>(Daily Express)</a:t>
            </a:r>
            <a:r>
              <a:rPr lang="zh-CN" altLang="en-US"/>
              <a:t>。</a:t>
            </a:r>
            <a:endParaRPr lang="zh-CN" altLang="en-US"/>
          </a:p>
          <a:p>
            <a:r>
              <a:rPr lang="zh-CN" altLang="en-US"/>
              <a:t>美联社、路特社两个通讯社的核心产品就是新闻简报（</a:t>
            </a:r>
            <a:r>
              <a:rPr lang="en-US" altLang="zh-CN"/>
              <a:t>News Bulletin</a:t>
            </a:r>
            <a:r>
              <a:rPr lang="zh-CN" altLang="en-US"/>
              <a:t>），向全球媒体分发突发新闻快讯</a:t>
            </a:r>
            <a:endParaRPr lang="zh-CN" altLang="en-US"/>
          </a:p>
          <a:p>
            <a:r>
              <a:rPr lang="en-US" altLang="zh-CN"/>
              <a:t>review news:</a:t>
            </a:r>
            <a:r>
              <a:rPr lang="zh-CN" altLang="en-US"/>
              <a:t>《经济学人》：无署名社论，全是深度评论。</a:t>
            </a:r>
            <a:r>
              <a:rPr lang="ja-JP" altLang="en-US"/>
              <a:t>・</a:t>
            </a:r>
            <a:r>
              <a:rPr lang="zh-CN" altLang="en-US"/>
              <a:t>《旁观者》：英国老牌政论周刊，以犀利评论著称。</a:t>
            </a:r>
            <a:endParaRPr lang="zh-CN" altLang="en-US"/>
          </a:p>
          <a:p>
            <a:r>
              <a:rPr lang="en-US" altLang="zh-CN"/>
              <a:t>Broadsheet vs. Tabloid</a:t>
            </a:r>
            <a:r>
              <a:rPr lang="zh-CN" altLang="en-US"/>
              <a:t>（大报</a:t>
            </a:r>
            <a:r>
              <a:rPr lang="en-US" altLang="zh-CN"/>
              <a:t> vs. </a:t>
            </a:r>
            <a:r>
              <a:rPr lang="zh-CN" altLang="en-US"/>
              <a:t>小报）</a:t>
            </a:r>
            <a:endParaRPr lang="zh-CN" altLang="en-US"/>
          </a:p>
          <a:p>
            <a:r>
              <a:rPr lang="zh-CN" altLang="en-US"/>
              <a:t>《纽约时报》《华盛顿邮报》《泰晤士报》都属于</a:t>
            </a:r>
            <a:r>
              <a:rPr lang="en-US" altLang="zh-CN"/>
              <a:t> Broadsheet</a:t>
            </a:r>
            <a:r>
              <a:rPr lang="zh-CN" altLang="en-US"/>
              <a:t>（严肃大报）。它们版面大，内容涵盖政治、经济、国际新闻，语言正式，适合学术研究。</a:t>
            </a:r>
            <a:endParaRPr lang="zh-CN" altLang="en-US"/>
          </a:p>
          <a:p>
            <a:r>
              <a:rPr lang="zh-CN" altLang="en-US"/>
              <a:t>考点：虽然《泰晤士报》的母公司也出版小报，但《</a:t>
            </a:r>
            <a:r>
              <a:rPr lang="en-US" altLang="zh-CN"/>
              <a:t>The Times</a:t>
            </a:r>
            <a:r>
              <a:rPr lang="zh-CN" altLang="en-US"/>
              <a:t>》本身是大报。</a:t>
            </a:r>
            <a:endParaRPr lang="zh-CN" altLang="en-US"/>
          </a:p>
          <a:p>
            <a:r>
              <a:rPr lang="en-US" altLang="zh-CN"/>
              <a:t>News vs. Opinion</a:t>
            </a:r>
            <a:r>
              <a:rPr lang="zh-CN" altLang="en-US"/>
              <a:t>（新闻</a:t>
            </a:r>
            <a:r>
              <a:rPr lang="en-US" altLang="zh-CN"/>
              <a:t> vs. </a:t>
            </a:r>
            <a:r>
              <a:rPr lang="zh-CN" altLang="en-US"/>
              <a:t>评论）</a:t>
            </a:r>
            <a:endParaRPr lang="zh-CN" altLang="en-US"/>
          </a:p>
          <a:p>
            <a:r>
              <a:rPr lang="zh-CN" altLang="en-US"/>
              <a:t>报纸类（如</a:t>
            </a:r>
            <a:r>
              <a:rPr lang="en-US" altLang="zh-CN"/>
              <a:t> NYT, WaPo</a:t>
            </a:r>
            <a:r>
              <a:rPr lang="zh-CN" altLang="en-US"/>
              <a:t>）：包含</a:t>
            </a:r>
            <a:r>
              <a:rPr lang="en-US" altLang="zh-CN"/>
              <a:t> “</a:t>
            </a:r>
            <a:r>
              <a:rPr lang="zh-CN" altLang="en-US"/>
              <a:t>硬新闻</a:t>
            </a:r>
            <a:r>
              <a:rPr lang="en-US" altLang="zh-CN"/>
              <a:t>”</a:t>
            </a:r>
            <a:r>
              <a:rPr lang="zh-CN" altLang="en-US"/>
              <a:t>（</a:t>
            </a:r>
            <a:r>
              <a:rPr lang="en-US" altLang="zh-CN"/>
              <a:t>Hard News</a:t>
            </a:r>
            <a:r>
              <a:rPr lang="zh-CN" altLang="en-US"/>
              <a:t>）和</a:t>
            </a:r>
            <a:r>
              <a:rPr lang="en-US" altLang="zh-CN"/>
              <a:t> “</a:t>
            </a:r>
            <a:r>
              <a:rPr lang="zh-CN" altLang="en-US"/>
              <a:t>评论版</a:t>
            </a:r>
            <a:r>
              <a:rPr lang="en-US" altLang="zh-CN"/>
              <a:t>”</a:t>
            </a:r>
            <a:r>
              <a:rPr lang="zh-CN" altLang="en-US"/>
              <a:t>（</a:t>
            </a:r>
            <a:r>
              <a:rPr lang="en-US" altLang="zh-CN"/>
              <a:t>Op-Ed</a:t>
            </a:r>
            <a:r>
              <a:rPr lang="zh-CN" altLang="en-US"/>
              <a:t>）。</a:t>
            </a:r>
            <a:endParaRPr lang="zh-CN" altLang="en-US"/>
          </a:p>
          <a:p>
            <a:r>
              <a:rPr lang="zh-CN" altLang="en-US"/>
              <a:t>周刊类（如</a:t>
            </a:r>
            <a:r>
              <a:rPr lang="en-US" altLang="zh-CN"/>
              <a:t> The Economist</a:t>
            </a:r>
            <a:r>
              <a:rPr lang="zh-CN" altLang="en-US"/>
              <a:t>）：以分析评论为主</a:t>
            </a:r>
            <a:r>
              <a:rPr lang="en-US" altLang="zh-CN"/>
              <a:t> Review News</a:t>
            </a:r>
            <a:r>
              <a:rPr lang="zh-CN" altLang="en-US"/>
              <a:t>，事实报道</a:t>
            </a:r>
            <a:r>
              <a:rPr lang="zh-CN" altLang="en-US"/>
              <a:t>为辅</a:t>
            </a:r>
            <a:endParaRPr lang="zh-CN" altLang="en-US"/>
          </a:p>
          <a:p>
            <a:r>
              <a:rPr lang="zh-CN" altLang="en-US"/>
              <a:t>通讯社的角色</a:t>
            </a:r>
            <a:endParaRPr lang="zh-CN" altLang="en-US"/>
          </a:p>
          <a:p>
            <a:r>
              <a:rPr lang="zh-CN" altLang="en-US"/>
              <a:t>美联社（</a:t>
            </a:r>
            <a:r>
              <a:rPr lang="en-US" altLang="zh-CN"/>
              <a:t>AP</a:t>
            </a:r>
            <a:r>
              <a:rPr lang="zh-CN" altLang="en-US"/>
              <a:t>）和路透社（</a:t>
            </a:r>
            <a:r>
              <a:rPr lang="en-US" altLang="zh-CN"/>
              <a:t>Reuters</a:t>
            </a:r>
            <a:r>
              <a:rPr lang="zh-CN" altLang="en-US"/>
              <a:t>）不直接面向大众发行报纸，它们是为上述所有报纸提供</a:t>
            </a:r>
            <a:r>
              <a:rPr lang="en-US" altLang="zh-CN"/>
              <a:t> bulletin</a:t>
            </a:r>
            <a:r>
              <a:rPr lang="zh-CN" altLang="en-US"/>
              <a:t>（新闻素材）的</a:t>
            </a:r>
            <a:r>
              <a:rPr lang="en-US" altLang="zh-CN"/>
              <a:t> “</a:t>
            </a:r>
            <a:r>
              <a:rPr lang="zh-CN" altLang="en-US"/>
              <a:t>批发商</a:t>
            </a:r>
            <a:r>
              <a:rPr lang="en-US" altLang="zh-CN"/>
              <a:t>”</a:t>
            </a:r>
            <a:r>
              <a:rPr lang="zh-CN" altLang="en-US"/>
              <a:t>。</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None of the newspapers we listed are tabloids; they are all serious broadsheets. For 'review news', The Economist and The Spectator are perfect examples. And when we talk about 'bulletin', we are actually referring to the core service of news agencies like AP and Reuters.</a:t>
            </a:r>
            <a:r>
              <a:rPr lang="zh-CN" altLang="en-US"/>
              <a:t>（我们列出的这些报纸都不是小报，它们都是严肃大报。至于</a:t>
            </a:r>
            <a:r>
              <a:rPr lang="en-US" altLang="zh-CN"/>
              <a:t> “</a:t>
            </a:r>
            <a:r>
              <a:rPr lang="zh-CN" altLang="en-US"/>
              <a:t>评论性新闻</a:t>
            </a:r>
            <a:r>
              <a:rPr lang="en-US" altLang="zh-CN"/>
              <a:t>”</a:t>
            </a:r>
            <a:r>
              <a:rPr lang="zh-CN" altLang="en-US"/>
              <a:t>，《经济学人》和《旁观者》是完美范例。而提到</a:t>
            </a:r>
            <a:r>
              <a:rPr lang="en-US" altLang="zh-CN"/>
              <a:t> “</a:t>
            </a:r>
            <a:r>
              <a:rPr lang="zh-CN" altLang="en-US"/>
              <a:t>简报</a:t>
            </a:r>
            <a:r>
              <a:rPr lang="en-US" altLang="zh-CN"/>
              <a:t>”</a:t>
            </a:r>
            <a:r>
              <a:rPr lang="zh-CN" altLang="en-US"/>
              <a:t>，我们实际上指的是美联社和路透社这类通讯社的核心业务。）</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flatmate</a:t>
            </a:r>
            <a:endParaRPr lang="en-US" altLang="zh-CN"/>
          </a:p>
          <a:p>
            <a:r>
              <a:rPr lang="zh-CN" altLang="en-US"/>
              <a:t>词性：名词</a:t>
            </a:r>
            <a:r>
              <a:rPr lang="en-US" altLang="zh-CN"/>
              <a:t> (n.)</a:t>
            </a:r>
            <a:endParaRPr lang="en-US" altLang="zh-CN"/>
          </a:p>
          <a:p>
            <a:r>
              <a:rPr lang="zh-CN" altLang="en-US"/>
              <a:t>含义：合租室友（尤指合租一套公寓</a:t>
            </a:r>
            <a:r>
              <a:rPr lang="en-US" altLang="zh-CN"/>
              <a:t> / </a:t>
            </a:r>
            <a:r>
              <a:rPr lang="zh-CN" altLang="en-US"/>
              <a:t>房间的室友）</a:t>
            </a:r>
            <a:endParaRPr lang="zh-CN" altLang="en-US"/>
          </a:p>
          <a:p>
            <a:r>
              <a:rPr lang="zh-CN" altLang="en-US"/>
              <a:t>例句：</a:t>
            </a:r>
            <a:r>
              <a:rPr lang="en-US" altLang="zh-CN"/>
              <a:t>I share the kitchen with my flatmate.</a:t>
            </a:r>
            <a:r>
              <a:rPr lang="zh-CN" altLang="en-US"/>
              <a:t>（我和我的室友共用厨房。）</a:t>
            </a:r>
            <a:endParaRPr lang="zh-CN" altLang="en-US"/>
          </a:p>
          <a:p>
            <a:r>
              <a:rPr lang="zh-CN" altLang="en-US"/>
              <a:t>补充：在美式英语中更常用</a:t>
            </a:r>
            <a:r>
              <a:rPr lang="en-US" altLang="zh-CN"/>
              <a:t> roommate</a:t>
            </a:r>
            <a:r>
              <a:rPr lang="zh-CN" altLang="en-US"/>
              <a:t>。</a:t>
            </a:r>
            <a:endParaRPr lang="zh-CN" altLang="en-US"/>
          </a:p>
          <a:p>
            <a:r>
              <a:rPr lang="en-US" altLang="zh-CN"/>
              <a:t>lovesick</a:t>
            </a:r>
            <a:endParaRPr lang="en-US" altLang="zh-CN"/>
          </a:p>
          <a:p>
            <a:r>
              <a:rPr lang="zh-CN" altLang="en-US"/>
              <a:t>词性：形容词</a:t>
            </a:r>
            <a:r>
              <a:rPr lang="en-US" altLang="zh-CN"/>
              <a:t> (adj.)</a:t>
            </a:r>
            <a:endParaRPr lang="en-US" altLang="zh-CN"/>
          </a:p>
          <a:p>
            <a:r>
              <a:rPr lang="zh-CN" altLang="en-US"/>
              <a:t>含义：因失恋</a:t>
            </a:r>
            <a:r>
              <a:rPr lang="en-US" altLang="zh-CN"/>
              <a:t> / </a:t>
            </a:r>
            <a:r>
              <a:rPr lang="zh-CN" altLang="en-US"/>
              <a:t>单相思而憔悴的，害相思病的</a:t>
            </a:r>
            <a:endParaRPr lang="zh-CN" altLang="en-US"/>
          </a:p>
          <a:p>
            <a:r>
              <a:rPr lang="zh-CN" altLang="en-US"/>
              <a:t>例句：</a:t>
            </a:r>
            <a:r>
              <a:rPr lang="en-US" altLang="zh-CN"/>
              <a:t>She’s been lovesick ever since he left.</a:t>
            </a:r>
            <a:r>
              <a:rPr lang="zh-CN" altLang="en-US"/>
              <a:t>（自从他离开后，她就一直害着相思病。）</a:t>
            </a:r>
            <a:endParaRPr lang="zh-CN" altLang="en-US"/>
          </a:p>
          <a:p>
            <a:r>
              <a:rPr lang="en-US" altLang="zh-CN"/>
              <a:t>jump-start</a:t>
            </a:r>
            <a:endParaRPr lang="en-US" altLang="zh-CN"/>
          </a:p>
          <a:p>
            <a:r>
              <a:rPr lang="zh-CN" altLang="en-US"/>
              <a:t>词性：动词</a:t>
            </a:r>
            <a:r>
              <a:rPr lang="en-US" altLang="zh-CN"/>
              <a:t> (v.) / </a:t>
            </a:r>
            <a:r>
              <a:rPr lang="zh-CN" altLang="en-US"/>
              <a:t>名词</a:t>
            </a:r>
            <a:r>
              <a:rPr lang="en-US" altLang="zh-CN"/>
              <a:t> (n.)</a:t>
            </a:r>
            <a:endParaRPr lang="en-US" altLang="zh-CN"/>
          </a:p>
          <a:p>
            <a:r>
              <a:rPr lang="zh-CN" altLang="en-US"/>
              <a:t>含义：</a:t>
            </a:r>
            <a:endParaRPr lang="zh-CN" altLang="en-US"/>
          </a:p>
          <a:p>
            <a:r>
              <a:rPr lang="zh-CN" altLang="en-US"/>
              <a:t>（动词）给汽车搭电启动；推动、促进（某事）</a:t>
            </a:r>
            <a:endParaRPr lang="zh-CN" altLang="en-US"/>
          </a:p>
          <a:p>
            <a:r>
              <a:rPr lang="zh-CN" altLang="en-US"/>
              <a:t>（名词）搭电启动；推动</a:t>
            </a:r>
            <a:endParaRPr lang="zh-CN" altLang="en-US"/>
          </a:p>
          <a:p>
            <a:r>
              <a:rPr lang="zh-CN" altLang="en-US"/>
              <a:t>例句：</a:t>
            </a:r>
            <a:r>
              <a:rPr lang="en-US" altLang="zh-CN"/>
              <a:t>We need to jump-start the economy with new policies.</a:t>
            </a:r>
            <a:r>
              <a:rPr lang="zh-CN" altLang="en-US"/>
              <a:t>（我们需要用新政策来推动经济复苏。）</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film-goer</a:t>
            </a:r>
            <a:r>
              <a:rPr lang="zh-CN" altLang="en-US"/>
              <a:t>经常去看电影的</a:t>
            </a:r>
            <a:r>
              <a:rPr lang="zh-CN" altLang="en-US"/>
              <a:t>人</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幻灯片图像占位符 1"/>
          <p:cNvSpPr>
            <a:spLocks noGrp="1" noRot="1" noChangeAspect="1" noTextEdit="1"/>
          </p:cNvSpPr>
          <p:nvPr>
            <p:ph type="sldImg"/>
          </p:nvPr>
        </p:nvSpPr>
        <p:spPr>
          <a:ln>
            <a:solidFill>
              <a:srgbClr val="000000"/>
            </a:solidFill>
            <a:miter/>
          </a:ln>
        </p:spPr>
      </p:sp>
      <p:sp>
        <p:nvSpPr>
          <p:cNvPr id="1331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1331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幻灯片图像占位符 1"/>
          <p:cNvSpPr>
            <a:spLocks noGrp="1" noRot="1" noChangeAspect="1" noTextEdit="1"/>
          </p:cNvSpPr>
          <p:nvPr>
            <p:ph type="sldImg"/>
          </p:nvPr>
        </p:nvSpPr>
        <p:spPr>
          <a:ln>
            <a:solidFill>
              <a:srgbClr val="000000"/>
            </a:solidFill>
            <a:miter/>
          </a:ln>
        </p:spPr>
      </p:sp>
      <p:sp>
        <p:nvSpPr>
          <p:cNvPr id="15362"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1536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幻灯片图像占位符 1"/>
          <p:cNvSpPr>
            <a:spLocks noGrp="1" noRot="1" noChangeAspect="1" noTextEdit="1"/>
          </p:cNvSpPr>
          <p:nvPr>
            <p:ph type="sldImg"/>
          </p:nvPr>
        </p:nvSpPr>
        <p:spPr>
          <a:ln>
            <a:solidFill>
              <a:srgbClr val="000000"/>
            </a:solidFill>
            <a:miter/>
          </a:ln>
        </p:spPr>
      </p:sp>
      <p:sp>
        <p:nvSpPr>
          <p:cNvPr id="17410"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1741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幻灯片图像占位符 1"/>
          <p:cNvSpPr>
            <a:spLocks noGrp="1" noRot="1" noChangeAspect="1" noTextEdit="1"/>
          </p:cNvSpPr>
          <p:nvPr>
            <p:ph type="sldImg"/>
          </p:nvPr>
        </p:nvSpPr>
        <p:spPr>
          <a:ln>
            <a:solidFill>
              <a:srgbClr val="000000"/>
            </a:solidFill>
            <a:miter/>
          </a:ln>
        </p:spPr>
      </p:sp>
      <p:sp>
        <p:nvSpPr>
          <p:cNvPr id="19458"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194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幻灯片图像占位符 1"/>
          <p:cNvSpPr>
            <a:spLocks noGrp="1" noRot="1" noChangeAspect="1" noTextEdit="1"/>
          </p:cNvSpPr>
          <p:nvPr>
            <p:ph type="sldImg"/>
          </p:nvPr>
        </p:nvSpPr>
        <p:spPr>
          <a:ln>
            <a:solidFill>
              <a:srgbClr val="000000"/>
            </a:solidFill>
            <a:miter/>
          </a:ln>
        </p:spPr>
      </p:sp>
      <p:sp>
        <p:nvSpPr>
          <p:cNvPr id="21506"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15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幻灯片图像占位符 1"/>
          <p:cNvSpPr>
            <a:spLocks noGrp="1" noRot="1" noChangeAspect="1" noTextEdit="1"/>
          </p:cNvSpPr>
          <p:nvPr>
            <p:ph type="sldImg"/>
          </p:nvPr>
        </p:nvSpPr>
        <p:spPr>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56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76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幻灯片图像占位符 1"/>
          <p:cNvSpPr>
            <a:spLocks noGrp="1" noRot="1" noChangeAspect="1" noTextEdit="1"/>
          </p:cNvSpPr>
          <p:nvPr>
            <p:ph type="sldImg"/>
          </p:nvPr>
        </p:nvSpPr>
        <p:spPr>
          <a:ln>
            <a:solidFill>
              <a:srgbClr val="000000"/>
            </a:solidFill>
            <a:miter/>
          </a:ln>
        </p:spPr>
      </p:sp>
      <p:sp>
        <p:nvSpPr>
          <p:cNvPr id="29698"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2969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u="sng">
                <a:sym typeface="+mn-ea"/>
              </a:rPr>
              <a:t>https://www.thoughtco.com/different-kinds-of-feature-stories-you-can-write-2074322</a:t>
            </a:r>
            <a:endParaRPr u="sng"/>
          </a:p>
          <a:p>
            <a:endParaRPr lang="zh-CN" altLang="en-US" u="sng"/>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u="sng">
                <a:sym typeface="+mn-ea"/>
              </a:rPr>
              <a:t>https://www.thoughtco.com/tips-for-producing-great-news-features-2074291</a:t>
            </a:r>
            <a:endParaRPr u="sng"/>
          </a:p>
          <a:p>
            <a:endParaRPr lang="zh-CN" altLang="en-US" u="sng"/>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u="sng">
                <a:sym typeface="+mn-ea"/>
              </a:rPr>
              <a:t>https://hosbeg.com/difference-between-a-news-story-and-a-feature/</a:t>
            </a:r>
            <a:endParaRPr u="sng"/>
          </a:p>
          <a:p>
            <a:endParaRPr lang="zh-CN" altLang="en-US" u="sng"/>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u="sng">
                <a:latin typeface="Times New Roman" panose="02020603050405020304" pitchFamily="18" charset="0"/>
                <a:cs typeface="Times New Roman" panose="02020603050405020304" pitchFamily="18" charset="0"/>
                <a:sym typeface="+mn-ea"/>
              </a:rPr>
              <a:t>https://hosbeg.com/difference-between-a-news-story-and-a-feature/</a:t>
            </a:r>
            <a:endParaRPr u="sng">
              <a:latin typeface="Times New Roman" panose="02020603050405020304" pitchFamily="18" charset="0"/>
              <a:cs typeface="Times New Roman" panose="02020603050405020304" pitchFamily="18" charset="0"/>
            </a:endParaRPr>
          </a:p>
          <a:p>
            <a:endParaRPr lang="zh-CN" altLang="en-US" u="sng">
              <a:latin typeface="Times New Roman" panose="02020603050405020304" pitchFamily="18" charset="0"/>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p:nvPr>
            <p:ph type="title" hasCustomPrompt="1"/>
          </p:nvPr>
        </p:nvSpPr>
        <p:spPr>
          <a:prstGeom prst="rect">
            <a:avLst/>
          </a:prstGeom>
        </p:spPr>
        <p:txBody>
          <a:bodyPr/>
          <a:lstStyle/>
          <a:p>
            <a:r>
              <a:t>标题文本</a:t>
            </a:r>
          </a:p>
        </p:txBody>
      </p:sp>
      <p:sp>
        <p:nvSpPr>
          <p:cNvPr id="57" name="正文级别 1…"/>
          <p:cNvSpPr txBox="1"/>
          <p:nvPr>
            <p:ph type="body" idx="1" hasCustomPrompt="1"/>
          </p:nvPr>
        </p:nvSpPr>
        <p:spPr>
          <a:xfrm>
            <a:off x="736600" y="1949450"/>
            <a:ext cx="10718800" cy="401955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1173157"/>
            <a:ext cx="103632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916955" y="2643182"/>
            <a:ext cx="8893821"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2924181"/>
            <a:ext cx="103632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914400" y="1428747"/>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613843" y="1071546"/>
            <a:ext cx="6815667"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7572111" y="1071546"/>
            <a:ext cx="4011084"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fld>
            <a:endParaRPr lang="zh-CN" altLang="en-US"/>
          </a:p>
        </p:txBody>
      </p:sp>
      <p:sp>
        <p:nvSpPr>
          <p:cNvPr id="2" name="标题 1"/>
          <p:cNvSpPr>
            <a:spLocks noGrp="1"/>
          </p:cNvSpPr>
          <p:nvPr>
            <p:ph type="title"/>
          </p:nvPr>
        </p:nvSpPr>
        <p:spPr>
          <a:xfrm>
            <a:off x="609607" y="285728"/>
            <a:ext cx="10974657"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0668032" y="642918"/>
            <a:ext cx="1047757"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590563" y="541340"/>
            <a:ext cx="8553459"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9429773" y="1000108"/>
            <a:ext cx="1219157"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525024" y="274639"/>
            <a:ext cx="2057376"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609600" y="274639"/>
            <a:ext cx="8820173"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2">
            <a:duotone>
              <a:schemeClr val="accent1"/>
              <a:srgbClr val="FFFFFF"/>
            </a:duotone>
            <a:lum bright="12000" contrast="40000"/>
          </a:blip>
          <a:stretch>
            <a:fillRect/>
          </a:stretch>
        </p:blipFill>
        <p:spPr>
          <a:xfrm>
            <a:off x="8890412" y="4915143"/>
            <a:ext cx="3301588" cy="1942857"/>
          </a:xfrm>
          <a:prstGeom prst="rect">
            <a:avLst/>
          </a:prstGeom>
          <a:noFill/>
          <a:ln>
            <a:noFill/>
          </a:ln>
        </p:spPr>
      </p:pic>
      <p:sp>
        <p:nvSpPr>
          <p:cNvPr id="10" name="矩形 9"/>
          <p:cNvSpPr/>
          <p:nvPr/>
        </p:nvSpPr>
        <p:spPr>
          <a:xfrm>
            <a:off x="0" y="0"/>
            <a:ext cx="1219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6096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3">
            <a:duotone>
              <a:schemeClr val="accent1"/>
              <a:srgbClr val="FFFFFF"/>
            </a:duotone>
            <a:lum bright="35000" contrast="40000"/>
          </a:blip>
          <a:stretch>
            <a:fillRect/>
          </a:stretch>
        </p:blipFill>
        <p:spPr>
          <a:xfrm>
            <a:off x="0" y="6420445"/>
            <a:ext cx="12192000" cy="437555"/>
          </a:xfrm>
          <a:prstGeom prst="rect">
            <a:avLst/>
          </a:prstGeom>
          <a:noFill/>
          <a:ln>
            <a:noFill/>
          </a:ln>
          <a:effectLst/>
        </p:spPr>
      </p:pic>
      <p:sp>
        <p:nvSpPr>
          <p:cNvPr id="2" name="标题占位符 1"/>
          <p:cNvSpPr>
            <a:spLocks noGrp="1"/>
          </p:cNvSpPr>
          <p:nvPr>
            <p:ph type="title"/>
          </p:nvPr>
        </p:nvSpPr>
        <p:spPr>
          <a:xfrm>
            <a:off x="609600" y="274638"/>
            <a:ext cx="109728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09600" y="1600200"/>
            <a:ext cx="10972800" cy="4525963"/>
          </a:xfrm>
          <a:prstGeom prst="rect">
            <a:avLst/>
          </a:prstGeom>
        </p:spPr>
        <p:txBody>
          <a:bodyPr vert="horz" rtlCol="0">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609600" y="6356350"/>
            <a:ext cx="28448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7916F35-EB6E-4187-A0C0-48C4698F8122}" type="datetimeFigureOut">
              <a:rPr lang="zh-CN" altLang="en-US" smtClean="0"/>
            </a:fld>
            <a:endParaRPr lang="zh-CN" altLang="en-US"/>
          </a:p>
        </p:txBody>
      </p:sp>
      <p:sp>
        <p:nvSpPr>
          <p:cNvPr id="5" name="页脚占位符 4"/>
          <p:cNvSpPr>
            <a:spLocks noGrp="1"/>
          </p:cNvSpPr>
          <p:nvPr>
            <p:ph type="ftr" sz="quarter" idx="3"/>
          </p:nvPr>
        </p:nvSpPr>
        <p:spPr>
          <a:xfrm>
            <a:off x="4165600" y="6356350"/>
            <a:ext cx="38608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CD5C9457-5890-4FC4-BACA-8A5565DB070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a:t>新闻知识</a:t>
            </a:r>
            <a:r>
              <a:rPr lang="zh-CN" altLang="en-US"/>
              <a:t>汇总</a:t>
            </a:r>
            <a:endParaRPr lang="zh-CN" altLang="en-US"/>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406470" y="2942025"/>
            <a:ext cx="10969200" cy="705600"/>
          </a:xfrm>
        </p:spPr>
        <p:txBody>
          <a:bodyPr>
            <a:noAutofit/>
          </a:bodyPr>
          <a:p>
            <a:pPr algn="ctr"/>
            <a:r>
              <a:rPr lang="en-US" altLang="zh-CN" sz="5400" b="1"/>
              <a:t>Unit 1</a:t>
            </a:r>
            <a:endParaRPr lang="en-US" altLang="zh-CN" sz="5400" b="1"/>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p:txBody>
          <a:bodyPr vert="horz" wrap="square" lIns="91440" tIns="45720" rIns="91440" bIns="45720" anchor="ctr" anchorCtr="0"/>
          <a:p>
            <a:pPr eaLnBrk="1" hangingPunct="1"/>
            <a:r>
              <a:rPr lang="en-US" altLang="zh-CN" dirty="0"/>
              <a:t>Language features of news (Grammar) </a:t>
            </a:r>
            <a:endParaRPr lang="zh-CN" altLang="en-US" dirty="0"/>
          </a:p>
        </p:txBody>
      </p:sp>
      <p:sp>
        <p:nvSpPr>
          <p:cNvPr id="20483" name="内容占位符 2"/>
          <p:cNvSpPr>
            <a:spLocks noGrp="1"/>
          </p:cNvSpPr>
          <p:nvPr>
            <p:ph idx="1"/>
          </p:nvPr>
        </p:nvSpPr>
        <p:spPr/>
        <p:txBody>
          <a:bodyPr vert="horz" wrap="square" lIns="91440" tIns="45720" rIns="91440" bIns="45720" anchor="t" anchorCtr="0"/>
          <a:p>
            <a:pPr eaLnBrk="1" hangingPunct="1"/>
            <a:r>
              <a:rPr lang="en-US" altLang="zh-CN" dirty="0"/>
              <a:t>Tense and Voice</a:t>
            </a:r>
            <a:endParaRPr lang="en-US" altLang="zh-CN" dirty="0"/>
          </a:p>
          <a:p>
            <a:pPr eaLnBrk="1" hangingPunct="1"/>
            <a:r>
              <a:rPr lang="en-US" altLang="zh-CN" dirty="0"/>
              <a:t>Gunston Gets His Gong </a:t>
            </a:r>
            <a:endParaRPr lang="en-US" altLang="zh-CN" dirty="0"/>
          </a:p>
          <a:p>
            <a:pPr eaLnBrk="1" hangingPunct="1"/>
            <a:r>
              <a:rPr lang="en-US" altLang="zh-CN" dirty="0"/>
              <a:t>(=Gunston Got His Gong) Gunston</a:t>
            </a:r>
            <a:r>
              <a:rPr lang="zh-CN" altLang="zh-CN" dirty="0"/>
              <a:t>获得奖章</a:t>
            </a:r>
            <a:endParaRPr lang="en-US" altLang="zh-CN" dirty="0"/>
          </a:p>
          <a:p>
            <a:pPr eaLnBrk="1" hangingPunct="1"/>
            <a:r>
              <a:rPr lang="en-US" altLang="zh-CN" dirty="0"/>
              <a:t>Using present simple tense for things that happened in the past.</a:t>
            </a:r>
            <a:endParaRPr lang="en-US" altLang="zh-CN" dirty="0"/>
          </a:p>
          <a:p>
            <a:pPr eaLnBrk="1" hangingPunct="1"/>
            <a:r>
              <a:rPr lang="zh-CN" altLang="zh-CN" dirty="0"/>
              <a:t>英语新闻标题常用一般现在时，从形式上增强报道的新鲜感、现实感和直接感。</a:t>
            </a:r>
            <a:endParaRPr lang="en-US" altLang="zh-CN" dirty="0"/>
          </a:p>
          <a:p>
            <a:pPr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charRg st="0" end="1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charRg st="16" end="3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charRg st="39" end="7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charRg st="75" end="14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charRg st="140" end="17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wrap="square" lIns="91440" tIns="45720" rIns="91440" bIns="45720" anchor="ctr" anchorCtr="0"/>
          <a:p>
            <a:pPr eaLnBrk="1" hangingPunct="1"/>
            <a:r>
              <a:rPr lang="en-US" altLang="zh-CN" dirty="0"/>
              <a:t>Tense</a:t>
            </a:r>
            <a:endParaRPr lang="zh-CN" altLang="en-US" dirty="0"/>
          </a:p>
        </p:txBody>
      </p:sp>
      <p:sp>
        <p:nvSpPr>
          <p:cNvPr id="22531" name="内容占位符 2"/>
          <p:cNvSpPr>
            <a:spLocks noGrp="1"/>
          </p:cNvSpPr>
          <p:nvPr>
            <p:ph idx="1"/>
          </p:nvPr>
        </p:nvSpPr>
        <p:spPr/>
        <p:txBody>
          <a:bodyPr vert="horz" wrap="square" lIns="91440" tIns="45720" rIns="91440" bIns="45720" anchor="t" anchorCtr="0"/>
          <a:p>
            <a:pPr eaLnBrk="1" hangingPunct="1"/>
            <a:r>
              <a:rPr lang="en-US" altLang="zh-CN" dirty="0"/>
              <a:t>Prisoners To Go On Strike Tonight</a:t>
            </a:r>
            <a:endParaRPr lang="en-US" altLang="zh-CN" dirty="0"/>
          </a:p>
          <a:p>
            <a:pPr eaLnBrk="1" hangingPunct="1"/>
            <a:r>
              <a:rPr lang="en-US" altLang="zh-CN" dirty="0"/>
              <a:t> (=Prisoners Are To Go On Strike Tonight) </a:t>
            </a:r>
            <a:r>
              <a:rPr lang="zh-CN" altLang="zh-CN" dirty="0"/>
              <a:t>囚犯们今晚要罢工</a:t>
            </a:r>
            <a:endParaRPr lang="en-US" altLang="zh-CN" dirty="0"/>
          </a:p>
          <a:p>
            <a:pPr eaLnBrk="1" hangingPunct="1"/>
            <a:r>
              <a:rPr lang="en-US" altLang="zh-CN" dirty="0"/>
              <a:t>Linking verb+infinitive phrase</a:t>
            </a:r>
            <a:endParaRPr lang="en-US" altLang="zh-CN" dirty="0"/>
          </a:p>
          <a:p>
            <a:pPr eaLnBrk="1" hangingPunct="1"/>
            <a:r>
              <a:rPr lang="zh-CN" altLang="zh-CN" dirty="0"/>
              <a:t>“联系动词</a:t>
            </a:r>
            <a:r>
              <a:rPr lang="en-US" altLang="zh-CN" dirty="0"/>
              <a:t>+</a:t>
            </a:r>
            <a:r>
              <a:rPr lang="zh-CN" altLang="zh-CN" dirty="0"/>
              <a:t>动词不定式”结构，其中联系动词通常省略，以节省标题字数</a:t>
            </a:r>
            <a:endParaRPr lang="zh-CN" altLang="zh-CN" dirty="0"/>
          </a:p>
          <a:p>
            <a:pPr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charRg st="0" end="3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xEl>
                                              <p:charRg st="34" end="8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1">
                                            <p:txEl>
                                              <p:charRg st="85" end="11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charRg st="116" end="15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wrap="square" lIns="91440" tIns="45720" rIns="91440" bIns="45720" anchor="ctr" anchorCtr="0"/>
          <a:p>
            <a:r>
              <a:rPr lang="en-US" altLang="zh-CN" dirty="0"/>
              <a:t>Tense</a:t>
            </a:r>
            <a:endParaRPr lang="zh-CN" altLang="en-US" dirty="0"/>
          </a:p>
        </p:txBody>
      </p:sp>
      <p:sp>
        <p:nvSpPr>
          <p:cNvPr id="23555" name="内容占位符 2"/>
          <p:cNvSpPr>
            <a:spLocks noGrp="1"/>
          </p:cNvSpPr>
          <p:nvPr>
            <p:ph idx="1"/>
          </p:nvPr>
        </p:nvSpPr>
        <p:spPr/>
        <p:txBody>
          <a:bodyPr vert="horz" wrap="square" lIns="91440" tIns="45720" rIns="91440" bIns="45720" anchor="t" anchorCtr="0"/>
          <a:p>
            <a:r>
              <a:rPr lang="en-US" altLang="zh-CN" dirty="0"/>
              <a:t>US Troops Conducting War Games In Mideast </a:t>
            </a:r>
            <a:endParaRPr lang="en-US" altLang="zh-CN" dirty="0"/>
          </a:p>
          <a:p>
            <a:r>
              <a:rPr lang="en-US" altLang="zh-CN" dirty="0"/>
              <a:t>(=US Troops Are Conducting War Games In Mideast) </a:t>
            </a:r>
            <a:r>
              <a:rPr lang="zh-CN" altLang="zh-CN" dirty="0"/>
              <a:t>美国军队在中东进行演习</a:t>
            </a:r>
            <a:endParaRPr lang="en-US" altLang="zh-CN" dirty="0"/>
          </a:p>
          <a:p>
            <a:r>
              <a:rPr lang="zh-CN" altLang="zh-CN" dirty="0"/>
              <a:t>现在分词直接表示正在进行的动作或事件</a:t>
            </a:r>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charRg st="0" end="4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charRg st="43" end="10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5">
                                            <p:txEl>
                                              <p:charRg st="104" end="1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p:txBody>
          <a:bodyPr vert="horz" wrap="square" lIns="91440" tIns="45720" rIns="91440" bIns="45720" anchor="ctr" anchorCtr="0"/>
          <a:p>
            <a:r>
              <a:rPr lang="en-US" altLang="zh-CN" dirty="0"/>
              <a:t>Voice</a:t>
            </a:r>
            <a:endParaRPr lang="zh-CN" altLang="en-US" dirty="0"/>
          </a:p>
        </p:txBody>
      </p:sp>
      <p:sp>
        <p:nvSpPr>
          <p:cNvPr id="24579" name="内容占位符 2"/>
          <p:cNvSpPr>
            <a:spLocks noGrp="1"/>
          </p:cNvSpPr>
          <p:nvPr>
            <p:ph idx="1"/>
          </p:nvPr>
        </p:nvSpPr>
        <p:spPr/>
        <p:txBody>
          <a:bodyPr vert="horz" wrap="square" lIns="91440" tIns="45720" rIns="91440" bIns="45720" anchor="t" anchorCtr="0"/>
          <a:p>
            <a:r>
              <a:rPr lang="en-US" altLang="zh-CN" dirty="0"/>
              <a:t>Van Goghs Recovered After Theft </a:t>
            </a:r>
            <a:endParaRPr lang="en-US" altLang="zh-CN" dirty="0"/>
          </a:p>
          <a:p>
            <a:r>
              <a:rPr lang="en-US" altLang="zh-CN" dirty="0"/>
              <a:t>(=Van Goghs Are Recovered After Theft) </a:t>
            </a:r>
            <a:r>
              <a:rPr lang="zh-CN" altLang="zh-CN" dirty="0"/>
              <a:t>梵高的画失而复得</a:t>
            </a:r>
            <a:endParaRPr lang="en-US" altLang="zh-CN" dirty="0"/>
          </a:p>
          <a:p>
            <a:r>
              <a:rPr lang="en-US" altLang="zh-CN" dirty="0"/>
              <a:t>500 Reported Kill In S. Korean Building Collapse </a:t>
            </a:r>
            <a:r>
              <a:rPr lang="zh-CN" altLang="zh-CN" dirty="0"/>
              <a:t>（韩国建筑倒塌造成</a:t>
            </a:r>
            <a:r>
              <a:rPr lang="en-US" altLang="zh-CN" dirty="0"/>
              <a:t>500</a:t>
            </a:r>
            <a:r>
              <a:rPr lang="zh-CN" altLang="zh-CN" dirty="0"/>
              <a:t>人死亡）</a:t>
            </a:r>
            <a:endParaRPr lang="en-US" altLang="zh-CN" dirty="0"/>
          </a:p>
          <a:p>
            <a:r>
              <a:rPr lang="zh-CN" altLang="en-US" dirty="0"/>
              <a:t>使用被动语态时常省略</a:t>
            </a:r>
            <a:r>
              <a:rPr lang="en-US" altLang="zh-CN" dirty="0"/>
              <a:t>be, </a:t>
            </a:r>
            <a:r>
              <a:rPr lang="zh-CN" altLang="en-US" dirty="0"/>
              <a:t>更多使用主动语态</a:t>
            </a:r>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charRg st="0" end="3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charRg st="33" end="8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579">
                                            <p:txEl>
                                              <p:charRg st="81" end="14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79">
                                            <p:txEl>
                                              <p:charRg st="147" end="17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3" name="内容占位符 2"/>
          <p:cNvSpPr>
            <a:spLocks noGrp="1"/>
          </p:cNvSpPr>
          <p:nvPr>
            <p:ph idx="1"/>
          </p:nvPr>
        </p:nvSpPr>
        <p:spPr>
          <a:xfrm>
            <a:off x="2017713" y="1101725"/>
            <a:ext cx="8193087" cy="5024438"/>
          </a:xfrm>
        </p:spPr>
        <p:txBody>
          <a:bodyPr vert="horz" wrap="square" lIns="91440" tIns="45720" rIns="91440" bIns="45720" anchor="t" anchorCtr="0"/>
          <a:p>
            <a:r>
              <a:rPr lang="en-US" altLang="zh-CN" dirty="0"/>
              <a:t>The group of five Senators, led by Frank Church, Democrat of Idaho, the committee chair-man, is on a six-day visit to China.</a:t>
            </a:r>
            <a:endParaRPr lang="en-US" altLang="zh-CN" dirty="0"/>
          </a:p>
          <a:p>
            <a:r>
              <a:rPr lang="en-US" altLang="zh-CN" dirty="0"/>
              <a:t>Using parenthesis(</a:t>
            </a:r>
            <a:r>
              <a:rPr lang="zh-CN" altLang="en-US" dirty="0"/>
              <a:t>插入语</a:t>
            </a:r>
            <a:r>
              <a:rPr lang="en-US" altLang="zh-CN" dirty="0"/>
              <a:t>)</a:t>
            </a:r>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charRg st="125" end="14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p:txBody>
          <a:bodyPr vert="horz" wrap="square" lIns="91440" tIns="45720" rIns="91440" bIns="45720" anchor="ctr" anchorCtr="0"/>
          <a:p>
            <a:r>
              <a:rPr lang="en-US" altLang="zh-CN" dirty="0"/>
              <a:t>premodifiers</a:t>
            </a:r>
            <a:endParaRPr lang="zh-CN" altLang="en-US" dirty="0"/>
          </a:p>
        </p:txBody>
      </p:sp>
      <p:sp>
        <p:nvSpPr>
          <p:cNvPr id="26627" name="内容占位符 2"/>
          <p:cNvSpPr>
            <a:spLocks noGrp="1"/>
          </p:cNvSpPr>
          <p:nvPr>
            <p:ph idx="1"/>
          </p:nvPr>
        </p:nvSpPr>
        <p:spPr/>
        <p:txBody>
          <a:bodyPr vert="horz" wrap="square" lIns="91440" tIns="45720" rIns="91440" bIns="45720" anchor="t" anchorCtr="0"/>
          <a:p>
            <a:r>
              <a:rPr lang="en-US" altLang="zh-CN" dirty="0"/>
              <a:t>Deeply-carpeted conference room, hard-won result, heavily-guarded government complex, highly-sophisticated technology, sparsely-populated area.</a:t>
            </a:r>
            <a:endParaRPr lang="en-US" altLang="zh-CN" dirty="0"/>
          </a:p>
          <a:p>
            <a:r>
              <a:rPr lang="en-US" altLang="zh-CN" dirty="0"/>
              <a:t>Adv + past participle</a:t>
            </a:r>
            <a:endParaRPr lang="en-US" altLang="zh-CN" dirty="0"/>
          </a:p>
          <a:p>
            <a:r>
              <a:rPr lang="en-US" altLang="zh-CN" dirty="0"/>
              <a:t>Disaster-hit area, web-enabled phone, state-owned enterprise</a:t>
            </a:r>
            <a:endParaRPr lang="en-US" altLang="zh-CN" dirty="0"/>
          </a:p>
          <a:p>
            <a:r>
              <a:rPr lang="en-US" altLang="zh-CN" dirty="0"/>
              <a:t>noun+ past participle</a:t>
            </a:r>
            <a:endParaRPr lang="en-US" altLang="zh-CN" dirty="0"/>
          </a:p>
          <a:p>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charRg st="0" end="14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7">
                                            <p:txEl>
                                              <p:charRg st="144" end="16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27">
                                            <p:txEl>
                                              <p:charRg st="166" end="22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27">
                                            <p:txEl>
                                              <p:charRg st="227" end="24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1" name="内容占位符 2"/>
          <p:cNvSpPr>
            <a:spLocks noGrp="1"/>
          </p:cNvSpPr>
          <p:nvPr>
            <p:ph idx="1"/>
          </p:nvPr>
        </p:nvSpPr>
        <p:spPr/>
        <p:txBody>
          <a:bodyPr vert="horz" wrap="square" lIns="91440" tIns="45720" rIns="91440" bIns="45720" anchor="t" anchorCtr="0"/>
          <a:p>
            <a:r>
              <a:rPr lang="en-US" altLang="zh-CN" dirty="0"/>
              <a:t>Arms-reduction talks, hunger-strike sitdown, supply-demand imbalance</a:t>
            </a:r>
            <a:endParaRPr lang="en-US" altLang="zh-CN" dirty="0"/>
          </a:p>
          <a:p>
            <a:r>
              <a:rPr lang="en-US" altLang="zh-CN" dirty="0"/>
              <a:t>Noun + noun</a:t>
            </a:r>
            <a:endParaRPr lang="en-US" altLang="zh-CN" dirty="0"/>
          </a:p>
          <a:p>
            <a:r>
              <a:rPr lang="en-US" altLang="zh-CN" dirty="0"/>
              <a:t>Cancer-causing drugs, energy-saving device, oil-producing country, policy-making body</a:t>
            </a:r>
            <a:endParaRPr lang="en-US" altLang="zh-CN" dirty="0"/>
          </a:p>
          <a:p>
            <a:r>
              <a:rPr lang="en-US" altLang="zh-CN" dirty="0"/>
              <a:t>Noun + present participle</a:t>
            </a:r>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charRg st="0" end="6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charRg st="69" end="8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charRg st="81" end="16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1">
                                            <p:txEl>
                                              <p:charRg st="167" end="19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p:txBody>
          <a:bodyPr vert="horz" wrap="square" lIns="91440" tIns="45720" rIns="91440" bIns="45720" anchor="ctr" anchorCtr="0"/>
          <a:p>
            <a:endParaRPr lang="zh-CN" altLang="en-US" dirty="0"/>
          </a:p>
        </p:txBody>
      </p:sp>
      <p:sp>
        <p:nvSpPr>
          <p:cNvPr id="28675" name="内容占位符 2"/>
          <p:cNvSpPr>
            <a:spLocks noGrp="1"/>
          </p:cNvSpPr>
          <p:nvPr>
            <p:ph idx="1"/>
          </p:nvPr>
        </p:nvSpPr>
        <p:spPr/>
        <p:txBody>
          <a:bodyPr vert="horz" wrap="square" lIns="91440" tIns="45720" rIns="91440" bIns="45720" anchor="t" anchorCtr="0"/>
          <a:p>
            <a:r>
              <a:rPr lang="en-US" altLang="zh-CN" dirty="0"/>
              <a:t>Eathquake-prone area,  baby-friendly hospital, interest-free loan, </a:t>
            </a:r>
            <a:endParaRPr lang="en-US" altLang="zh-CN" dirty="0"/>
          </a:p>
          <a:p>
            <a:r>
              <a:rPr lang="en-US" altLang="zh-CN" dirty="0"/>
              <a:t>Noun + adj</a:t>
            </a:r>
            <a:endParaRPr lang="en-US" altLang="zh-CN" dirty="0"/>
          </a:p>
          <a:p>
            <a:r>
              <a:rPr lang="en-US" altLang="zh-CN" dirty="0"/>
              <a:t>Wait-and-see policy, touch-and-go tension, off-and-on war</a:t>
            </a:r>
            <a:endParaRPr lang="en-US" altLang="zh-CN" dirty="0"/>
          </a:p>
          <a:p>
            <a:r>
              <a:rPr lang="en-US" altLang="zh-CN" dirty="0"/>
              <a:t>Shorter-than-usual-time summit conference, the Be-kind-to-Animal campaign</a:t>
            </a:r>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charRg st="0" end="6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charRg st="68" end="7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charRg st="79" end="13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charRg st="137" end="2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p:txBody>
          <a:bodyPr vert="horz" wrap="square" lIns="91440" tIns="45720" rIns="91440" bIns="45720" anchor="ctr" anchorCtr="0"/>
          <a:p>
            <a:r>
              <a:rPr lang="en-US" altLang="zh-CN" dirty="0"/>
              <a:t>Exercise</a:t>
            </a:r>
            <a:endParaRPr lang="zh-CN" altLang="en-US" dirty="0"/>
          </a:p>
        </p:txBody>
      </p:sp>
      <p:sp>
        <p:nvSpPr>
          <p:cNvPr id="29699" name="内容占位符 2"/>
          <p:cNvSpPr>
            <a:spLocks noGrp="1"/>
          </p:cNvSpPr>
          <p:nvPr>
            <p:ph idx="1"/>
          </p:nvPr>
        </p:nvSpPr>
        <p:spPr/>
        <p:txBody>
          <a:bodyPr vert="horz" wrap="square" lIns="91440" tIns="45720" rIns="91440" bIns="45720" anchor="t" anchorCtr="0"/>
          <a:p>
            <a:r>
              <a:rPr lang="en-US" altLang="zh-CN" dirty="0"/>
              <a:t>Most economists predict that the cap-and-trade program will go forward.</a:t>
            </a:r>
            <a:endParaRPr lang="en-US" altLang="zh-CN" dirty="0"/>
          </a:p>
          <a:p>
            <a:r>
              <a:rPr lang="zh-CN" altLang="en-US" dirty="0"/>
              <a:t>排放限制与额度交易计划</a:t>
            </a:r>
            <a:endParaRPr lang="en-US" altLang="zh-CN" dirty="0"/>
          </a:p>
          <a:p>
            <a:r>
              <a:rPr lang="en-US" altLang="zh-CN" dirty="0"/>
              <a:t>Unlike Europe, the emerging market countries are not speaking with a unified voice.</a:t>
            </a:r>
            <a:endParaRPr lang="en-US" altLang="zh-CN" dirty="0"/>
          </a:p>
          <a:p>
            <a:r>
              <a:rPr lang="zh-CN" altLang="en-US" dirty="0"/>
              <a:t>新兴市场国家</a:t>
            </a:r>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charRg st="0" end="7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charRg st="72" end="8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charRg st="84" end="16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charRg st="168" end="17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p:txBody>
          <a:bodyPr vert="horz" wrap="square" lIns="91440" tIns="45720" rIns="91440" bIns="45720" anchor="ctr" anchorCtr="0"/>
          <a:p>
            <a:r>
              <a:rPr lang="en-US" altLang="zh-CN" dirty="0"/>
              <a:t>Source attribution(</a:t>
            </a:r>
            <a:r>
              <a:rPr lang="zh-CN" altLang="en-US" dirty="0"/>
              <a:t>出处</a:t>
            </a:r>
            <a:r>
              <a:rPr lang="en-US" altLang="zh-CN" dirty="0"/>
              <a:t>)</a:t>
            </a:r>
            <a:endParaRPr lang="en-US" altLang="zh-CN" dirty="0"/>
          </a:p>
        </p:txBody>
      </p:sp>
      <p:sp>
        <p:nvSpPr>
          <p:cNvPr id="30723" name="内容占位符 2"/>
          <p:cNvSpPr>
            <a:spLocks noGrp="1"/>
          </p:cNvSpPr>
          <p:nvPr>
            <p:ph idx="1"/>
          </p:nvPr>
        </p:nvSpPr>
        <p:spPr>
          <a:xfrm>
            <a:off x="1981200" y="1600200"/>
            <a:ext cx="8229600" cy="4991100"/>
          </a:xfrm>
        </p:spPr>
        <p:txBody>
          <a:bodyPr vert="horz" wrap="square" lIns="91440" tIns="45720" rIns="91440" bIns="45720" anchor="t" anchorCtr="0"/>
          <a:p>
            <a:r>
              <a:rPr lang="en-US" altLang="zh-CN" dirty="0"/>
              <a:t>Analysts, authoritative sources, authorities, circles (</a:t>
            </a:r>
            <a:r>
              <a:rPr lang="zh-CN" altLang="en-US" dirty="0"/>
              <a:t>方面</a:t>
            </a:r>
            <a:r>
              <a:rPr lang="en-US" altLang="zh-CN" dirty="0"/>
              <a:t>), industrial quarters (</a:t>
            </a:r>
            <a:r>
              <a:rPr lang="zh-CN" altLang="en-US" dirty="0"/>
              <a:t>产业界</a:t>
            </a:r>
            <a:r>
              <a:rPr lang="en-US" altLang="zh-CN" dirty="0"/>
              <a:t>), well-informed sources, observers, neutral sources (</a:t>
            </a:r>
            <a:r>
              <a:rPr lang="zh-CN" altLang="en-US" dirty="0"/>
              <a:t>中立人士</a:t>
            </a:r>
            <a:r>
              <a:rPr lang="en-US" altLang="zh-CN" dirty="0"/>
              <a:t>), in-circle sources, spokesman(woman),</a:t>
            </a:r>
            <a:r>
              <a:rPr lang="zh-CN" altLang="en-US" dirty="0"/>
              <a:t> </a:t>
            </a:r>
            <a:r>
              <a:rPr lang="en-US" altLang="zh-CN" dirty="0"/>
              <a:t>witnesses</a:t>
            </a:r>
            <a:endParaRPr lang="en-US" altLang="zh-CN" dirty="0"/>
          </a:p>
          <a:p>
            <a:r>
              <a:rPr lang="en-US" altLang="zh-CN" dirty="0"/>
              <a:t>According to an anonymous source, foreign radios announced…,</a:t>
            </a:r>
            <a:endParaRPr lang="en-US" altLang="zh-CN" dirty="0"/>
          </a:p>
          <a:p>
            <a:r>
              <a:rPr lang="en-US" altLang="zh-CN" dirty="0"/>
              <a:t>It is alleged that, it has been calculated that</a:t>
            </a:r>
            <a:endParaRPr lang="en-US" altLang="zh-CN" dirty="0"/>
          </a:p>
          <a:p>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charRg st="0" end="19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charRg st="192" end="25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charRg st="253" end="30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406470" y="2942025"/>
            <a:ext cx="10969200" cy="705600"/>
          </a:xfrm>
        </p:spPr>
        <p:txBody>
          <a:bodyPr>
            <a:noAutofit/>
          </a:bodyPr>
          <a:p>
            <a:pPr algn="ctr"/>
            <a:r>
              <a:rPr lang="en-US" altLang="zh-CN" sz="5400" b="1"/>
              <a:t>Unit 2</a:t>
            </a:r>
            <a:endParaRPr lang="en-US" altLang="zh-CN" sz="5400" b="1"/>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1981200" y="-317"/>
            <a:ext cx="8229600" cy="1143000"/>
          </a:xfrm>
        </p:spPr>
        <p:txBody>
          <a:bodyPr vert="horz" wrap="square" lIns="91440" tIns="45720" rIns="91440" bIns="45720" anchor="ctr" anchorCtr="0"/>
          <a:p>
            <a:pPr eaLnBrk="1" hangingPunct="1"/>
            <a:r>
              <a:rPr lang="en-US" altLang="zh-CN" sz="3200" dirty="0"/>
              <a:t>Language features of news</a:t>
            </a:r>
            <a:br>
              <a:rPr lang="en-US" altLang="zh-CN" sz="3200" dirty="0"/>
            </a:br>
            <a:r>
              <a:rPr lang="zh-CN" altLang="en-US" sz="3200" b="1" dirty="0">
                <a:latin typeface="Verdana" panose="020B0604030504040204" pitchFamily="34" charset="0"/>
              </a:rPr>
              <a:t>新闻语言特征</a:t>
            </a:r>
            <a:endParaRPr lang="zh-CN" altLang="en-US" sz="3200" b="1" dirty="0">
              <a:latin typeface="Verdana" panose="020B0604030504040204" pitchFamily="34" charset="0"/>
            </a:endParaRPr>
          </a:p>
        </p:txBody>
      </p:sp>
      <p:sp>
        <p:nvSpPr>
          <p:cNvPr id="12291" name="Rectangle 3"/>
          <p:cNvSpPr>
            <a:spLocks noGrp="1"/>
          </p:cNvSpPr>
          <p:nvPr>
            <p:ph idx="1"/>
          </p:nvPr>
        </p:nvSpPr>
        <p:spPr>
          <a:xfrm>
            <a:off x="777240" y="1143000"/>
            <a:ext cx="3895090" cy="5642610"/>
          </a:xfrm>
        </p:spPr>
        <p:txBody>
          <a:bodyPr vert="horz" wrap="square" lIns="91440" tIns="45720" rIns="91440" bIns="45720" anchor="t" anchorCtr="0">
            <a:normAutofit lnSpcReduction="10000"/>
          </a:bodyPr>
          <a:p>
            <a:pPr eaLnBrk="1" hangingPunct="1"/>
            <a:r>
              <a:rPr lang="en-US" altLang="zh-CN" sz="2400" dirty="0">
                <a:latin typeface="华文新魏" panose="02010800040101010101" pitchFamily="2" charset="-122"/>
                <a:ea typeface="华文新魏" panose="02010800040101010101" pitchFamily="2" charset="-122"/>
              </a:rPr>
              <a:t>express paper</a:t>
            </a:r>
            <a:endParaRPr lang="en-US" altLang="zh-CN" sz="2400" dirty="0">
              <a:latin typeface="华文新魏" panose="02010800040101010101" pitchFamily="2" charset="-122"/>
              <a:ea typeface="华文新魏" panose="02010800040101010101" pitchFamily="2" charset="-122"/>
            </a:endParaRPr>
          </a:p>
          <a:p>
            <a:pPr eaLnBrk="1" hangingPunct="1"/>
            <a:r>
              <a:rPr lang="en-US" altLang="zh-CN" sz="2400" dirty="0">
                <a:latin typeface="华文新魏" panose="02010800040101010101" pitchFamily="2" charset="-122"/>
                <a:ea typeface="华文新魏" panose="02010800040101010101" pitchFamily="2" charset="-122"/>
              </a:rPr>
              <a:t>bulletin</a:t>
            </a:r>
            <a:endParaRPr lang="en-US" altLang="zh-CN" sz="2400" dirty="0">
              <a:latin typeface="华文新魏" panose="02010800040101010101" pitchFamily="2" charset="-122"/>
              <a:ea typeface="华文新魏" panose="02010800040101010101" pitchFamily="2" charset="-122"/>
            </a:endParaRPr>
          </a:p>
          <a:p>
            <a:pPr>
              <a:spcBef>
                <a:spcPts val="0"/>
              </a:spcBef>
              <a:spcAft>
                <a:spcPts val="2400"/>
              </a:spcAft>
            </a:pPr>
            <a:r>
              <a:rPr lang="en-US" altLang="zh-CN" sz="2400" dirty="0">
                <a:latin typeface="华文新魏" panose="02010800040101010101" pitchFamily="2" charset="-122"/>
                <a:ea typeface="华文新魏" panose="02010800040101010101" pitchFamily="2" charset="-122"/>
              </a:rPr>
              <a:t>broadsheet/tabloid</a:t>
            </a:r>
            <a:endParaRPr lang="en-US" altLang="zh-CN" sz="2400" dirty="0">
              <a:latin typeface="华文新魏" panose="02010800040101010101" pitchFamily="2" charset="-122"/>
              <a:ea typeface="华文新魏" panose="02010800040101010101" pitchFamily="2" charset="-122"/>
            </a:endParaRPr>
          </a:p>
          <a:p>
            <a:pPr eaLnBrk="1" hangingPunct="1"/>
            <a:r>
              <a:rPr lang="en-US" altLang="zh-CN" sz="2400" dirty="0">
                <a:latin typeface="华文新魏" panose="02010800040101010101" pitchFamily="2" charset="-122"/>
                <a:ea typeface="华文新魏" panose="02010800040101010101" pitchFamily="2" charset="-122"/>
              </a:rPr>
              <a:t>review news</a:t>
            </a:r>
            <a:endParaRPr lang="en-US" altLang="zh-CN" sz="2400" dirty="0">
              <a:latin typeface="华文新魏" panose="02010800040101010101" pitchFamily="2" charset="-122"/>
              <a:ea typeface="华文新魏" panose="02010800040101010101" pitchFamily="2" charset="-122"/>
            </a:endParaRPr>
          </a:p>
          <a:p>
            <a:pPr>
              <a:spcAft>
                <a:spcPts val="400"/>
              </a:spcAft>
            </a:pPr>
            <a:r>
              <a:rPr lang="en-US" altLang="zh-CN" sz="2400" dirty="0">
                <a:latin typeface="华文新魏" panose="02010800040101010101" pitchFamily="2" charset="-122"/>
                <a:ea typeface="华文新魏" panose="02010800040101010101" pitchFamily="2" charset="-122"/>
              </a:rPr>
              <a:t>press office</a:t>
            </a:r>
            <a:endParaRPr lang="en-US" altLang="zh-CN" sz="2400" dirty="0">
              <a:latin typeface="华文新魏" panose="02010800040101010101" pitchFamily="2" charset="-122"/>
              <a:ea typeface="华文新魏" panose="02010800040101010101" pitchFamily="2" charset="-122"/>
            </a:endParaRPr>
          </a:p>
          <a:p>
            <a:pPr eaLnBrk="1" latinLnBrk="0" hangingPunct="1">
              <a:spcBef>
                <a:spcPts val="0"/>
              </a:spcBef>
              <a:spcAft>
                <a:spcPts val="600"/>
              </a:spcAft>
            </a:pPr>
            <a:r>
              <a:rPr lang="en-US" altLang="zh-CN" sz="2400" dirty="0">
                <a:latin typeface="华文新魏" panose="02010800040101010101" pitchFamily="2" charset="-122"/>
                <a:ea typeface="华文新魏" panose="02010800040101010101" pitchFamily="2" charset="-122"/>
              </a:rPr>
              <a:t>publisher</a:t>
            </a:r>
            <a:endParaRPr lang="en-US" altLang="zh-CN" sz="2400" dirty="0">
              <a:latin typeface="华文新魏" panose="02010800040101010101" pitchFamily="2" charset="-122"/>
              <a:ea typeface="华文新魏" panose="02010800040101010101" pitchFamily="2" charset="-122"/>
            </a:endParaRPr>
          </a:p>
          <a:p>
            <a:pPr eaLnBrk="1" latinLnBrk="0" hangingPunct="1">
              <a:spcBef>
                <a:spcPts val="0"/>
              </a:spcBef>
              <a:spcAft>
                <a:spcPts val="600"/>
              </a:spcAft>
            </a:pPr>
            <a:r>
              <a:rPr lang="en-US" altLang="zh-CN" sz="2400" dirty="0">
                <a:latin typeface="华文新魏" panose="02010800040101010101" pitchFamily="2" charset="-122"/>
                <a:ea typeface="华文新魏" panose="02010800040101010101" pitchFamily="2" charset="-122"/>
              </a:rPr>
              <a:t>chief editor</a:t>
            </a:r>
            <a:endParaRPr lang="en-US" altLang="zh-CN" sz="2400" dirty="0">
              <a:latin typeface="华文新魏" panose="02010800040101010101" pitchFamily="2" charset="-122"/>
              <a:ea typeface="华文新魏" panose="02010800040101010101" pitchFamily="2" charset="-122"/>
            </a:endParaRPr>
          </a:p>
          <a:p>
            <a:pPr eaLnBrk="1" latinLnBrk="0" hangingPunct="1">
              <a:spcBef>
                <a:spcPts val="0"/>
              </a:spcBef>
              <a:spcAft>
                <a:spcPts val="1800"/>
              </a:spcAft>
            </a:pPr>
            <a:r>
              <a:rPr lang="en-US" altLang="zh-CN" sz="2400" dirty="0">
                <a:latin typeface="华文新魏" panose="02010800040101010101" pitchFamily="2" charset="-122"/>
                <a:ea typeface="华文新魏" panose="02010800040101010101" pitchFamily="2" charset="-122"/>
              </a:rPr>
              <a:t>freelancer</a:t>
            </a:r>
            <a:endParaRPr lang="en-US" altLang="zh-CN" sz="2400" dirty="0">
              <a:latin typeface="华文新魏" panose="02010800040101010101" pitchFamily="2" charset="-122"/>
              <a:ea typeface="华文新魏" panose="02010800040101010101" pitchFamily="2" charset="-122"/>
            </a:endParaRPr>
          </a:p>
          <a:p>
            <a:pPr eaLnBrk="1" hangingPunct="1"/>
            <a:r>
              <a:rPr lang="en-US" altLang="zh-CN" sz="2400" dirty="0">
                <a:latin typeface="华文新魏" panose="02010800040101010101" pitchFamily="2" charset="-122"/>
                <a:ea typeface="华文新魏" panose="02010800040101010101" pitchFamily="2" charset="-122"/>
              </a:rPr>
              <a:t>correspondent</a:t>
            </a:r>
            <a:endParaRPr lang="en-US" altLang="zh-CN" sz="2400" dirty="0">
              <a:latin typeface="华文新魏" panose="02010800040101010101" pitchFamily="2" charset="-122"/>
              <a:ea typeface="华文新魏" panose="02010800040101010101" pitchFamily="2" charset="-122"/>
            </a:endParaRPr>
          </a:p>
        </p:txBody>
      </p:sp>
      <p:sp>
        <p:nvSpPr>
          <p:cNvPr id="12292" name="Text Box 4"/>
          <p:cNvSpPr txBox="1"/>
          <p:nvPr/>
        </p:nvSpPr>
        <p:spPr>
          <a:xfrm>
            <a:off x="5488305" y="592138"/>
            <a:ext cx="4895850" cy="460375"/>
          </a:xfrm>
          <a:prstGeom prst="rect">
            <a:avLst/>
          </a:prstGeom>
          <a:noFill/>
          <a:ln w="9525">
            <a:noFill/>
          </a:ln>
        </p:spPr>
        <p:txBody>
          <a:bodyPr>
            <a:spAutoFit/>
          </a:bodyPr>
          <a:p>
            <a:pPr eaLnBrk="1" hangingPunct="1">
              <a:spcBef>
                <a:spcPct val="50000"/>
              </a:spcBef>
            </a:pPr>
            <a:r>
              <a:rPr lang="en-US" altLang="zh-CN" sz="2400" b="1" dirty="0">
                <a:solidFill>
                  <a:srgbClr val="800000"/>
                </a:solidFill>
                <a:latin typeface="华文新魏" panose="02010800040101010101" pitchFamily="2" charset="-122"/>
                <a:ea typeface="华文新魏" panose="02010800040101010101" pitchFamily="2" charset="-122"/>
              </a:rPr>
              <a:t>Journalistic terms </a:t>
            </a:r>
            <a:r>
              <a:rPr lang="zh-CN" altLang="en-US" sz="2400" b="1" dirty="0">
                <a:solidFill>
                  <a:srgbClr val="800000"/>
                </a:solidFill>
                <a:latin typeface="华文新魏" panose="02010800040101010101" pitchFamily="2" charset="-122"/>
                <a:ea typeface="华文新魏" panose="02010800040101010101" pitchFamily="2" charset="-122"/>
              </a:rPr>
              <a:t>新闻业术语</a:t>
            </a:r>
            <a:endParaRPr lang="zh-CN" altLang="en-US" sz="2400" b="1" dirty="0">
              <a:solidFill>
                <a:srgbClr val="800000"/>
              </a:solidFill>
              <a:latin typeface="华文新魏" panose="02010800040101010101" pitchFamily="2" charset="-122"/>
              <a:ea typeface="华文新魏" panose="02010800040101010101" pitchFamily="2" charset="-122"/>
            </a:endParaRPr>
          </a:p>
        </p:txBody>
      </p:sp>
      <p:sp>
        <p:nvSpPr>
          <p:cNvPr id="12293" name="Text Box 5"/>
          <p:cNvSpPr txBox="1"/>
          <p:nvPr/>
        </p:nvSpPr>
        <p:spPr>
          <a:xfrm>
            <a:off x="4538345" y="1217295"/>
            <a:ext cx="6089015" cy="7071360"/>
          </a:xfrm>
          <a:prstGeom prst="rect">
            <a:avLst/>
          </a:prstGeom>
          <a:noFill/>
          <a:ln w="9525">
            <a:noFill/>
          </a:ln>
        </p:spPr>
        <p:txBody>
          <a:bodyPr wrap="square">
            <a:noAutofit/>
          </a:bodyPr>
          <a:p>
            <a:pPr indent="0" fontAlgn="auto">
              <a:lnSpc>
                <a:spcPct val="150000"/>
              </a:lnSpc>
              <a:spcBef>
                <a:spcPts val="0"/>
              </a:spcBef>
              <a:buChar char="•"/>
            </a:pPr>
            <a:r>
              <a:rPr lang="zh-CN" altLang="en-US" sz="2000" dirty="0">
                <a:latin typeface="+mn-ea"/>
                <a:ea typeface="+mn-ea"/>
                <a:cs typeface="+mn-ea"/>
              </a:rPr>
              <a:t>快报、</a:t>
            </a:r>
            <a:r>
              <a:rPr lang="zh-CN" altLang="en-US" sz="2000" dirty="0">
                <a:latin typeface="+mn-ea"/>
                <a:ea typeface="+mn-ea"/>
                <a:cs typeface="+mn-ea"/>
              </a:rPr>
              <a:t>速报（强调时效性、快速发布的报纸）</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简报、</a:t>
            </a:r>
            <a:r>
              <a:rPr lang="zh-CN" altLang="en-US" sz="2000" dirty="0">
                <a:latin typeface="+mn-ea"/>
                <a:ea typeface="+mn-ea"/>
                <a:cs typeface="+mn-ea"/>
              </a:rPr>
              <a:t>公告（简短、及时的新闻或官方通告）</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大报</a:t>
            </a:r>
            <a:r>
              <a:rPr lang="en-US" altLang="zh-CN" sz="2000" dirty="0">
                <a:latin typeface="+mn-ea"/>
                <a:ea typeface="+mn-ea"/>
                <a:cs typeface="+mn-ea"/>
              </a:rPr>
              <a:t>/</a:t>
            </a:r>
            <a:r>
              <a:rPr lang="zh-CN" altLang="en-US" sz="2000" dirty="0">
                <a:latin typeface="+mn-ea"/>
                <a:ea typeface="+mn-ea"/>
                <a:cs typeface="+mn-ea"/>
              </a:rPr>
              <a:t>小报（版面较小、内容多为娱乐和八卦的报纸，如《太阳报》）</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评论性新闻（对事件或作品进行分析、评价的新闻）</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新闻办公室（机构或政府负责对外发布信息的部门）</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出版商、</a:t>
            </a:r>
            <a:r>
              <a:rPr lang="zh-CN" altLang="en-US" sz="2000" dirty="0">
                <a:latin typeface="+mn-ea"/>
                <a:ea typeface="+mn-ea"/>
                <a:cs typeface="+mn-ea"/>
              </a:rPr>
              <a:t>发行人</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主编</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自由撰稿人（不隶属于某一媒体，按项目供稿的作者）</a:t>
            </a:r>
            <a:endParaRPr lang="zh-CN" altLang="en-US" sz="2000" dirty="0">
              <a:latin typeface="+mn-ea"/>
              <a:ea typeface="+mn-ea"/>
              <a:cs typeface="+mn-ea"/>
            </a:endParaRPr>
          </a:p>
          <a:p>
            <a:pPr indent="0" fontAlgn="auto">
              <a:lnSpc>
                <a:spcPct val="150000"/>
              </a:lnSpc>
              <a:spcBef>
                <a:spcPts val="0"/>
              </a:spcBef>
              <a:buChar char="•"/>
            </a:pPr>
            <a:r>
              <a:rPr lang="zh-CN" altLang="en-US" sz="2000" dirty="0">
                <a:latin typeface="+mn-ea"/>
                <a:ea typeface="+mn-ea"/>
                <a:cs typeface="+mn-ea"/>
              </a:rPr>
              <a:t>通讯员、驻外记者（常驻某地或某领域的专职记者）</a:t>
            </a:r>
            <a:endParaRPr lang="zh-CN" altLang="en-US" sz="2000" dirty="0">
              <a:latin typeface="+mn-ea"/>
              <a:ea typeface="+mn-ea"/>
              <a:cs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1440" tIns="45720" rIns="91440" bIns="45720" anchor="ctr" anchorCtr="0">
            <a:normAutofit fontScale="90000"/>
          </a:bodyPr>
          <a:p>
            <a:r>
              <a:rPr lang="en-US" altLang="zh-CN" sz="3800" dirty="0"/>
              <a:t>What newspaper or magazine do you know or read?</a:t>
            </a:r>
            <a:endParaRPr lang="en-US" altLang="zh-CN" sz="3800" dirty="0"/>
          </a:p>
        </p:txBody>
      </p:sp>
      <p:sp>
        <p:nvSpPr>
          <p:cNvPr id="14339" name="Rectangle 3"/>
          <p:cNvSpPr>
            <a:spLocks noGrp="1"/>
          </p:cNvSpPr>
          <p:nvPr>
            <p:ph idx="1"/>
          </p:nvPr>
        </p:nvSpPr>
        <p:spPr/>
        <p:txBody>
          <a:bodyPr vert="horz" wrap="square" lIns="91440" tIns="45720" rIns="91440" bIns="45720" anchor="t" anchorCtr="0"/>
          <a:p>
            <a:pPr>
              <a:lnSpc>
                <a:spcPct val="90000"/>
              </a:lnSpc>
              <a:buFont typeface="Wingdings" panose="05000000000000000000" pitchFamily="2" charset="2"/>
              <a:buNone/>
            </a:pPr>
            <a:r>
              <a:rPr lang="en-US" altLang="zh-CN" dirty="0"/>
              <a:t>《</a:t>
            </a:r>
            <a:r>
              <a:rPr lang="zh-CN" altLang="en-US" dirty="0"/>
              <a:t>纽约时报</a:t>
            </a:r>
            <a:r>
              <a:rPr lang="en-US" altLang="zh-CN" dirty="0"/>
              <a:t>》(The New York Times)</a:t>
            </a:r>
            <a:endParaRPr lang="en-US" altLang="zh-CN" dirty="0"/>
          </a:p>
          <a:p>
            <a:pPr>
              <a:lnSpc>
                <a:spcPct val="90000"/>
              </a:lnSpc>
              <a:buFont typeface="Wingdings" panose="05000000000000000000" pitchFamily="2" charset="2"/>
              <a:buNone/>
            </a:pPr>
            <a:r>
              <a:rPr lang="en-US" altLang="zh-CN" dirty="0"/>
              <a:t>《</a:t>
            </a:r>
            <a:r>
              <a:rPr lang="zh-CN" altLang="en-US" dirty="0"/>
              <a:t>华盛顿邮报</a:t>
            </a:r>
            <a:r>
              <a:rPr lang="en-US" altLang="zh-CN" dirty="0"/>
              <a:t>》(The Washington Post)</a:t>
            </a:r>
            <a:endParaRPr lang="en-US" altLang="zh-CN" dirty="0"/>
          </a:p>
          <a:p>
            <a:pPr>
              <a:lnSpc>
                <a:spcPct val="90000"/>
              </a:lnSpc>
              <a:buFont typeface="Wingdings" panose="05000000000000000000" pitchFamily="2" charset="2"/>
              <a:buNone/>
            </a:pPr>
            <a:r>
              <a:rPr lang="en-US" altLang="zh-CN" dirty="0"/>
              <a:t>《</a:t>
            </a:r>
            <a:r>
              <a:rPr lang="zh-CN" altLang="en-US" dirty="0"/>
              <a:t>时代</a:t>
            </a:r>
            <a:r>
              <a:rPr lang="en-US" altLang="zh-CN" dirty="0"/>
              <a:t>》</a:t>
            </a:r>
            <a:r>
              <a:rPr lang="zh-CN" altLang="en-US" dirty="0"/>
              <a:t>周刊</a:t>
            </a:r>
            <a:r>
              <a:rPr lang="en-US" altLang="zh-CN" dirty="0"/>
              <a:t>(Time)</a:t>
            </a:r>
            <a:endParaRPr lang="en-US" altLang="zh-CN" dirty="0"/>
          </a:p>
          <a:p>
            <a:pPr>
              <a:lnSpc>
                <a:spcPct val="90000"/>
              </a:lnSpc>
              <a:buFont typeface="Wingdings" panose="05000000000000000000" pitchFamily="2" charset="2"/>
              <a:buNone/>
            </a:pPr>
            <a:r>
              <a:rPr lang="en-US" altLang="zh-CN" dirty="0"/>
              <a:t>《</a:t>
            </a:r>
            <a:r>
              <a:rPr lang="zh-CN" altLang="en-US" dirty="0"/>
              <a:t>泰晤士报</a:t>
            </a:r>
            <a:r>
              <a:rPr lang="en-US" altLang="zh-CN" dirty="0"/>
              <a:t>》(The Times)</a:t>
            </a:r>
            <a:endParaRPr lang="en-US" altLang="zh-CN" dirty="0"/>
          </a:p>
          <a:p>
            <a:pPr>
              <a:lnSpc>
                <a:spcPct val="90000"/>
              </a:lnSpc>
              <a:buFont typeface="Wingdings" panose="05000000000000000000" pitchFamily="2" charset="2"/>
              <a:buNone/>
            </a:pPr>
            <a:r>
              <a:rPr lang="en-US" altLang="zh-CN" dirty="0"/>
              <a:t>《</a:t>
            </a:r>
            <a:r>
              <a:rPr lang="zh-CN" altLang="en-US" dirty="0"/>
              <a:t>经济学家</a:t>
            </a:r>
            <a:r>
              <a:rPr lang="en-US" altLang="zh-CN" dirty="0"/>
              <a:t>》(The Economist)</a:t>
            </a:r>
            <a:endParaRPr lang="en-US" altLang="zh-CN" dirty="0"/>
          </a:p>
          <a:p>
            <a:pPr>
              <a:lnSpc>
                <a:spcPct val="90000"/>
              </a:lnSpc>
              <a:buFont typeface="Wingdings" panose="05000000000000000000" pitchFamily="2" charset="2"/>
              <a:buNone/>
            </a:pPr>
            <a:r>
              <a:rPr lang="en-US" altLang="zh-CN" dirty="0"/>
              <a:t>《</a:t>
            </a:r>
            <a:r>
              <a:rPr lang="zh-CN" altLang="en-US" dirty="0"/>
              <a:t>旁观者</a:t>
            </a:r>
            <a:r>
              <a:rPr lang="en-US" altLang="zh-CN" dirty="0"/>
              <a:t>》(The Spectator)</a:t>
            </a:r>
            <a:endParaRPr lang="en-US" altLang="zh-CN" dirty="0"/>
          </a:p>
          <a:p>
            <a:pPr>
              <a:lnSpc>
                <a:spcPct val="90000"/>
              </a:lnSpc>
              <a:buFont typeface="Wingdings" panose="05000000000000000000" pitchFamily="2" charset="2"/>
              <a:buNone/>
            </a:pPr>
            <a:r>
              <a:rPr lang="en-US" altLang="zh-CN" dirty="0"/>
              <a:t>  </a:t>
            </a:r>
            <a:r>
              <a:rPr lang="zh-CN" altLang="en-US" dirty="0"/>
              <a:t>著名的通讯社有美国的</a:t>
            </a:r>
            <a:endParaRPr lang="zh-CN" altLang="en-US" dirty="0"/>
          </a:p>
          <a:p>
            <a:pPr>
              <a:lnSpc>
                <a:spcPct val="90000"/>
              </a:lnSpc>
              <a:buFont typeface="Wingdings" panose="05000000000000000000" pitchFamily="2" charset="2"/>
              <a:buNone/>
            </a:pPr>
            <a:r>
              <a:rPr lang="zh-CN" altLang="en-US" dirty="0"/>
              <a:t>  美联社</a:t>
            </a:r>
            <a:r>
              <a:rPr lang="en-US" altLang="zh-CN" dirty="0"/>
              <a:t>(Associated Press</a:t>
            </a:r>
            <a:r>
              <a:rPr lang="zh-CN" altLang="en-US" dirty="0"/>
              <a:t>，</a:t>
            </a:r>
            <a:r>
              <a:rPr lang="en-US" altLang="zh-CN" dirty="0"/>
              <a:t>AP)</a:t>
            </a:r>
            <a:r>
              <a:rPr lang="zh-CN" altLang="en-US" dirty="0"/>
              <a:t>和英国的路透社</a:t>
            </a:r>
            <a:r>
              <a:rPr lang="en-US" altLang="zh-CN" dirty="0"/>
              <a:t>(Reuter’S News Agency</a:t>
            </a:r>
            <a:r>
              <a:rPr lang="zh-CN" altLang="en-US" dirty="0"/>
              <a:t>，</a:t>
            </a:r>
            <a:r>
              <a:rPr lang="en-US" altLang="zh-CN" dirty="0"/>
              <a:t>Reuters)</a:t>
            </a:r>
            <a:endParaRPr lang="en-US" altLang="zh-CN" dirty="0"/>
          </a:p>
        </p:txBody>
      </p:sp>
      <p:sp>
        <p:nvSpPr>
          <p:cNvPr id="14340" name="Text Box 4"/>
          <p:cNvSpPr txBox="1"/>
          <p:nvPr/>
        </p:nvSpPr>
        <p:spPr>
          <a:xfrm>
            <a:off x="1431925" y="6361113"/>
            <a:ext cx="5580380" cy="368300"/>
          </a:xfrm>
          <a:prstGeom prst="rect">
            <a:avLst/>
          </a:prstGeom>
          <a:noFill/>
          <a:ln w="9525">
            <a:noFill/>
          </a:ln>
        </p:spPr>
        <p:txBody>
          <a:bodyPr wrap="none">
            <a:spAutoFit/>
          </a:bodyPr>
          <a:p>
            <a:r>
              <a:rPr lang="en-US" altLang="zh-CN" dirty="0">
                <a:latin typeface="Arial" panose="020B0604020202020204" pitchFamily="34" charset="0"/>
              </a:rPr>
              <a:t>http://www.hjenglish.com/doc/myexam/104_1644.htm</a:t>
            </a:r>
            <a:endParaRPr lang="en-US" altLang="zh-CN"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p:nvPr/>
        </p:nvSpPr>
        <p:spPr>
          <a:xfrm>
            <a:off x="1919605" y="260350"/>
            <a:ext cx="6666865" cy="521970"/>
          </a:xfrm>
          <a:prstGeom prst="rect">
            <a:avLst/>
          </a:prstGeom>
          <a:noFill/>
          <a:ln w="9525">
            <a:noFill/>
          </a:ln>
        </p:spPr>
        <p:txBody>
          <a:bodyPr wrap="square">
            <a:spAutoFit/>
          </a:bodyPr>
          <a:p>
            <a:pPr eaLnBrk="1" hangingPunct="1">
              <a:spcBef>
                <a:spcPct val="50000"/>
              </a:spcBef>
            </a:pPr>
            <a:r>
              <a:rPr lang="en-US" altLang="zh-CN" sz="2800" b="1" dirty="0">
                <a:solidFill>
                  <a:srgbClr val="800000"/>
                </a:solidFill>
                <a:latin typeface="华文新魏" panose="02010800040101010101" pitchFamily="2" charset="-122"/>
                <a:ea typeface="华文新魏" panose="02010800040101010101" pitchFamily="2" charset="-122"/>
              </a:rPr>
              <a:t>Journalistic terms </a:t>
            </a:r>
            <a:r>
              <a:rPr lang="zh-CN" altLang="en-US" sz="2800" b="1" dirty="0">
                <a:solidFill>
                  <a:srgbClr val="800000"/>
                </a:solidFill>
                <a:latin typeface="华文新魏" panose="02010800040101010101" pitchFamily="2" charset="-122"/>
                <a:ea typeface="华文新魏" panose="02010800040101010101" pitchFamily="2" charset="-122"/>
              </a:rPr>
              <a:t>新闻业术语</a:t>
            </a:r>
            <a:endParaRPr lang="zh-CN" altLang="en-US" sz="2800" b="1" dirty="0">
              <a:solidFill>
                <a:srgbClr val="800000"/>
              </a:solidFill>
              <a:latin typeface="华文新魏" panose="02010800040101010101" pitchFamily="2" charset="-122"/>
              <a:ea typeface="华文新魏" panose="02010800040101010101" pitchFamily="2" charset="-122"/>
            </a:endParaRPr>
          </a:p>
        </p:txBody>
      </p:sp>
      <p:sp>
        <p:nvSpPr>
          <p:cNvPr id="12293" name="Text Box 5"/>
          <p:cNvSpPr txBox="1"/>
          <p:nvPr/>
        </p:nvSpPr>
        <p:spPr>
          <a:xfrm>
            <a:off x="1991360" y="981075"/>
            <a:ext cx="4032250" cy="5347970"/>
          </a:xfrm>
          <a:prstGeom prst="rect">
            <a:avLst/>
          </a:prstGeom>
          <a:noFill/>
          <a:ln w="9525">
            <a:noFill/>
          </a:ln>
        </p:spPr>
        <p:txBody>
          <a:bodyPr>
            <a:noAutofit/>
          </a:bodyPr>
          <a:p>
            <a:pPr eaLnBrk="1" hangingPunct="1">
              <a:spcBef>
                <a:spcPts val="600"/>
              </a:spcBef>
              <a:spcAft>
                <a:spcPts val="1200"/>
              </a:spcAft>
              <a:buChar char="•"/>
            </a:pPr>
            <a:r>
              <a:rPr lang="en-US" altLang="zh-CN" sz="1800" dirty="0">
                <a:latin typeface="Verdana" panose="020B0604030504040204" pitchFamily="34" charset="0"/>
              </a:rPr>
              <a:t> </a:t>
            </a:r>
            <a:r>
              <a:rPr lang="en-US" altLang="zh-CN" sz="2400" dirty="0">
                <a:latin typeface="华文新魏" panose="02010800040101010101" pitchFamily="2" charset="-122"/>
                <a:ea typeface="华文新魏" panose="02010800040101010101" pitchFamily="2" charset="-122"/>
              </a:rPr>
              <a:t>contributor</a:t>
            </a:r>
            <a:endParaRPr lang="en-US" altLang="zh-CN" sz="2400" dirty="0">
              <a:latin typeface="华文新魏" panose="02010800040101010101" pitchFamily="2" charset="-122"/>
              <a:ea typeface="华文新魏" panose="02010800040101010101" pitchFamily="2" charset="-122"/>
            </a:endParaRPr>
          </a:p>
          <a:p>
            <a:pPr eaLnBrk="1" hangingPunct="1">
              <a:spcBef>
                <a:spcPts val="600"/>
              </a:spcBef>
              <a:spcAft>
                <a:spcPts val="1200"/>
              </a:spcAft>
              <a:buChar char="•"/>
            </a:pPr>
            <a:r>
              <a:rPr lang="en-US" altLang="zh-CN" sz="2400" dirty="0">
                <a:latin typeface="华文新魏" panose="02010800040101010101" pitchFamily="2" charset="-122"/>
                <a:ea typeface="华文新魏" panose="02010800040101010101" pitchFamily="2" charset="-122"/>
              </a:rPr>
              <a:t> headline news</a:t>
            </a:r>
            <a:endParaRPr lang="en-US" altLang="zh-CN" sz="2400" dirty="0">
              <a:latin typeface="华文新魏" panose="02010800040101010101" pitchFamily="2" charset="-122"/>
              <a:ea typeface="华文新魏" panose="02010800040101010101" pitchFamily="2" charset="-122"/>
            </a:endParaRPr>
          </a:p>
          <a:p>
            <a:pPr eaLnBrk="1" hangingPunct="1">
              <a:spcBef>
                <a:spcPts val="600"/>
              </a:spcBef>
              <a:spcAft>
                <a:spcPts val="1200"/>
              </a:spcAft>
              <a:buChar char="•"/>
            </a:pPr>
            <a:r>
              <a:rPr lang="en-US" altLang="zh-CN" sz="2400" dirty="0">
                <a:latin typeface="华文新魏" panose="02010800040101010101" pitchFamily="2" charset="-122"/>
                <a:ea typeface="华文新魏" panose="02010800040101010101" pitchFamily="2" charset="-122"/>
              </a:rPr>
              <a:t> running stories</a:t>
            </a:r>
            <a:endParaRPr lang="en-US" altLang="zh-CN" sz="2400" dirty="0">
              <a:latin typeface="华文新魏" panose="02010800040101010101" pitchFamily="2" charset="-122"/>
              <a:ea typeface="华文新魏" panose="02010800040101010101" pitchFamily="2" charset="-122"/>
            </a:endParaRPr>
          </a:p>
          <a:p>
            <a:pPr eaLnBrk="1" hangingPunct="1">
              <a:spcBef>
                <a:spcPts val="1800"/>
              </a:spcBef>
              <a:spcAft>
                <a:spcPts val="1200"/>
              </a:spcAft>
              <a:buChar char="•"/>
            </a:pPr>
            <a:r>
              <a:rPr lang="en-US" altLang="zh-CN" sz="2400" dirty="0">
                <a:latin typeface="华文新魏" panose="02010800040101010101" pitchFamily="2" charset="-122"/>
                <a:ea typeface="华文新魏" panose="02010800040101010101" pitchFamily="2" charset="-122"/>
              </a:rPr>
              <a:t> criticism</a:t>
            </a:r>
            <a:endParaRPr lang="en-US" altLang="zh-CN" sz="2400" dirty="0">
              <a:latin typeface="华文新魏" panose="02010800040101010101" pitchFamily="2" charset="-122"/>
              <a:ea typeface="华文新魏" panose="02010800040101010101" pitchFamily="2" charset="-122"/>
            </a:endParaRPr>
          </a:p>
          <a:p>
            <a:pPr eaLnBrk="1" hangingPunct="1">
              <a:spcBef>
                <a:spcPts val="1800"/>
              </a:spcBef>
              <a:spcAft>
                <a:spcPts val="1200"/>
              </a:spcAft>
              <a:buChar char="•"/>
            </a:pPr>
            <a:r>
              <a:rPr lang="en-US" altLang="zh-CN" sz="2400" dirty="0">
                <a:latin typeface="华文新魏" panose="02010800040101010101" pitchFamily="2" charset="-122"/>
                <a:ea typeface="华文新魏" panose="02010800040101010101" pitchFamily="2" charset="-122"/>
              </a:rPr>
              <a:t> profile</a:t>
            </a:r>
            <a:endParaRPr lang="en-US" altLang="zh-CN" sz="2400" dirty="0">
              <a:latin typeface="华文新魏" panose="02010800040101010101" pitchFamily="2" charset="-122"/>
              <a:ea typeface="华文新魏" panose="02010800040101010101" pitchFamily="2" charset="-122"/>
            </a:endParaRPr>
          </a:p>
          <a:p>
            <a:pPr eaLnBrk="1" hangingPunct="1">
              <a:spcBef>
                <a:spcPts val="1800"/>
              </a:spcBef>
              <a:spcAft>
                <a:spcPts val="1200"/>
              </a:spcAft>
              <a:buChar char="•"/>
            </a:pPr>
            <a:r>
              <a:rPr lang="en-US" altLang="zh-CN" sz="2400" dirty="0">
                <a:latin typeface="华文新魏" panose="02010800040101010101" pitchFamily="2" charset="-122"/>
                <a:ea typeface="华文新魏" panose="02010800040101010101" pitchFamily="2" charset="-122"/>
              </a:rPr>
              <a:t> comic strip</a:t>
            </a:r>
            <a:endParaRPr lang="en-US" altLang="zh-CN" sz="2400" dirty="0">
              <a:latin typeface="华文新魏" panose="02010800040101010101" pitchFamily="2" charset="-122"/>
              <a:ea typeface="华文新魏" panose="02010800040101010101" pitchFamily="2" charset="-122"/>
            </a:endParaRPr>
          </a:p>
          <a:p>
            <a:pPr eaLnBrk="1" hangingPunct="1">
              <a:spcBef>
                <a:spcPts val="600"/>
              </a:spcBef>
              <a:spcAft>
                <a:spcPts val="1800"/>
              </a:spcAft>
              <a:buChar char="•"/>
            </a:pPr>
            <a:r>
              <a:rPr lang="en-US" altLang="zh-CN" sz="2400" dirty="0">
                <a:latin typeface="华文新魏" panose="02010800040101010101" pitchFamily="2" charset="-122"/>
                <a:ea typeface="华文新魏" panose="02010800040101010101" pitchFamily="2" charset="-122"/>
              </a:rPr>
              <a:t> supplement</a:t>
            </a:r>
            <a:endParaRPr lang="en-US" altLang="zh-CN" sz="2400" dirty="0">
              <a:latin typeface="华文新魏" panose="02010800040101010101" pitchFamily="2" charset="-122"/>
              <a:ea typeface="华文新魏" panose="02010800040101010101" pitchFamily="2" charset="-122"/>
            </a:endParaRPr>
          </a:p>
          <a:p>
            <a:pPr eaLnBrk="1" hangingPunct="1">
              <a:spcBef>
                <a:spcPts val="600"/>
              </a:spcBef>
              <a:spcAft>
                <a:spcPts val="1800"/>
              </a:spcAft>
              <a:buChar char="•"/>
            </a:pPr>
            <a:r>
              <a:rPr lang="en-US" altLang="zh-CN" sz="2400" dirty="0">
                <a:latin typeface="华文新魏" panose="02010800040101010101" pitchFamily="2" charset="-122"/>
                <a:ea typeface="华文新魏" panose="02010800040101010101" pitchFamily="2" charset="-122"/>
              </a:rPr>
              <a:t> wanted column</a:t>
            </a:r>
            <a:endParaRPr lang="en-US" altLang="zh-CN" sz="2400" dirty="0">
              <a:latin typeface="华文新魏" panose="02010800040101010101" pitchFamily="2" charset="-122"/>
              <a:ea typeface="华文新魏" panose="02010800040101010101" pitchFamily="2" charset="-122"/>
            </a:endParaRPr>
          </a:p>
        </p:txBody>
      </p:sp>
      <p:sp>
        <p:nvSpPr>
          <p:cNvPr id="4" name="Text Box 5"/>
          <p:cNvSpPr txBox="1"/>
          <p:nvPr/>
        </p:nvSpPr>
        <p:spPr>
          <a:xfrm>
            <a:off x="5042535" y="1057275"/>
            <a:ext cx="5584825" cy="6753225"/>
          </a:xfrm>
          <a:prstGeom prst="rect">
            <a:avLst/>
          </a:prstGeom>
          <a:noFill/>
          <a:ln w="9525">
            <a:noFill/>
          </a:ln>
        </p:spPr>
        <p:txBody>
          <a:bodyPr wrap="square">
            <a:noAutofit/>
          </a:bodyPr>
          <a:p>
            <a:pPr eaLnBrk="1" hangingPunct="1">
              <a:spcBef>
                <a:spcPct val="50000"/>
              </a:spcBef>
              <a:buChar char="•"/>
            </a:pPr>
            <a:r>
              <a:rPr lang="zh-CN" altLang="en-US" sz="2000" dirty="0">
                <a:latin typeface="+mn-ea"/>
                <a:ea typeface="+mn-ea"/>
                <a:cs typeface="+mn-ea"/>
              </a:rPr>
              <a:t>撰稿人、</a:t>
            </a:r>
            <a:r>
              <a:rPr lang="zh-CN" altLang="en-US" sz="2000" dirty="0">
                <a:latin typeface="+mn-ea"/>
                <a:ea typeface="+mn-ea"/>
                <a:cs typeface="+mn-ea"/>
              </a:rPr>
              <a:t>投稿人（不一定是全职员工）</a:t>
            </a:r>
            <a:endParaRPr lang="zh-CN" altLang="en-US" sz="2000" dirty="0">
              <a:latin typeface="+mn-ea"/>
              <a:ea typeface="+mn-ea"/>
              <a:cs typeface="+mn-ea"/>
            </a:endParaRPr>
          </a:p>
          <a:p>
            <a:pPr eaLnBrk="1" hangingPunct="1">
              <a:spcBef>
                <a:spcPts val="1800"/>
              </a:spcBef>
              <a:buChar char="•"/>
            </a:pPr>
            <a:r>
              <a:rPr lang="zh-CN" altLang="en-US" sz="2000" dirty="0">
                <a:latin typeface="+mn-ea"/>
                <a:ea typeface="+mn-ea"/>
                <a:cs typeface="+mn-ea"/>
              </a:rPr>
              <a:t>头条新闻</a:t>
            </a:r>
            <a:endParaRPr lang="zh-CN" altLang="en-US" sz="2000" dirty="0">
              <a:latin typeface="+mn-ea"/>
              <a:ea typeface="+mn-ea"/>
              <a:cs typeface="+mn-ea"/>
            </a:endParaRPr>
          </a:p>
          <a:p>
            <a:pPr eaLnBrk="1" hangingPunct="1">
              <a:spcBef>
                <a:spcPts val="2400"/>
              </a:spcBef>
              <a:buChar char="•"/>
            </a:pPr>
            <a:r>
              <a:rPr lang="zh-CN" altLang="en-US" sz="2000" dirty="0">
                <a:latin typeface="+mn-ea"/>
                <a:ea typeface="+mn-ea"/>
                <a:cs typeface="+mn-ea"/>
              </a:rPr>
              <a:t>连续报道、</a:t>
            </a:r>
            <a:r>
              <a:rPr lang="zh-CN" altLang="en-US" sz="2000" dirty="0">
                <a:latin typeface="+mn-ea"/>
                <a:ea typeface="+mn-ea"/>
                <a:cs typeface="+mn-ea"/>
              </a:rPr>
              <a:t>追踪报道（对同一事件进行持续跟进的系列报道）</a:t>
            </a:r>
            <a:endParaRPr lang="zh-CN" altLang="en-US" sz="2000" dirty="0">
              <a:latin typeface="+mn-ea"/>
              <a:ea typeface="+mn-ea"/>
              <a:cs typeface="+mn-ea"/>
            </a:endParaRPr>
          </a:p>
          <a:p>
            <a:pPr eaLnBrk="1" hangingPunct="1">
              <a:spcBef>
                <a:spcPct val="50000"/>
              </a:spcBef>
              <a:buChar char="•"/>
            </a:pPr>
            <a:r>
              <a:rPr lang="zh-CN" altLang="en-US" sz="2000" dirty="0">
                <a:latin typeface="+mn-ea"/>
                <a:ea typeface="+mn-ea"/>
                <a:cs typeface="+mn-ea"/>
              </a:rPr>
              <a:t>评论</a:t>
            </a:r>
            <a:r>
              <a:rPr lang="en-US" altLang="zh-CN" sz="2000" dirty="0">
                <a:latin typeface="+mn-ea"/>
                <a:ea typeface="+mn-ea"/>
                <a:cs typeface="+mn-ea"/>
              </a:rPr>
              <a:t> </a:t>
            </a:r>
            <a:r>
              <a:rPr lang="zh-CN" altLang="en-US" sz="2000" dirty="0">
                <a:latin typeface="+mn-ea"/>
                <a:ea typeface="+mn-ea"/>
                <a:cs typeface="+mn-ea"/>
              </a:rPr>
              <a:t>（对作品、事件或人物的批判性分析，常见于书评、影评</a:t>
            </a:r>
            <a:r>
              <a:rPr lang="en-US" altLang="zh-CN" sz="2000" dirty="0">
                <a:latin typeface="+mn-ea"/>
                <a:ea typeface="+mn-ea"/>
                <a:cs typeface="+mn-ea"/>
              </a:rPr>
              <a:t>review</a:t>
            </a:r>
            <a:r>
              <a:rPr lang="zh-CN" altLang="en-US" sz="2000" dirty="0">
                <a:latin typeface="+mn-ea"/>
                <a:ea typeface="+mn-ea"/>
                <a:cs typeface="+mn-ea"/>
              </a:rPr>
              <a:t>）</a:t>
            </a:r>
            <a:endParaRPr lang="zh-CN" altLang="en-US" sz="2000" dirty="0">
              <a:latin typeface="+mn-ea"/>
              <a:ea typeface="+mn-ea"/>
              <a:cs typeface="+mn-ea"/>
            </a:endParaRPr>
          </a:p>
          <a:p>
            <a:pPr eaLnBrk="1" hangingPunct="1">
              <a:spcBef>
                <a:spcPct val="50000"/>
              </a:spcBef>
              <a:buChar char="•"/>
            </a:pPr>
            <a:r>
              <a:rPr lang="zh-CN" altLang="en-US" sz="2000" dirty="0">
                <a:latin typeface="+mn-ea"/>
                <a:ea typeface="+mn-ea"/>
                <a:cs typeface="+mn-ea"/>
              </a:rPr>
              <a:t>人物特写、</a:t>
            </a:r>
            <a:r>
              <a:rPr lang="zh-CN" altLang="en-US" sz="2000" dirty="0">
                <a:latin typeface="+mn-ea"/>
                <a:ea typeface="+mn-ea"/>
                <a:cs typeface="+mn-ea"/>
              </a:rPr>
              <a:t>人物专访（深度介绍某个人物的背景、经历和观点的报道）</a:t>
            </a:r>
            <a:endParaRPr lang="zh-CN" altLang="en-US" sz="2000" dirty="0">
              <a:latin typeface="+mn-ea"/>
              <a:ea typeface="+mn-ea"/>
              <a:cs typeface="+mn-ea"/>
            </a:endParaRPr>
          </a:p>
          <a:p>
            <a:pPr eaLnBrk="1" hangingPunct="1">
              <a:spcBef>
                <a:spcPct val="50000"/>
              </a:spcBef>
              <a:buChar char="•"/>
            </a:pPr>
            <a:r>
              <a:rPr lang="zh-CN" altLang="en-US" sz="2000" dirty="0">
                <a:latin typeface="+mn-ea"/>
                <a:ea typeface="+mn-ea"/>
                <a:cs typeface="+mn-ea"/>
              </a:rPr>
              <a:t>连环漫画（报纸或杂志中的漫画专栏）</a:t>
            </a:r>
            <a:endParaRPr lang="zh-CN" altLang="en-US" sz="2000" dirty="0">
              <a:latin typeface="+mn-ea"/>
              <a:ea typeface="+mn-ea"/>
              <a:cs typeface="+mn-ea"/>
            </a:endParaRPr>
          </a:p>
          <a:p>
            <a:pPr eaLnBrk="1" hangingPunct="1">
              <a:spcBef>
                <a:spcPct val="50000"/>
              </a:spcBef>
              <a:buChar char="•"/>
            </a:pPr>
            <a:r>
              <a:rPr lang="zh-CN" altLang="en-US" sz="2000" dirty="0">
                <a:latin typeface="+mn-ea"/>
                <a:ea typeface="+mn-ea"/>
                <a:cs typeface="+mn-ea"/>
              </a:rPr>
              <a:t>增刊、</a:t>
            </a:r>
            <a:r>
              <a:rPr lang="zh-CN" altLang="en-US" sz="2000" dirty="0">
                <a:latin typeface="+mn-ea"/>
                <a:ea typeface="+mn-ea"/>
                <a:cs typeface="+mn-ea"/>
              </a:rPr>
              <a:t>副刊（报纸或杂志额外发行的特刊，如周末版、专题版）</a:t>
            </a:r>
            <a:endParaRPr lang="zh-CN" altLang="en-US" sz="2000" dirty="0">
              <a:latin typeface="+mn-ea"/>
              <a:ea typeface="+mn-ea"/>
              <a:cs typeface="+mn-ea"/>
            </a:endParaRPr>
          </a:p>
          <a:p>
            <a:pPr eaLnBrk="1" hangingPunct="1">
              <a:spcBef>
                <a:spcPct val="50000"/>
              </a:spcBef>
              <a:buChar char="•"/>
            </a:pPr>
            <a:r>
              <a:rPr lang="zh-CN" altLang="en-US" sz="2000" dirty="0">
                <a:latin typeface="+mn-ea"/>
                <a:ea typeface="+mn-ea"/>
                <a:cs typeface="+mn-ea"/>
              </a:rPr>
              <a:t>寻人、</a:t>
            </a:r>
            <a:r>
              <a:rPr lang="zh-CN" altLang="en-US" sz="2000" dirty="0">
                <a:latin typeface="+mn-ea"/>
                <a:ea typeface="+mn-ea"/>
                <a:cs typeface="+mn-ea"/>
              </a:rPr>
              <a:t>寻物启事栏（报纸上的分类广告板块，用于发布寻人、寻物或招聘信息）</a:t>
            </a:r>
            <a:endParaRPr lang="zh-CN" altLang="en-US" sz="2000" dirty="0">
              <a:latin typeface="+mn-ea"/>
              <a:ea typeface="+mn-ea"/>
              <a:cs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1991360" y="-26987"/>
            <a:ext cx="8229600" cy="1143000"/>
          </a:xfrm>
        </p:spPr>
        <p:txBody>
          <a:bodyPr vert="horz" wrap="square" lIns="91440" tIns="45720" rIns="91440" bIns="45720" anchor="ctr" anchorCtr="0">
            <a:normAutofit fontScale="90000"/>
          </a:bodyPr>
          <a:p>
            <a:r>
              <a:rPr lang="en-US" altLang="zh-CN" sz="3600" dirty="0"/>
              <a:t>Language of news: compound word</a:t>
            </a:r>
            <a:endParaRPr lang="zh-CN" altLang="zh-CN" sz="3600" dirty="0"/>
          </a:p>
        </p:txBody>
      </p:sp>
      <p:sp>
        <p:nvSpPr>
          <p:cNvPr id="12291" name="Rectangle 3"/>
          <p:cNvSpPr>
            <a:spLocks noGrp="1" noChangeArrowheads="1"/>
          </p:cNvSpPr>
          <p:nvPr>
            <p:ph idx="1"/>
          </p:nvPr>
        </p:nvSpPr>
        <p:spPr>
          <a:xfrm>
            <a:off x="1919605" y="982345"/>
            <a:ext cx="8536305" cy="5183505"/>
          </a:xfrm>
        </p:spPr>
        <p:txBody>
          <a:bodyPr vert="horz" wrap="square" lIns="91440" tIns="45720" rIns="91440" bIns="45720" numCol="1" anchor="t" anchorCtr="0" compatLnSpc="1">
            <a:normAutofit lnSpcReduction="10000"/>
          </a:bodyPr>
          <a:lstStyle/>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Compound </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words are made up of two (or more) separate words. You can combine nouns (a </a:t>
            </a:r>
            <a:r>
              <a:rPr kumimoji="0" lang="en-US" altLang="zh-CN" sz="2800" b="0" i="0" u="none" strike="noStrike" kern="1200" cap="none" spc="0" normalizeH="0" baseline="0" noProof="0" dirty="0" err="1">
                <a:ln>
                  <a:noFill/>
                </a:ln>
                <a:solidFill>
                  <a:schemeClr val="tx1"/>
                </a:solidFill>
                <a:effectLst/>
                <a:uLnTx/>
                <a:uFillTx/>
                <a:latin typeface="+mn-lt"/>
                <a:ea typeface="+mn-ea"/>
                <a:cs typeface="+mn-cs"/>
              </a:rPr>
              <a:t>flatmate</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 adjectives (lovesick) or verbs (jump-start) to make compound words. </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800" b="0"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mn-ea"/>
                <a:cs typeface="Times New Roman" panose="02020603050405020304" pitchFamily="18" charset="0"/>
              </a:rPr>
              <a:t>Conciseness</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Compound words condense information, allowing journalists to convey meaning succinctly without lengthy explanations.</a:t>
            </a:r>
            <a:endPar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800" b="0"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mn-ea"/>
                <a:cs typeface="Times New Roman" panose="02020603050405020304" pitchFamily="18" charset="0"/>
              </a:rPr>
              <a:t>Clarity</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They can create new meanings that are easily understood, especially when combining familiar words to describe situations or concepts.</a:t>
            </a:r>
            <a:endPar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800" b="0"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mn-ea"/>
                <a:cs typeface="Times New Roman" panose="02020603050405020304" pitchFamily="18" charset="0"/>
              </a:rPr>
              <a:t>Engagement</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Creative or unique compound words can intrigue readers and make headlines more memorable.</a:t>
            </a:r>
            <a:endPar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AI-generated content                     on-ramp </a:t>
            </a:r>
            <a:r>
              <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services</a:t>
            </a:r>
            <a:endPar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quantum-computing advantage       </a:t>
            </a:r>
            <a:endPar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1440" tIns="45720" rIns="91440" bIns="45720" anchor="ctr" anchorCtr="0"/>
          <a:p>
            <a:r>
              <a:rPr lang="en-US" altLang="zh-CN" sz="4000" dirty="0"/>
              <a:t>Three forms of compound words</a:t>
            </a:r>
            <a:endParaRPr lang="zh-CN" altLang="en-US" sz="4000" dirty="0"/>
          </a:p>
        </p:txBody>
      </p:sp>
      <p:sp>
        <p:nvSpPr>
          <p:cNvPr id="16387" name="内容占位符 2"/>
          <p:cNvSpPr>
            <a:spLocks noGrp="1"/>
          </p:cNvSpPr>
          <p:nvPr>
            <p:ph idx="1"/>
          </p:nvPr>
        </p:nvSpPr>
        <p:spPr/>
        <p:txBody>
          <a:bodyPr vert="horz" wrap="square" lIns="91440" tIns="45720" rIns="91440" bIns="45720" anchor="t" anchorCtr="0"/>
          <a:p>
            <a:pPr>
              <a:lnSpc>
                <a:spcPct val="80000"/>
              </a:lnSpc>
            </a:pPr>
            <a:r>
              <a:rPr lang="en-US" altLang="zh-CN" dirty="0"/>
              <a:t>one word: flatmate , lovesick </a:t>
            </a:r>
            <a:endParaRPr lang="en-US" altLang="zh-CN" dirty="0"/>
          </a:p>
          <a:p>
            <a:pPr>
              <a:lnSpc>
                <a:spcPct val="80000"/>
              </a:lnSpc>
            </a:pPr>
            <a:r>
              <a:rPr lang="en-US" altLang="zh-CN" dirty="0"/>
              <a:t>two words: tourist guide ,travel agent </a:t>
            </a:r>
            <a:endParaRPr lang="en-US" altLang="zh-CN" dirty="0"/>
          </a:p>
          <a:p>
            <a:pPr>
              <a:lnSpc>
                <a:spcPct val="80000"/>
              </a:lnSpc>
            </a:pPr>
            <a:r>
              <a:rPr lang="en-US" altLang="zh-CN" dirty="0"/>
              <a:t>hyphenated: low-paid (adj.), film-goer (noun)</a:t>
            </a:r>
            <a:endParaRPr lang="en-US" altLang="zh-CN"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a:xfrm>
            <a:off x="1981200" y="274955"/>
            <a:ext cx="8229600" cy="687070"/>
          </a:xfrm>
        </p:spPr>
        <p:txBody>
          <a:bodyPr vert="horz" wrap="square" lIns="91440" tIns="45720" rIns="91440" bIns="45720" anchor="ctr" anchorCtr="0"/>
          <a:p>
            <a:r>
              <a:rPr lang="en-US" altLang="zh-CN" dirty="0"/>
              <a:t>Noun compounds</a:t>
            </a:r>
            <a:endParaRPr lang="zh-CN" altLang="en-US" dirty="0"/>
          </a:p>
        </p:txBody>
      </p:sp>
      <p:sp>
        <p:nvSpPr>
          <p:cNvPr id="17411" name="内容占位符 2"/>
          <p:cNvSpPr>
            <a:spLocks noGrp="1"/>
          </p:cNvSpPr>
          <p:nvPr>
            <p:ph idx="1"/>
          </p:nvPr>
        </p:nvSpPr>
        <p:spPr>
          <a:xfrm>
            <a:off x="1578610" y="986155"/>
            <a:ext cx="8971915" cy="5764530"/>
          </a:xfrm>
        </p:spPr>
        <p:txBody>
          <a:bodyPr vert="horz" wrap="square" lIns="91440" tIns="45720" rIns="91440" bIns="45720" anchor="t" anchorCtr="0">
            <a:normAutofit lnSpcReduction="20000"/>
          </a:bodyPr>
          <a:p>
            <a:pPr latinLnBrk="0">
              <a:spcBef>
                <a:spcPts val="0"/>
              </a:spcBef>
              <a:spcAft>
                <a:spcPts val="1800"/>
              </a:spcAft>
            </a:pPr>
            <a:r>
              <a:rPr lang="en-US" altLang="zh-CN" sz="2400" dirty="0"/>
              <a:t>(n.+v.)  sunrise </a:t>
            </a:r>
            <a:r>
              <a:rPr lang="zh-CN" altLang="en-US" sz="2400" dirty="0"/>
              <a:t>日出，</a:t>
            </a:r>
            <a:r>
              <a:rPr lang="en-US" altLang="zh-CN" sz="2400" dirty="0"/>
              <a:t>earthquake </a:t>
            </a:r>
            <a:r>
              <a:rPr lang="zh-CN" altLang="en-US" sz="2400" dirty="0"/>
              <a:t>地震，</a:t>
            </a:r>
            <a:r>
              <a:rPr lang="en-US" altLang="zh-CN" sz="2400" dirty="0"/>
              <a:t>daybreak </a:t>
            </a:r>
            <a:r>
              <a:rPr lang="zh-CN" altLang="en-US" sz="2400" dirty="0"/>
              <a:t>黎明，</a:t>
            </a:r>
            <a:r>
              <a:rPr lang="en-US" altLang="zh-CN" sz="2400" dirty="0"/>
              <a:t>birth-control </a:t>
            </a:r>
            <a:r>
              <a:rPr lang="zh-CN" altLang="en-US" sz="2400" dirty="0"/>
              <a:t>节育，</a:t>
            </a:r>
            <a:r>
              <a:rPr lang="en-US" altLang="zh-CN" sz="2400" dirty="0"/>
              <a:t>haircut </a:t>
            </a:r>
            <a:r>
              <a:rPr lang="zh-CN" altLang="en-US" sz="2400" dirty="0"/>
              <a:t>理发，</a:t>
            </a:r>
            <a:r>
              <a:rPr lang="en-US" altLang="zh-CN" sz="2400" dirty="0"/>
              <a:t>dress-design </a:t>
            </a:r>
            <a:r>
              <a:rPr lang="zh-CN" altLang="en-US" sz="2400" dirty="0"/>
              <a:t>服装设计</a:t>
            </a:r>
            <a:endParaRPr lang="zh-CN" altLang="en-US" sz="2400" dirty="0"/>
          </a:p>
          <a:p>
            <a:pPr latinLnBrk="0">
              <a:spcBef>
                <a:spcPts val="0"/>
              </a:spcBef>
              <a:spcAft>
                <a:spcPts val="1800"/>
              </a:spcAft>
            </a:pPr>
            <a:r>
              <a:rPr lang="en-US" altLang="zh-CN" sz="2400" dirty="0"/>
              <a:t>(v.+n.)  playboy </a:t>
            </a:r>
            <a:r>
              <a:rPr lang="zh-CN" altLang="en-US" sz="2400" dirty="0"/>
              <a:t>花花公子，</a:t>
            </a:r>
            <a:r>
              <a:rPr lang="en-US" altLang="zh-CN" sz="2400" dirty="0"/>
              <a:t>watchdog </a:t>
            </a:r>
            <a:r>
              <a:rPr lang="zh-CN" altLang="en-US" sz="2400" dirty="0"/>
              <a:t>看门狗；监督者，</a:t>
            </a:r>
            <a:r>
              <a:rPr lang="en-US" altLang="zh-CN" sz="2400" dirty="0"/>
              <a:t>flashlight </a:t>
            </a:r>
            <a:r>
              <a:rPr lang="zh-CN" altLang="en-US" sz="2400" dirty="0"/>
              <a:t>手电筒，</a:t>
            </a:r>
            <a:r>
              <a:rPr lang="en-US" altLang="zh-CN" sz="2400" dirty="0"/>
              <a:t>typewriter </a:t>
            </a:r>
            <a:r>
              <a:rPr lang="zh-CN" altLang="en-US" sz="2400" dirty="0"/>
              <a:t>打字机</a:t>
            </a:r>
            <a:endParaRPr lang="zh-CN" altLang="en-US" sz="2400" dirty="0"/>
          </a:p>
          <a:p>
            <a:pPr latinLnBrk="0">
              <a:spcBef>
                <a:spcPts val="0"/>
              </a:spcBef>
              <a:spcAft>
                <a:spcPts val="1800"/>
              </a:spcAft>
            </a:pPr>
            <a:r>
              <a:rPr lang="en-US" altLang="zh-CN" sz="2400" dirty="0"/>
              <a:t>(v.+prep.)  drawback </a:t>
            </a:r>
            <a:r>
              <a:rPr lang="zh-CN" altLang="en-US" sz="2400" dirty="0"/>
              <a:t>缺点；弊端，</a:t>
            </a:r>
            <a:r>
              <a:rPr lang="en-US" altLang="zh-CN" sz="2400" dirty="0"/>
              <a:t>handout </a:t>
            </a:r>
            <a:r>
              <a:rPr lang="zh-CN" altLang="en-US" sz="2400" dirty="0"/>
              <a:t>讲义；救济</a:t>
            </a:r>
            <a:r>
              <a:rPr lang="zh-CN" altLang="en-US" sz="2400" dirty="0"/>
              <a:t>品，</a:t>
            </a:r>
            <a:r>
              <a:rPr lang="en-US" altLang="zh-CN" sz="2400" dirty="0"/>
              <a:t>ringback </a:t>
            </a:r>
            <a:r>
              <a:rPr lang="zh-CN" altLang="en-US" sz="2400" dirty="0"/>
              <a:t>回铃，</a:t>
            </a:r>
            <a:r>
              <a:rPr lang="en-US" altLang="zh-CN" sz="2400" dirty="0"/>
              <a:t>breakup </a:t>
            </a:r>
            <a:r>
              <a:rPr lang="zh-CN" altLang="en-US" sz="2400" dirty="0"/>
              <a:t>分手；破裂</a:t>
            </a:r>
            <a:endParaRPr lang="zh-CN" altLang="en-US" sz="2400" dirty="0"/>
          </a:p>
          <a:p>
            <a:pPr latinLnBrk="0">
              <a:spcBef>
                <a:spcPts val="0"/>
              </a:spcBef>
              <a:spcAft>
                <a:spcPts val="1800"/>
              </a:spcAft>
            </a:pPr>
            <a:r>
              <a:rPr lang="en-US" altLang="zh-CN" sz="2400" dirty="0"/>
              <a:t>(present participle + n.)</a:t>
            </a:r>
            <a:endParaRPr lang="en-US" altLang="zh-CN" sz="2400" dirty="0"/>
          </a:p>
          <a:p>
            <a:pPr latinLnBrk="0">
              <a:spcBef>
                <a:spcPts val="0"/>
              </a:spcBef>
              <a:spcAft>
                <a:spcPts val="1800"/>
              </a:spcAft>
            </a:pPr>
            <a:r>
              <a:rPr lang="en-US" altLang="zh-CN" sz="2400" dirty="0"/>
              <a:t>swimming pool </a:t>
            </a:r>
            <a:r>
              <a:rPr lang="zh-CN" altLang="en-US" sz="2400" dirty="0"/>
              <a:t>游泳池，</a:t>
            </a:r>
            <a:r>
              <a:rPr lang="en-US" altLang="zh-CN" sz="2400" dirty="0"/>
              <a:t>waiting room </a:t>
            </a:r>
            <a:r>
              <a:rPr lang="zh-CN" altLang="en-US" sz="2400" dirty="0"/>
              <a:t>候车室；候诊室，</a:t>
            </a:r>
            <a:r>
              <a:rPr lang="en-US" altLang="zh-CN" sz="2400" dirty="0"/>
              <a:t>walking stick </a:t>
            </a:r>
            <a:r>
              <a:rPr lang="zh-CN" altLang="en-US" sz="2400" dirty="0"/>
              <a:t>手杖</a:t>
            </a:r>
            <a:endParaRPr lang="zh-CN" altLang="en-US" sz="2400" dirty="0"/>
          </a:p>
          <a:p>
            <a:pPr latinLnBrk="0">
              <a:spcBef>
                <a:spcPts val="0"/>
              </a:spcBef>
              <a:spcAft>
                <a:spcPts val="1800"/>
              </a:spcAft>
            </a:pPr>
            <a:r>
              <a:rPr lang="en-US" altLang="zh-CN" sz="2400" dirty="0"/>
              <a:t>(n. + n.)  safety belt </a:t>
            </a:r>
            <a:r>
              <a:rPr lang="zh-CN" altLang="en-US" sz="2400" dirty="0"/>
              <a:t>安全带，</a:t>
            </a:r>
            <a:r>
              <a:rPr lang="en-US" altLang="zh-CN" sz="2400" dirty="0"/>
              <a:t>chairman </a:t>
            </a:r>
            <a:r>
              <a:rPr lang="zh-CN" altLang="en-US" sz="2400" dirty="0"/>
              <a:t>主席；董事长，</a:t>
            </a:r>
            <a:r>
              <a:rPr lang="en-US" altLang="zh-CN" sz="2400" dirty="0"/>
              <a:t>motorcycle </a:t>
            </a:r>
            <a:r>
              <a:rPr lang="zh-CN" altLang="en-US" sz="2400" dirty="0"/>
              <a:t>摩托车</a:t>
            </a:r>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1440" tIns="45720" rIns="91440" bIns="45720" anchor="ctr" anchorCtr="0">
            <a:normAutofit fontScale="90000"/>
          </a:bodyPr>
          <a:p>
            <a:r>
              <a:rPr lang="en-US" altLang="zh-CN" dirty="0"/>
              <a:t>Adjective compounds </a:t>
            </a:r>
            <a:br>
              <a:rPr lang="en-US" altLang="zh-CN" dirty="0"/>
            </a:br>
            <a:endParaRPr lang="zh-CN" altLang="zh-CN" dirty="0"/>
          </a:p>
        </p:txBody>
      </p:sp>
      <p:sp>
        <p:nvSpPr>
          <p:cNvPr id="18435" name="Rectangle 3"/>
          <p:cNvSpPr>
            <a:spLocks noGrp="1"/>
          </p:cNvSpPr>
          <p:nvPr>
            <p:ph idx="1"/>
          </p:nvPr>
        </p:nvSpPr>
        <p:spPr>
          <a:xfrm>
            <a:off x="1668780" y="1125855"/>
            <a:ext cx="8820785" cy="5373370"/>
          </a:xfrm>
        </p:spPr>
        <p:txBody>
          <a:bodyPr vert="horz" wrap="square" lIns="91440" tIns="45720" rIns="91440" bIns="45720" anchor="t" anchorCtr="0">
            <a:normAutofit fontScale="90000"/>
          </a:bodyPr>
          <a:p>
            <a:pPr>
              <a:lnSpc>
                <a:spcPct val="100000"/>
              </a:lnSpc>
              <a:spcBef>
                <a:spcPts val="600"/>
              </a:spcBef>
              <a:spcAft>
                <a:spcPts val="1200"/>
              </a:spcAft>
            </a:pPr>
            <a:r>
              <a:rPr lang="en-US" altLang="zh-CN" sz="2800" dirty="0"/>
              <a:t>heart-breaking </a:t>
            </a:r>
            <a:r>
              <a:rPr lang="zh-CN" altLang="en-US" sz="2800" dirty="0"/>
              <a:t>令人心碎的，</a:t>
            </a:r>
            <a:r>
              <a:rPr lang="en-US" altLang="zh-CN" sz="2800" dirty="0"/>
              <a:t>self-defeating </a:t>
            </a:r>
            <a:r>
              <a:rPr lang="zh-CN" altLang="en-US" sz="2800" dirty="0"/>
              <a:t>弄巧成拙的</a:t>
            </a:r>
            <a:endParaRPr lang="zh-CN" altLang="en-US" sz="2800" dirty="0"/>
          </a:p>
          <a:p>
            <a:pPr>
              <a:lnSpc>
                <a:spcPct val="100000"/>
              </a:lnSpc>
              <a:spcBef>
                <a:spcPts val="600"/>
              </a:spcBef>
              <a:spcAft>
                <a:spcPts val="1200"/>
              </a:spcAft>
            </a:pPr>
            <a:r>
              <a:rPr lang="en-US" altLang="zh-CN" sz="2800" dirty="0"/>
              <a:t>homemade </a:t>
            </a:r>
            <a:r>
              <a:rPr lang="zh-CN" altLang="en-US" sz="2800" dirty="0"/>
              <a:t>自制的，</a:t>
            </a:r>
            <a:r>
              <a:rPr lang="en-US" altLang="zh-CN" sz="2800" dirty="0"/>
              <a:t>handmade </a:t>
            </a:r>
            <a:r>
              <a:rPr lang="zh-CN" altLang="en-US" sz="2800" dirty="0"/>
              <a:t>手工制作的，</a:t>
            </a:r>
            <a:r>
              <a:rPr lang="en-US" altLang="zh-CN" sz="2800" dirty="0"/>
              <a:t>handwritten </a:t>
            </a:r>
            <a:r>
              <a:rPr lang="zh-CN" altLang="en-US" sz="2800" dirty="0"/>
              <a:t>手写的</a:t>
            </a:r>
            <a:endParaRPr lang="zh-CN" altLang="en-US" sz="2800" dirty="0"/>
          </a:p>
          <a:p>
            <a:pPr>
              <a:lnSpc>
                <a:spcPct val="100000"/>
              </a:lnSpc>
              <a:spcBef>
                <a:spcPts val="600"/>
              </a:spcBef>
              <a:spcAft>
                <a:spcPts val="1200"/>
              </a:spcAft>
            </a:pPr>
            <a:r>
              <a:rPr lang="en-US" altLang="zh-CN" sz="2800" dirty="0"/>
              <a:t>hardworking </a:t>
            </a:r>
            <a:r>
              <a:rPr lang="zh-CN" altLang="en-US" sz="2800" dirty="0"/>
              <a:t>勤奋的，</a:t>
            </a:r>
            <a:r>
              <a:rPr lang="en-US" altLang="zh-CN" sz="2800" dirty="0"/>
              <a:t>good-looking </a:t>
            </a:r>
            <a:r>
              <a:rPr lang="zh-CN" altLang="en-US" sz="2800" dirty="0"/>
              <a:t>好看的，</a:t>
            </a:r>
            <a:r>
              <a:rPr lang="en-US" altLang="zh-CN" sz="2800" dirty="0"/>
              <a:t>easy-going </a:t>
            </a:r>
            <a:r>
              <a:rPr lang="zh-CN" altLang="en-US" sz="2800" dirty="0"/>
              <a:t>随和的，</a:t>
            </a:r>
            <a:r>
              <a:rPr lang="en-US" altLang="zh-CN" sz="2800" dirty="0"/>
              <a:t>well-wishing </a:t>
            </a:r>
            <a:r>
              <a:rPr lang="zh-CN" altLang="en-US" sz="2800" dirty="0"/>
              <a:t>祝福的</a:t>
            </a:r>
            <a:endParaRPr lang="zh-CN" altLang="en-US" sz="2800" dirty="0"/>
          </a:p>
          <a:p>
            <a:pPr>
              <a:lnSpc>
                <a:spcPct val="100000"/>
              </a:lnSpc>
              <a:spcBef>
                <a:spcPts val="600"/>
              </a:spcBef>
              <a:spcAft>
                <a:spcPts val="1200"/>
              </a:spcAft>
            </a:pPr>
            <a:r>
              <a:rPr lang="en-US" altLang="zh-CN" sz="2800" dirty="0"/>
              <a:t>widespread </a:t>
            </a:r>
            <a:r>
              <a:rPr lang="zh-CN" altLang="en-US" sz="2800" dirty="0"/>
              <a:t>广泛的，</a:t>
            </a:r>
            <a:r>
              <a:rPr lang="en-US" altLang="zh-CN" sz="2800" dirty="0"/>
              <a:t>well-meant </a:t>
            </a:r>
            <a:r>
              <a:rPr lang="zh-CN" altLang="en-US" sz="2800" dirty="0"/>
              <a:t>善意的，</a:t>
            </a:r>
            <a:endParaRPr lang="zh-CN" altLang="en-US" sz="2800" dirty="0"/>
          </a:p>
          <a:p>
            <a:pPr>
              <a:lnSpc>
                <a:spcPct val="100000"/>
              </a:lnSpc>
              <a:spcBef>
                <a:spcPts val="600"/>
              </a:spcBef>
              <a:spcAft>
                <a:spcPts val="1200"/>
              </a:spcAft>
            </a:pPr>
            <a:r>
              <a:rPr lang="en-US" altLang="zh-CN" sz="2800" dirty="0"/>
              <a:t>well-timed </a:t>
            </a:r>
            <a:r>
              <a:rPr lang="zh-CN" altLang="en-US" sz="2800" dirty="0"/>
              <a:t>适时的，</a:t>
            </a:r>
            <a:r>
              <a:rPr lang="en-US" altLang="zh-CN" sz="2800" dirty="0"/>
              <a:t>upbeat </a:t>
            </a:r>
            <a:r>
              <a:rPr lang="zh-CN" altLang="en-US" sz="2800" dirty="0"/>
              <a:t>乐观的</a:t>
            </a:r>
            <a:endParaRPr lang="zh-CN" altLang="en-US" sz="2800" dirty="0"/>
          </a:p>
          <a:p>
            <a:pPr>
              <a:lnSpc>
                <a:spcPct val="100000"/>
              </a:lnSpc>
              <a:spcBef>
                <a:spcPts val="600"/>
              </a:spcBef>
              <a:spcAft>
                <a:spcPts val="1200"/>
              </a:spcAft>
            </a:pPr>
            <a:r>
              <a:rPr lang="en-US" altLang="zh-CN" sz="2800" dirty="0"/>
              <a:t>tax free </a:t>
            </a:r>
            <a:r>
              <a:rPr lang="zh-CN" altLang="en-US" sz="2800" dirty="0"/>
              <a:t>免税的，</a:t>
            </a:r>
            <a:r>
              <a:rPr lang="en-US" altLang="zh-CN" sz="2800" dirty="0"/>
              <a:t>self-conscious </a:t>
            </a:r>
            <a:r>
              <a:rPr lang="zh-CN" altLang="en-US" sz="2800" dirty="0"/>
              <a:t>害羞的</a:t>
            </a:r>
            <a:r>
              <a:rPr lang="en-US" altLang="zh-CN" sz="2800" dirty="0"/>
              <a:t> / </a:t>
            </a:r>
            <a:r>
              <a:rPr lang="zh-CN" altLang="en-US" sz="2800" dirty="0"/>
              <a:t>不自然的，</a:t>
            </a:r>
            <a:r>
              <a:rPr lang="en-US" altLang="zh-CN" sz="2800" dirty="0"/>
              <a:t>grass green </a:t>
            </a:r>
            <a:r>
              <a:rPr lang="zh-CN" altLang="en-US" sz="2800" dirty="0"/>
              <a:t>草绿色的</a:t>
            </a:r>
            <a:endParaRPr lang="zh-CN" altLang="en-US" sz="2800" dirty="0"/>
          </a:p>
          <a:p>
            <a:pPr>
              <a:lnSpc>
                <a:spcPct val="100000"/>
              </a:lnSpc>
              <a:spcBef>
                <a:spcPts val="600"/>
              </a:spcBef>
              <a:spcAft>
                <a:spcPts val="1200"/>
              </a:spcAft>
            </a:pPr>
            <a:r>
              <a:rPr lang="en-US" altLang="zh-CN" sz="2800" dirty="0"/>
              <a:t>smoke-free </a:t>
            </a:r>
            <a:r>
              <a:rPr lang="zh-CN" altLang="en-US" sz="2800" dirty="0"/>
              <a:t>无烟的</a:t>
            </a:r>
            <a:endParaRPr lang="zh-CN"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p:txBody>
          <a:bodyPr vert="horz" wrap="square" lIns="91440" tIns="45720" rIns="91440" bIns="45720" anchor="ctr" anchorCtr="0">
            <a:normAutofit fontScale="90000"/>
          </a:bodyPr>
          <a:p>
            <a:r>
              <a:rPr lang="en-US" altLang="zh-CN" dirty="0"/>
              <a:t>Verb compounds</a:t>
            </a:r>
            <a:br>
              <a:rPr lang="en-US" altLang="zh-CN" dirty="0"/>
            </a:br>
            <a:endParaRPr lang="zh-CN" altLang="en-US" dirty="0"/>
          </a:p>
        </p:txBody>
      </p:sp>
      <p:sp>
        <p:nvSpPr>
          <p:cNvPr id="19459" name="内容占位符 2"/>
          <p:cNvSpPr>
            <a:spLocks noGrp="1"/>
          </p:cNvSpPr>
          <p:nvPr>
            <p:ph idx="1"/>
          </p:nvPr>
        </p:nvSpPr>
        <p:spPr/>
        <p:txBody>
          <a:bodyPr vert="horz" wrap="square" lIns="91440" tIns="45720" rIns="91440" bIns="45720" anchor="t" anchorCtr="0"/>
          <a:p>
            <a:r>
              <a:rPr lang="en-US" altLang="zh-CN" dirty="0"/>
              <a:t>housekeep </a:t>
            </a:r>
            <a:r>
              <a:rPr lang="zh-CN" altLang="en-US" dirty="0"/>
              <a:t>料理家务，</a:t>
            </a:r>
            <a:r>
              <a:rPr lang="en-US" altLang="zh-CN" dirty="0"/>
              <a:t>lip-read </a:t>
            </a:r>
            <a:r>
              <a:rPr lang="zh-CN" altLang="en-US" dirty="0"/>
              <a:t>唇读</a:t>
            </a:r>
            <a:r>
              <a:rPr lang="en-US" altLang="zh-CN" dirty="0"/>
              <a:t>  </a:t>
            </a:r>
            <a:endParaRPr lang="en-US" altLang="zh-CN" dirty="0"/>
          </a:p>
          <a:p>
            <a:r>
              <a:rPr lang="en-US" altLang="zh-CN" dirty="0"/>
              <a:t>day-dream </a:t>
            </a:r>
            <a:r>
              <a:rPr lang="zh-CN" altLang="en-US" dirty="0"/>
              <a:t>做白日梦，</a:t>
            </a:r>
            <a:r>
              <a:rPr lang="en-US" altLang="zh-CN" dirty="0"/>
              <a:t>window-shop </a:t>
            </a:r>
            <a:r>
              <a:rPr lang="zh-CN" altLang="en-US" dirty="0"/>
              <a:t>逛街不买东西，</a:t>
            </a:r>
            <a:r>
              <a:rPr lang="en-US" altLang="zh-CN" dirty="0"/>
              <a:t>uplift </a:t>
            </a:r>
            <a:r>
              <a:rPr lang="zh-CN" altLang="en-US" dirty="0"/>
              <a:t>提升；振奋</a:t>
            </a:r>
            <a:r>
              <a:rPr lang="en-US" altLang="zh-CN" dirty="0"/>
              <a:t>  </a:t>
            </a:r>
            <a:endParaRPr lang="en-US" altLang="zh-CN" dirty="0"/>
          </a:p>
          <a:p>
            <a:r>
              <a:rPr lang="en-US" altLang="zh-CN" dirty="0"/>
              <a:t>spoon-feed </a:t>
            </a:r>
            <a:r>
              <a:rPr lang="zh-CN" altLang="en-US" dirty="0"/>
              <a:t>填鸭式教学；过度溺爱</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a:xfrm>
            <a:off x="1981200" y="0"/>
            <a:ext cx="8229600" cy="776605"/>
          </a:xfrm>
        </p:spPr>
        <p:txBody>
          <a:bodyPr vert="horz" wrap="square" lIns="91440" tIns="45720" rIns="91440" bIns="45720" anchor="ctr" anchorCtr="0"/>
          <a:p>
            <a:pPr>
              <a:lnSpc>
                <a:spcPct val="80000"/>
              </a:lnSpc>
            </a:pPr>
            <a:r>
              <a:rPr lang="en-US" altLang="zh-CN" sz="3200" b="1" dirty="0"/>
              <a:t>Compounds with hyphens</a:t>
            </a:r>
            <a:endParaRPr lang="en-US" altLang="zh-CN" sz="3200" b="1" dirty="0"/>
          </a:p>
        </p:txBody>
      </p:sp>
      <p:sp>
        <p:nvSpPr>
          <p:cNvPr id="20483" name="内容占位符 2"/>
          <p:cNvSpPr>
            <a:spLocks noGrp="1"/>
          </p:cNvSpPr>
          <p:nvPr>
            <p:ph idx="1"/>
          </p:nvPr>
        </p:nvSpPr>
        <p:spPr>
          <a:xfrm>
            <a:off x="1639570" y="808355"/>
            <a:ext cx="8801100" cy="6334760"/>
          </a:xfrm>
        </p:spPr>
        <p:txBody>
          <a:bodyPr vert="horz" wrap="square" lIns="91440" tIns="45720" rIns="91440" bIns="45720" anchor="t" anchorCtr="0">
            <a:normAutofit lnSpcReduction="10000"/>
          </a:bodyPr>
          <a:p>
            <a:pPr>
              <a:lnSpc>
                <a:spcPct val="80000"/>
              </a:lnSpc>
            </a:pPr>
            <a:r>
              <a:rPr lang="en-US" altLang="zh-CN" sz="2000" dirty="0"/>
              <a:t>the wait-and-see attitude </a:t>
            </a:r>
            <a:r>
              <a:rPr lang="zh-CN" altLang="en-US" sz="2000" dirty="0"/>
              <a:t>观望态度</a:t>
            </a:r>
            <a:endParaRPr lang="zh-CN" altLang="en-US" sz="2000" dirty="0"/>
          </a:p>
          <a:p>
            <a:pPr>
              <a:lnSpc>
                <a:spcPct val="80000"/>
              </a:lnSpc>
            </a:pPr>
            <a:r>
              <a:rPr lang="en-US" altLang="zh-CN" sz="2000" dirty="0"/>
              <a:t>the life-and-death issue </a:t>
            </a:r>
            <a:r>
              <a:rPr lang="zh-CN" altLang="en-US" sz="2000" dirty="0"/>
              <a:t>生死攸关的问题</a:t>
            </a:r>
            <a:endParaRPr lang="zh-CN" altLang="en-US" sz="2000" dirty="0"/>
          </a:p>
          <a:p>
            <a:pPr>
              <a:lnSpc>
                <a:spcPct val="80000"/>
              </a:lnSpc>
            </a:pPr>
            <a:r>
              <a:rPr lang="en-US" altLang="zh-CN" sz="2000" dirty="0"/>
              <a:t>the hit-and-run accident </a:t>
            </a:r>
            <a:r>
              <a:rPr lang="zh-CN" altLang="en-US" sz="2000" dirty="0"/>
              <a:t>肇事逃逸事故</a:t>
            </a:r>
            <a:endParaRPr lang="zh-CN" altLang="en-US" sz="2000" dirty="0"/>
          </a:p>
          <a:p>
            <a:pPr>
              <a:lnSpc>
                <a:spcPct val="80000"/>
              </a:lnSpc>
            </a:pPr>
            <a:r>
              <a:rPr lang="en-US" altLang="zh-CN" sz="2000" dirty="0"/>
              <a:t>the deficit-ridden state-owned enterprise </a:t>
            </a:r>
            <a:r>
              <a:rPr lang="zh-CN" altLang="en-US" sz="2000" dirty="0"/>
              <a:t>负债累累的国有企业</a:t>
            </a:r>
            <a:endParaRPr lang="zh-CN" altLang="en-US" sz="2000" dirty="0"/>
          </a:p>
          <a:p>
            <a:pPr>
              <a:lnSpc>
                <a:spcPct val="80000"/>
              </a:lnSpc>
            </a:pPr>
            <a:r>
              <a:rPr lang="en-US" altLang="zh-CN" sz="2000" dirty="0"/>
              <a:t>ready-to-eat food </a:t>
            </a:r>
            <a:r>
              <a:rPr lang="zh-CN" altLang="en-US" sz="2000" dirty="0"/>
              <a:t>即食食品</a:t>
            </a:r>
            <a:endParaRPr lang="zh-CN" altLang="en-US" sz="2000" dirty="0"/>
          </a:p>
          <a:p>
            <a:pPr>
              <a:lnSpc>
                <a:spcPct val="80000"/>
              </a:lnSpc>
            </a:pPr>
            <a:r>
              <a:rPr lang="en-US" altLang="zh-CN" sz="2000" dirty="0"/>
              <a:t>after-sales service </a:t>
            </a:r>
            <a:r>
              <a:rPr lang="zh-CN" altLang="en-US" sz="2000" dirty="0"/>
              <a:t>售后服务</a:t>
            </a:r>
            <a:endParaRPr lang="zh-CN" altLang="en-US" sz="2000" dirty="0"/>
          </a:p>
          <a:p>
            <a:pPr>
              <a:lnSpc>
                <a:spcPct val="80000"/>
              </a:lnSpc>
            </a:pPr>
            <a:r>
              <a:rPr lang="en-US" altLang="zh-CN" sz="2000" dirty="0"/>
              <a:t>a hide-and-seek game </a:t>
            </a:r>
            <a:r>
              <a:rPr lang="zh-CN" altLang="en-US" sz="2000" dirty="0"/>
              <a:t>捉迷藏游戏</a:t>
            </a:r>
            <a:endParaRPr lang="zh-CN" altLang="en-US" sz="2000" dirty="0"/>
          </a:p>
          <a:p>
            <a:pPr>
              <a:lnSpc>
                <a:spcPct val="80000"/>
              </a:lnSpc>
            </a:pPr>
            <a:r>
              <a:rPr lang="en-US" altLang="zh-CN" sz="2000" dirty="0"/>
              <a:t>a round-the-clock service </a:t>
            </a:r>
            <a:r>
              <a:rPr lang="zh-CN" altLang="en-US" sz="2000" dirty="0"/>
              <a:t>全天候服务</a:t>
            </a:r>
            <a:endParaRPr lang="zh-CN" altLang="en-US" sz="2000" dirty="0"/>
          </a:p>
          <a:p>
            <a:pPr>
              <a:lnSpc>
                <a:spcPct val="80000"/>
              </a:lnSpc>
            </a:pPr>
            <a:r>
              <a:rPr lang="en-US" altLang="zh-CN" sz="2000" dirty="0"/>
              <a:t>a by-no-means negligible role </a:t>
            </a:r>
            <a:r>
              <a:rPr lang="zh-CN" altLang="en-US" sz="2000" dirty="0"/>
              <a:t>绝不可忽视的作用</a:t>
            </a:r>
            <a:endParaRPr lang="zh-CN" altLang="en-US" sz="2000" dirty="0"/>
          </a:p>
          <a:p>
            <a:pPr>
              <a:lnSpc>
                <a:spcPct val="80000"/>
              </a:lnSpc>
            </a:pPr>
            <a:r>
              <a:rPr lang="en-US" altLang="zh-CN" sz="2000" dirty="0"/>
              <a:t>a difficult-to-operate machine </a:t>
            </a:r>
            <a:r>
              <a:rPr lang="zh-CN" altLang="en-US" sz="2000" dirty="0"/>
              <a:t>难以操作的机器</a:t>
            </a:r>
            <a:endParaRPr lang="zh-CN" altLang="en-US" sz="2000" dirty="0"/>
          </a:p>
          <a:p>
            <a:pPr>
              <a:lnSpc>
                <a:spcPct val="80000"/>
              </a:lnSpc>
            </a:pPr>
            <a:r>
              <a:rPr lang="en-US" altLang="zh-CN" sz="2000" dirty="0"/>
              <a:t>a never-to-be-forgotten film </a:t>
            </a:r>
            <a:r>
              <a:rPr lang="zh-CN" altLang="en-US" sz="2000" dirty="0"/>
              <a:t>令人难忘的电影</a:t>
            </a:r>
            <a:endParaRPr lang="zh-CN" altLang="en-US" sz="2000" dirty="0"/>
          </a:p>
          <a:p>
            <a:pPr>
              <a:lnSpc>
                <a:spcPct val="80000"/>
              </a:lnSpc>
            </a:pPr>
            <a:r>
              <a:rPr lang="en-US" altLang="zh-CN" sz="2000" dirty="0"/>
              <a:t>a corruption-free country </a:t>
            </a:r>
            <a:r>
              <a:rPr lang="zh-CN" altLang="en-US" sz="2000" dirty="0"/>
              <a:t>廉洁的国家</a:t>
            </a:r>
            <a:endParaRPr lang="zh-CN" altLang="en-US" sz="2000" dirty="0"/>
          </a:p>
          <a:p>
            <a:pPr>
              <a:lnSpc>
                <a:spcPct val="80000"/>
              </a:lnSpc>
            </a:pPr>
            <a:r>
              <a:rPr lang="en-US" altLang="zh-CN" sz="2000" dirty="0"/>
              <a:t>a terror-stricken country </a:t>
            </a:r>
            <a:r>
              <a:rPr lang="zh-CN" altLang="en-US" sz="2000" dirty="0"/>
              <a:t>饱受恐怖袭击的国家</a:t>
            </a:r>
            <a:endParaRPr lang="zh-CN" altLang="en-US" sz="2000" dirty="0"/>
          </a:p>
          <a:p>
            <a:pPr>
              <a:lnSpc>
                <a:spcPct val="80000"/>
              </a:lnSpc>
            </a:pPr>
            <a:r>
              <a:rPr lang="en-US" altLang="zh-CN" sz="2000" dirty="0"/>
              <a:t>a heart-in-the-mouth situation </a:t>
            </a:r>
            <a:r>
              <a:rPr lang="zh-CN" altLang="en-US" sz="2000" dirty="0"/>
              <a:t>提心吊胆的局面</a:t>
            </a:r>
            <a:endParaRPr lang="zh-CN" altLang="en-US" sz="2000" dirty="0"/>
          </a:p>
          <a:p>
            <a:pPr>
              <a:lnSpc>
                <a:spcPct val="80000"/>
              </a:lnSpc>
            </a:pPr>
            <a:r>
              <a:rPr lang="en-US" altLang="zh-CN" sz="2000" dirty="0"/>
              <a:t>an all-talk-no-action craven </a:t>
            </a:r>
            <a:r>
              <a:rPr lang="zh-CN" altLang="en-US" sz="2000" dirty="0"/>
              <a:t>只说不做的胆小鬼</a:t>
            </a:r>
            <a:endParaRPr lang="zh-CN" altLang="en-US" sz="2000" dirty="0"/>
          </a:p>
          <a:p>
            <a:pPr>
              <a:lnSpc>
                <a:spcPct val="80000"/>
              </a:lnSpc>
            </a:pPr>
            <a:r>
              <a:rPr lang="en-US" altLang="zh-CN" sz="2000" dirty="0"/>
              <a:t>a search-and-rescue mission </a:t>
            </a:r>
            <a:r>
              <a:rPr lang="zh-CN" altLang="en-US" sz="2000" dirty="0"/>
              <a:t>搜救任务</a:t>
            </a:r>
            <a:endParaRPr lang="zh-CN" altLang="en-US" sz="2000" dirty="0"/>
          </a:p>
          <a:p>
            <a:pPr>
              <a:lnSpc>
                <a:spcPct val="80000"/>
              </a:lnSpc>
            </a:pPr>
            <a:r>
              <a:rPr lang="en-US" altLang="zh-CN" sz="2000" dirty="0"/>
              <a:t>a win-win policy </a:t>
            </a:r>
            <a:r>
              <a:rPr lang="zh-CN" altLang="en-US" sz="2000" dirty="0"/>
              <a:t>双赢政策</a:t>
            </a:r>
            <a:endParaRPr lang="zh-CN" altLang="en-US" sz="2000" dirty="0"/>
          </a:p>
          <a:p>
            <a:pPr>
              <a:lnSpc>
                <a:spcPct val="80000"/>
              </a:lnSpc>
            </a:pPr>
            <a:r>
              <a:rPr lang="en-US" altLang="zh-CN" sz="2000" dirty="0"/>
              <a:t>take a “can-do” attitude </a:t>
            </a:r>
            <a:r>
              <a:rPr lang="zh-CN" altLang="en-US" sz="2000" dirty="0"/>
              <a:t>秉持积极肯干的态度</a:t>
            </a:r>
            <a:endParaRPr lang="zh-CN" altLang="en-US" sz="2000" dirty="0"/>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406470" y="2942025"/>
            <a:ext cx="10969200" cy="705600"/>
          </a:xfrm>
        </p:spPr>
        <p:txBody>
          <a:bodyPr>
            <a:noAutofit/>
          </a:bodyPr>
          <a:p>
            <a:pPr algn="ctr"/>
            <a:r>
              <a:rPr lang="en-US" altLang="zh-CN" sz="5400" b="1"/>
              <a:t>Unit 3</a:t>
            </a:r>
            <a:endParaRPr lang="en-US" altLang="zh-CN" sz="5400" b="1"/>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pPr eaLnBrk="1" hangingPunct="1"/>
            <a:r>
              <a:rPr lang="en-US" altLang="zh-CN" dirty="0"/>
              <a:t>Features of News Headlines </a:t>
            </a:r>
            <a:endParaRPr lang="zh-CN" altLang="en-US" dirty="0"/>
          </a:p>
        </p:txBody>
      </p:sp>
      <p:sp>
        <p:nvSpPr>
          <p:cNvPr id="12291" name="内容占位符 2"/>
          <p:cNvSpPr>
            <a:spLocks noGrp="1"/>
          </p:cNvSpPr>
          <p:nvPr>
            <p:ph idx="1"/>
          </p:nvPr>
        </p:nvSpPr>
        <p:spPr>
          <a:xfrm>
            <a:off x="2166938" y="2500313"/>
            <a:ext cx="7829550" cy="1543050"/>
          </a:xfrm>
        </p:spPr>
        <p:txBody>
          <a:bodyPr vert="horz" wrap="square" lIns="91440" tIns="45720" rIns="91440" bIns="45720" anchor="t" anchorCtr="0"/>
          <a:p>
            <a:pPr eaLnBrk="1" hangingPunct="1"/>
            <a:r>
              <a:rPr lang="en-US" altLang="zh-CN" dirty="0"/>
              <a:t>Grammatical features</a:t>
            </a:r>
            <a:endParaRPr lang="en-US" altLang="zh-CN" dirty="0"/>
          </a:p>
          <a:p>
            <a:pPr eaLnBrk="1" hangingPunct="1"/>
            <a:r>
              <a:rPr lang="en-US" altLang="zh-CN" dirty="0"/>
              <a:t>Lexical features</a:t>
            </a:r>
            <a:endParaRPr lang="en-US" altLang="zh-CN" dirty="0"/>
          </a:p>
          <a:p>
            <a:pPr eaLnBrk="1" hangingPunct="1">
              <a:buNone/>
            </a:pPr>
            <a:endParaRPr lang="zh-CN" altLang="en-US" dirty="0"/>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Grammatical Features</a:t>
            </a:r>
            <a:endParaRPr lang="en-US" altLang="zh-CN" sz="3200" dirty="0"/>
          </a:p>
        </p:txBody>
      </p:sp>
      <p:sp>
        <p:nvSpPr>
          <p:cNvPr id="14338" name="内容占位符 2"/>
          <p:cNvSpPr>
            <a:spLocks noGrp="1"/>
          </p:cNvSpPr>
          <p:nvPr>
            <p:ph idx="1"/>
          </p:nvPr>
        </p:nvSpPr>
        <p:spPr>
          <a:xfrm>
            <a:off x="2095500" y="1143000"/>
            <a:ext cx="8072438" cy="5000625"/>
          </a:xfrm>
        </p:spPr>
        <p:txBody>
          <a:bodyPr vert="horz" wrap="square" lIns="91440" tIns="45720" rIns="91440" bIns="45720" anchor="t" anchorCtr="0"/>
          <a:p>
            <a:pPr eaLnBrk="1" hangingPunct="1">
              <a:buNone/>
            </a:pPr>
            <a:r>
              <a:rPr lang="en-US" altLang="zh-CN" dirty="0"/>
              <a:t>1.Omission</a:t>
            </a:r>
            <a:endParaRPr lang="en-US" altLang="zh-CN" dirty="0"/>
          </a:p>
          <a:p>
            <a:pPr eaLnBrk="1" hangingPunct="1">
              <a:buNone/>
            </a:pPr>
            <a:r>
              <a:rPr lang="en-US" altLang="zh-CN" dirty="0"/>
              <a:t>1) Omission of  indefinite articles</a:t>
            </a:r>
            <a:endParaRPr lang="en-US" altLang="zh-CN" dirty="0"/>
          </a:p>
          <a:p>
            <a:pPr eaLnBrk="1" hangingPunct="1">
              <a:buNone/>
            </a:pPr>
            <a:r>
              <a:rPr lang="en-US" altLang="zh-CN" dirty="0"/>
              <a:t>   Firm Provides Clinical Training for Rural</a:t>
            </a:r>
            <a:br>
              <a:rPr lang="en-US" altLang="zh-CN" dirty="0"/>
            </a:br>
            <a:r>
              <a:rPr lang="en-US" altLang="zh-CN" dirty="0"/>
              <a:t>Areas</a:t>
            </a:r>
            <a:endParaRPr lang="en-US" altLang="zh-CN" dirty="0"/>
          </a:p>
          <a:p>
            <a:pPr eaLnBrk="1" hangingPunct="1">
              <a:buNone/>
            </a:pPr>
            <a:r>
              <a:rPr lang="en-US" altLang="zh-CN" dirty="0"/>
              <a:t>(= A firm Provides Clinical Training for Rural</a:t>
            </a:r>
            <a:br>
              <a:rPr lang="en-US" altLang="zh-CN" dirty="0"/>
            </a:br>
            <a:r>
              <a:rPr lang="en-US" altLang="zh-CN" dirty="0"/>
              <a:t>Areas </a:t>
            </a:r>
            <a:endParaRPr lang="en-US" altLang="zh-CN" dirty="0"/>
          </a:p>
          <a:p>
            <a:pPr eaLnBrk="1" hangingPunct="1">
              <a:buNone/>
            </a:pPr>
            <a:br>
              <a:rPr lang="en-US" altLang="zh-CN" dirty="0"/>
            </a:br>
            <a:r>
              <a:rPr lang="en-US" altLang="zh-CN" dirty="0"/>
              <a:t>37 Killed in Italian Plane Crash </a:t>
            </a:r>
            <a:endParaRPr lang="en-US" altLang="zh-CN" dirty="0"/>
          </a:p>
          <a:p>
            <a:pPr eaLnBrk="1" hangingPunct="1">
              <a:buNone/>
            </a:pPr>
            <a:r>
              <a:rPr lang="en-US" altLang="zh-CN" dirty="0"/>
              <a:t> (= 37 Killed in an Italian Plane Crash)</a:t>
            </a:r>
            <a:br>
              <a:rPr lang="en-US" altLang="zh-CN" dirty="0"/>
            </a:br>
            <a:r>
              <a:rPr lang="en-US" altLang="zh-CN" dirty="0"/>
              <a:t> </a:t>
            </a:r>
            <a:br>
              <a:rPr lang="en-US" altLang="zh-CN" dirty="0"/>
            </a:b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Grammatical Features</a:t>
            </a:r>
            <a:endParaRPr lang="en-US" altLang="zh-CN" sz="3200" dirty="0"/>
          </a:p>
        </p:txBody>
      </p:sp>
      <p:sp>
        <p:nvSpPr>
          <p:cNvPr id="16386" name="内容占位符 2"/>
          <p:cNvSpPr>
            <a:spLocks noGrp="1"/>
          </p:cNvSpPr>
          <p:nvPr>
            <p:ph idx="1"/>
          </p:nvPr>
        </p:nvSpPr>
        <p:spPr>
          <a:xfrm>
            <a:off x="2095500" y="1143000"/>
            <a:ext cx="8358188" cy="5357813"/>
          </a:xfrm>
        </p:spPr>
        <p:txBody>
          <a:bodyPr vert="horz" wrap="square" lIns="91440" tIns="45720" rIns="91440" bIns="45720" anchor="t" anchorCtr="0">
            <a:normAutofit lnSpcReduction="10000"/>
          </a:bodyPr>
          <a:p>
            <a:pPr eaLnBrk="1" hangingPunct="1">
              <a:buNone/>
            </a:pPr>
            <a:r>
              <a:rPr lang="en-US" altLang="zh-CN" dirty="0"/>
              <a:t>2) Omission of conjunctions and pronouns</a:t>
            </a:r>
            <a:br>
              <a:rPr lang="en-US" altLang="zh-CN" dirty="0"/>
            </a:br>
            <a:r>
              <a:rPr lang="en-US" altLang="zh-CN" dirty="0"/>
              <a:t> </a:t>
            </a:r>
            <a:endParaRPr lang="en-US" altLang="zh-CN" dirty="0"/>
          </a:p>
          <a:p>
            <a:pPr eaLnBrk="1" hangingPunct="1">
              <a:buNone/>
            </a:pPr>
            <a:r>
              <a:rPr lang="en-US" altLang="zh-CN" dirty="0"/>
              <a:t>   Laurel, Aquino Cut Ties</a:t>
            </a:r>
            <a:endParaRPr lang="en-US" altLang="zh-CN" dirty="0"/>
          </a:p>
          <a:p>
            <a:pPr eaLnBrk="1" hangingPunct="1">
              <a:buNone/>
            </a:pPr>
            <a:r>
              <a:rPr lang="en-US" altLang="zh-CN" dirty="0"/>
              <a:t> (=Laurel and Aquino Cut Ties)</a:t>
            </a:r>
            <a:endParaRPr lang="en-US" altLang="zh-CN" dirty="0"/>
          </a:p>
          <a:p>
            <a:pPr eaLnBrk="1" hangingPunct="1">
              <a:buNone/>
            </a:pPr>
            <a:endParaRPr lang="en-US" altLang="zh-CN" dirty="0"/>
          </a:p>
          <a:p>
            <a:pPr eaLnBrk="1" hangingPunct="1">
              <a:buNone/>
            </a:pPr>
            <a:r>
              <a:rPr lang="en-US" altLang="zh-CN" dirty="0"/>
              <a:t>  Mother, Daughter Share Fulbright Year</a:t>
            </a:r>
            <a:endParaRPr lang="en-US" altLang="zh-CN" dirty="0"/>
          </a:p>
          <a:p>
            <a:pPr eaLnBrk="1" hangingPunct="1">
              <a:buNone/>
            </a:pPr>
            <a:r>
              <a:rPr lang="en-US" altLang="zh-CN" dirty="0"/>
              <a:t> (=A Mother and Her Daughter Share a Fulbright Year)</a:t>
            </a:r>
            <a:endParaRPr lang="en-US" altLang="zh-CN" dirty="0"/>
          </a:p>
          <a:p>
            <a:pPr eaLnBrk="1" hangingPunct="1">
              <a:buNone/>
            </a:pPr>
            <a:br>
              <a:rPr lang="en-US" altLang="zh-CN" dirty="0"/>
            </a:br>
            <a:endParaRPr lang="en-US" altLang="zh-CN" dirty="0"/>
          </a:p>
          <a:p>
            <a:pPr eaLnBrk="1" hangingPunct="1">
              <a:buNone/>
            </a:pPr>
            <a:endParaRPr lang="zh-CN" altLang="en-US" dirty="0"/>
          </a:p>
          <a:p>
            <a:pPr eaLnBrk="1" hangingPunct="1">
              <a:buNone/>
            </a:pPr>
            <a:br>
              <a:rPr lang="en-US" altLang="zh-CN" dirty="0"/>
            </a:b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Grammatical Features</a:t>
            </a:r>
            <a:endParaRPr lang="en-US" altLang="zh-CN" sz="3200" dirty="0"/>
          </a:p>
        </p:txBody>
      </p:sp>
      <p:sp>
        <p:nvSpPr>
          <p:cNvPr id="11267" name="内容占位符 2"/>
          <p:cNvSpPr>
            <a:spLocks noGrp="1"/>
          </p:cNvSpPr>
          <p:nvPr>
            <p:ph idx="1"/>
          </p:nvPr>
        </p:nvSpPr>
        <p:spPr>
          <a:xfrm>
            <a:off x="2095500" y="1143000"/>
            <a:ext cx="8215313" cy="2357438"/>
          </a:xfrm>
        </p:spPr>
        <p:txBody>
          <a:bodyPr vert="horz" wrap="square" lIns="91440" tIns="45720" rIns="91440" bIns="45720" anchor="t" anchorCtr="0"/>
          <a:p>
            <a:pPr eaLnBrk="1" hangingPunct="1">
              <a:buNone/>
            </a:pPr>
            <a:r>
              <a:rPr lang="en-US" altLang="zh-CN" dirty="0"/>
              <a:t>3) Omission of “be”,  no matter what forms it acts as.</a:t>
            </a:r>
            <a:endParaRPr lang="en-US" altLang="zh-CN" dirty="0"/>
          </a:p>
          <a:p>
            <a:pPr eaLnBrk="1" hangingPunct="1">
              <a:buNone/>
            </a:pPr>
            <a:r>
              <a:rPr lang="en-US" altLang="zh-CN" dirty="0"/>
              <a:t>  Pope to visit Japan in February</a:t>
            </a:r>
            <a:endParaRPr lang="en-US" altLang="zh-CN" dirty="0"/>
          </a:p>
          <a:p>
            <a:pPr eaLnBrk="1" hangingPunct="1">
              <a:buNone/>
            </a:pPr>
            <a:r>
              <a:rPr lang="en-US" altLang="zh-CN" dirty="0"/>
              <a:t> (=Pope is to visit Japan in February</a:t>
            </a:r>
            <a:endParaRPr lang="zh-CN" altLang="en-US" dirty="0"/>
          </a:p>
        </p:txBody>
      </p:sp>
      <p:sp>
        <p:nvSpPr>
          <p:cNvPr id="4" name="矩形 3"/>
          <p:cNvSpPr/>
          <p:nvPr/>
        </p:nvSpPr>
        <p:spPr>
          <a:xfrm>
            <a:off x="2452688" y="3571875"/>
            <a:ext cx="8215313" cy="3046095"/>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200" b="0" i="0" u="none" strike="noStrike" kern="1200" cap="none" spc="0" normalizeH="0" baseline="0" noProof="0" dirty="0">
                <a:ln>
                  <a:noFill/>
                </a:ln>
                <a:solidFill>
                  <a:schemeClr val="tx1"/>
                </a:solidFill>
                <a:effectLst/>
                <a:uLnTx/>
                <a:uFillTx/>
                <a:latin typeface="+mn-lt"/>
                <a:ea typeface="+mn-ea"/>
                <a:cs typeface="+mn-cs"/>
              </a:rPr>
              <a:t>Three Dead After Inhaling Oven Gas</a:t>
            </a:r>
            <a:endParaRPr kumimoji="0" lang="zh-CN" alt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sz="3200" b="0" i="0" u="none" strike="noStrike" kern="1200" cap="none" spc="0" normalizeH="0" baseline="0" noProof="0" dirty="0">
                <a:ln>
                  <a:noFill/>
                </a:ln>
                <a:solidFill>
                  <a:schemeClr val="tx1"/>
                </a:solidFill>
                <a:effectLst/>
                <a:uLnTx/>
                <a:uFillTx/>
                <a:latin typeface="+mn-lt"/>
                <a:ea typeface="+mn-ea"/>
                <a:cs typeface="+mn-cs"/>
              </a:rPr>
              <a:t>(=Three Are Dead After Inhaling Oven Gas)</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sz="3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Food Prices Soaring</a:t>
            </a:r>
            <a:endParaRPr kumimoji="0" lang="en-US" sz="3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sz="3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(=Food Prices Are Soaring)</a:t>
            </a:r>
            <a:br>
              <a:rPr kumimoji="0" lang="en-US" sz="3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br>
            <a:endParaRPr kumimoji="0" lang="zh-CN" alt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charRg st="0" end="55"/>
                                            </p:txEl>
                                          </p:spTgt>
                                        </p:tgtEl>
                                        <p:attrNameLst>
                                          <p:attrName>style.visibility</p:attrName>
                                        </p:attrNameLst>
                                      </p:cBhvr>
                                      <p:to>
                                        <p:strVal val="visible"/>
                                      </p:to>
                                    </p:set>
                                    <p:animEffect transition="in" filter="blinds(horizontal)">
                                      <p:cBhvr>
                                        <p:cTn id="7" dur="500"/>
                                        <p:tgtEl>
                                          <p:spTgt spid="11267">
                                            <p:txEl>
                                              <p:charRg st="0" end="5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7">
                                            <p:txEl>
                                              <p:charRg st="55" end="89"/>
                                            </p:txEl>
                                          </p:spTgt>
                                        </p:tgtEl>
                                        <p:attrNameLst>
                                          <p:attrName>style.visibility</p:attrName>
                                        </p:attrNameLst>
                                      </p:cBhvr>
                                      <p:to>
                                        <p:strVal val="visible"/>
                                      </p:to>
                                    </p:set>
                                    <p:animEffect transition="in" filter="blinds(horizontal)">
                                      <p:cBhvr>
                                        <p:cTn id="12" dur="500"/>
                                        <p:tgtEl>
                                          <p:spTgt spid="11267">
                                            <p:txEl>
                                              <p:charRg st="55" end="8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7">
                                            <p:txEl>
                                              <p:charRg st="89" end="127"/>
                                            </p:txEl>
                                          </p:spTgt>
                                        </p:tgtEl>
                                        <p:attrNameLst>
                                          <p:attrName>style.visibility</p:attrName>
                                        </p:attrNameLst>
                                      </p:cBhvr>
                                      <p:to>
                                        <p:strVal val="visible"/>
                                      </p:to>
                                    </p:set>
                                    <p:animEffect transition="in" filter="blinds(horizontal)">
                                      <p:cBhvr>
                                        <p:cTn id="17" dur="500"/>
                                        <p:tgtEl>
                                          <p:spTgt spid="11267">
                                            <p:txEl>
                                              <p:charRg st="89" end="12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Grammatical Features</a:t>
            </a:r>
            <a:endParaRPr lang="en-US" altLang="zh-CN" sz="3200" dirty="0"/>
          </a:p>
        </p:txBody>
      </p:sp>
      <p:sp>
        <p:nvSpPr>
          <p:cNvPr id="20482" name="内容占位符 2"/>
          <p:cNvSpPr>
            <a:spLocks noGrp="1"/>
          </p:cNvSpPr>
          <p:nvPr>
            <p:ph idx="1"/>
          </p:nvPr>
        </p:nvSpPr>
        <p:spPr>
          <a:xfrm>
            <a:off x="2166938" y="1000125"/>
            <a:ext cx="8143875" cy="5500688"/>
          </a:xfrm>
        </p:spPr>
        <p:txBody>
          <a:bodyPr vert="horz" wrap="square" lIns="91440" tIns="45720" rIns="91440" bIns="45720" anchor="t" anchorCtr="0"/>
          <a:p>
            <a:pPr eaLnBrk="1" hangingPunct="1">
              <a:buNone/>
            </a:pPr>
            <a:r>
              <a:rPr lang="en-US" altLang="zh-CN" dirty="0"/>
              <a:t>2. Tenses</a:t>
            </a:r>
            <a:endParaRPr lang="en-US" altLang="zh-CN" dirty="0"/>
          </a:p>
          <a:p>
            <a:pPr eaLnBrk="1" hangingPunct="1">
              <a:buNone/>
            </a:pPr>
            <a:r>
              <a:rPr lang="en-US" altLang="zh-CN" dirty="0"/>
              <a:t>1)  wide use of present tenses to describe something happening in the past as well as in the present  </a:t>
            </a:r>
            <a:br>
              <a:rPr lang="en-US" altLang="zh-CN" dirty="0"/>
            </a:br>
            <a:endParaRPr lang="en-US" altLang="zh-CN" dirty="0"/>
          </a:p>
          <a:p>
            <a:pPr eaLnBrk="1" hangingPunct="1">
              <a:buNone/>
            </a:pPr>
            <a:r>
              <a:rPr lang="en-US" altLang="zh-CN" dirty="0"/>
              <a:t>   Earthquake Rocks Turkey</a:t>
            </a:r>
            <a:endParaRPr lang="en-US" altLang="zh-CN" dirty="0"/>
          </a:p>
          <a:p>
            <a:pPr eaLnBrk="1" hangingPunct="1">
              <a:buNone/>
            </a:pPr>
            <a:r>
              <a:rPr lang="en-US" altLang="zh-CN" i="1" dirty="0"/>
              <a:t>  Nightclub fire kills 233 in Brazil </a:t>
            </a:r>
            <a:endParaRPr lang="en-US" altLang="zh-CN" dirty="0"/>
          </a:p>
          <a:p>
            <a:pPr eaLnBrk="1" hangingPunct="1">
              <a:buNone/>
            </a:pPr>
            <a:r>
              <a:rPr lang="en-US" altLang="zh-CN" i="1" dirty="0"/>
              <a:t>  Obama says struggling over whether to intervene in Syria  </a:t>
            </a:r>
            <a:br>
              <a:rPr lang="en-US" altLang="zh-CN" dirty="0"/>
            </a:br>
            <a:r>
              <a:rPr lang="en-US" altLang="zh-CN" dirty="0"/>
              <a:t>Living Costs Going up</a:t>
            </a:r>
            <a:br>
              <a:rPr lang="en-US" altLang="zh-CN" dirty="0"/>
            </a:br>
            <a:br>
              <a:rPr lang="en-US" altLang="zh-CN" dirty="0"/>
            </a:b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Grammatical Features</a:t>
            </a:r>
            <a:endParaRPr lang="en-US" altLang="zh-CN" sz="3200" dirty="0"/>
          </a:p>
        </p:txBody>
      </p:sp>
      <p:sp>
        <p:nvSpPr>
          <p:cNvPr id="22530" name="内容占位符 2"/>
          <p:cNvSpPr>
            <a:spLocks noGrp="1"/>
          </p:cNvSpPr>
          <p:nvPr>
            <p:ph idx="1"/>
          </p:nvPr>
        </p:nvSpPr>
        <p:spPr>
          <a:xfrm>
            <a:off x="2166938" y="1500188"/>
            <a:ext cx="8501062" cy="5000625"/>
          </a:xfrm>
        </p:spPr>
        <p:txBody>
          <a:bodyPr vert="horz" wrap="square" lIns="91440" tIns="45720" rIns="91440" bIns="45720" anchor="t" anchorCtr="0"/>
          <a:p>
            <a:pPr eaLnBrk="1" hangingPunct="1">
              <a:buNone/>
            </a:pPr>
            <a:r>
              <a:rPr lang="en-US" altLang="zh-CN" dirty="0"/>
              <a:t>2) Future tense</a:t>
            </a:r>
            <a:endParaRPr lang="en-US" altLang="zh-CN" dirty="0"/>
          </a:p>
          <a:p>
            <a:pPr eaLnBrk="1" hangingPunct="1">
              <a:buNone/>
            </a:pPr>
            <a:r>
              <a:rPr lang="en-US" altLang="zh-CN" dirty="0"/>
              <a:t>   Linking verb + infinitive phrase</a:t>
            </a:r>
            <a:endParaRPr lang="en-US" altLang="zh-CN" dirty="0"/>
          </a:p>
          <a:p>
            <a:pPr eaLnBrk="1" hangingPunct="1">
              <a:buNone/>
            </a:pPr>
            <a:endParaRPr lang="en-US" altLang="zh-CN" dirty="0"/>
          </a:p>
          <a:p>
            <a:pPr eaLnBrk="1" hangingPunct="1">
              <a:buNone/>
            </a:pPr>
            <a:r>
              <a:rPr lang="en-US" altLang="zh-CN" dirty="0"/>
              <a:t>  Largest Chinese Trade Delegation to Visit US in Nov.</a:t>
            </a:r>
            <a:endParaRPr lang="zh-CN" altLang="en-US" dirty="0"/>
          </a:p>
          <a:p>
            <a:pPr>
              <a:buNone/>
            </a:pPr>
            <a:r>
              <a:rPr lang="en-US" altLang="zh-CN" dirty="0"/>
              <a:t> (=The Largest Chinese Trade Delegation Is to Visit US in Nov.)</a:t>
            </a:r>
            <a:endParaRPr lang="zh-CN" altLang="en-US" dirty="0"/>
          </a:p>
          <a:p>
            <a:pPr eaLnBrk="1" hangingPunct="1">
              <a:buNone/>
            </a:pPr>
            <a:br>
              <a:rPr lang="en-US" altLang="zh-CN" dirty="0"/>
            </a:br>
            <a:r>
              <a:rPr lang="en-US" altLang="zh-CN" dirty="0"/>
              <a:t> </a:t>
            </a:r>
            <a:br>
              <a:rPr lang="en-US" altLang="zh-CN" dirty="0"/>
            </a:b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Grammatical Features</a:t>
            </a:r>
            <a:endParaRPr lang="en-US" altLang="zh-CN" sz="3200" dirty="0"/>
          </a:p>
        </p:txBody>
      </p:sp>
      <p:sp>
        <p:nvSpPr>
          <p:cNvPr id="24578" name="内容占位符 2"/>
          <p:cNvSpPr>
            <a:spLocks noGrp="1"/>
          </p:cNvSpPr>
          <p:nvPr>
            <p:ph idx="1"/>
          </p:nvPr>
        </p:nvSpPr>
        <p:spPr>
          <a:xfrm>
            <a:off x="2166938" y="857250"/>
            <a:ext cx="8501062" cy="5786438"/>
          </a:xfrm>
        </p:spPr>
        <p:txBody>
          <a:bodyPr vert="horz" wrap="square" lIns="91440" tIns="45720" rIns="91440" bIns="45720" anchor="t" anchorCtr="0"/>
          <a:p>
            <a:pPr eaLnBrk="1" hangingPunct="1">
              <a:buNone/>
            </a:pPr>
            <a:r>
              <a:rPr lang="en-US" altLang="zh-CN" dirty="0"/>
              <a:t> 3. Voice</a:t>
            </a:r>
            <a:endParaRPr lang="en-US" altLang="zh-CN" dirty="0"/>
          </a:p>
          <a:p>
            <a:pPr eaLnBrk="1" hangingPunct="1">
              <a:buNone/>
            </a:pPr>
            <a:endParaRPr lang="en-US" altLang="zh-CN" dirty="0"/>
          </a:p>
          <a:p>
            <a:pPr eaLnBrk="1" hangingPunct="1">
              <a:buNone/>
            </a:pPr>
            <a:r>
              <a:rPr lang="en-US" altLang="zh-CN" dirty="0"/>
              <a:t> 1)  Passive voice used when the receiver of the event or action is more important than the executor</a:t>
            </a:r>
            <a:endParaRPr lang="zh-CN" altLang="en-US" dirty="0"/>
          </a:p>
          <a:p>
            <a:pPr eaLnBrk="1" hangingPunct="1">
              <a:buNone/>
            </a:pPr>
            <a:endParaRPr lang="en-US" altLang="zh-CN" dirty="0"/>
          </a:p>
          <a:p>
            <a:pPr eaLnBrk="1" hangingPunct="1">
              <a:buNone/>
            </a:pPr>
            <a:r>
              <a:rPr lang="en-US" altLang="zh-CN" dirty="0"/>
              <a:t>  Journalist Fired in Spy Debate </a:t>
            </a:r>
            <a:endParaRPr lang="en-US" altLang="zh-CN" dirty="0"/>
          </a:p>
          <a:p>
            <a:pPr eaLnBrk="1" hangingPunct="1">
              <a:buNone/>
            </a:pPr>
            <a:r>
              <a:rPr lang="en-US" altLang="zh-CN" dirty="0"/>
              <a:t>  (=A Journalist Is Fired in a Spy Debate)</a:t>
            </a:r>
            <a:endParaRPr lang="en-US" altLang="zh-CN" dirty="0"/>
          </a:p>
          <a:p>
            <a:pPr eaLnBrk="1" hangingPunct="1">
              <a:buNone/>
            </a:pPr>
            <a:endParaRPr lang="en-US" altLang="zh-CN" dirty="0"/>
          </a:p>
          <a:p>
            <a:pPr eaLnBrk="1" hangingPunct="1">
              <a:buNone/>
            </a:pPr>
            <a:r>
              <a:rPr lang="en-US" altLang="zh-CN" i="1" dirty="0"/>
              <a:t> Manipulation found in Singapore’s FX market</a:t>
            </a:r>
            <a:endParaRPr lang="zh-CN" altLang="en-US" dirty="0"/>
          </a:p>
          <a:p>
            <a:pPr eaLnBrk="1" hangingPunct="1">
              <a:buNone/>
            </a:pPr>
            <a:br>
              <a:rPr lang="en-US" altLang="zh-CN" dirty="0"/>
            </a:br>
            <a:br>
              <a:rPr lang="en-US" altLang="zh-CN" dirty="0"/>
            </a:br>
            <a:r>
              <a:rPr lang="en-US" altLang="zh-CN" dirty="0"/>
              <a:t> </a:t>
            </a:r>
            <a:br>
              <a:rPr lang="en-US" altLang="zh-CN" dirty="0"/>
            </a:b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Grammatical Features</a:t>
            </a:r>
            <a:endParaRPr lang="en-US" altLang="zh-CN" sz="3200" dirty="0"/>
          </a:p>
        </p:txBody>
      </p:sp>
      <p:sp>
        <p:nvSpPr>
          <p:cNvPr id="26626" name="内容占位符 2"/>
          <p:cNvSpPr>
            <a:spLocks noGrp="1"/>
          </p:cNvSpPr>
          <p:nvPr>
            <p:ph idx="1"/>
          </p:nvPr>
        </p:nvSpPr>
        <p:spPr>
          <a:xfrm>
            <a:off x="1881188" y="1214438"/>
            <a:ext cx="8786812" cy="4071937"/>
          </a:xfrm>
        </p:spPr>
        <p:txBody>
          <a:bodyPr vert="horz" wrap="square" lIns="91440" tIns="45720" rIns="91440" bIns="45720" anchor="t" anchorCtr="0"/>
          <a:p>
            <a:pPr eaLnBrk="1" hangingPunct="1">
              <a:buNone/>
            </a:pPr>
            <a:r>
              <a:rPr lang="en-US" altLang="zh-CN" dirty="0"/>
              <a:t>2) Active voice more widely used to make headlines  more colorful and appealing.</a:t>
            </a:r>
            <a:endParaRPr lang="en-US" altLang="zh-CN" dirty="0"/>
          </a:p>
          <a:p>
            <a:pPr eaLnBrk="1" hangingPunct="1">
              <a:buNone/>
            </a:pPr>
            <a:endParaRPr lang="en-US" altLang="zh-CN" dirty="0"/>
          </a:p>
          <a:p>
            <a:pPr eaLnBrk="1" hangingPunct="1">
              <a:buNone/>
            </a:pPr>
            <a:r>
              <a:rPr lang="en-US" altLang="zh-CN" i="1" dirty="0"/>
              <a:t>  Fed waits for job market to perk up </a:t>
            </a:r>
            <a:endParaRPr lang="en-US" altLang="zh-CN" i="1" dirty="0"/>
          </a:p>
          <a:p>
            <a:pPr eaLnBrk="1" hangingPunct="1">
              <a:buNone/>
            </a:pPr>
            <a:endParaRPr lang="en-US" altLang="zh-CN" i="1" dirty="0"/>
          </a:p>
          <a:p>
            <a:pPr eaLnBrk="1" hangingPunct="1">
              <a:buNone/>
            </a:pPr>
            <a:r>
              <a:rPr lang="en-US" altLang="zh-CN" i="1" dirty="0"/>
              <a:t> Sanofi expects FDA decision on Lemtrada in H2 2013</a:t>
            </a:r>
            <a:r>
              <a:rPr lang="en-US" altLang="zh-CN" dirty="0"/>
              <a:t>  </a:t>
            </a:r>
            <a:br>
              <a:rPr lang="en-US" altLang="zh-CN" dirty="0"/>
            </a:br>
            <a:r>
              <a:rPr lang="en-US" altLang="zh-CN" dirty="0"/>
              <a:t> </a:t>
            </a:r>
            <a:br>
              <a:rPr lang="en-US" altLang="zh-CN" dirty="0"/>
            </a:b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Lexical Features</a:t>
            </a:r>
            <a:endParaRPr lang="en-US" altLang="zh-CN" sz="3200" dirty="0"/>
          </a:p>
        </p:txBody>
      </p:sp>
      <p:sp>
        <p:nvSpPr>
          <p:cNvPr id="28674" name="内容占位符 2"/>
          <p:cNvSpPr>
            <a:spLocks noGrp="1"/>
          </p:cNvSpPr>
          <p:nvPr>
            <p:ph idx="1"/>
          </p:nvPr>
        </p:nvSpPr>
        <p:spPr>
          <a:xfrm>
            <a:off x="2095500" y="1214438"/>
            <a:ext cx="8358188" cy="5000625"/>
          </a:xfrm>
        </p:spPr>
        <p:txBody>
          <a:bodyPr vert="horz" wrap="square" lIns="91440" tIns="45720" rIns="91440" bIns="45720" anchor="t" anchorCtr="0"/>
          <a:p>
            <a:pPr eaLnBrk="1" hangingPunct="1">
              <a:buNone/>
            </a:pPr>
            <a:r>
              <a:rPr lang="en-US" altLang="zh-CN" dirty="0"/>
              <a:t>1.Preference for short words to save space and avoid being wordy</a:t>
            </a:r>
            <a:endParaRPr lang="en-US" altLang="zh-CN" dirty="0"/>
          </a:p>
          <a:p>
            <a:pPr eaLnBrk="1" hangingPunct="1">
              <a:buNone/>
            </a:pPr>
            <a:endParaRPr lang="en-US" altLang="zh-CN" dirty="0"/>
          </a:p>
          <a:p>
            <a:pPr eaLnBrk="1" hangingPunct="1">
              <a:buNone/>
            </a:pPr>
            <a:r>
              <a:rPr lang="en-US" altLang="zh-CN" dirty="0"/>
              <a:t>  Allowance to Be </a:t>
            </a:r>
            <a:r>
              <a:rPr lang="en-US" altLang="zh-CN" b="1" dirty="0"/>
              <a:t>Cut</a:t>
            </a:r>
            <a:r>
              <a:rPr lang="en-US" altLang="zh-CN" dirty="0"/>
              <a:t> in 200,000 Families</a:t>
            </a:r>
            <a:endParaRPr lang="en-US" altLang="zh-CN" dirty="0"/>
          </a:p>
          <a:p>
            <a:pPr eaLnBrk="1" hangingPunct="1">
              <a:buNone/>
            </a:pPr>
            <a:endParaRPr lang="en-US" altLang="zh-CN" dirty="0"/>
          </a:p>
          <a:p>
            <a:pPr eaLnBrk="1" hangingPunct="1">
              <a:buNone/>
            </a:pPr>
            <a:r>
              <a:rPr lang="en-US" altLang="zh-CN" dirty="0"/>
              <a:t>  Reshuffle </a:t>
            </a:r>
            <a:r>
              <a:rPr lang="en-US" altLang="zh-CN" b="1" dirty="0"/>
              <a:t>Axe</a:t>
            </a:r>
            <a:r>
              <a:rPr lang="en-US" altLang="zh-CN" dirty="0"/>
              <a:t>s France‘s’ Cabinet</a:t>
            </a:r>
            <a:endParaRPr lang="en-US" altLang="zh-CN" dirty="0"/>
          </a:p>
          <a:p>
            <a:pPr eaLnBrk="1" hangingPunct="1">
              <a:buNone/>
            </a:pPr>
            <a:endParaRPr lang="en-US" altLang="zh-CN" dirty="0"/>
          </a:p>
          <a:p>
            <a:pPr eaLnBrk="1" hangingPunct="1">
              <a:buNone/>
            </a:pPr>
            <a:r>
              <a:rPr lang="en-US" altLang="zh-CN" dirty="0"/>
              <a:t>  Ethiopia </a:t>
            </a:r>
            <a:r>
              <a:rPr lang="en-US" altLang="zh-CN" b="1" dirty="0"/>
              <a:t>Jail</a:t>
            </a:r>
            <a:r>
              <a:rPr lang="en-US" altLang="zh-CN" dirty="0"/>
              <a:t>s Jews Escaping to Israel</a:t>
            </a:r>
            <a:br>
              <a:rPr lang="en-US" altLang="zh-CN" dirty="0"/>
            </a:br>
            <a:br>
              <a:rPr lang="en-US" altLang="zh-CN" dirty="0"/>
            </a:br>
            <a:endParaRPr lang="en-US" altLang="zh-CN" dirty="0"/>
          </a:p>
          <a:p>
            <a:pPr eaLnBrk="1" hangingPunct="1">
              <a:buNone/>
            </a:pP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xfrm>
            <a:off x="2024063" y="0"/>
            <a:ext cx="8229600" cy="1143000"/>
          </a:xfrm>
        </p:spPr>
        <p:txBody>
          <a:bodyPr vert="horz" wrap="square" lIns="91440" tIns="45720" rIns="91440" bIns="45720" anchor="ctr" anchorCtr="0"/>
          <a:p>
            <a:pPr eaLnBrk="1" hangingPunct="1"/>
            <a:r>
              <a:rPr lang="en-US" altLang="zh-CN" sz="3200" dirty="0"/>
              <a:t>Lexical Features</a:t>
            </a:r>
            <a:endParaRPr lang="en-US" altLang="zh-CN" sz="3200" dirty="0"/>
          </a:p>
        </p:txBody>
      </p:sp>
      <p:sp>
        <p:nvSpPr>
          <p:cNvPr id="30722" name="内容占位符 2"/>
          <p:cNvSpPr>
            <a:spLocks noGrp="1"/>
          </p:cNvSpPr>
          <p:nvPr>
            <p:ph idx="1"/>
          </p:nvPr>
        </p:nvSpPr>
        <p:spPr>
          <a:xfrm>
            <a:off x="2166938" y="1071563"/>
            <a:ext cx="8501062" cy="5286375"/>
          </a:xfrm>
        </p:spPr>
        <p:txBody>
          <a:bodyPr vert="horz" wrap="square" lIns="91440" tIns="45720" rIns="91440" bIns="45720" anchor="t" anchorCtr="0"/>
          <a:p>
            <a:pPr eaLnBrk="1" hangingPunct="1">
              <a:buNone/>
            </a:pPr>
            <a:r>
              <a:rPr lang="en-US" altLang="zh-CN" dirty="0"/>
              <a:t>2.Wide use of shortenings </a:t>
            </a:r>
            <a:endParaRPr lang="en-US" altLang="zh-CN" dirty="0"/>
          </a:p>
          <a:p>
            <a:pPr eaLnBrk="1" hangingPunct="1">
              <a:buNone/>
            </a:pPr>
            <a:r>
              <a:rPr lang="en-US" altLang="zh-CN" dirty="0"/>
              <a:t>   (acronyms, abbreviations, clippings)</a:t>
            </a:r>
            <a:endParaRPr lang="en-US" altLang="zh-CN" dirty="0"/>
          </a:p>
          <a:p>
            <a:pPr eaLnBrk="1" hangingPunct="1">
              <a:buNone/>
            </a:pPr>
            <a:r>
              <a:rPr lang="en-US" altLang="zh-CN" i="1" dirty="0"/>
              <a:t>   Americans cash in on £3bn City office deal   </a:t>
            </a:r>
            <a:r>
              <a:rPr lang="en-US" altLang="zh-CN" dirty="0"/>
              <a:t>               </a:t>
            </a:r>
            <a:endParaRPr lang="en-US" altLang="zh-CN" dirty="0"/>
          </a:p>
          <a:p>
            <a:pPr eaLnBrk="1" hangingPunct="1">
              <a:buNone/>
            </a:pPr>
            <a:r>
              <a:rPr lang="en-US" altLang="zh-CN" dirty="0"/>
              <a:t>      (bn refers to billion) </a:t>
            </a:r>
            <a:endParaRPr lang="en-US" altLang="zh-CN" dirty="0"/>
          </a:p>
          <a:p>
            <a:pPr eaLnBrk="1" hangingPunct="1">
              <a:buNone/>
            </a:pPr>
            <a:r>
              <a:rPr lang="en-US" altLang="zh-CN" i="1" dirty="0"/>
              <a:t>  Fed waits for job market to perk up</a:t>
            </a:r>
            <a:endParaRPr lang="en-US" altLang="zh-CN" i="1" dirty="0"/>
          </a:p>
          <a:p>
            <a:pPr eaLnBrk="1" hangingPunct="1">
              <a:buNone/>
            </a:pPr>
            <a:r>
              <a:rPr lang="en-US" altLang="zh-CN" dirty="0"/>
              <a:t>     (Fed = Federal Reserve)</a:t>
            </a:r>
            <a:endParaRPr lang="en-US" altLang="zh-CN" dirty="0"/>
          </a:p>
          <a:p>
            <a:pPr eaLnBrk="1" hangingPunct="1">
              <a:buNone/>
            </a:pPr>
            <a:r>
              <a:rPr lang="en-US" altLang="zh-CN" dirty="0"/>
              <a:t>  </a:t>
            </a:r>
            <a:r>
              <a:rPr lang="en-US" altLang="zh-CN" i="1" dirty="0"/>
              <a:t>The slanting of a tech hero  </a:t>
            </a:r>
            <a:endParaRPr lang="en-US" altLang="zh-CN" i="1" dirty="0"/>
          </a:p>
          <a:p>
            <a:pPr eaLnBrk="1" hangingPunct="1">
              <a:buNone/>
            </a:pPr>
            <a:r>
              <a:rPr lang="en-US" altLang="zh-CN" dirty="0"/>
              <a:t>     (tech = technology)</a:t>
            </a:r>
            <a:endParaRPr lang="en-US" altLang="zh-CN" dirty="0"/>
          </a:p>
          <a:p>
            <a:pPr eaLnBrk="1" hangingPunct="1">
              <a:buNone/>
            </a:pPr>
            <a:br>
              <a:rPr lang="en-US" altLang="zh-CN" dirty="0"/>
            </a:br>
            <a:endParaRPr lang="en-US"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xfrm>
            <a:off x="1952625" y="0"/>
            <a:ext cx="8229600" cy="1143000"/>
          </a:xfrm>
        </p:spPr>
        <p:txBody>
          <a:bodyPr vert="horz" wrap="square" lIns="91440" tIns="45720" rIns="91440" bIns="45720" anchor="ctr" anchorCtr="0"/>
          <a:p>
            <a:r>
              <a:rPr lang="en-US" altLang="zh-CN" dirty="0"/>
              <a:t>Exercise</a:t>
            </a:r>
            <a:endParaRPr lang="zh-CN" altLang="en-US" dirty="0"/>
          </a:p>
        </p:txBody>
      </p:sp>
      <p:sp>
        <p:nvSpPr>
          <p:cNvPr id="32770" name="内容占位符 2"/>
          <p:cNvSpPr>
            <a:spLocks noGrp="1"/>
          </p:cNvSpPr>
          <p:nvPr>
            <p:ph idx="1"/>
          </p:nvPr>
        </p:nvSpPr>
        <p:spPr>
          <a:xfrm>
            <a:off x="810895" y="732790"/>
            <a:ext cx="9571355" cy="5696585"/>
          </a:xfrm>
        </p:spPr>
        <p:txBody>
          <a:bodyPr vert="horz" wrap="square" lIns="91440" tIns="45720" rIns="91440" bIns="45720" anchor="t" anchorCtr="0">
            <a:normAutofit fontScale="90000" lnSpcReduction="10000"/>
          </a:bodyPr>
          <a:p>
            <a:pPr>
              <a:buNone/>
            </a:pPr>
            <a:r>
              <a:rPr lang="en-US" altLang="zh-CN" dirty="0"/>
              <a:t> Give a shorter word with similar meaning of the underlined words in the headlines.</a:t>
            </a:r>
            <a:endParaRPr lang="en-US" altLang="zh-CN" dirty="0"/>
          </a:p>
          <a:p>
            <a:pPr>
              <a:buNone/>
            </a:pPr>
            <a:r>
              <a:rPr lang="en-US" altLang="zh-CN" dirty="0"/>
              <a:t>1 Fannie,Freddie Narrow Losses but Seek More </a:t>
            </a:r>
            <a:r>
              <a:rPr lang="en-US" altLang="zh-CN" u="sng" dirty="0"/>
              <a:t>Assistance</a:t>
            </a:r>
            <a:endParaRPr lang="en-US" altLang="zh-CN" u="sng" dirty="0"/>
          </a:p>
          <a:p>
            <a:pPr>
              <a:buNone/>
            </a:pPr>
            <a:r>
              <a:rPr lang="en-US" altLang="zh-CN" dirty="0"/>
              <a:t>2 Conservatives </a:t>
            </a:r>
            <a:r>
              <a:rPr lang="en-US" altLang="zh-CN" u="sng" dirty="0"/>
              <a:t>Threaten </a:t>
            </a:r>
            <a:r>
              <a:rPr lang="en-US" altLang="zh-CN" dirty="0"/>
              <a:t>to Make Gay Marriage 2012 Issue</a:t>
            </a:r>
            <a:endParaRPr lang="en-US" altLang="zh-CN" dirty="0"/>
          </a:p>
          <a:p>
            <a:pPr>
              <a:buNone/>
            </a:pPr>
            <a:r>
              <a:rPr lang="en-US" altLang="zh-CN" dirty="0"/>
              <a:t>3 Google Asks Swiss Court to Lift Street View </a:t>
            </a:r>
            <a:r>
              <a:rPr lang="en-US" altLang="zh-CN" u="sng" dirty="0"/>
              <a:t>Restrictions</a:t>
            </a:r>
            <a:endParaRPr lang="en-US" altLang="zh-CN" u="sng" dirty="0"/>
          </a:p>
          <a:p>
            <a:pPr>
              <a:buNone/>
            </a:pPr>
            <a:r>
              <a:rPr lang="en-US" altLang="zh-CN" dirty="0">
                <a:sym typeface="+mn-ea"/>
              </a:rPr>
              <a:t>4 </a:t>
            </a:r>
            <a:r>
              <a:rPr lang="en-US" altLang="zh-CN" u="sng" dirty="0">
                <a:sym typeface="+mn-ea"/>
              </a:rPr>
              <a:t>Investigation</a:t>
            </a:r>
            <a:r>
              <a:rPr lang="en-US" altLang="zh-CN" dirty="0">
                <a:sym typeface="+mn-ea"/>
              </a:rPr>
              <a:t> of Violence, Mass Escapes from Egypt Prisons</a:t>
            </a:r>
            <a:endParaRPr lang="en-US" altLang="zh-CN" dirty="0"/>
          </a:p>
          <a:p>
            <a:pPr>
              <a:buNone/>
            </a:pPr>
            <a:r>
              <a:rPr lang="en-US" altLang="zh-CN" dirty="0">
                <a:sym typeface="+mn-ea"/>
              </a:rPr>
              <a:t>5 Spain: 5 Dead, 3 Injured in Military Academy</a:t>
            </a:r>
            <a:r>
              <a:rPr lang="en-US" altLang="zh-CN" u="sng" dirty="0">
                <a:sym typeface="+mn-ea"/>
              </a:rPr>
              <a:t> Explosion</a:t>
            </a:r>
            <a:endParaRPr lang="en-US" altLang="zh-CN" u="sng" dirty="0"/>
          </a:p>
          <a:p>
            <a:pPr>
              <a:buNone/>
            </a:pPr>
            <a:r>
              <a:rPr lang="en-US" altLang="zh-CN" dirty="0">
                <a:sym typeface="+mn-ea"/>
              </a:rPr>
              <a:t>6 Russia Raises Key Interest Rate to </a:t>
            </a:r>
            <a:r>
              <a:rPr lang="en-US" altLang="zh-CN" u="sng" dirty="0">
                <a:sym typeface="+mn-ea"/>
              </a:rPr>
              <a:t>Check</a:t>
            </a:r>
            <a:r>
              <a:rPr lang="en-US" altLang="zh-CN" dirty="0">
                <a:sym typeface="+mn-ea"/>
              </a:rPr>
              <a:t> Inflation</a:t>
            </a:r>
            <a:endParaRPr lang="en-US" altLang="zh-CN" dirty="0"/>
          </a:p>
          <a:p>
            <a:pPr>
              <a:buNone/>
            </a:pPr>
            <a:r>
              <a:rPr lang="en-US" altLang="zh-CN" u="sng" dirty="0">
                <a:solidFill>
                  <a:srgbClr val="FF0000"/>
                </a:solidFill>
              </a:rPr>
              <a:t>Assistance </a:t>
            </a:r>
            <a:r>
              <a:rPr lang="en-US" altLang="en-US" u="sng" dirty="0">
                <a:solidFill>
                  <a:srgbClr val="FF0000"/>
                </a:solidFill>
              </a:rPr>
              <a:t>→</a:t>
            </a:r>
            <a:r>
              <a:rPr lang="en-US" altLang="zh-CN" u="sng" dirty="0">
                <a:solidFill>
                  <a:srgbClr val="FF0000"/>
                </a:solidFill>
              </a:rPr>
              <a:t> Aid</a:t>
            </a:r>
            <a:endParaRPr lang="en-US" altLang="zh-CN" u="sng" dirty="0">
              <a:solidFill>
                <a:srgbClr val="FF0000"/>
              </a:solidFill>
            </a:endParaRPr>
          </a:p>
          <a:p>
            <a:pPr>
              <a:buNone/>
            </a:pPr>
            <a:r>
              <a:rPr lang="en-US" altLang="zh-CN" u="sng" dirty="0">
                <a:solidFill>
                  <a:srgbClr val="FF0000"/>
                </a:solidFill>
              </a:rPr>
              <a:t>Threaten </a:t>
            </a:r>
            <a:r>
              <a:rPr lang="en-US" altLang="en-US" u="sng" dirty="0">
                <a:solidFill>
                  <a:srgbClr val="FF0000"/>
                </a:solidFill>
              </a:rPr>
              <a:t>→</a:t>
            </a:r>
            <a:r>
              <a:rPr lang="en-US" altLang="zh-CN" u="sng" dirty="0">
                <a:solidFill>
                  <a:srgbClr val="FF0000"/>
                </a:solidFill>
              </a:rPr>
              <a:t> Vow / Vow to</a:t>
            </a:r>
            <a:endParaRPr lang="en-US" altLang="zh-CN" u="sng" dirty="0">
              <a:solidFill>
                <a:srgbClr val="FF0000"/>
              </a:solidFill>
            </a:endParaRPr>
          </a:p>
          <a:p>
            <a:pPr>
              <a:buNone/>
            </a:pPr>
            <a:r>
              <a:rPr lang="en-US" altLang="zh-CN" u="sng" dirty="0">
                <a:solidFill>
                  <a:srgbClr val="FF0000"/>
                </a:solidFill>
              </a:rPr>
              <a:t>Restrictions </a:t>
            </a:r>
            <a:r>
              <a:rPr lang="en-US" altLang="en-US" u="sng" dirty="0">
                <a:solidFill>
                  <a:srgbClr val="FF0000"/>
                </a:solidFill>
              </a:rPr>
              <a:t>→</a:t>
            </a:r>
            <a:r>
              <a:rPr lang="en-US" altLang="zh-CN" u="sng" dirty="0">
                <a:solidFill>
                  <a:srgbClr val="FF0000"/>
                </a:solidFill>
              </a:rPr>
              <a:t> Bans</a:t>
            </a:r>
            <a:endParaRPr lang="en-US" altLang="zh-CN" u="sng" dirty="0">
              <a:solidFill>
                <a:srgbClr val="FF0000"/>
              </a:solidFill>
            </a:endParaRPr>
          </a:p>
          <a:p>
            <a:pPr>
              <a:buNone/>
            </a:pPr>
            <a:r>
              <a:rPr lang="en-US" altLang="zh-CN" u="sng" dirty="0">
                <a:solidFill>
                  <a:srgbClr val="FF0000"/>
                </a:solidFill>
              </a:rPr>
              <a:t>Investigation </a:t>
            </a:r>
            <a:r>
              <a:rPr lang="en-US" altLang="en-US" u="sng" dirty="0">
                <a:solidFill>
                  <a:srgbClr val="FF0000"/>
                </a:solidFill>
              </a:rPr>
              <a:t>→</a:t>
            </a:r>
            <a:r>
              <a:rPr lang="en-US" altLang="zh-CN" u="sng" dirty="0">
                <a:solidFill>
                  <a:srgbClr val="FF0000"/>
                </a:solidFill>
              </a:rPr>
              <a:t> Probe</a:t>
            </a:r>
            <a:endParaRPr lang="en-US" altLang="zh-CN" u="sng" dirty="0">
              <a:solidFill>
                <a:srgbClr val="FF0000"/>
              </a:solidFill>
            </a:endParaRPr>
          </a:p>
          <a:p>
            <a:pPr>
              <a:buNone/>
            </a:pPr>
            <a:r>
              <a:rPr lang="en-US" altLang="zh-CN" u="sng" dirty="0">
                <a:solidFill>
                  <a:srgbClr val="FF0000"/>
                </a:solidFill>
              </a:rPr>
              <a:t>Explosion </a:t>
            </a:r>
            <a:r>
              <a:rPr lang="en-US" altLang="en-US" u="sng" dirty="0">
                <a:solidFill>
                  <a:srgbClr val="FF0000"/>
                </a:solidFill>
              </a:rPr>
              <a:t>→</a:t>
            </a:r>
            <a:r>
              <a:rPr lang="en-US" altLang="zh-CN" u="sng" dirty="0">
                <a:solidFill>
                  <a:srgbClr val="FF0000"/>
                </a:solidFill>
              </a:rPr>
              <a:t> Blast</a:t>
            </a:r>
            <a:endParaRPr lang="en-US" altLang="zh-CN" u="sng" dirty="0">
              <a:solidFill>
                <a:srgbClr val="FF0000"/>
              </a:solidFill>
            </a:endParaRPr>
          </a:p>
          <a:p>
            <a:pPr>
              <a:buNone/>
            </a:pPr>
            <a:r>
              <a:rPr lang="en-US" altLang="zh-CN" u="sng" dirty="0">
                <a:solidFill>
                  <a:srgbClr val="FF0000"/>
                </a:solidFill>
              </a:rPr>
              <a:t>Check </a:t>
            </a:r>
            <a:r>
              <a:rPr lang="en-US" altLang="en-US" u="sng" dirty="0">
                <a:solidFill>
                  <a:srgbClr val="FF0000"/>
                </a:solidFill>
              </a:rPr>
              <a:t>→</a:t>
            </a:r>
            <a:r>
              <a:rPr lang="en-US" altLang="zh-CN" u="sng" dirty="0">
                <a:solidFill>
                  <a:srgbClr val="FF0000"/>
                </a:solidFill>
              </a:rPr>
              <a:t> Curb / Control</a:t>
            </a:r>
            <a:endParaRPr lang="en-US" altLang="zh-CN" u="sng"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a:xfrm>
            <a:off x="1952625" y="0"/>
            <a:ext cx="8229600" cy="1143000"/>
          </a:xfrm>
        </p:spPr>
        <p:txBody>
          <a:bodyPr vert="horz" wrap="square" lIns="91440" tIns="45720" rIns="91440" bIns="45720" anchor="ctr" anchorCtr="0"/>
          <a:p>
            <a:r>
              <a:rPr lang="en-US" altLang="zh-CN" dirty="0"/>
              <a:t>Exercise</a:t>
            </a:r>
            <a:endParaRPr lang="zh-CN" altLang="en-US" dirty="0"/>
          </a:p>
        </p:txBody>
      </p:sp>
      <p:sp>
        <p:nvSpPr>
          <p:cNvPr id="19459" name="内容占位符 2"/>
          <p:cNvSpPr>
            <a:spLocks noGrp="1"/>
          </p:cNvSpPr>
          <p:nvPr>
            <p:ph idx="1"/>
          </p:nvPr>
        </p:nvSpPr>
        <p:spPr>
          <a:xfrm>
            <a:off x="902335" y="787400"/>
            <a:ext cx="10488930" cy="6070600"/>
          </a:xfrm>
        </p:spPr>
        <p:txBody>
          <a:bodyPr vert="horz" wrap="square" lIns="91440" tIns="45720" rIns="91440" bIns="45720" anchor="t" anchorCtr="0"/>
          <a:p>
            <a:pPr>
              <a:buNone/>
            </a:pPr>
            <a:r>
              <a:rPr lang="en-US" altLang="zh-CN" dirty="0"/>
              <a:t>  Give the complete forms of the shortenings in the following headlines and translate</a:t>
            </a:r>
            <a:br>
              <a:rPr lang="en-US" altLang="zh-CN" dirty="0"/>
            </a:br>
            <a:r>
              <a:rPr lang="en-US" altLang="zh-CN" dirty="0"/>
              <a:t>them into Chinese.</a:t>
            </a:r>
            <a:br>
              <a:rPr lang="en-US" altLang="zh-CN" dirty="0"/>
            </a:br>
            <a:r>
              <a:rPr lang="en-US" altLang="zh-CN" dirty="0"/>
              <a:t> 1 College </a:t>
            </a:r>
            <a:r>
              <a:rPr lang="en-US" altLang="zh-CN" b="1" dirty="0"/>
              <a:t>Grads</a:t>
            </a:r>
            <a:r>
              <a:rPr lang="en-US" altLang="zh-CN" dirty="0"/>
              <a:t> Face Tough Employment Market</a:t>
            </a:r>
            <a:br>
              <a:rPr lang="en-US" altLang="zh-CN" dirty="0"/>
            </a:br>
            <a:r>
              <a:rPr lang="en-US" altLang="zh-CN" dirty="0"/>
              <a:t>2 Diplomats: Syria Evades </a:t>
            </a:r>
            <a:r>
              <a:rPr lang="en-US" altLang="zh-CN" b="1" dirty="0"/>
              <a:t>Nuke</a:t>
            </a:r>
            <a:r>
              <a:rPr lang="en-US" altLang="zh-CN" dirty="0"/>
              <a:t> Probe</a:t>
            </a:r>
            <a:br>
              <a:rPr lang="en-US" altLang="zh-CN" dirty="0"/>
            </a:br>
            <a:r>
              <a:rPr lang="en-US" altLang="zh-CN" dirty="0"/>
              <a:t>3 Olympic </a:t>
            </a:r>
            <a:r>
              <a:rPr lang="en-US" altLang="zh-CN" b="1" dirty="0"/>
              <a:t>Champ</a:t>
            </a:r>
            <a:r>
              <a:rPr lang="en-US" altLang="zh-CN" dirty="0"/>
              <a:t> Demong Chasing Gold at Nordic Worlds</a:t>
            </a:r>
            <a:br>
              <a:rPr lang="en-US" altLang="zh-CN" dirty="0"/>
            </a:br>
            <a:r>
              <a:rPr lang="en-US" altLang="zh-CN" dirty="0"/>
              <a:t>4  Judge: No Sentencing Delay for </a:t>
            </a:r>
            <a:r>
              <a:rPr lang="en-US" altLang="zh-CN" b="1" dirty="0"/>
              <a:t>Doc</a:t>
            </a:r>
            <a:r>
              <a:rPr lang="en-US" altLang="zh-CN" dirty="0"/>
              <a:t> in Ark. Bombing</a:t>
            </a:r>
            <a:endParaRPr lang="en-US" altLang="zh-CN" dirty="0"/>
          </a:p>
          <a:p>
            <a:pPr>
              <a:buNone/>
            </a:pPr>
            <a:r>
              <a:rPr lang="en-US" altLang="zh-CN" dirty="0">
                <a:solidFill>
                  <a:srgbClr val="FF0000"/>
                </a:solidFill>
              </a:rPr>
              <a:t>Grads </a:t>
            </a:r>
            <a:r>
              <a:rPr lang="en-US" altLang="en-US" dirty="0">
                <a:solidFill>
                  <a:srgbClr val="FF0000"/>
                </a:solidFill>
              </a:rPr>
              <a:t>→</a:t>
            </a:r>
            <a:r>
              <a:rPr lang="en-US" altLang="zh-CN" dirty="0">
                <a:solidFill>
                  <a:srgbClr val="FF0000"/>
                </a:solidFill>
              </a:rPr>
              <a:t> Graduates</a:t>
            </a:r>
            <a:r>
              <a:rPr lang="zh-CN" altLang="en-US" dirty="0">
                <a:solidFill>
                  <a:srgbClr val="FF0000"/>
                </a:solidFill>
              </a:rPr>
              <a:t>（大学毕业生）</a:t>
            </a:r>
            <a:endParaRPr lang="zh-CN" altLang="en-US" dirty="0">
              <a:solidFill>
                <a:srgbClr val="FF0000"/>
              </a:solidFill>
            </a:endParaRPr>
          </a:p>
          <a:p>
            <a:pPr>
              <a:buNone/>
            </a:pPr>
            <a:r>
              <a:rPr lang="en-US" altLang="zh-CN" dirty="0">
                <a:solidFill>
                  <a:srgbClr val="FF0000"/>
                </a:solidFill>
              </a:rPr>
              <a:t>Nuke </a:t>
            </a:r>
            <a:r>
              <a:rPr lang="en-US" altLang="en-US" dirty="0">
                <a:solidFill>
                  <a:srgbClr val="FF0000"/>
                </a:solidFill>
              </a:rPr>
              <a:t>→</a:t>
            </a:r>
            <a:r>
              <a:rPr lang="en-US" altLang="zh-CN" dirty="0">
                <a:solidFill>
                  <a:srgbClr val="FF0000"/>
                </a:solidFill>
              </a:rPr>
              <a:t> Nuclear</a:t>
            </a:r>
            <a:r>
              <a:rPr lang="zh-CN" altLang="en-US" dirty="0">
                <a:solidFill>
                  <a:srgbClr val="FF0000"/>
                </a:solidFill>
              </a:rPr>
              <a:t>（核的；核武器相关的）</a:t>
            </a:r>
            <a:endParaRPr lang="zh-CN" altLang="en-US" dirty="0">
              <a:solidFill>
                <a:srgbClr val="FF0000"/>
              </a:solidFill>
            </a:endParaRPr>
          </a:p>
          <a:p>
            <a:pPr>
              <a:buNone/>
            </a:pPr>
            <a:r>
              <a:rPr lang="en-US" altLang="zh-CN" dirty="0">
                <a:solidFill>
                  <a:srgbClr val="FF0000"/>
                </a:solidFill>
              </a:rPr>
              <a:t>Champ </a:t>
            </a:r>
            <a:r>
              <a:rPr lang="en-US" altLang="en-US" dirty="0">
                <a:solidFill>
                  <a:srgbClr val="FF0000"/>
                </a:solidFill>
              </a:rPr>
              <a:t>→</a:t>
            </a:r>
            <a:r>
              <a:rPr lang="en-US" altLang="zh-CN" dirty="0">
                <a:solidFill>
                  <a:srgbClr val="FF0000"/>
                </a:solidFill>
              </a:rPr>
              <a:t> Champion</a:t>
            </a:r>
            <a:r>
              <a:rPr lang="zh-CN" altLang="en-US" dirty="0">
                <a:solidFill>
                  <a:srgbClr val="FF0000"/>
                </a:solidFill>
              </a:rPr>
              <a:t>（冠军）</a:t>
            </a:r>
            <a:endParaRPr lang="zh-CN" altLang="en-US" dirty="0">
              <a:solidFill>
                <a:srgbClr val="FF0000"/>
              </a:solidFill>
            </a:endParaRPr>
          </a:p>
          <a:p>
            <a:pPr>
              <a:buNone/>
            </a:pPr>
            <a:r>
              <a:rPr lang="en-US" altLang="zh-CN" dirty="0">
                <a:solidFill>
                  <a:srgbClr val="FF0000"/>
                </a:solidFill>
              </a:rPr>
              <a:t>Doc </a:t>
            </a:r>
            <a:r>
              <a:rPr lang="en-US" altLang="en-US" dirty="0">
                <a:solidFill>
                  <a:srgbClr val="FF0000"/>
                </a:solidFill>
              </a:rPr>
              <a:t>→</a:t>
            </a:r>
            <a:r>
              <a:rPr lang="en-US" altLang="zh-CN" dirty="0">
                <a:solidFill>
                  <a:srgbClr val="FF0000"/>
                </a:solidFill>
              </a:rPr>
              <a:t> Doctor</a:t>
            </a:r>
            <a:r>
              <a:rPr lang="zh-CN" altLang="en-US" dirty="0">
                <a:solidFill>
                  <a:srgbClr val="FF0000"/>
                </a:solidFill>
              </a:rPr>
              <a:t>（医生）</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charRg st="0" end="306"/>
                                            </p:txEl>
                                          </p:spTgt>
                                        </p:tgtEl>
                                        <p:attrNameLst>
                                          <p:attrName>style.visibility</p:attrName>
                                        </p:attrNameLst>
                                      </p:cBhvr>
                                      <p:to>
                                        <p:strVal val="visible"/>
                                      </p:to>
                                    </p:set>
                                    <p:animEffect transition="in" filter="blinds(horizontal)">
                                      <p:cBhvr>
                                        <p:cTn id="7" dur="500"/>
                                        <p:tgtEl>
                                          <p:spTgt spid="19459">
                                            <p:txEl>
                                              <p:charRg st="0" end="3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标题 1"/>
          <p:cNvSpPr>
            <a:spLocks noGrp="1"/>
          </p:cNvSpPr>
          <p:nvPr>
            <p:custDataLst>
              <p:tags r:id="rId3"/>
            </p:custDataLst>
          </p:nvPr>
        </p:nvSpPr>
        <p:spPr>
          <a:xfrm>
            <a:off x="406470" y="2942025"/>
            <a:ext cx="10969200" cy="705600"/>
          </a:xfrm>
          <a:prstGeom prst="rect">
            <a:avLst/>
          </a:prstGeom>
        </p:spPr>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ctr"/>
            <a:r>
              <a:rPr lang="en-US" altLang="zh-CN" sz="5400" b="1"/>
              <a:t>Unit 4</a:t>
            </a:r>
            <a:endParaRPr lang="en-US" altLang="zh-CN" sz="5400"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标题 1"/>
          <p:cNvSpPr>
            <a:spLocks noGrp="1"/>
          </p:cNvSpPr>
          <p:nvPr>
            <p:custDataLst>
              <p:tags r:id="rId3"/>
            </p:custDataLst>
          </p:nvPr>
        </p:nvSpPr>
        <p:spPr>
          <a:xfrm>
            <a:off x="406470" y="2942025"/>
            <a:ext cx="10969200" cy="705600"/>
          </a:xfrm>
          <a:prstGeom prst="rect">
            <a:avLst/>
          </a:prstGeom>
        </p:spPr>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ctr"/>
            <a:r>
              <a:rPr lang="en-US" altLang="zh-CN" sz="5400" b="1"/>
              <a:t>Unit 5</a:t>
            </a:r>
            <a:endParaRPr lang="en-US" altLang="zh-CN" sz="54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What is a Feature?"/>
          <p:cNvSpPr txBox="1"/>
          <p:nvPr>
            <p:ph type="title"/>
          </p:nvPr>
        </p:nvSpPr>
        <p:spPr>
          <a:prstGeom prst="rect">
            <a:avLst/>
          </a:prstGeom>
        </p:spPr>
        <p:txBody>
          <a:bodyPr/>
          <a:lstStyle/>
          <a:p>
            <a:r>
              <a:t>What is a Feature?</a:t>
            </a:r>
          </a:p>
        </p:txBody>
      </p:sp>
      <p:sp>
        <p:nvSpPr>
          <p:cNvPr id="197" name="A feature story is all about the details: painting a picture of a person, event, or place on the written page so your topic becomes alive to the reader. They allow a writer to be creative. It's not just about facts; feature stories are more about storyte"/>
          <p:cNvSpPr txBox="1"/>
          <p:nvPr>
            <p:ph type="body" idx="1"/>
          </p:nvPr>
        </p:nvSpPr>
        <p:spPr>
          <a:xfrm>
            <a:off x="736600" y="1949450"/>
            <a:ext cx="10718800" cy="4202113"/>
          </a:xfrm>
          <a:prstGeom prst="rect">
            <a:avLst/>
          </a:prstGeom>
        </p:spPr>
        <p:txBody>
          <a:bodyPr>
            <a:normAutofit fontScale="40000"/>
          </a:bodyPr>
          <a:lstStyle>
            <a:lvl1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lvl1pPr>
          </a:lstStyle>
          <a:p>
            <a:r>
              <a:t>A feature story is all about the details: painting a picture of a person, event, or place on the written page so your topic becomes alive to the reader. They allow a writer to be creative. It's not just about facts; feature stories are more about storytelling and weaving an interesting narrative.</a:t>
            </a:r>
          </a:p>
          <a:p/>
          <a:p>
            <a:r>
              <a:rPr lang="zh-CN" altLang="en-US"/>
              <a:t>特写报道重在细节刻画：以文字为笔墨，生动勾勒人物、事件与场景，让报道主题鲜活立体地呈现在读者眼前。这类文体给予写作者充分的创作空间，内容不局限于客观事实；相较于纯信息陈述，特写报道更侧重故事铺陈与趣味叙事的融合打磨。</a:t>
            </a:r>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7">
                                            <p:txEl>
                                              <p:pRg st="0" end="0"/>
                                            </p:txEl>
                                          </p:spTgt>
                                        </p:tgtEl>
                                        <p:attrNameLst>
                                          <p:attrName>style.visibility</p:attrName>
                                        </p:attrNameLst>
                                      </p:cBhvr>
                                      <p:to>
                                        <p:strVal val="visible"/>
                                      </p:to>
                                    </p:set>
                                    <p:animEffect transition="in" filter="blinds(horizontal)">
                                      <p:cBhvr>
                                        <p:cTn id="7" dur="500"/>
                                        <p:tgtEl>
                                          <p:spTgt spid="1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7">
                                            <p:txEl>
                                              <p:pRg st="2" end="2"/>
                                            </p:txEl>
                                          </p:spTgt>
                                        </p:tgtEl>
                                        <p:attrNameLst>
                                          <p:attrName>style.visibility</p:attrName>
                                        </p:attrNameLst>
                                      </p:cBhvr>
                                      <p:to>
                                        <p:strVal val="visible"/>
                                      </p:to>
                                    </p:set>
                                    <p:animEffect transition="in" filter="blinds(horizontal)">
                                      <p:cBhvr>
                                        <p:cTn id="12" dur="500"/>
                                        <p:tgtEl>
                                          <p:spTgt spid="1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ypes of Features"/>
          <p:cNvSpPr txBox="1"/>
          <p:nvPr>
            <p:ph type="title"/>
          </p:nvPr>
        </p:nvSpPr>
        <p:spPr>
          <a:prstGeom prst="rect">
            <a:avLst/>
          </a:prstGeom>
        </p:spPr>
        <p:txBody>
          <a:bodyPr/>
          <a:lstStyle/>
          <a:p>
            <a:r>
              <a:t>Types of Features </a:t>
            </a:r>
          </a:p>
        </p:txBody>
      </p:sp>
      <p:sp>
        <p:nvSpPr>
          <p:cNvPr id="200" name="News Feature…"/>
          <p:cNvSpPr txBox="1"/>
          <p:nvPr>
            <p:ph type="body" idx="1"/>
          </p:nvPr>
        </p:nvSpPr>
        <p:spPr>
          <a:prstGeom prst="rect">
            <a:avLst/>
          </a:prstGeom>
        </p:spPr>
        <p:txBody>
          <a:bodyPr>
            <a:normAutofit fontScale="40000"/>
          </a:bodyPr>
          <a:lstStyle/>
          <a:p>
            <a:pPr marL="788670" indent="-788670" defTabSz="457200">
              <a:spcBef>
                <a:spcPts val="0"/>
              </a:spcBef>
              <a:buSzPct val="100000"/>
              <a:buChar char="•"/>
              <a:defRPr sz="6900" b="1">
                <a:solidFill>
                  <a:srgbClr val="282828"/>
                </a:solidFill>
                <a:latin typeface="Helvetica"/>
                <a:ea typeface="Helvetica"/>
                <a:cs typeface="Helvetica"/>
                <a:sym typeface="Helvetica"/>
              </a:defRPr>
            </a:pPr>
            <a:r>
              <a:t>News Feature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Profile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Spot Feature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Trend</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Live-In</a:t>
            </a:r>
          </a:p>
          <a:p>
            <a: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endParaRPr u="sng"/>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p:nvPr>
            <p:ph type="body" idx="1"/>
          </p:nvPr>
        </p:nvSpPr>
        <p:spPr>
          <a:xfrm>
            <a:off x="175260" y="104458"/>
            <a:ext cx="11628755" cy="6671628"/>
          </a:xfrm>
        </p:spPr>
        <p:txBody>
          <a:bodyPr>
            <a:normAutofit/>
          </a:bodyPr>
          <a:p>
            <a:pPr marL="0" indent="0" eaLnBrk="1" fontAlgn="auto" hangingPunct="1">
              <a:spcBef>
                <a:spcPts val="0"/>
              </a:spcBef>
              <a:spcAft>
                <a:spcPts val="1200"/>
              </a:spcAft>
              <a:buNone/>
            </a:pPr>
            <a:r>
              <a:rPr lang="en-US" altLang="zh-CN"/>
              <a:t>1.</a:t>
            </a:r>
            <a:r>
              <a:rPr lang="en-US" altLang="zh-CN" b="1" u="sng">
                <a:solidFill>
                  <a:srgbClr val="FF0000"/>
                </a:solidFill>
              </a:rPr>
              <a:t> News Feature</a:t>
            </a:r>
            <a:r>
              <a:rPr lang="zh-CN" altLang="en-US"/>
              <a:t>｜新闻特写：以赛事为硬新闻基底，非即时发稿，采用软性文笔，聚焦幕后团队与技术细节，赋予冰冷数据人文温度。</a:t>
            </a:r>
            <a:endParaRPr lang="zh-CN" altLang="en-US"/>
          </a:p>
          <a:p>
            <a:pPr marL="0" indent="0" eaLnBrk="1" fontAlgn="auto" hangingPunct="1">
              <a:spcBef>
                <a:spcPts val="0"/>
              </a:spcBef>
              <a:spcAft>
                <a:spcPts val="1200"/>
              </a:spcAft>
              <a:buNone/>
            </a:pPr>
            <a:r>
              <a:rPr lang="en-US" altLang="zh-CN"/>
              <a:t>2. </a:t>
            </a:r>
            <a:r>
              <a:rPr lang="en-US" altLang="zh-CN" b="1" u="sng">
                <a:solidFill>
                  <a:srgbClr val="FF0000"/>
                </a:solidFill>
              </a:rPr>
              <a:t>Profile</a:t>
            </a:r>
            <a:r>
              <a:rPr lang="zh-CN" altLang="en-US"/>
              <a:t>｜人物侧写</a:t>
            </a:r>
            <a:r>
              <a:rPr lang="en-US" altLang="zh-CN"/>
              <a:t> / </a:t>
            </a:r>
            <a:r>
              <a:rPr lang="zh-CN" altLang="en-US"/>
              <a:t>专访：聚焦单一个体，刻画其公众形象背后的成长、困境与初心，展现</a:t>
            </a:r>
            <a:r>
              <a:rPr lang="en-US" altLang="zh-CN"/>
              <a:t> “</a:t>
            </a:r>
            <a:r>
              <a:rPr lang="zh-CN" altLang="en-US"/>
              <a:t>人</a:t>
            </a:r>
            <a:r>
              <a:rPr lang="en-US" altLang="zh-CN"/>
              <a:t>” </a:t>
            </a:r>
            <a:r>
              <a:rPr lang="zh-CN" altLang="en-US"/>
              <a:t>的立体性。</a:t>
            </a:r>
            <a:endParaRPr lang="zh-CN" altLang="en-US"/>
          </a:p>
          <a:p>
            <a:pPr marL="0" indent="0" eaLnBrk="1" fontAlgn="auto" hangingPunct="1">
              <a:spcBef>
                <a:spcPts val="0"/>
              </a:spcBef>
              <a:spcAft>
                <a:spcPts val="1200"/>
              </a:spcAft>
              <a:buNone/>
            </a:pPr>
            <a:r>
              <a:rPr lang="en-US" altLang="zh-CN"/>
              <a:t>3. </a:t>
            </a:r>
            <a:r>
              <a:rPr lang="en-US" altLang="zh-CN" b="1" u="sng">
                <a:solidFill>
                  <a:srgbClr val="FF0000"/>
                </a:solidFill>
              </a:rPr>
              <a:t>Spot Feature</a:t>
            </a:r>
            <a:r>
              <a:rPr lang="zh-CN" altLang="en-US"/>
              <a:t>｜现场即时特写：针对赛事这一突发</a:t>
            </a:r>
            <a:r>
              <a:rPr lang="en-US" altLang="zh-CN"/>
              <a:t> / </a:t>
            </a:r>
            <a:r>
              <a:rPr lang="zh-CN" altLang="en-US"/>
              <a:t>热点事件，作为主新闻的配套侧报，聚焦现场瞬间与人本细节。</a:t>
            </a:r>
            <a:endParaRPr lang="zh-CN" altLang="en-US"/>
          </a:p>
          <a:p>
            <a:pPr marL="0" indent="0" eaLnBrk="1" fontAlgn="auto" hangingPunct="1">
              <a:spcBef>
                <a:spcPts val="0"/>
              </a:spcBef>
              <a:spcAft>
                <a:spcPts val="1200"/>
              </a:spcAft>
              <a:buNone/>
            </a:pPr>
            <a:r>
              <a:rPr lang="en-US" altLang="zh-CN"/>
              <a:t>4. </a:t>
            </a:r>
            <a:r>
              <a:rPr lang="en-US" altLang="zh-CN" b="1" u="sng">
                <a:solidFill>
                  <a:srgbClr val="FF0000"/>
                </a:solidFill>
              </a:rPr>
              <a:t>Trend</a:t>
            </a:r>
            <a:r>
              <a:rPr lang="zh-CN" altLang="en-US"/>
              <a:t>｜趋势报道：研判赛事背后的行业与社会潮流，文风轻量化，分析技术演进与产业影响。</a:t>
            </a:r>
            <a:endParaRPr lang="zh-CN" altLang="en-US"/>
          </a:p>
          <a:p>
            <a:pPr marL="0" indent="0" eaLnBrk="1" fontAlgn="auto" hangingPunct="1">
              <a:spcBef>
                <a:spcPts val="0"/>
              </a:spcBef>
              <a:spcAft>
                <a:spcPts val="1200"/>
              </a:spcAft>
              <a:buNone/>
            </a:pPr>
            <a:r>
              <a:rPr lang="zh-CN" altLang="en-US"/>
              <a:t>机器人马拉松：</a:t>
            </a:r>
            <a:r>
              <a:rPr lang="en-US" altLang="zh-CN"/>
              <a:t>AI </a:t>
            </a:r>
            <a:r>
              <a:rPr lang="zh-CN" altLang="en-US"/>
              <a:t>与移动技术的新前沿</a:t>
            </a:r>
            <a:endParaRPr lang="zh-CN" altLang="en-US"/>
          </a:p>
          <a:p>
            <a:pPr marL="0" indent="0" eaLnBrk="1" fontAlgn="auto" hangingPunct="1">
              <a:spcBef>
                <a:spcPts val="0"/>
              </a:spcBef>
              <a:spcAft>
                <a:spcPts val="1200"/>
              </a:spcAft>
              <a:buNone/>
            </a:pPr>
            <a:r>
              <a:rPr lang="en-US" altLang="zh-CN"/>
              <a:t>5. </a:t>
            </a:r>
            <a:r>
              <a:rPr lang="en-US" altLang="zh-CN" b="1" u="sng">
                <a:solidFill>
                  <a:srgbClr val="FF0000"/>
                </a:solidFill>
              </a:rPr>
              <a:t>Live-In</a:t>
            </a:r>
            <a:r>
              <a:rPr lang="zh-CN" altLang="en-US"/>
              <a:t>｜沉浸式深度纪实：记者长期驻点体验，长篇深度叙事，完整呈现赛事生态与圈层日常。</a:t>
            </a:r>
            <a:endParaRPr lang="zh-CN" altLang="en-US"/>
          </a:p>
          <a:p>
            <a:pPr marL="0" indent="0" eaLnBrk="1" fontAlgn="auto" hangingPunct="1">
              <a:spcBef>
                <a:spcPts val="0"/>
              </a:spcBef>
              <a:spcAft>
                <a:spcPts val="1200"/>
              </a:spcAft>
              <a:buNone/>
            </a:pPr>
            <a:endParaRPr lang="zh-CN" altLang="en-US"/>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ypes of Features"/>
          <p:cNvSpPr txBox="1"/>
          <p:nvPr>
            <p:ph type="title"/>
          </p:nvPr>
        </p:nvSpPr>
        <p:spPr>
          <a:prstGeom prst="rect">
            <a:avLst/>
          </a:prstGeom>
        </p:spPr>
        <p:txBody>
          <a:bodyPr/>
          <a:lstStyle/>
          <a:p>
            <a:r>
              <a:t>Types of Features </a:t>
            </a:r>
          </a:p>
        </p:txBody>
      </p:sp>
      <p:sp>
        <p:nvSpPr>
          <p:cNvPr id="203" name="人物特写Profile…"/>
          <p:cNvSpPr txBox="1"/>
          <p:nvPr>
            <p:ph type="body" idx="1"/>
          </p:nvPr>
        </p:nvSpPr>
        <p:spPr>
          <a:xfrm>
            <a:off x="914718" y="1946275"/>
            <a:ext cx="10718800" cy="4555490"/>
          </a:xfrm>
          <a:prstGeom prst="rect">
            <a:avLst/>
          </a:prstGeom>
        </p:spPr>
        <p:txBody>
          <a:bodyPr>
            <a:normAutofit fontScale="30000"/>
          </a:bodyPr>
          <a:lstStyle/>
          <a:p>
            <a:pPr marL="788670" indent="-788670" defTabSz="457200" eaLnBrk="1" fontAlgn="auto" hangingPunct="1">
              <a:lnSpc>
                <a:spcPct val="150000"/>
              </a:lnSpc>
              <a:spcBef>
                <a:spcPts val="0"/>
              </a:spcBef>
              <a:spcAft>
                <a:spcPts val="2400"/>
              </a:spcAft>
              <a:buSzPct val="100000"/>
              <a:buChar char="•"/>
              <a:defRPr sz="6900" b="1">
                <a:solidFill>
                  <a:srgbClr val="282828"/>
                </a:solidFill>
                <a:latin typeface="Helvetica"/>
                <a:ea typeface="Helvetica"/>
                <a:cs typeface="Helvetica"/>
                <a:sym typeface="Helvetica"/>
              </a:defRPr>
            </a:pPr>
            <a:r>
              <a:t>人物特写Profile</a:t>
            </a:r>
          </a:p>
          <a:p>
            <a:pPr marL="788670" indent="-788670" defTabSz="457200" eaLnBrk="1" fontAlgn="auto" hangingPunct="1">
              <a:lnSpc>
                <a:spcPct val="150000"/>
              </a:lnSpc>
              <a:spcBef>
                <a:spcPts val="0"/>
              </a:spcBef>
              <a:spcAft>
                <a:spcPts val="2400"/>
              </a:spcAft>
              <a:buSzPct val="100000"/>
              <a:buChar char="•"/>
              <a:defRPr sz="6900" b="1">
                <a:solidFill>
                  <a:srgbClr val="282828"/>
                </a:solidFill>
                <a:latin typeface="Helvetica"/>
                <a:ea typeface="Helvetica"/>
                <a:cs typeface="Helvetica"/>
                <a:sym typeface="Helvetica"/>
              </a:defRPr>
            </a:pPr>
            <a:r>
              <a:t>事件特写WHAT-feature</a:t>
            </a:r>
          </a:p>
          <a:p>
            <a:pPr marL="788670" indent="-788670" defTabSz="457200" eaLnBrk="1" fontAlgn="auto" hangingPunct="1">
              <a:lnSpc>
                <a:spcPct val="150000"/>
              </a:lnSpc>
              <a:spcBef>
                <a:spcPts val="0"/>
              </a:spcBef>
              <a:spcAft>
                <a:spcPts val="2400"/>
              </a:spcAft>
              <a:buSzPct val="100000"/>
              <a:buChar char="•"/>
              <a:defRPr sz="6900" b="1">
                <a:solidFill>
                  <a:srgbClr val="282828"/>
                </a:solidFill>
                <a:latin typeface="Helvetica"/>
                <a:ea typeface="Helvetica"/>
                <a:cs typeface="Helvetica"/>
                <a:sym typeface="Helvetica"/>
              </a:defRPr>
            </a:pPr>
            <a:r>
              <a:t>旅游特写locality feature; travelogue</a:t>
            </a:r>
          </a:p>
          <a:p>
            <a:pPr marL="788670" indent="-788670" defTabSz="457200" eaLnBrk="1" fontAlgn="auto" hangingPunct="1">
              <a:lnSpc>
                <a:spcPct val="150000"/>
              </a:lnSpc>
              <a:spcBef>
                <a:spcPts val="0"/>
              </a:spcBef>
              <a:spcAft>
                <a:spcPts val="2400"/>
              </a:spcAft>
              <a:buSzPct val="100000"/>
              <a:buChar char="•"/>
              <a:defRPr sz="6900" b="1">
                <a:solidFill>
                  <a:srgbClr val="282828"/>
                </a:solidFill>
                <a:latin typeface="Helvetica"/>
                <a:ea typeface="Helvetica"/>
                <a:cs typeface="Helvetica"/>
                <a:sym typeface="Helvetica"/>
              </a:defRPr>
            </a:pPr>
            <a:r>
              <a:t>亲历特写personal experience feature; eyewitness  account; eye-account; I-account</a:t>
            </a:r>
          </a:p>
          <a:p>
            <a:pPr marL="0" indent="0" defTabSz="457200">
              <a:spcBef>
                <a:spcPts val="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r>
              <a:rPr u="sng"/>
              <a:t> </a:t>
            </a:r>
            <a:endParaRPr u="sng"/>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Definitions of Features"/>
          <p:cNvSpPr txBox="1"/>
          <p:nvPr>
            <p:ph type="title"/>
          </p:nvPr>
        </p:nvSpPr>
        <p:spPr>
          <a:prstGeom prst="rect">
            <a:avLst/>
          </a:prstGeom>
        </p:spPr>
        <p:txBody>
          <a:bodyPr/>
          <a:lstStyle/>
          <a:p>
            <a:r>
              <a:t>Definitions of Features </a:t>
            </a:r>
          </a:p>
        </p:txBody>
      </p:sp>
      <p:sp>
        <p:nvSpPr>
          <p:cNvPr id="206" name="A news feature is a type of feature story written in the style of a news article. It tackles a topic with painstaking detail and requires facts and research to back the story.…"/>
          <p:cNvSpPr txBox="1"/>
          <p:nvPr>
            <p:ph type="body" idx="1"/>
          </p:nvPr>
        </p:nvSpPr>
        <p:spPr>
          <a:xfrm>
            <a:off x="393700" y="1503363"/>
            <a:ext cx="11479530" cy="5126355"/>
          </a:xfrm>
          <a:prstGeom prst="rect">
            <a:avLst/>
          </a:prstGeom>
        </p:spPr>
        <p:txBody>
          <a:bodyPr>
            <a:normAutofit fontScale="40000"/>
          </a:bodyPr>
          <a:lstStyle/>
          <a:p>
            <a:pPr marL="0" indent="0" defTabSz="457200" eaLnBrk="1" fontAlgn="auto" hangingPunct="1">
              <a:lnSpc>
                <a:spcPct val="150000"/>
              </a:lnSpc>
              <a:spcBef>
                <a:spcPts val="0"/>
              </a:spcBef>
              <a:spcAft>
                <a:spcPts val="6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rPr b="1"/>
              <a:t>A news feature is a type of feature story written in the style of a news article.</a:t>
            </a:r>
            <a:r>
              <a:t> It tackles a topic with painstaking detail and requires </a:t>
            </a:r>
            <a:r>
              <a:rPr b="1" u="sng"/>
              <a:t>facts and research</a:t>
            </a:r>
            <a:r>
              <a:t> to back the story.</a:t>
            </a:r>
          </a:p>
          <a:p>
            <a:pPr marL="0" indent="0" defTabSz="457200" eaLnBrk="1" fontAlgn="auto" hangingPunct="1">
              <a:lnSpc>
                <a:spcPct val="150000"/>
              </a:lnSpc>
              <a:spcBef>
                <a:spcPts val="0"/>
              </a:spcBef>
              <a:spcAft>
                <a:spcPts val="6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p>
          <a:p>
            <a:pPr marL="0" indent="0" defTabSz="457200" eaLnBrk="1" fontAlgn="auto" hangingPunct="1">
              <a:lnSpc>
                <a:spcPct val="150000"/>
              </a:lnSpc>
              <a:spcBef>
                <a:spcPts val="0"/>
              </a:spcBef>
              <a:spcAft>
                <a:spcPts val="6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t>News features are increasingly found in publications, as they are </a:t>
            </a:r>
            <a:r>
              <a:rPr b="1" u="sng"/>
              <a:t>more engaging</a:t>
            </a:r>
            <a:r>
              <a:t> for readers than hard news. To write a news feature, journalists must focus on </a:t>
            </a:r>
            <a:r>
              <a:rPr u="sng"/>
              <a:t>a specific topic </a:t>
            </a:r>
            <a:r>
              <a:t>that can be thoroughly covered within a given word count</a:t>
            </a:r>
            <a:r>
              <a:rPr lang="zh-CN">
                <a:ea typeface="宋体" panose="02010600030101010101" pitchFamily="2" charset="-122"/>
              </a:rPr>
              <a:t>（字数上限）</a:t>
            </a:r>
            <a:r>
              <a:t>. The topic must also be important and include firsthand accounts of real people, opinions from experts and facts and evidences to establish the truth and gravity of the issue</a:t>
            </a:r>
            <a:r>
              <a:rPr lang="zh-CN">
                <a:ea typeface="宋体" panose="02010600030101010101" pitchFamily="2" charset="-122"/>
              </a:rPr>
              <a:t>（事件分量）</a:t>
            </a:r>
            <a:r>
              <a:t>. Though their topics have a local focus, news features should put everything together and show that there's larger context to the issue</a:t>
            </a:r>
            <a:r>
              <a:rPr lang="zh-CN">
                <a:ea typeface="宋体" panose="02010600030101010101" pitchFamily="2" charset="-122"/>
              </a:rPr>
              <a:t>（更广阔</a:t>
            </a:r>
            <a:r>
              <a:rPr lang="zh-CN">
                <a:ea typeface="宋体" panose="02010600030101010101" pitchFamily="2" charset="-122"/>
              </a:rPr>
              <a:t>社会、行业问题</a:t>
            </a:r>
            <a:r>
              <a:rPr lang="zh-CN">
                <a:ea typeface="宋体" panose="02010600030101010101" pitchFamily="2" charset="-122"/>
              </a:rPr>
              <a:t>关联）</a:t>
            </a:r>
            <a: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500" fill="hold"/>
                                        <p:tgtEl>
                                          <p:spTgt spid="2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6">
                                            <p:txEl>
                                              <p:pRg st="2" end="2"/>
                                            </p:txEl>
                                          </p:spTgt>
                                        </p:tgtEl>
                                        <p:attrNameLst>
                                          <p:attrName>style.visibility</p:attrName>
                                        </p:attrNameLst>
                                      </p:cBhvr>
                                      <p:to>
                                        <p:strVal val="visible"/>
                                      </p:to>
                                    </p:set>
                                    <p:anim calcmode="lin" valueType="num">
                                      <p:cBhvr additive="base">
                                        <p:cTn id="13" dur="500" fill="hold"/>
                                        <p:tgtEl>
                                          <p:spTgt spid="20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Definitions of Features"/>
          <p:cNvSpPr txBox="1"/>
          <p:nvPr>
            <p:ph type="title"/>
          </p:nvPr>
        </p:nvSpPr>
        <p:spPr>
          <a:prstGeom prst="rect">
            <a:avLst/>
          </a:prstGeom>
        </p:spPr>
        <p:txBody>
          <a:bodyPr/>
          <a:lstStyle/>
          <a:p>
            <a:r>
              <a:t>Definitions of Features </a:t>
            </a:r>
          </a:p>
        </p:txBody>
      </p:sp>
      <p:sp>
        <p:nvSpPr>
          <p:cNvPr id="209" name="A news feature brings out the best in a reporter. It reflects the reporter’s writing skills and hard work. It is built around a news point and has plenty of information to hold reader attention.…"/>
          <p:cNvSpPr txBox="1"/>
          <p:nvPr>
            <p:ph type="body" idx="1"/>
          </p:nvPr>
        </p:nvSpPr>
        <p:spPr>
          <a:xfrm>
            <a:off x="518478" y="1519555"/>
            <a:ext cx="10936923" cy="5155565"/>
          </a:xfrm>
          <a:prstGeom prst="rect">
            <a:avLst/>
          </a:prstGeom>
        </p:spPr>
        <p:txBody>
          <a:bodyPr>
            <a:normAutofit fontScale="50000"/>
          </a:bodyPr>
          <a:lstStyle/>
          <a:p>
            <a:pPr marL="0" algn="l" defTabSz="457200" eaLnBrk="1" fontAlgn="auto" hangingPunct="1">
              <a:lnSpc>
                <a:spcPct val="150000"/>
              </a:lnSpc>
              <a:spcBef>
                <a:spcPts val="0"/>
              </a:spcBef>
              <a:spcAft>
                <a:spcPts val="54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t>A news feature brings out the best in a reporter. It reflects the reporter’s writing skills and hard work. It is built around a news point and has plenty of information to hold reader attention.</a:t>
            </a:r>
          </a:p>
          <a:p>
            <a:pPr marL="0" algn="l" defTabSz="457200" eaLnBrk="1" fontAlgn="auto" hangingPunct="1">
              <a:lnSpc>
                <a:spcPct val="150000"/>
              </a:lnSpc>
              <a:spcBef>
                <a:spcPts val="0"/>
              </a:spcBef>
              <a:spcAft>
                <a:spcPts val="54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t>There is no one single way in which a news feature can be written. Each writer has his own style, which may differ from subject to subject. This is what makes news features unique.</a:t>
            </a:r>
          </a:p>
          <a:p>
            <a:pPr marL="0" algn="l" defTabSz="457200" eaLnBrk="1" fontAlgn="auto" hangingPunct="1">
              <a:spcBef>
                <a:spcPts val="5400"/>
              </a:spcBef>
              <a:buSzTx/>
              <a:buNone/>
              <a:defRPr sz="4400">
                <a:solidFill>
                  <a:srgbClr val="02020B"/>
                </a:solidFill>
                <a:latin typeface="Arial" panose="020B0604020202020204"/>
                <a:ea typeface="Arial" panose="020B0604020202020204"/>
                <a:cs typeface="Arial" panose="020B0604020202020204"/>
                <a:sym typeface="Arial" panose="020B0604020202020204"/>
              </a:defRPr>
            </a:pPr>
            <a:endParaRPr sz="2200"/>
          </a:p>
          <a:p>
            <a:pPr marL="0" indent="0" defTabSz="457200">
              <a:spcBef>
                <a:spcPts val="0"/>
              </a:spcBef>
              <a:buSzTx/>
              <a:buNone/>
              <a:defRPr sz="3200">
                <a:solidFill>
                  <a:srgbClr val="02020B"/>
                </a:solidFill>
                <a:latin typeface="Arial" panose="020B0604020202020204"/>
                <a:ea typeface="Arial" panose="020B0604020202020204"/>
                <a:cs typeface="Arial" panose="020B0604020202020204"/>
                <a:sym typeface="Arial" panose="020B0604020202020204"/>
              </a:defRPr>
            </a:pPr>
            <a:endParaRPr u="sng"/>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9">
                                            <p:txEl>
                                              <p:pRg st="0" end="0"/>
                                            </p:txEl>
                                          </p:spTgt>
                                        </p:tgtEl>
                                        <p:attrNameLst>
                                          <p:attrName>style.visibility</p:attrName>
                                        </p:attrNameLst>
                                      </p:cBhvr>
                                      <p:to>
                                        <p:strVal val="visible"/>
                                      </p:to>
                                    </p:set>
                                    <p:anim calcmode="lin" valueType="num">
                                      <p:cBhvr additive="base">
                                        <p:cTn id="7" dur="500" fill="hold"/>
                                        <p:tgtEl>
                                          <p:spTgt spid="2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9">
                                            <p:txEl>
                                              <p:pRg st="1" end="1"/>
                                            </p:txEl>
                                          </p:spTgt>
                                        </p:tgtEl>
                                        <p:attrNameLst>
                                          <p:attrName>style.visibility</p:attrName>
                                        </p:attrNameLst>
                                      </p:cBhvr>
                                      <p:to>
                                        <p:strVal val="visible"/>
                                      </p:to>
                                    </p:set>
                                    <p:anim calcmode="lin" valueType="num">
                                      <p:cBhvr additive="base">
                                        <p:cTn id="13" dur="500" fill="hold"/>
                                        <p:tgtEl>
                                          <p:spTgt spid="2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Definitions of Features"/>
          <p:cNvSpPr txBox="1"/>
          <p:nvPr>
            <p:ph type="title"/>
          </p:nvPr>
        </p:nvSpPr>
        <p:spPr>
          <a:xfrm>
            <a:off x="736600" y="-145097"/>
            <a:ext cx="10718800" cy="1714500"/>
          </a:xfrm>
          <a:prstGeom prst="rect">
            <a:avLst/>
          </a:prstGeom>
        </p:spPr>
        <p:txBody>
          <a:bodyPr/>
          <a:lstStyle/>
          <a:p>
            <a:r>
              <a:t>Definitions of Features </a:t>
            </a:r>
          </a:p>
        </p:txBody>
      </p:sp>
      <p:sp>
        <p:nvSpPr>
          <p:cNvPr id="212" name="A &quot;profile feature&quot; is a newspaper article that explores the background and character of a particular person (or group). The focus should be on a news angle or a single aspect of the subject's personal or professional life.…"/>
          <p:cNvSpPr txBox="1"/>
          <p:nvPr>
            <p:ph type="body" idx="1"/>
          </p:nvPr>
        </p:nvSpPr>
        <p:spPr>
          <a:xfrm>
            <a:off x="427355" y="1254760"/>
            <a:ext cx="11092815" cy="5553710"/>
          </a:xfrm>
          <a:prstGeom prst="rect">
            <a:avLst/>
          </a:prstGeom>
        </p:spPr>
        <p:txBody>
          <a:bodyPr>
            <a:normAutofit fontScale="30000"/>
          </a:bodyPr>
          <a:lstStyle/>
          <a:p>
            <a:pPr marL="0" algn="l" defTabSz="457200" eaLnBrk="1" fontAlgn="auto" hangingPunct="1">
              <a:lnSpc>
                <a:spcPct val="150000"/>
              </a:lnSpc>
              <a:spcBef>
                <a:spcPts val="0"/>
              </a:spcBef>
              <a:spcAft>
                <a:spcPts val="60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t>A</a:t>
            </a:r>
            <a:r>
              <a:rPr lang="en-US"/>
              <a:t> ________________</a:t>
            </a:r>
            <a:r>
              <a:t> is a newspaper article that explores the background and character of </a:t>
            </a:r>
            <a:r>
              <a:rPr b="1" u="sng"/>
              <a:t>a particular person (or group)</a:t>
            </a:r>
            <a:r>
              <a:t>. The focus should be on a news angle or a single aspect of the subject's personal or professional life.</a:t>
            </a:r>
          </a:p>
          <a:p>
            <a:pPr marL="0" algn="l" defTabSz="457200" eaLnBrk="1" fontAlgn="auto" hangingPunct="1">
              <a:lnSpc>
                <a:spcPct val="150000"/>
              </a:lnSpc>
              <a:spcBef>
                <a:spcPts val="0"/>
              </a:spcBef>
              <a:spcAft>
                <a:spcPts val="60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t>A </a:t>
            </a:r>
            <a:r>
              <a:rPr lang="en-US"/>
              <a:t>___________</a:t>
            </a:r>
            <a:r>
              <a:t> is a truthful account of an individual’s experiences traveling, usually told in </a:t>
            </a:r>
            <a:r>
              <a:rPr b="1" u="sng"/>
              <a:t>the past tense and in the first person</a:t>
            </a:r>
            <a:r>
              <a:t>.</a:t>
            </a:r>
          </a:p>
          <a:p>
            <a:pPr marL="0" algn="l" defTabSz="457200" eaLnBrk="1" fontAlgn="auto" hangingPunct="1">
              <a:lnSpc>
                <a:spcPct val="150000"/>
              </a:lnSpc>
              <a:spcBef>
                <a:spcPts val="0"/>
              </a:spcBef>
              <a:spcAft>
                <a:spcPts val="60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rPr lang="en-US"/>
              <a:t>_____________________ </a:t>
            </a:r>
            <a:r>
              <a:t>: a description given by someone who was present at an event. </a:t>
            </a:r>
          </a:p>
          <a:p>
            <a:pPr marL="0" algn="l" defTabSz="457200" eaLnBrk="1" fontAlgn="auto" hangingPunct="1">
              <a:lnSpc>
                <a:spcPct val="150000"/>
              </a:lnSpc>
              <a:spcBef>
                <a:spcPts val="0"/>
              </a:spcBef>
              <a:spcAft>
                <a:spcPts val="60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r>
              <a:rPr b="1">
                <a:solidFill>
                  <a:srgbClr val="FF0000"/>
                </a:solidFill>
                <a:sym typeface="+mn-ea"/>
              </a:rPr>
              <a:t>personal experience feature; eye-account; I-account</a:t>
            </a:r>
            <a:endParaRPr b="1">
              <a:solidFill>
                <a:srgbClr val="FF0000"/>
              </a:solidFill>
              <a:sym typeface="+mn-ea"/>
            </a:endParaRPr>
          </a:p>
          <a:p>
            <a:pPr marL="0" algn="l" defTabSz="457200" eaLnBrk="1" fontAlgn="auto" hangingPunct="1">
              <a:lnSpc>
                <a:spcPct val="150000"/>
              </a:lnSpc>
              <a:spcBef>
                <a:spcPts val="0"/>
              </a:spcBef>
              <a:spcAft>
                <a:spcPts val="6000"/>
              </a:spcAft>
              <a:buSzTx/>
              <a:buNone/>
              <a:defRPr sz="4400">
                <a:solidFill>
                  <a:srgbClr val="02020B"/>
                </a:solidFill>
                <a:latin typeface="Arial" panose="020B0604020202020204"/>
                <a:ea typeface="Arial" panose="020B0604020202020204"/>
                <a:cs typeface="Arial" panose="020B0604020202020204"/>
                <a:sym typeface="Arial" panose="020B0604020202020204"/>
              </a:defRPr>
            </a:pPr>
            <a:endParaRPr b="1">
              <a:solidFill>
                <a:srgbClr val="FF0000"/>
              </a:solidFill>
              <a:sym typeface="+mn-ea"/>
            </a:endParaRPr>
          </a:p>
        </p:txBody>
      </p:sp>
      <p:sp>
        <p:nvSpPr>
          <p:cNvPr id="2" name="文本框 1"/>
          <p:cNvSpPr txBox="1"/>
          <p:nvPr/>
        </p:nvSpPr>
        <p:spPr>
          <a:xfrm>
            <a:off x="-1341120" y="1211263"/>
            <a:ext cx="6096000" cy="35814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25400" tIns="25400" rIns="25400" bIns="25400" numCol="1" spcCol="38100" rtlCol="0" anchor="t" forceAA="0" upright="0">
            <a:spAutoFit/>
          </a:bodyPr>
          <a:p>
            <a:pPr marL="0" marR="0" indent="0" algn="ctr" defTabSz="825500" rtl="0" fontAlgn="auto" latinLnBrk="0" hangingPunct="0">
              <a:lnSpc>
                <a:spcPct val="100000"/>
              </a:lnSpc>
              <a:spcBef>
                <a:spcPts val="0"/>
              </a:spcBef>
              <a:spcAft>
                <a:spcPts val="0"/>
              </a:spcAft>
              <a:buClrTx/>
              <a:buSzTx/>
              <a:buFontTx/>
              <a:buNone/>
            </a:pPr>
            <a:r>
              <a:rPr sz="2000" b="1">
                <a:solidFill>
                  <a:srgbClr val="FF0000"/>
                </a:solidFill>
                <a:latin typeface="Times New Roman" panose="02020603050405020304" pitchFamily="18" charset="0"/>
                <a:cs typeface="Times New Roman" panose="02020603050405020304" pitchFamily="18" charset="0"/>
                <a:sym typeface="+mn-ea"/>
              </a:rPr>
              <a:t>"profile feature"</a:t>
            </a:r>
            <a:endParaRPr kumimoji="0" lang="zh-CN" altLang="en-US" sz="2000" b="1" i="0" u="none" strike="noStrike" cap="none" spc="0" normalizeH="0" baseline="0">
              <a:ln>
                <a:noFill/>
              </a:ln>
              <a:solidFill>
                <a:srgbClr val="FF0000"/>
              </a:solidFill>
              <a:effectLst/>
              <a:uFillTx/>
              <a:latin typeface="Times New Roman" panose="02020603050405020304" pitchFamily="18" charset="0"/>
              <a:ea typeface="Helvetica Neue" panose="02000503000000020004"/>
              <a:cs typeface="Times New Roman" panose="02020603050405020304" pitchFamily="18" charset="0"/>
              <a:sym typeface="+mn-ea"/>
            </a:endParaRPr>
          </a:p>
        </p:txBody>
      </p:sp>
      <p:sp>
        <p:nvSpPr>
          <p:cNvPr id="3" name="文本框 2"/>
          <p:cNvSpPr txBox="1"/>
          <p:nvPr/>
        </p:nvSpPr>
        <p:spPr>
          <a:xfrm>
            <a:off x="-515937" y="2553335"/>
            <a:ext cx="3835400" cy="35814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25400" tIns="25400" rIns="25400" bIns="25400" numCol="1" spcCol="38100" rtlCol="0" anchor="t" forceAA="0" upright="0">
            <a:spAutoFit/>
          </a:bodyPr>
          <a:p>
            <a:pPr marL="0" marR="0" indent="0" algn="ctr" defTabSz="825500" rtl="0" fontAlgn="auto" latinLnBrk="0" hangingPunct="0">
              <a:lnSpc>
                <a:spcPct val="100000"/>
              </a:lnSpc>
              <a:spcBef>
                <a:spcPts val="0"/>
              </a:spcBef>
              <a:spcAft>
                <a:spcPts val="0"/>
              </a:spcAft>
              <a:buClrTx/>
              <a:buSzTx/>
              <a:buFontTx/>
              <a:buNone/>
            </a:pPr>
            <a:r>
              <a:rPr sz="2000" b="1">
                <a:solidFill>
                  <a:srgbClr val="FF0000"/>
                </a:solidFill>
                <a:latin typeface="Times New Roman" panose="02020603050405020304" pitchFamily="18" charset="0"/>
                <a:cs typeface="Times New Roman" panose="02020603050405020304" pitchFamily="18" charset="0"/>
                <a:sym typeface="+mn-ea"/>
              </a:rPr>
              <a:t>"travelogue"</a:t>
            </a:r>
            <a:endParaRPr kumimoji="0" lang="zh-CN" altLang="en-US" sz="2000" b="1" i="0" u="none" strike="noStrike" cap="none" spc="0" normalizeH="0" baseline="0">
              <a:ln>
                <a:noFill/>
              </a:ln>
              <a:solidFill>
                <a:srgbClr val="FF0000"/>
              </a:solidFill>
              <a:effectLst/>
              <a:uFillTx/>
              <a:latin typeface="Times New Roman" panose="02020603050405020304" pitchFamily="18" charset="0"/>
              <a:ea typeface="Helvetica Neue" panose="02000503000000020004"/>
              <a:cs typeface="Times New Roman" panose="02020603050405020304" pitchFamily="18" charset="0"/>
              <a:sym typeface="+mn-ea"/>
            </a:endParaRPr>
          </a:p>
        </p:txBody>
      </p:sp>
      <p:sp>
        <p:nvSpPr>
          <p:cNvPr id="4" name="文本框 3"/>
          <p:cNvSpPr txBox="1"/>
          <p:nvPr/>
        </p:nvSpPr>
        <p:spPr>
          <a:xfrm>
            <a:off x="-1404937" y="4002723"/>
            <a:ext cx="6096000" cy="3276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25400" tIns="25400" rIns="25400" bIns="25400" numCol="1" spcCol="38100" rtlCol="0" anchor="t" forceAA="0" upright="0">
            <a:spAutoFit/>
          </a:bodyPr>
          <a:p>
            <a:pPr marL="0" marR="0" indent="0" algn="ctr" defTabSz="825500" rtl="0" fontAlgn="auto" latinLnBrk="0" hangingPunct="0">
              <a:lnSpc>
                <a:spcPct val="100000"/>
              </a:lnSpc>
              <a:spcBef>
                <a:spcPts val="0"/>
              </a:spcBef>
              <a:spcAft>
                <a:spcPts val="0"/>
              </a:spcAft>
              <a:buClrTx/>
              <a:buSzTx/>
              <a:buFontTx/>
              <a:buNone/>
            </a:pPr>
            <a:r>
              <a:rPr b="1">
                <a:solidFill>
                  <a:srgbClr val="FF0000"/>
                </a:solidFill>
                <a:latin typeface="Times New Roman" panose="02020603050405020304" pitchFamily="18" charset="0"/>
                <a:cs typeface="Times New Roman" panose="02020603050405020304" pitchFamily="18" charset="0"/>
                <a:sym typeface="+mn-ea"/>
              </a:rPr>
              <a:t>"</a:t>
            </a:r>
            <a:r>
              <a:rPr lang="en-US" altLang="zh-CN" b="1">
                <a:solidFill>
                  <a:srgbClr val="FF0000"/>
                </a:solidFill>
                <a:latin typeface="Times New Roman" panose="02020603050405020304" pitchFamily="18" charset="0"/>
                <a:cs typeface="Times New Roman" panose="02020603050405020304" pitchFamily="18" charset="0"/>
                <a:sym typeface="+mn-ea"/>
              </a:rPr>
              <a:t>Eyewitness account</a:t>
            </a:r>
            <a:r>
              <a:rPr b="1">
                <a:solidFill>
                  <a:srgbClr val="FF0000"/>
                </a:solidFill>
                <a:latin typeface="Times New Roman" panose="02020603050405020304" pitchFamily="18" charset="0"/>
                <a:cs typeface="Times New Roman" panose="02020603050405020304" pitchFamily="18" charset="0"/>
                <a:sym typeface="+mn-ea"/>
              </a:rPr>
              <a:t>"</a:t>
            </a:r>
            <a:endParaRPr kumimoji="0" lang="zh-CN" altLang="en-US" b="1" i="0" u="none" strike="noStrike" cap="none" spc="0" normalizeH="0" baseline="0">
              <a:ln>
                <a:noFill/>
              </a:ln>
              <a:solidFill>
                <a:srgbClr val="FF0000"/>
              </a:solidFill>
              <a:effectLst/>
              <a:uFillTx/>
              <a:latin typeface="Times New Roman" panose="02020603050405020304" pitchFamily="18" charset="0"/>
              <a:ea typeface="Helvetica Neue" panose="02000503000000020004"/>
              <a:cs typeface="Times New Roman" panose="02020603050405020304" pitchFamily="18" charset="0"/>
              <a:sym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12">
                                            <p:txEl>
                                              <p:pRg st="0" end="0"/>
                                            </p:txEl>
                                          </p:spTgt>
                                        </p:tgtEl>
                                        <p:attrNameLst>
                                          <p:attrName>style.visibility</p:attrName>
                                        </p:attrNameLst>
                                      </p:cBhvr>
                                      <p:to>
                                        <p:strVal val="visible"/>
                                      </p:to>
                                    </p:set>
                                    <p:animEffect transition="in" filter="diamond(in)">
                                      <p:cBhvr>
                                        <p:cTn id="7" dur="2000"/>
                                        <p:tgtEl>
                                          <p:spTgt spid="2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12">
                                            <p:txEl>
                                              <p:pRg st="1" end="1"/>
                                            </p:txEl>
                                          </p:spTgt>
                                        </p:tgtEl>
                                        <p:attrNameLst>
                                          <p:attrName>style.visibility</p:attrName>
                                        </p:attrNameLst>
                                      </p:cBhvr>
                                      <p:to>
                                        <p:strVal val="visible"/>
                                      </p:to>
                                    </p:set>
                                    <p:animEffect transition="in" filter="diamond(in)">
                                      <p:cBhvr>
                                        <p:cTn id="17" dur="2000"/>
                                        <p:tgtEl>
                                          <p:spTgt spid="2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12">
                                            <p:txEl>
                                              <p:pRg st="2" end="2"/>
                                            </p:txEl>
                                          </p:spTgt>
                                        </p:tgtEl>
                                        <p:attrNameLst>
                                          <p:attrName>style.visibility</p:attrName>
                                        </p:attrNameLst>
                                      </p:cBhvr>
                                      <p:to>
                                        <p:strVal val="visible"/>
                                      </p:to>
                                    </p:set>
                                    <p:animEffect transition="in" filter="diamond(in)">
                                      <p:cBhvr>
                                        <p:cTn id="27" dur="2000"/>
                                        <p:tgtEl>
                                          <p:spTgt spid="21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212">
                                            <p:txEl>
                                              <p:pRg st="3" end="3"/>
                                            </p:txEl>
                                          </p:spTgt>
                                        </p:tgtEl>
                                        <p:attrNameLst>
                                          <p:attrName>style.visibility</p:attrName>
                                        </p:attrNameLst>
                                      </p:cBhvr>
                                      <p:to>
                                        <p:strVal val="visible"/>
                                      </p:to>
                                    </p:set>
                                    <p:animEffect transition="in" filter="diamond(in)">
                                      <p:cBhvr>
                                        <p:cTn id="37" dur="2000"/>
                                        <p:tgtEl>
                                          <p:spTgt spid="2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uiExpand="1" build="p"/>
      <p:bldP spid="2" grpId="0" bldLvl="0" animBg="1"/>
      <p:bldP spid="3" grpId="0" bldLvl="0" animBg="1"/>
      <p:bldP spid="4"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Difference between a News story and  a Feature"/>
          <p:cNvSpPr txBox="1"/>
          <p:nvPr>
            <p:ph type="title"/>
          </p:nvPr>
        </p:nvSpPr>
        <p:spPr>
          <a:xfrm>
            <a:off x="736600" y="0"/>
            <a:ext cx="10718800" cy="1162941"/>
          </a:xfrm>
          <a:prstGeom prst="rect">
            <a:avLst/>
          </a:prstGeom>
        </p:spPr>
        <p:txBody>
          <a:bodyPr>
            <a:normAutofit/>
          </a:bodyPr>
          <a:lstStyle>
            <a:lvl1pPr defTabSz="577850">
              <a:defRPr sz="7560">
                <a:effectLst>
                  <a:outerShdw blurRad="44450" dist="8890" dir="5400000" rotWithShape="0">
                    <a:srgbClr val="000000">
                      <a:alpha val="30000"/>
                    </a:srgbClr>
                  </a:outerShdw>
                </a:effectLst>
              </a:defRPr>
            </a:lvl1pPr>
          </a:lstStyle>
          <a:p>
            <a:r>
              <a:rPr sz="3110" b="1"/>
              <a:t>Difference between a News story and  a Feature </a:t>
            </a:r>
            <a:endParaRPr sz="3110" b="1"/>
          </a:p>
        </p:txBody>
      </p:sp>
      <p:sp>
        <p:nvSpPr>
          <p:cNvPr id="215" name="1.Time factor – features are not as time-dependent as news stories…"/>
          <p:cNvSpPr txBox="1"/>
          <p:nvPr>
            <p:ph type="body" idx="1"/>
          </p:nvPr>
        </p:nvSpPr>
        <p:spPr>
          <a:xfrm>
            <a:off x="952818" y="1067435"/>
            <a:ext cx="10846753" cy="5506085"/>
          </a:xfrm>
          <a:prstGeom prst="rect">
            <a:avLst/>
          </a:prstGeom>
        </p:spPr>
        <p:txBody>
          <a:bodyPr>
            <a:normAutofit fontScale="60000"/>
          </a:bodyPr>
          <a:lstStyle/>
          <a:p>
            <a:pPr marL="0" indent="0" defTabSz="410845">
              <a:spcBef>
                <a:spcPts val="500"/>
              </a:spcBef>
              <a:buSzTx/>
              <a:buNone/>
              <a:defRPr sz="4320">
                <a:solidFill>
                  <a:srgbClr val="000000"/>
                </a:solidFill>
                <a:latin typeface="Times Roman"/>
                <a:ea typeface="Times Roman"/>
                <a:cs typeface="Times Roman"/>
                <a:sym typeface="Times Roman"/>
              </a:defRPr>
            </a:pPr>
            <a:r>
              <a:rPr sz="3300">
                <a:latin typeface="Times New Roman" panose="02020603050405020304" pitchFamily="18" charset="0"/>
                <a:cs typeface="Times New Roman" panose="02020603050405020304" pitchFamily="18" charset="0"/>
              </a:rPr>
              <a:t>1.</a:t>
            </a:r>
            <a:r>
              <a:rPr sz="3300" b="1">
                <a:latin typeface="Times New Roman" panose="02020603050405020304" pitchFamily="18" charset="0"/>
                <a:cs typeface="Times New Roman" panose="02020603050405020304" pitchFamily="18" charset="0"/>
              </a:rPr>
              <a:t>Time factor </a:t>
            </a:r>
            <a:endParaRPr sz="3300" b="1">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endParaRPr sz="3300" b="1">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r>
              <a:rPr sz="3300">
                <a:latin typeface="Times New Roman" panose="02020603050405020304" pitchFamily="18" charset="0"/>
                <a:cs typeface="Times New Roman" panose="02020603050405020304" pitchFamily="18" charset="0"/>
              </a:rPr>
              <a:t>2. </a:t>
            </a:r>
            <a:r>
              <a:rPr sz="3300" b="1">
                <a:latin typeface="Times New Roman" panose="02020603050405020304" pitchFamily="18" charset="0"/>
                <a:cs typeface="Times New Roman" panose="02020603050405020304" pitchFamily="18" charset="0"/>
              </a:rPr>
              <a:t>Writing style</a:t>
            </a:r>
            <a:r>
              <a:rPr sz="3300">
                <a:latin typeface="Times New Roman" panose="02020603050405020304" pitchFamily="18" charset="0"/>
                <a:cs typeface="Times New Roman" panose="02020603050405020304" pitchFamily="18" charset="0"/>
              </a:rPr>
              <a:t> </a:t>
            </a:r>
            <a:endParaRPr sz="3300">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endParaRPr sz="3300">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r>
              <a:rPr sz="3300">
                <a:latin typeface="Times New Roman" panose="02020603050405020304" pitchFamily="18" charset="0"/>
                <a:cs typeface="Times New Roman" panose="02020603050405020304" pitchFamily="18" charset="0"/>
              </a:rPr>
              <a:t>3. </a:t>
            </a:r>
            <a:r>
              <a:rPr sz="3300" b="1">
                <a:latin typeface="Times New Roman" panose="02020603050405020304" pitchFamily="18" charset="0"/>
                <a:cs typeface="Times New Roman" panose="02020603050405020304" pitchFamily="18" charset="0"/>
              </a:rPr>
              <a:t>The length </a:t>
            </a:r>
            <a:endParaRPr sz="3300" b="1">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endParaRPr sz="3300" b="1">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r>
              <a:rPr sz="3300">
                <a:latin typeface="Times New Roman" panose="02020603050405020304" pitchFamily="18" charset="0"/>
                <a:cs typeface="Times New Roman" panose="02020603050405020304" pitchFamily="18" charset="0"/>
              </a:rPr>
              <a:t>4. </a:t>
            </a:r>
            <a:r>
              <a:rPr sz="3300" b="1">
                <a:latin typeface="Times New Roman" panose="02020603050405020304" pitchFamily="18" charset="0"/>
                <a:cs typeface="Times New Roman" panose="02020603050405020304" pitchFamily="18" charset="0"/>
              </a:rPr>
              <a:t>The lead </a:t>
            </a:r>
            <a:r>
              <a:rPr lang="en-US" sz="3300" b="1">
                <a:latin typeface="Times New Roman" panose="02020603050405020304" pitchFamily="18" charset="0"/>
                <a:cs typeface="Times New Roman" panose="02020603050405020304" pitchFamily="18" charset="0"/>
              </a:rPr>
              <a:t>(</a:t>
            </a:r>
            <a:r>
              <a:rPr lang="zh-CN" altLang="en-US" sz="3300" b="1">
                <a:latin typeface="Times New Roman" panose="02020603050405020304" pitchFamily="18" charset="0"/>
                <a:cs typeface="Times New Roman" panose="02020603050405020304" pitchFamily="18" charset="0"/>
              </a:rPr>
              <a:t>导语</a:t>
            </a:r>
            <a:r>
              <a:rPr lang="en-US" sz="3300" b="1">
                <a:latin typeface="Times New Roman" panose="02020603050405020304" pitchFamily="18" charset="0"/>
                <a:cs typeface="Times New Roman" panose="02020603050405020304" pitchFamily="18" charset="0"/>
              </a:rPr>
              <a:t>)</a:t>
            </a:r>
            <a:endParaRPr sz="3300" b="1">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endParaRPr sz="3300" b="1">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r>
              <a:rPr sz="3300">
                <a:latin typeface="Times New Roman" panose="02020603050405020304" pitchFamily="18" charset="0"/>
                <a:cs typeface="Times New Roman" panose="02020603050405020304" pitchFamily="18" charset="0"/>
              </a:rPr>
              <a:t>5. </a:t>
            </a:r>
            <a:r>
              <a:rPr sz="3300" b="1">
                <a:latin typeface="Times New Roman" panose="02020603050405020304" pitchFamily="18" charset="0"/>
                <a:cs typeface="Times New Roman" panose="02020603050405020304" pitchFamily="18" charset="0"/>
              </a:rPr>
              <a:t>The ending</a:t>
            </a:r>
            <a:endParaRPr sz="3300" b="1">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p>
          <a:p>
            <a:pPr marL="0" indent="0" defTabSz="410845">
              <a:spcBef>
                <a:spcPts val="500"/>
              </a:spcBef>
              <a:buSzTx/>
              <a:buNone/>
              <a:defRPr sz="4320">
                <a:solidFill>
                  <a:srgbClr val="000000"/>
                </a:solidFill>
                <a:latin typeface="Times Roman"/>
                <a:ea typeface="Times Roman"/>
                <a:cs typeface="Times Roman"/>
                <a:sym typeface="Times Roman"/>
              </a:defRPr>
            </a:pPr>
            <a:endParaRPr u="sng"/>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 calcmode="lin" valueType="num">
                                      <p:cBhvr additive="base">
                                        <p:cTn id="7" dur="500" fill="hold"/>
                                        <p:tgtEl>
                                          <p:spTgt spid="2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
                                            <p:txEl>
                                              <p:pRg st="2" end="2"/>
                                            </p:txEl>
                                          </p:spTgt>
                                        </p:tgtEl>
                                        <p:attrNameLst>
                                          <p:attrName>style.visibility</p:attrName>
                                        </p:attrNameLst>
                                      </p:cBhvr>
                                      <p:to>
                                        <p:strVal val="visible"/>
                                      </p:to>
                                    </p:set>
                                    <p:anim calcmode="lin" valueType="num">
                                      <p:cBhvr additive="base">
                                        <p:cTn id="13" dur="500" fill="hold"/>
                                        <p:tgtEl>
                                          <p:spTgt spid="2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
                                            <p:txEl>
                                              <p:pRg st="4" end="4"/>
                                            </p:txEl>
                                          </p:spTgt>
                                        </p:tgtEl>
                                        <p:attrNameLst>
                                          <p:attrName>style.visibility</p:attrName>
                                        </p:attrNameLst>
                                      </p:cBhvr>
                                      <p:to>
                                        <p:strVal val="visible"/>
                                      </p:to>
                                    </p:set>
                                    <p:anim calcmode="lin" valueType="num">
                                      <p:cBhvr additive="base">
                                        <p:cTn id="19" dur="500" fill="hold"/>
                                        <p:tgtEl>
                                          <p:spTgt spid="2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
                                            <p:txEl>
                                              <p:pRg st="6" end="6"/>
                                            </p:txEl>
                                          </p:spTgt>
                                        </p:tgtEl>
                                        <p:attrNameLst>
                                          <p:attrName>style.visibility</p:attrName>
                                        </p:attrNameLst>
                                      </p:cBhvr>
                                      <p:to>
                                        <p:strVal val="visible"/>
                                      </p:to>
                                    </p:set>
                                    <p:anim calcmode="lin" valueType="num">
                                      <p:cBhvr additive="base">
                                        <p:cTn id="25" dur="500" fill="hold"/>
                                        <p:tgtEl>
                                          <p:spTgt spid="2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
                                            <p:txEl>
                                              <p:pRg st="8" end="8"/>
                                            </p:txEl>
                                          </p:spTgt>
                                        </p:tgtEl>
                                        <p:attrNameLst>
                                          <p:attrName>style.visibility</p:attrName>
                                        </p:attrNameLst>
                                      </p:cBhvr>
                                      <p:to>
                                        <p:strVal val="visible"/>
                                      </p:to>
                                    </p:set>
                                    <p:anim calcmode="lin" valueType="num">
                                      <p:cBhvr additive="base">
                                        <p:cTn id="31" dur="500" fill="hold"/>
                                        <p:tgtEl>
                                          <p:spTgt spid="21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Difference between a News story and  a Feature"/>
          <p:cNvSpPr txBox="1"/>
          <p:nvPr>
            <p:ph type="title"/>
          </p:nvPr>
        </p:nvSpPr>
        <p:spPr>
          <a:xfrm>
            <a:off x="736600" y="-71755"/>
            <a:ext cx="10718800" cy="1162941"/>
          </a:xfrm>
          <a:prstGeom prst="rect">
            <a:avLst/>
          </a:prstGeom>
        </p:spPr>
        <p:txBody>
          <a:bodyPr>
            <a:normAutofit/>
          </a:bodyPr>
          <a:lstStyle>
            <a:lvl1pPr defTabSz="577850">
              <a:defRPr sz="7560">
                <a:effectLst>
                  <a:outerShdw blurRad="44450" dist="8890" dir="5400000" rotWithShape="0">
                    <a:srgbClr val="000000">
                      <a:alpha val="30000"/>
                    </a:srgbClr>
                  </a:outerShdw>
                </a:effectLst>
              </a:defRPr>
            </a:lvl1pPr>
          </a:lstStyle>
          <a:p>
            <a:r>
              <a:rPr sz="2665" b="1"/>
              <a:t>Difference between a News story and  a Feature </a:t>
            </a:r>
            <a:endParaRPr sz="2665" b="1"/>
          </a:p>
        </p:txBody>
      </p:sp>
      <p:sp>
        <p:nvSpPr>
          <p:cNvPr id="215" name="1.Time factor – features are not as time-dependent as news stories…"/>
          <p:cNvSpPr txBox="1"/>
          <p:nvPr>
            <p:ph type="body" idx="1"/>
          </p:nvPr>
        </p:nvSpPr>
        <p:spPr>
          <a:xfrm>
            <a:off x="194628" y="898208"/>
            <a:ext cx="11604943" cy="5888673"/>
          </a:xfrm>
          <a:prstGeom prst="rect">
            <a:avLst/>
          </a:prstGeom>
        </p:spPr>
        <p:txBody>
          <a:bodyPr>
            <a:normAutofit fontScale="25000"/>
          </a:bodyPr>
          <a:lstStyle/>
          <a:p>
            <a:pPr marL="0" indent="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rPr>
              <a:t>1.</a:t>
            </a:r>
            <a:r>
              <a:rPr b="1">
                <a:latin typeface="Times New Roman" panose="02020603050405020304" pitchFamily="18" charset="0"/>
                <a:cs typeface="Times New Roman" panose="02020603050405020304" pitchFamily="18" charset="0"/>
              </a:rPr>
              <a:t>Time factor</a:t>
            </a:r>
            <a:r>
              <a:rPr lang="en-US">
                <a:latin typeface="Times New Roman" panose="02020603050405020304" pitchFamily="18" charset="0"/>
                <a:cs typeface="Times New Roman" panose="02020603050405020304" pitchFamily="18" charset="0"/>
              </a:rPr>
              <a:t> </a:t>
            </a:r>
            <a:r>
              <a:rPr b="1">
                <a:latin typeface="Times New Roman" panose="02020603050405020304" pitchFamily="18" charset="0"/>
                <a:cs typeface="Times New Roman" panose="02020603050405020304" pitchFamily="18" charset="0"/>
              </a:rPr>
              <a:t> </a:t>
            </a:r>
            <a:r>
              <a:rPr>
                <a:latin typeface="Times New Roman" panose="02020603050405020304" pitchFamily="18" charset="0"/>
                <a:cs typeface="Times New Roman" panose="02020603050405020304" pitchFamily="18" charset="0"/>
              </a:rPr>
              <a:t>features are not as time-dependent as news stories</a:t>
            </a:r>
            <a:r>
              <a:rPr lang="en-US">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时效性</a:t>
            </a:r>
            <a:endParaRPr lang="zh-CN" altLang="en-US">
              <a:latin typeface="Times New Roman" panose="02020603050405020304" pitchFamily="18" charset="0"/>
              <a:cs typeface="Times New Roman" panose="02020603050405020304" pitchFamily="18" charset="0"/>
            </a:endParaRPr>
          </a:p>
          <a:p>
            <a:pPr marL="0" indent="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rPr>
              <a:t>2. </a:t>
            </a:r>
            <a:r>
              <a:rPr b="1">
                <a:latin typeface="Times New Roman" panose="02020603050405020304" pitchFamily="18" charset="0"/>
                <a:cs typeface="Times New Roman" panose="02020603050405020304" pitchFamily="18" charset="0"/>
              </a:rPr>
              <a:t>Writing style</a:t>
            </a:r>
            <a:r>
              <a:rPr>
                <a:latin typeface="Times New Roman" panose="02020603050405020304" pitchFamily="18" charset="0"/>
                <a:cs typeface="Times New Roman" panose="02020603050405020304" pitchFamily="18" charset="0"/>
              </a:rPr>
              <a:t> </a:t>
            </a:r>
            <a:r>
              <a:rPr b="1">
                <a:latin typeface="Times New Roman" panose="02020603050405020304" pitchFamily="18" charset="0"/>
                <a:cs typeface="Times New Roman" panose="02020603050405020304" pitchFamily="18" charset="0"/>
              </a:rPr>
              <a:t> </a:t>
            </a:r>
            <a:endParaRPr b="1">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rPr>
              <a:t>News stories: go straight to the point; use simple and very effective words to deliver the facts quickly </a:t>
            </a:r>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rPr>
              <a:t>Feature stories: have a creative structure</a:t>
            </a:r>
            <a:r>
              <a:rPr lang="en-US">
                <a:latin typeface="Times New Roman" panose="02020603050405020304" pitchFamily="18" charset="0"/>
                <a:cs typeface="Times New Roman" panose="02020603050405020304" pitchFamily="18" charset="0"/>
              </a:rPr>
              <a:t>, </a:t>
            </a:r>
            <a:r>
              <a:rPr>
                <a:latin typeface="Times New Roman" panose="02020603050405020304" pitchFamily="18" charset="0"/>
                <a:cs typeface="Times New Roman" panose="02020603050405020304" pitchFamily="18" charset="0"/>
              </a:rPr>
              <a:t> colorful and flowery</a:t>
            </a:r>
            <a:endParaRPr>
              <a:latin typeface="Times New Roman" panose="02020603050405020304" pitchFamily="18" charset="0"/>
              <a:cs typeface="Times New Roman" panose="02020603050405020304" pitchFamily="18" charset="0"/>
            </a:endParaRPr>
          </a:p>
          <a:p>
            <a:pPr marL="0" indent="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rPr>
              <a:t>3. </a:t>
            </a:r>
            <a:r>
              <a:rPr b="1">
                <a:latin typeface="Times New Roman" panose="02020603050405020304" pitchFamily="18" charset="0"/>
                <a:cs typeface="Times New Roman" panose="02020603050405020304" pitchFamily="18" charset="0"/>
              </a:rPr>
              <a:t>The length</a:t>
            </a:r>
            <a:r>
              <a:rPr>
                <a:latin typeface="Times New Roman" panose="02020603050405020304" pitchFamily="18" charset="0"/>
                <a:cs typeface="Times New Roman" panose="02020603050405020304" pitchFamily="18" charset="0"/>
              </a:rPr>
              <a:t> </a:t>
            </a:r>
            <a:endParaRPr>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sym typeface="+mn-ea"/>
              </a:rPr>
              <a:t>News stories: </a:t>
            </a:r>
            <a:r>
              <a:rPr>
                <a:latin typeface="Times New Roman" panose="02020603050405020304" pitchFamily="18" charset="0"/>
                <a:cs typeface="Times New Roman" panose="02020603050405020304" pitchFamily="18" charset="0"/>
              </a:rPr>
              <a:t>shorter</a:t>
            </a:r>
            <a:r>
              <a:rPr lang="en-US">
                <a:latin typeface="Times New Roman" panose="02020603050405020304" pitchFamily="18" charset="0"/>
                <a:cs typeface="Times New Roman" panose="02020603050405020304" pitchFamily="18" charset="0"/>
              </a:rPr>
              <a:t>, </a:t>
            </a:r>
            <a:r>
              <a:rPr>
                <a:latin typeface="Times New Roman" panose="02020603050405020304" pitchFamily="18" charset="0"/>
                <a:cs typeface="Times New Roman" panose="02020603050405020304" pitchFamily="18" charset="0"/>
              </a:rPr>
              <a:t>can vary from just a couple of sentences to about 600 words</a:t>
            </a:r>
            <a:endParaRPr>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sym typeface="+mn-ea"/>
              </a:rPr>
              <a:t>Feature stories:</a:t>
            </a:r>
            <a:r>
              <a:rPr>
                <a:latin typeface="Times New Roman" panose="02020603050405020304" pitchFamily="18" charset="0"/>
                <a:cs typeface="Times New Roman" panose="02020603050405020304" pitchFamily="18" charset="0"/>
              </a:rPr>
              <a:t> longer than 2000 words – especially in magazines.</a:t>
            </a:r>
            <a:endParaRPr>
              <a:latin typeface="Times New Roman" panose="02020603050405020304" pitchFamily="18" charset="0"/>
              <a:cs typeface="Times New Roman" panose="02020603050405020304" pitchFamily="18" charset="0"/>
            </a:endParaRPr>
          </a:p>
          <a:p>
            <a:pPr marL="0" indent="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rPr>
              <a:t>4. </a:t>
            </a:r>
            <a:r>
              <a:rPr b="1">
                <a:latin typeface="Times New Roman" panose="02020603050405020304" pitchFamily="18" charset="0"/>
                <a:cs typeface="Times New Roman" panose="02020603050405020304" pitchFamily="18" charset="0"/>
              </a:rPr>
              <a:t>The lead </a:t>
            </a:r>
            <a:r>
              <a:rPr>
                <a:latin typeface="Times New Roman" panose="02020603050405020304" pitchFamily="18" charset="0"/>
                <a:cs typeface="Times New Roman" panose="02020603050405020304" pitchFamily="18" charset="0"/>
              </a:rPr>
              <a:t> </a:t>
            </a:r>
            <a:endParaRPr>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sym typeface="+mn-ea"/>
              </a:rPr>
              <a:t>News stories:</a:t>
            </a:r>
            <a:r>
              <a:rPr>
                <a:latin typeface="Times New Roman" panose="02020603050405020304" pitchFamily="18" charset="0"/>
                <a:cs typeface="Times New Roman" panose="02020603050405020304" pitchFamily="18" charset="0"/>
              </a:rPr>
              <a:t> tell what the news is about and tell all the most important details about the news.</a:t>
            </a:r>
            <a:endParaRPr>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sym typeface="+mn-ea"/>
              </a:rPr>
              <a:t>Feature stories:</a:t>
            </a:r>
            <a:r>
              <a:rPr>
                <a:latin typeface="Times New Roman" panose="02020603050405020304" pitchFamily="18" charset="0"/>
                <a:cs typeface="Times New Roman" panose="02020603050405020304" pitchFamily="18" charset="0"/>
                <a:sym typeface="+mn-ea"/>
              </a:rPr>
              <a:t> does not give the news</a:t>
            </a:r>
            <a:r>
              <a:rPr lang="en-US">
                <a:latin typeface="Times New Roman" panose="02020603050405020304" pitchFamily="18" charset="0"/>
                <a:cs typeface="Times New Roman" panose="02020603050405020304" pitchFamily="18" charset="0"/>
                <a:sym typeface="+mn-ea"/>
              </a:rPr>
              <a:t>,</a:t>
            </a:r>
            <a:r>
              <a:rPr>
                <a:latin typeface="Times New Roman" panose="02020603050405020304" pitchFamily="18" charset="0"/>
                <a:cs typeface="Times New Roman" panose="02020603050405020304" pitchFamily="18" charset="0"/>
                <a:sym typeface="+mn-ea"/>
              </a:rPr>
              <a:t> instead it gets the reader interested in reading the rest of the story. </a:t>
            </a:r>
            <a:endParaRPr>
              <a:latin typeface="Times New Roman" panose="02020603050405020304" pitchFamily="18" charset="0"/>
              <a:cs typeface="Times New Roman" panose="02020603050405020304" pitchFamily="18" charset="0"/>
            </a:endParaRPr>
          </a:p>
          <a:p>
            <a:pPr marL="0" indent="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rPr>
              <a:t>5. </a:t>
            </a:r>
            <a:r>
              <a:rPr b="1">
                <a:latin typeface="Times New Roman" panose="02020603050405020304" pitchFamily="18" charset="0"/>
                <a:cs typeface="Times New Roman" panose="02020603050405020304" pitchFamily="18" charset="0"/>
              </a:rPr>
              <a:t>The ending </a:t>
            </a:r>
            <a:endParaRPr b="1">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sym typeface="+mn-ea"/>
              </a:rPr>
              <a:t>News stories:</a:t>
            </a:r>
            <a:r>
              <a:rPr lang="en-US">
                <a:latin typeface="Times New Roman" panose="02020603050405020304" pitchFamily="18" charset="0"/>
                <a:cs typeface="Times New Roman" panose="02020603050405020304" pitchFamily="18" charset="0"/>
              </a:rPr>
              <a:t> </a:t>
            </a:r>
            <a:r>
              <a:rPr>
                <a:latin typeface="Times New Roman" panose="02020603050405020304" pitchFamily="18" charset="0"/>
                <a:cs typeface="Times New Roman" panose="02020603050405020304" pitchFamily="18" charset="0"/>
              </a:rPr>
              <a:t>end anywhere after the most important things have been mentioned</a:t>
            </a:r>
            <a:endParaRPr>
              <a:latin typeface="Times New Roman" panose="02020603050405020304" pitchFamily="18" charset="0"/>
              <a:cs typeface="Times New Roman" panose="02020603050405020304" pitchFamily="18" charset="0"/>
            </a:endParaRPr>
          </a:p>
          <a:p>
            <a:pPr marL="0" indent="457200" defTabSz="410845" eaLnBrk="1" fontAlgn="auto" hangingPunct="1">
              <a:lnSpc>
                <a:spcPct val="150000"/>
              </a:lnSpc>
              <a:spcBef>
                <a:spcPts val="500"/>
              </a:spcBef>
              <a:buSzTx/>
              <a:buNone/>
              <a:defRPr sz="4320">
                <a:solidFill>
                  <a:srgbClr val="000000"/>
                </a:solidFill>
                <a:latin typeface="Times Roman"/>
                <a:ea typeface="Times Roman"/>
                <a:cs typeface="Times Roman"/>
                <a:sym typeface="Times Roman"/>
              </a:defRPr>
            </a:pPr>
            <a:r>
              <a:rPr>
                <a:latin typeface="Times New Roman" panose="02020603050405020304" pitchFamily="18" charset="0"/>
                <a:cs typeface="Times New Roman" panose="02020603050405020304" pitchFamily="18" charset="0"/>
                <a:sym typeface="+mn-ea"/>
              </a:rPr>
              <a:t>Feature stories: </a:t>
            </a:r>
            <a:r>
              <a:rPr>
                <a:latin typeface="Times New Roman" panose="02020603050405020304" pitchFamily="18" charset="0"/>
                <a:cs typeface="Times New Roman" panose="02020603050405020304" pitchFamily="18" charset="0"/>
              </a:rPr>
              <a:t>has to be ended in specific manner. Features have to end in such a way that the reader feels satisfied for having kept on reading. The feature ending is more like a reward to the reader.</a:t>
            </a:r>
            <a:endParaRPr>
              <a:latin typeface="Times New Roman" panose="02020603050405020304" pitchFamily="18" charset="0"/>
              <a:cs typeface="Times New Roman" panose="02020603050405020304" pitchFamily="18" charset="0"/>
            </a:endParaRPr>
          </a:p>
          <a:p>
            <a:pPr marL="240030" indent="-240030" defTabSz="410845">
              <a:spcBef>
                <a:spcPts val="0"/>
              </a:spcBef>
              <a:buSzTx/>
              <a:buNone/>
              <a:defRPr sz="1350">
                <a:solidFill>
                  <a:srgbClr val="222222"/>
                </a:solidFill>
                <a:latin typeface="Verdana" panose="020B0604030504040204"/>
                <a:ea typeface="Verdana" panose="020B0604030504040204"/>
                <a:cs typeface="Verdana" panose="020B0604030504040204"/>
                <a:sym typeface="Verdana" panose="020B0604030504040204"/>
              </a:defRPr>
            </a:pPr>
            <a:endParaRPr>
              <a:latin typeface="Times New Roman" panose="02020603050405020304" pitchFamily="18" charset="0"/>
              <a:cs typeface="Times New Roman" panose="02020603050405020304" pitchFamily="18" charset="0"/>
            </a:endParaRPr>
          </a:p>
          <a:p>
            <a:pPr marL="0" indent="0" defTabSz="410845">
              <a:spcBef>
                <a:spcPts val="500"/>
              </a:spcBef>
              <a:buSzTx/>
              <a:buNone/>
              <a:defRPr sz="4320">
                <a:solidFill>
                  <a:srgbClr val="000000"/>
                </a:solidFill>
                <a:latin typeface="Times Roman"/>
                <a:ea typeface="Times Roman"/>
                <a:cs typeface="Times Roman"/>
                <a:sym typeface="Times Roman"/>
              </a:defRPr>
            </a:pPr>
            <a:endParaRPr u="sng">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 calcmode="lin" valueType="num">
                                      <p:cBhvr additive="base">
                                        <p:cTn id="7" dur="500" fill="hold"/>
                                        <p:tgtEl>
                                          <p:spTgt spid="2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
                                            <p:txEl>
                                              <p:pRg st="1" end="1"/>
                                            </p:txEl>
                                          </p:spTgt>
                                        </p:tgtEl>
                                        <p:attrNameLst>
                                          <p:attrName>style.visibility</p:attrName>
                                        </p:attrNameLst>
                                      </p:cBhvr>
                                      <p:to>
                                        <p:strVal val="visible"/>
                                      </p:to>
                                    </p:set>
                                    <p:anim calcmode="lin" valueType="num">
                                      <p:cBhvr additive="base">
                                        <p:cTn id="13" dur="500" fill="hold"/>
                                        <p:tgtEl>
                                          <p:spTgt spid="2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
                                            <p:txEl>
                                              <p:pRg st="2" end="2"/>
                                            </p:txEl>
                                          </p:spTgt>
                                        </p:tgtEl>
                                        <p:attrNameLst>
                                          <p:attrName>style.visibility</p:attrName>
                                        </p:attrNameLst>
                                      </p:cBhvr>
                                      <p:to>
                                        <p:strVal val="visible"/>
                                      </p:to>
                                    </p:set>
                                    <p:anim calcmode="lin" valueType="num">
                                      <p:cBhvr additive="base">
                                        <p:cTn id="19" dur="500" fill="hold"/>
                                        <p:tgtEl>
                                          <p:spTgt spid="2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
                                            <p:txEl>
                                              <p:pRg st="3" end="3"/>
                                            </p:txEl>
                                          </p:spTgt>
                                        </p:tgtEl>
                                        <p:attrNameLst>
                                          <p:attrName>style.visibility</p:attrName>
                                        </p:attrNameLst>
                                      </p:cBhvr>
                                      <p:to>
                                        <p:strVal val="visible"/>
                                      </p:to>
                                    </p:set>
                                    <p:anim calcmode="lin" valueType="num">
                                      <p:cBhvr additive="base">
                                        <p:cTn id="25" dur="500" fill="hold"/>
                                        <p:tgtEl>
                                          <p:spTgt spid="2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
                                            <p:txEl>
                                              <p:pRg st="4" end="4"/>
                                            </p:txEl>
                                          </p:spTgt>
                                        </p:tgtEl>
                                        <p:attrNameLst>
                                          <p:attrName>style.visibility</p:attrName>
                                        </p:attrNameLst>
                                      </p:cBhvr>
                                      <p:to>
                                        <p:strVal val="visible"/>
                                      </p:to>
                                    </p:set>
                                    <p:anim calcmode="lin" valueType="num">
                                      <p:cBhvr additive="base">
                                        <p:cTn id="31" dur="500" fill="hold"/>
                                        <p:tgtEl>
                                          <p:spTgt spid="2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
                                            <p:txEl>
                                              <p:pRg st="5" end="5"/>
                                            </p:txEl>
                                          </p:spTgt>
                                        </p:tgtEl>
                                        <p:attrNameLst>
                                          <p:attrName>style.visibility</p:attrName>
                                        </p:attrNameLst>
                                      </p:cBhvr>
                                      <p:to>
                                        <p:strVal val="visible"/>
                                      </p:to>
                                    </p:set>
                                    <p:anim calcmode="lin" valueType="num">
                                      <p:cBhvr additive="base">
                                        <p:cTn id="37" dur="500" fill="hold"/>
                                        <p:tgtEl>
                                          <p:spTgt spid="2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15">
                                            <p:txEl>
                                              <p:pRg st="6" end="6"/>
                                            </p:txEl>
                                          </p:spTgt>
                                        </p:tgtEl>
                                        <p:attrNameLst>
                                          <p:attrName>style.visibility</p:attrName>
                                        </p:attrNameLst>
                                      </p:cBhvr>
                                      <p:to>
                                        <p:strVal val="visible"/>
                                      </p:to>
                                    </p:set>
                                    <p:anim calcmode="lin" valueType="num">
                                      <p:cBhvr additive="base">
                                        <p:cTn id="43" dur="500" fill="hold"/>
                                        <p:tgtEl>
                                          <p:spTgt spid="21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15">
                                            <p:txEl>
                                              <p:pRg st="7" end="7"/>
                                            </p:txEl>
                                          </p:spTgt>
                                        </p:tgtEl>
                                        <p:attrNameLst>
                                          <p:attrName>style.visibility</p:attrName>
                                        </p:attrNameLst>
                                      </p:cBhvr>
                                      <p:to>
                                        <p:strVal val="visible"/>
                                      </p:to>
                                    </p:set>
                                    <p:anim calcmode="lin" valueType="num">
                                      <p:cBhvr additive="base">
                                        <p:cTn id="49" dur="500" fill="hold"/>
                                        <p:tgtEl>
                                          <p:spTgt spid="21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15">
                                            <p:txEl>
                                              <p:pRg st="8" end="8"/>
                                            </p:txEl>
                                          </p:spTgt>
                                        </p:tgtEl>
                                        <p:attrNameLst>
                                          <p:attrName>style.visibility</p:attrName>
                                        </p:attrNameLst>
                                      </p:cBhvr>
                                      <p:to>
                                        <p:strVal val="visible"/>
                                      </p:to>
                                    </p:set>
                                    <p:anim calcmode="lin" valueType="num">
                                      <p:cBhvr additive="base">
                                        <p:cTn id="55" dur="500" fill="hold"/>
                                        <p:tgtEl>
                                          <p:spTgt spid="21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15">
                                            <p:txEl>
                                              <p:pRg st="9" end="9"/>
                                            </p:txEl>
                                          </p:spTgt>
                                        </p:tgtEl>
                                        <p:attrNameLst>
                                          <p:attrName>style.visibility</p:attrName>
                                        </p:attrNameLst>
                                      </p:cBhvr>
                                      <p:to>
                                        <p:strVal val="visible"/>
                                      </p:to>
                                    </p:set>
                                    <p:anim calcmode="lin" valueType="num">
                                      <p:cBhvr additive="base">
                                        <p:cTn id="61" dur="500" fill="hold"/>
                                        <p:tgtEl>
                                          <p:spTgt spid="21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1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5">
                                            <p:txEl>
                                              <p:pRg st="10" end="10"/>
                                            </p:txEl>
                                          </p:spTgt>
                                        </p:tgtEl>
                                        <p:attrNameLst>
                                          <p:attrName>style.visibility</p:attrName>
                                        </p:attrNameLst>
                                      </p:cBhvr>
                                      <p:to>
                                        <p:strVal val="visible"/>
                                      </p:to>
                                    </p:set>
                                    <p:anim calcmode="lin" valueType="num">
                                      <p:cBhvr additive="base">
                                        <p:cTn id="67" dur="500" fill="hold"/>
                                        <p:tgtEl>
                                          <p:spTgt spid="21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15">
                                            <p:txEl>
                                              <p:pRg st="11" end="11"/>
                                            </p:txEl>
                                          </p:spTgt>
                                        </p:tgtEl>
                                        <p:attrNameLst>
                                          <p:attrName>style.visibility</p:attrName>
                                        </p:attrNameLst>
                                      </p:cBhvr>
                                      <p:to>
                                        <p:strVal val="visible"/>
                                      </p:to>
                                    </p:set>
                                    <p:anim calcmode="lin" valueType="num">
                                      <p:cBhvr additive="base">
                                        <p:cTn id="73" dur="500" fill="hold"/>
                                        <p:tgtEl>
                                          <p:spTgt spid="21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1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15">
                                            <p:txEl>
                                              <p:pRg st="12" end="12"/>
                                            </p:txEl>
                                          </p:spTgt>
                                        </p:tgtEl>
                                        <p:attrNameLst>
                                          <p:attrName>style.visibility</p:attrName>
                                        </p:attrNameLst>
                                      </p:cBhvr>
                                      <p:to>
                                        <p:strVal val="visible"/>
                                      </p:to>
                                    </p:set>
                                    <p:anim calcmode="lin" valueType="num">
                                      <p:cBhvr additive="base">
                                        <p:cTn id="79" dur="500" fill="hold"/>
                                        <p:tgtEl>
                                          <p:spTgt spid="21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1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Structure of a Feature </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835025" y="1067435"/>
            <a:ext cx="10964545" cy="5485130"/>
          </a:xfrm>
          <a:prstGeom prst="rect">
            <a:avLst/>
          </a:prstGeom>
        </p:spPr>
        <p:txBody>
          <a:bodyPr>
            <a:normAutofit lnSpcReduction="10000"/>
          </a:bodyPr>
          <a:lstStyle/>
          <a:p>
            <a:pPr marL="0" indent="0" defTabSz="424815" eaLnBrk="1" fontAlgn="auto" hangingPunct="1">
              <a:lnSpc>
                <a:spcPct val="200000"/>
              </a:lnSpc>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1.Intro or Lead </a:t>
            </a:r>
            <a:endParaRPr sz="3300" b="1">
              <a:latin typeface="Times New Roman" panose="02020603050405020304"/>
              <a:ea typeface="Times New Roman" panose="02020603050405020304"/>
              <a:cs typeface="Times New Roman" panose="02020603050405020304"/>
            </a:endParaRPr>
          </a:p>
          <a:p>
            <a:pPr marL="0" indent="0" defTabSz="424815" eaLnBrk="1" fontAlgn="auto" hangingPunct="1">
              <a:lnSpc>
                <a:spcPct val="200000"/>
              </a:lnSpc>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2.Transition</a:t>
            </a:r>
            <a:endParaRPr sz="3300">
              <a:latin typeface="Times New Roman" panose="02020603050405020304"/>
              <a:ea typeface="Times New Roman" panose="02020603050405020304"/>
              <a:cs typeface="Times New Roman" panose="02020603050405020304"/>
            </a:endParaRPr>
          </a:p>
          <a:p>
            <a:pPr marL="0" indent="0" defTabSz="424815" eaLnBrk="1" fontAlgn="auto" hangingPunct="1">
              <a:lnSpc>
                <a:spcPct val="200000"/>
              </a:lnSpc>
              <a:spcBef>
                <a:spcPts val="0"/>
              </a:spcBef>
              <a:buSzTx/>
              <a:buNone/>
              <a:defRPr sz="4370" b="1">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3. Body</a:t>
            </a:r>
            <a:endParaRPr sz="3300">
              <a:sym typeface="Times Roman"/>
            </a:endParaRPr>
          </a:p>
          <a:p>
            <a:pPr marL="0" indent="0" defTabSz="424815" eaLnBrk="1" fontAlgn="auto" hangingPunct="1">
              <a:lnSpc>
                <a:spcPct val="200000"/>
              </a:lnSpc>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b="1">
                <a:sym typeface="Times Roman"/>
              </a:rPr>
              <a:t>4. Conclusion</a:t>
            </a:r>
            <a:endParaRPr sz="3300" b="1">
              <a:sym typeface="Times Roman"/>
            </a:endParaRPr>
          </a:p>
          <a:p>
            <a:pPr marL="0" indent="0" defTabSz="424815" eaLnBrk="1" fontAlgn="auto" hangingPunct="1">
              <a:lnSpc>
                <a:spcPct val="200000"/>
              </a:lnSpc>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b="1">
                <a:sym typeface="Times Roman"/>
              </a:rPr>
              <a:t>5. Length</a:t>
            </a:r>
            <a:endParaRPr sz="3300" b="1">
              <a:sym typeface="Times Roman"/>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a:bodyPr>
          <a:lstStyle>
            <a:lvl1pPr defTabSz="577850">
              <a:defRPr sz="7560">
                <a:effectLst>
                  <a:outerShdw blurRad="44450" dist="8890" dir="5400000" rotWithShape="0">
                    <a:srgbClr val="000000">
                      <a:alpha val="30000"/>
                    </a:srgbClr>
                  </a:outerShdw>
                </a:effectLst>
              </a:defRPr>
            </a:lvl1pPr>
          </a:lstStyle>
          <a:p>
            <a:r>
              <a:rPr lang="en-US" sz="2665" b="1"/>
              <a:t>Structure of a Feature - Intro or Lead</a:t>
            </a:r>
            <a:endParaRPr lang="en-US" sz="2665" b="1"/>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835025" y="1067435"/>
            <a:ext cx="10964545" cy="5485130"/>
          </a:xfrm>
          <a:prstGeom prst="rect">
            <a:avLst/>
          </a:prstGeom>
        </p:spPr>
        <p:txBody>
          <a:bodyPr>
            <a:normAutofit lnSpcReduction="1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1.Intro or Lead </a:t>
            </a:r>
            <a:endParaRPr sz="3300" b="1">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The lead must attract immediate attention and pull the reader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into the story.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Leads can vary in style and content. You can use description, narration, dialogue, question, unusual statement, call to action, comparison-contrast. </a:t>
            </a:r>
            <a:endParaRPr sz="3300">
              <a:latin typeface="Times New Roman" panose="02020603050405020304"/>
              <a:ea typeface="Times New Roman" panose="02020603050405020304"/>
              <a:cs typeface="Times New Roman" panose="02020603050405020304"/>
            </a:endParaRPr>
          </a:p>
          <a:p>
            <a:pPr marL="0" indent="0" defTabSz="424815">
              <a:spcBef>
                <a:spcPts val="600"/>
              </a:spcBef>
              <a:buSzTx/>
              <a:buNone/>
              <a:defRPr sz="4465">
                <a:solidFill>
                  <a:srgbClr val="000000"/>
                </a:solidFill>
                <a:latin typeface="Times Roman"/>
                <a:ea typeface="Times Roman"/>
                <a:cs typeface="Times Roman"/>
                <a:sym typeface="Times Roman"/>
              </a:defRPr>
            </a:pP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a:bodyPr>
          <a:lstStyle>
            <a:lvl1pPr defTabSz="577850">
              <a:defRPr sz="7560">
                <a:effectLst>
                  <a:outerShdw blurRad="44450" dist="8890" dir="5400000" rotWithShape="0">
                    <a:srgbClr val="000000">
                      <a:alpha val="30000"/>
                    </a:srgbClr>
                  </a:outerShdw>
                </a:effectLst>
              </a:defRPr>
            </a:lvl1pPr>
          </a:lstStyle>
          <a:p>
            <a:r>
              <a:rPr sz="2665" b="1"/>
              <a:t>Structure of a Feature </a:t>
            </a:r>
            <a:r>
              <a:rPr lang="en-US" sz="2665" b="1"/>
              <a:t>- Transtion</a:t>
            </a:r>
            <a:r>
              <a:rPr sz="2665" b="1"/>
              <a:t> </a:t>
            </a:r>
            <a:endParaRPr sz="2665" b="1"/>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418783" y="1051560"/>
            <a:ext cx="11380788" cy="5501005"/>
          </a:xfrm>
          <a:prstGeom prst="rect">
            <a:avLst/>
          </a:prstGeom>
        </p:spPr>
        <p:txBody>
          <a:bodyPr>
            <a:normAutofit fontScale="7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2.Transition</a:t>
            </a:r>
            <a:endParaRPr sz="3300" b="1">
              <a:latin typeface="Times New Roman" panose="02020603050405020304"/>
              <a:ea typeface="Times New Roman" panose="02020603050405020304"/>
              <a:cs typeface="Times New Roman" panose="02020603050405020304"/>
            </a:endParaRPr>
          </a:p>
          <a:p>
            <a:pPr marL="0" indent="0" algn="just"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No matter how good the lead is, you need a solid transition into </a:t>
            </a:r>
            <a:endParaRPr sz="3300">
              <a:latin typeface="Times New Roman" panose="02020603050405020304"/>
              <a:ea typeface="Times New Roman" panose="02020603050405020304"/>
              <a:cs typeface="Times New Roman" panose="02020603050405020304"/>
            </a:endParaRPr>
          </a:p>
          <a:p>
            <a:pPr marL="0" indent="0" algn="just"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the body of the feature. If you think of the lead as a lure to attract the audience, then the transition sets the hook. </a:t>
            </a:r>
            <a:endParaRPr sz="3300">
              <a:latin typeface="Times New Roman" panose="02020603050405020304"/>
              <a:ea typeface="Times New Roman" panose="02020603050405020304"/>
              <a:cs typeface="Times New Roman" panose="02020603050405020304"/>
            </a:endParaRPr>
          </a:p>
          <a:p>
            <a:pPr marL="0" indent="0" algn="just" defTabSz="424815">
              <a:spcBef>
                <a:spcPts val="600"/>
              </a:spcBef>
              <a:buSzTx/>
              <a:buNone/>
              <a:defRPr sz="4465">
                <a:solidFill>
                  <a:srgbClr val="000000"/>
                </a:solidFill>
                <a:latin typeface="Times Roman"/>
                <a:ea typeface="Times Roman"/>
                <a:cs typeface="Times Roman"/>
                <a:sym typeface="Times Roman"/>
              </a:defRPr>
            </a:pPr>
            <a:endParaRPr sz="3300">
              <a:latin typeface="Times New Roman" panose="02020603050405020304"/>
              <a:ea typeface="Times New Roman" panose="02020603050405020304"/>
              <a:cs typeface="Times New Roman" panose="02020603050405020304"/>
            </a:endParaRPr>
          </a:p>
          <a:p>
            <a:pPr marL="0" indent="0" algn="just"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It makes the reader want to continue.  And it promises some kind of satisfaction </a:t>
            </a:r>
            <a:r>
              <a:rPr lang="en-US" sz="3300">
                <a:latin typeface="Times New Roman" panose="02020603050405020304"/>
                <a:ea typeface="Times New Roman" panose="02020603050405020304"/>
                <a:cs typeface="Times New Roman" panose="02020603050405020304"/>
              </a:rPr>
              <a:t>o</a:t>
            </a:r>
            <a:r>
              <a:rPr sz="3300">
                <a:latin typeface="Times New Roman" panose="02020603050405020304"/>
                <a:ea typeface="Times New Roman" panose="02020603050405020304"/>
                <a:cs typeface="Times New Roman" panose="02020603050405020304"/>
              </a:rPr>
              <a:t>r reward. The reward can be entertainment, information or self-awareness but has to be something of value to the reader.</a:t>
            </a:r>
            <a:endParaRPr sz="2185">
              <a:latin typeface="Times New Roman" panose="02020603050405020304"/>
              <a:ea typeface="Times New Roman" panose="02020603050405020304"/>
              <a:cs typeface="Times New Roman" panose="02020603050405020304"/>
            </a:endParaRPr>
          </a:p>
          <a:p>
            <a:pPr marL="0" indent="0" defTabSz="424815">
              <a:spcBef>
                <a:spcPts val="0"/>
              </a:spcBef>
              <a:buSzTx/>
              <a:buNone/>
              <a:defRPr sz="4370" b="1">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p:nvPr>
            <p:ph type="title"/>
          </p:nvPr>
        </p:nvSpPr>
        <p:spPr>
          <a:xfrm>
            <a:off x="736600" y="0"/>
            <a:ext cx="10718800" cy="1162941"/>
          </a:xfrm>
          <a:prstGeom prst="rect">
            <a:avLst/>
          </a:prstGeom>
        </p:spPr>
        <p:txBody>
          <a:bodyPr>
            <a:normAutofit/>
          </a:bodyPr>
          <a:lstStyle>
            <a:lvl1pPr defTabSz="577850">
              <a:defRPr sz="7560">
                <a:effectLst>
                  <a:outerShdw blurRad="44450" dist="8890" dir="5400000" rotWithShape="0">
                    <a:srgbClr val="000000">
                      <a:alpha val="30000"/>
                    </a:srgbClr>
                  </a:outerShdw>
                </a:effectLst>
              </a:defRPr>
            </a:lvl1pPr>
          </a:lstStyle>
          <a:p>
            <a:r>
              <a:rPr sz="2665" b="1"/>
              <a:t>Structure of a Feature </a:t>
            </a:r>
            <a:r>
              <a:rPr lang="en-US" sz="2665" b="1"/>
              <a:t>- Body</a:t>
            </a:r>
            <a:endParaRPr lang="en-US" sz="2665" b="1"/>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835025" y="1067435"/>
            <a:ext cx="10964545" cy="5485130"/>
          </a:xfrm>
          <a:prstGeom prst="rect">
            <a:avLst/>
          </a:prstGeom>
        </p:spPr>
        <p:txBody>
          <a:bodyPr>
            <a:normAutofit fontScale="9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pitchFamily="18" charset="0"/>
                <a:cs typeface="Times New Roman" panose="02020603050405020304" pitchFamily="18" charset="0"/>
              </a:rPr>
              <a:t>3. Body</a:t>
            </a:r>
            <a:endParaRPr sz="3300" b="1">
              <a:latin typeface="Times New Roman" panose="02020603050405020304" pitchFamily="18" charset="0"/>
              <a:cs typeface="Times New Roman" panose="02020603050405020304" pitchFamily="18" charset="0"/>
            </a:endParaRPr>
          </a:p>
          <a:p>
            <a:pPr marL="0" indent="0" defTabSz="424815">
              <a:spcBef>
                <a:spcPts val="600"/>
              </a:spcBef>
              <a:buSzTx/>
              <a:buNone/>
              <a:defRPr sz="4465">
                <a:solidFill>
                  <a:srgbClr val="000000"/>
                </a:solidFill>
                <a:latin typeface="Times Roman"/>
                <a:ea typeface="Times Roman"/>
                <a:cs typeface="Times Roman"/>
                <a:sym typeface="Times Roman"/>
              </a:defRPr>
            </a:pPr>
            <a:endParaRPr sz="3300" b="0">
              <a:latin typeface="Times Roman"/>
              <a:ea typeface="Times Roman"/>
              <a:cs typeface="Times Roman"/>
              <a:sym typeface="Times Roman"/>
            </a:endParaRPr>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Sound knowledge of the subject, coupled with good writing </a:t>
            </a:r>
            <a:endParaRPr sz="3300"/>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skills, will let you take the reader through a variety of experiences. You should use the standard writing devices of crisp dialogue, documental but vivid fact and detail, </a:t>
            </a:r>
            <a:endParaRPr sz="3300"/>
          </a:p>
          <a:p>
            <a:pPr marL="0" indent="0" defTabSz="424815">
              <a:spcBef>
                <a:spcPts val="0"/>
              </a:spcBef>
              <a:buSzTx/>
              <a:buNone/>
              <a:defRPr sz="437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rPr sz="3300"/>
              <a:t>careful observation, suspense and if appropriate, plot.</a:t>
            </a: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endParaRPr>
              <a:latin typeface="Times Roman"/>
              <a:ea typeface="Times Roman"/>
              <a:cs typeface="Times Roman"/>
              <a:sym typeface="Times Roman"/>
            </a:endParaRP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Structure of a Feature"/>
          <p:cNvSpPr txBox="1"/>
          <p:nvPr>
            <p:ph type="title"/>
          </p:nvPr>
        </p:nvSpPr>
        <p:spPr>
          <a:xfrm>
            <a:off x="736600" y="38264"/>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Body</a:t>
            </a:r>
            <a:endParaRPr lang="en-US"/>
          </a:p>
        </p:txBody>
      </p:sp>
      <p:sp>
        <p:nvSpPr>
          <p:cNvPr id="221" name="3.1 Body is the major area…"/>
          <p:cNvSpPr txBox="1"/>
          <p:nvPr>
            <p:ph type="body" idx="1"/>
          </p:nvPr>
        </p:nvSpPr>
        <p:spPr>
          <a:xfrm>
            <a:off x="297180" y="898843"/>
            <a:ext cx="11641455" cy="5665470"/>
          </a:xfrm>
          <a:prstGeom prst="rect">
            <a:avLst/>
          </a:prstGeom>
        </p:spPr>
        <p:txBody>
          <a:bodyPr>
            <a:noAutofit/>
          </a:bodyPr>
          <a:lstStyle/>
          <a:p>
            <a:pPr marL="0" indent="0" defTabSz="319405">
              <a:spcBef>
                <a:spcPts val="400"/>
              </a:spcBef>
              <a:buSzTx/>
              <a:buNone/>
              <a:defRPr sz="3360" b="1">
                <a:solidFill>
                  <a:srgbClr val="000000"/>
                </a:solidFill>
                <a:latin typeface="Times Roman"/>
                <a:ea typeface="Times Roman"/>
                <a:cs typeface="Times Roman"/>
                <a:sym typeface="Times Roman"/>
              </a:defRPr>
            </a:pPr>
            <a:r>
              <a:rPr sz="1800">
                <a:latin typeface="Times New Roman" panose="02020603050405020304" pitchFamily="18" charset="0"/>
                <a:cs typeface="Times New Roman" panose="02020603050405020304" pitchFamily="18" charset="0"/>
              </a:rPr>
              <a:t>3.1 Body is the major area </a:t>
            </a:r>
            <a:endParaRPr sz="1800">
              <a:latin typeface="Times New Roman" panose="02020603050405020304" pitchFamily="18" charset="0"/>
              <a:cs typeface="Times New Roman" panose="02020603050405020304" pitchFamily="18" charset="0"/>
            </a:endParaRPr>
          </a:p>
          <a:p>
            <a:pPr marL="0" indent="0" algn="just" defTabSz="319405">
              <a:spcBef>
                <a:spcPts val="400"/>
              </a:spcBef>
              <a:buSzTx/>
              <a:buNone/>
              <a:defRPr sz="3360">
                <a:solidFill>
                  <a:srgbClr val="000000"/>
                </a:solidFill>
                <a:latin typeface="Times Roman"/>
                <a:ea typeface="Times Roman"/>
                <a:cs typeface="Times Roman"/>
                <a:sym typeface="Times Roman"/>
              </a:defRPr>
            </a:pPr>
            <a:r>
              <a:rPr lang="en-US" altLang="zh-CN" sz="1800" b="1">
                <a:latin typeface="Times New Roman" panose="02020603050405020304" pitchFamily="18" charset="0"/>
                <a:cs typeface="Times New Roman" panose="02020603050405020304" pitchFamily="18" charset="0"/>
              </a:rPr>
              <a:t>When writing the body of a feature — which may include many short pieces — keep the following points in mind.</a:t>
            </a:r>
            <a:endParaRPr lang="en-US" altLang="zh-CN" sz="1800" b="1">
              <a:latin typeface="Times New Roman" panose="02020603050405020304" pitchFamily="18" charset="0"/>
              <a:cs typeface="Times New Roman" panose="02020603050405020304" pitchFamily="18" charset="0"/>
            </a:endParaRPr>
          </a:p>
          <a:p>
            <a:pPr marL="0" indent="0" algn="just" defTabSz="319405">
              <a:spcBef>
                <a:spcPts val="400"/>
              </a:spcBef>
              <a:buSzTx/>
              <a:buNone/>
              <a:defRPr sz="3360">
                <a:solidFill>
                  <a:srgbClr val="000000"/>
                </a:solidFill>
                <a:latin typeface="Times Roman"/>
                <a:ea typeface="Times Roman"/>
                <a:cs typeface="Times Roman"/>
                <a:sym typeface="Times Roman"/>
              </a:defRPr>
            </a:pPr>
            <a:r>
              <a:rPr sz="1800" b="1">
                <a:latin typeface="Times New Roman" panose="02020603050405020304" pitchFamily="18" charset="0"/>
                <a:cs typeface="Times New Roman" panose="02020603050405020304" pitchFamily="18" charset="0"/>
              </a:rPr>
              <a:t>3.2 Never fill it, important part</a:t>
            </a:r>
            <a:endParaRPr sz="1800" b="1">
              <a:latin typeface="Times New Roman" panose="02020603050405020304" pitchFamily="18" charset="0"/>
              <a:cs typeface="Times New Roman" panose="02020603050405020304" pitchFamily="18" charset="0"/>
            </a:endParaRPr>
          </a:p>
          <a:p>
            <a:pPr marL="0" indent="0" algn="just" defTabSz="319405">
              <a:spcBef>
                <a:spcPts val="400"/>
              </a:spcBef>
              <a:buSzTx/>
              <a:buNone/>
              <a:defRPr sz="3360">
                <a:solidFill>
                  <a:srgbClr val="000000"/>
                </a:solidFill>
                <a:latin typeface="Times Roman"/>
                <a:ea typeface="Times Roman"/>
                <a:cs typeface="Times Roman"/>
                <a:sym typeface="Times Roman"/>
              </a:defRPr>
            </a:pPr>
            <a:r>
              <a:rPr lang="en-US" sz="1800">
                <a:latin typeface="Times New Roman" panose="02020603050405020304" pitchFamily="18" charset="0"/>
                <a:cs typeface="Times New Roman" panose="02020603050405020304" pitchFamily="18" charset="0"/>
              </a:rPr>
              <a:t>T</a:t>
            </a:r>
            <a:r>
              <a:rPr sz="1800">
                <a:latin typeface="Times New Roman" panose="02020603050405020304" pitchFamily="18" charset="0"/>
                <a:cs typeface="Times New Roman" panose="02020603050405020304" pitchFamily="18" charset="0"/>
              </a:rPr>
              <a:t>he newspaper reading is a willing one, and if the reader feels that he is being bored or over-burdened, he might leave it even in the middle of the feature. So every word and concept must be rightly written and rightly placed. </a:t>
            </a:r>
            <a:endParaRPr sz="1800">
              <a:latin typeface="Times New Roman" panose="02020603050405020304" pitchFamily="18" charset="0"/>
              <a:cs typeface="Times New Roman" panose="02020603050405020304" pitchFamily="18" charset="0"/>
            </a:endParaRPr>
          </a:p>
          <a:p>
            <a:pPr marL="0" indent="0" defTabSz="319405">
              <a:spcBef>
                <a:spcPts val="400"/>
              </a:spcBef>
              <a:buSzTx/>
              <a:buNone/>
              <a:defRPr sz="3360" b="1">
                <a:solidFill>
                  <a:srgbClr val="000000"/>
                </a:solidFill>
                <a:latin typeface="Times Roman"/>
                <a:ea typeface="Times Roman"/>
                <a:cs typeface="Times Roman"/>
                <a:sym typeface="Times Roman"/>
              </a:defRPr>
            </a:pPr>
            <a:r>
              <a:rPr sz="1800">
                <a:latin typeface="Times New Roman" panose="02020603050405020304" pitchFamily="18" charset="0"/>
                <a:cs typeface="Times New Roman" panose="02020603050405020304" pitchFamily="18" charset="0"/>
              </a:rPr>
              <a:t>3.3 </a:t>
            </a:r>
            <a:r>
              <a:rPr lang="en-US" sz="1800">
                <a:latin typeface="Times New Roman" panose="02020603050405020304" pitchFamily="18" charset="0"/>
                <a:cs typeface="Times New Roman" panose="02020603050405020304" pitchFamily="18" charset="0"/>
              </a:rPr>
              <a:t>W</a:t>
            </a:r>
            <a:r>
              <a:rPr sz="1800">
                <a:latin typeface="Times New Roman" panose="02020603050405020304" pitchFamily="18" charset="0"/>
                <a:cs typeface="Times New Roman" panose="02020603050405020304" pitchFamily="18" charset="0"/>
              </a:rPr>
              <a:t>ell-connected, forceful and coordinated </a:t>
            </a:r>
            <a:endParaRPr sz="1800">
              <a:latin typeface="Times New Roman" panose="02020603050405020304" pitchFamily="18" charset="0"/>
              <a:cs typeface="Times New Roman" panose="02020603050405020304" pitchFamily="18" charset="0"/>
            </a:endParaRPr>
          </a:p>
          <a:p>
            <a:pPr marL="0" indent="0" algn="just" defTabSz="319405">
              <a:spcBef>
                <a:spcPts val="400"/>
              </a:spcBef>
              <a:buSzTx/>
              <a:buNone/>
              <a:defRPr sz="3360">
                <a:solidFill>
                  <a:srgbClr val="000000"/>
                </a:solidFill>
                <a:latin typeface="Times Roman"/>
                <a:ea typeface="Times Roman"/>
                <a:cs typeface="Times Roman"/>
                <a:sym typeface="Times Roman"/>
              </a:defRPr>
            </a:pPr>
            <a:r>
              <a:rPr sz="1800">
                <a:latin typeface="Times New Roman" panose="02020603050405020304" pitchFamily="18" charset="0"/>
                <a:cs typeface="Times New Roman" panose="02020603050405020304" pitchFamily="18" charset="0"/>
              </a:rPr>
              <a:t>All the paragraphs of the main body should be well-connected with each other. Jumping from one idea to another should be well-thought and must be seen whether it is getting its connection to the previous or the following paragraphs. Never take it for granted that the reader is going to form linkages in the thought process. </a:t>
            </a:r>
            <a:endParaRPr sz="1800">
              <a:latin typeface="Times New Roman" panose="02020603050405020304" pitchFamily="18" charset="0"/>
              <a:cs typeface="Times New Roman" panose="02020603050405020304" pitchFamily="18" charset="0"/>
            </a:endParaRPr>
          </a:p>
          <a:p>
            <a:pPr marL="0" indent="0" defTabSz="319405">
              <a:spcBef>
                <a:spcPts val="400"/>
              </a:spcBef>
              <a:buSzTx/>
              <a:buNone/>
              <a:defRPr sz="3360">
                <a:solidFill>
                  <a:srgbClr val="000000"/>
                </a:solidFill>
                <a:latin typeface="Times Roman"/>
                <a:ea typeface="Times Roman"/>
                <a:cs typeface="Times Roman"/>
                <a:sym typeface="Times Roman"/>
              </a:defRPr>
            </a:pPr>
            <a:endParaRPr sz="1800">
              <a:latin typeface="Times New Roman" panose="02020603050405020304" pitchFamily="18" charset="0"/>
              <a:cs typeface="Times New Roman" panose="02020603050405020304" pitchFamily="18" charset="0"/>
            </a:endParaRPr>
          </a:p>
        </p:txBody>
      </p:sp>
    </p:spTree>
  </p:cSld>
  <p:clrMapOvr>
    <a:masterClrMapping/>
  </p:clrMapOvr>
  <p:transition spd="med">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1">
                                            <p:txEl>
                                              <p:pRg st="0" end="0"/>
                                            </p:txEl>
                                          </p:spTgt>
                                        </p:tgtEl>
                                        <p:attrNameLst>
                                          <p:attrName>style.visibility</p:attrName>
                                        </p:attrNameLst>
                                      </p:cBhvr>
                                      <p:to>
                                        <p:strVal val="visible"/>
                                      </p:to>
                                    </p:set>
                                    <p:anim calcmode="lin" valueType="num">
                                      <p:cBhvr additive="base">
                                        <p:cTn id="7" dur="500" fill="hold"/>
                                        <p:tgtEl>
                                          <p:spTgt spid="2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1">
                                            <p:txEl>
                                              <p:pRg st="1" end="1"/>
                                            </p:txEl>
                                          </p:spTgt>
                                        </p:tgtEl>
                                        <p:attrNameLst>
                                          <p:attrName>style.visibility</p:attrName>
                                        </p:attrNameLst>
                                      </p:cBhvr>
                                      <p:to>
                                        <p:strVal val="visible"/>
                                      </p:to>
                                    </p:set>
                                    <p:anim calcmode="lin" valueType="num">
                                      <p:cBhvr additive="base">
                                        <p:cTn id="13" dur="500" fill="hold"/>
                                        <p:tgtEl>
                                          <p:spTgt spid="22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1">
                                            <p:txEl>
                                              <p:pRg st="2" end="2"/>
                                            </p:txEl>
                                          </p:spTgt>
                                        </p:tgtEl>
                                        <p:attrNameLst>
                                          <p:attrName>style.visibility</p:attrName>
                                        </p:attrNameLst>
                                      </p:cBhvr>
                                      <p:to>
                                        <p:strVal val="visible"/>
                                      </p:to>
                                    </p:set>
                                    <p:anim calcmode="lin" valueType="num">
                                      <p:cBhvr additive="base">
                                        <p:cTn id="19" dur="500" fill="hold"/>
                                        <p:tgtEl>
                                          <p:spTgt spid="22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1">
                                            <p:txEl>
                                              <p:pRg st="3" end="3"/>
                                            </p:txEl>
                                          </p:spTgt>
                                        </p:tgtEl>
                                        <p:attrNameLst>
                                          <p:attrName>style.visibility</p:attrName>
                                        </p:attrNameLst>
                                      </p:cBhvr>
                                      <p:to>
                                        <p:strVal val="visible"/>
                                      </p:to>
                                    </p:set>
                                    <p:anim calcmode="lin" valueType="num">
                                      <p:cBhvr additive="base">
                                        <p:cTn id="25" dur="500" fill="hold"/>
                                        <p:tgtEl>
                                          <p:spTgt spid="22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1">
                                            <p:txEl>
                                              <p:pRg st="4" end="4"/>
                                            </p:txEl>
                                          </p:spTgt>
                                        </p:tgtEl>
                                        <p:attrNameLst>
                                          <p:attrName>style.visibility</p:attrName>
                                        </p:attrNameLst>
                                      </p:cBhvr>
                                      <p:to>
                                        <p:strVal val="visible"/>
                                      </p:to>
                                    </p:set>
                                    <p:anim calcmode="lin" valueType="num">
                                      <p:cBhvr additive="base">
                                        <p:cTn id="31" dur="500" fill="hold"/>
                                        <p:tgtEl>
                                          <p:spTgt spid="22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1">
                                            <p:txEl>
                                              <p:pRg st="5" end="5"/>
                                            </p:txEl>
                                          </p:spTgt>
                                        </p:tgtEl>
                                        <p:attrNameLst>
                                          <p:attrName>style.visibility</p:attrName>
                                        </p:attrNameLst>
                                      </p:cBhvr>
                                      <p:to>
                                        <p:strVal val="visible"/>
                                      </p:to>
                                    </p:set>
                                    <p:anim calcmode="lin" valueType="num">
                                      <p:cBhvr additive="base">
                                        <p:cTn id="37" dur="500" fill="hold"/>
                                        <p:tgtEl>
                                          <p:spTgt spid="22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Structure of a Feature"/>
          <p:cNvSpPr txBox="1"/>
          <p:nvPr>
            <p:ph type="title"/>
          </p:nvPr>
        </p:nvSpPr>
        <p:spPr>
          <a:xfrm>
            <a:off x="736600" y="38264"/>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Body</a:t>
            </a:r>
            <a:endParaRPr lang="en-US"/>
          </a:p>
        </p:txBody>
      </p:sp>
      <p:sp>
        <p:nvSpPr>
          <p:cNvPr id="221" name="3.1 Body is the major area…"/>
          <p:cNvSpPr txBox="1"/>
          <p:nvPr>
            <p:ph type="body" idx="1"/>
          </p:nvPr>
        </p:nvSpPr>
        <p:spPr>
          <a:xfrm>
            <a:off x="263208" y="844868"/>
            <a:ext cx="11562080" cy="5915978"/>
          </a:xfrm>
          <a:prstGeom prst="rect">
            <a:avLst/>
          </a:prstGeom>
        </p:spPr>
        <p:txBody>
          <a:bodyPr>
            <a:noAutofit/>
          </a:bodyPr>
          <a:lstStyle/>
          <a:p>
            <a:pPr marL="0" algn="just" defTabSz="319405" eaLnBrk="1" fontAlgn="auto" hangingPunct="1">
              <a:lnSpc>
                <a:spcPct val="150000"/>
              </a:lnSpc>
              <a:spcBef>
                <a:spcPts val="400"/>
              </a:spcBef>
              <a:spcAft>
                <a:spcPts val="1200"/>
              </a:spcAft>
              <a:buSzTx/>
              <a:buNone/>
              <a:defRPr sz="3360">
                <a:solidFill>
                  <a:srgbClr val="000000"/>
                </a:solidFill>
                <a:latin typeface="Times Roman"/>
                <a:ea typeface="Times Roman"/>
                <a:cs typeface="Times Roman"/>
                <a:sym typeface="Times Roman"/>
              </a:defRPr>
            </a:pPr>
            <a:r>
              <a:rPr sz="1800" b="1">
                <a:latin typeface="Times New Roman" panose="02020603050405020304" pitchFamily="18" charset="0"/>
                <a:cs typeface="Times New Roman" panose="02020603050405020304" pitchFamily="18" charset="0"/>
              </a:rPr>
              <a:t>3.4 Avoid unnecessary details </a:t>
            </a:r>
            <a:endParaRPr sz="1800" b="1">
              <a:latin typeface="Times New Roman" panose="02020603050405020304" pitchFamily="18" charset="0"/>
              <a:cs typeface="Times New Roman" panose="02020603050405020304" pitchFamily="18" charset="0"/>
            </a:endParaRPr>
          </a:p>
          <a:p>
            <a:pPr marL="0" algn="just" defTabSz="319405" eaLnBrk="1" fontAlgn="auto" hangingPunct="1">
              <a:lnSpc>
                <a:spcPct val="150000"/>
              </a:lnSpc>
              <a:spcBef>
                <a:spcPts val="400"/>
              </a:spcBef>
              <a:spcAft>
                <a:spcPts val="1200"/>
              </a:spcAft>
              <a:buSzTx/>
              <a:buNone/>
              <a:defRPr sz="3360">
                <a:solidFill>
                  <a:srgbClr val="000000"/>
                </a:solidFill>
                <a:latin typeface="Times Roman"/>
                <a:ea typeface="Times Roman"/>
                <a:cs typeface="Times Roman"/>
                <a:sym typeface="Times Roman"/>
              </a:defRPr>
            </a:pPr>
            <a:r>
              <a:rPr lang="en-US" sz="1800">
                <a:latin typeface="Times New Roman" panose="02020603050405020304" pitchFamily="18" charset="0"/>
                <a:cs typeface="Times New Roman" panose="02020603050405020304" pitchFamily="18" charset="0"/>
              </a:rPr>
              <a:t>O</a:t>
            </a:r>
            <a:r>
              <a:rPr sz="1800">
                <a:latin typeface="Times New Roman" panose="02020603050405020304" pitchFamily="18" charset="0"/>
                <a:cs typeface="Times New Roman" panose="02020603050405020304" pitchFamily="18" charset="0"/>
              </a:rPr>
              <a:t>nly relevant details. Concentrating in the same manner like the way the Intro or the Lead is written, the reader will remain absorbed in the story.</a:t>
            </a:r>
            <a:endParaRPr sz="1800">
              <a:latin typeface="Times New Roman" panose="02020603050405020304" pitchFamily="18" charset="0"/>
              <a:cs typeface="Times New Roman" panose="02020603050405020304" pitchFamily="18" charset="0"/>
            </a:endParaRPr>
          </a:p>
          <a:p>
            <a:pPr marL="0" algn="just" defTabSz="319405" eaLnBrk="1" fontAlgn="auto" hangingPunct="1">
              <a:lnSpc>
                <a:spcPct val="150000"/>
              </a:lnSpc>
              <a:spcBef>
                <a:spcPts val="400"/>
              </a:spcBef>
              <a:spcAft>
                <a:spcPts val="1200"/>
              </a:spcAft>
              <a:buSzTx/>
              <a:buNone/>
              <a:defRPr sz="3360">
                <a:solidFill>
                  <a:srgbClr val="000000"/>
                </a:solidFill>
                <a:latin typeface="Times Roman"/>
                <a:ea typeface="Times Roman"/>
                <a:cs typeface="Times Roman"/>
                <a:sym typeface="Times Roman"/>
              </a:defRPr>
            </a:pPr>
            <a:r>
              <a:rPr sz="1800" b="1">
                <a:latin typeface="Times New Roman" panose="02020603050405020304" pitchFamily="18" charset="0"/>
                <a:cs typeface="Times New Roman" panose="02020603050405020304" pitchFamily="18" charset="0"/>
                <a:sym typeface="+mn-ea"/>
              </a:rPr>
              <a:t>3.5 But never omit important content if it is required</a:t>
            </a:r>
            <a:endParaRPr sz="1800" b="1">
              <a:latin typeface="Times New Roman" panose="02020603050405020304" pitchFamily="18" charset="0"/>
              <a:cs typeface="Times New Roman" panose="02020603050405020304" pitchFamily="18" charset="0"/>
              <a:sym typeface="+mn-ea"/>
            </a:endParaRPr>
          </a:p>
          <a:p>
            <a:pPr marL="0" algn="just" defTabSz="319405" eaLnBrk="1" fontAlgn="auto" hangingPunct="1">
              <a:lnSpc>
                <a:spcPct val="150000"/>
              </a:lnSpc>
              <a:spcBef>
                <a:spcPts val="400"/>
              </a:spcBef>
              <a:spcAft>
                <a:spcPts val="1200"/>
              </a:spcAft>
              <a:buSzTx/>
              <a:buNone/>
              <a:defRPr sz="3360">
                <a:solidFill>
                  <a:srgbClr val="000000"/>
                </a:solidFill>
                <a:latin typeface="Times Roman"/>
                <a:ea typeface="Times Roman"/>
                <a:cs typeface="Times Roman"/>
                <a:sym typeface="Times Roman"/>
              </a:defRPr>
            </a:pPr>
            <a:r>
              <a:rPr lang="en-US" sz="1800">
                <a:latin typeface="Times New Roman" panose="02020603050405020304" pitchFamily="18" charset="0"/>
                <a:cs typeface="Times New Roman" panose="02020603050405020304" pitchFamily="18" charset="0"/>
                <a:sym typeface="+mn-ea"/>
              </a:rPr>
              <a:t>I</a:t>
            </a:r>
            <a:r>
              <a:rPr sz="1800">
                <a:latin typeface="Times New Roman" panose="02020603050405020304" pitchFamily="18" charset="0"/>
                <a:cs typeface="Times New Roman" panose="02020603050405020304" pitchFamily="18" charset="0"/>
                <a:sym typeface="+mn-ea"/>
              </a:rPr>
              <a:t>mportant</a:t>
            </a:r>
            <a:r>
              <a:rPr lang="en-US" sz="1800">
                <a:latin typeface="Times New Roman" panose="02020603050405020304" pitchFamily="18" charset="0"/>
                <a:cs typeface="Times New Roman" panose="02020603050405020304" pitchFamily="18" charset="0"/>
                <a:sym typeface="+mn-ea"/>
              </a:rPr>
              <a:t> information</a:t>
            </a:r>
            <a:r>
              <a:rPr sz="1800">
                <a:latin typeface="Times New Roman" panose="02020603050405020304" pitchFamily="18" charset="0"/>
                <a:cs typeface="Times New Roman" panose="02020603050405020304" pitchFamily="18" charset="0"/>
                <a:sym typeface="+mn-ea"/>
              </a:rPr>
              <a:t> should</a:t>
            </a:r>
            <a:r>
              <a:rPr lang="en-US" sz="1800">
                <a:latin typeface="Times New Roman" panose="02020603050405020304" pitchFamily="18" charset="0"/>
                <a:cs typeface="Times New Roman" panose="02020603050405020304" pitchFamily="18" charset="0"/>
                <a:sym typeface="+mn-ea"/>
              </a:rPr>
              <a:t> not</a:t>
            </a:r>
            <a:r>
              <a:rPr sz="1800">
                <a:latin typeface="Times New Roman" panose="02020603050405020304" pitchFamily="18" charset="0"/>
                <a:cs typeface="Times New Roman" panose="02020603050405020304" pitchFamily="18" charset="0"/>
                <a:sym typeface="+mn-ea"/>
              </a:rPr>
              <a:t> be missed or</a:t>
            </a:r>
            <a:r>
              <a:rPr lang="en-US" sz="1800">
                <a:latin typeface="Times New Roman" panose="02020603050405020304" pitchFamily="18" charset="0"/>
                <a:cs typeface="Times New Roman" panose="02020603050405020304" pitchFamily="18" charset="0"/>
                <a:sym typeface="+mn-ea"/>
              </a:rPr>
              <a:t> </a:t>
            </a:r>
            <a:r>
              <a:rPr sz="1800">
                <a:latin typeface="Times New Roman" panose="02020603050405020304" pitchFamily="18" charset="0"/>
                <a:cs typeface="Times New Roman" panose="02020603050405020304" pitchFamily="18" charset="0"/>
                <a:sym typeface="+mn-ea"/>
              </a:rPr>
              <a:t>omitted from the feature. Obviously the</a:t>
            </a:r>
            <a:r>
              <a:rPr lang="en-US" sz="1800">
                <a:latin typeface="Times New Roman" panose="02020603050405020304" pitchFamily="18" charset="0"/>
                <a:cs typeface="Times New Roman" panose="02020603050405020304" pitchFamily="18" charset="0"/>
                <a:sym typeface="+mn-ea"/>
              </a:rPr>
              <a:t> </a:t>
            </a:r>
            <a:r>
              <a:rPr sz="1800">
                <a:latin typeface="Times New Roman" panose="02020603050405020304" pitchFamily="18" charset="0"/>
                <a:cs typeface="Times New Roman" panose="02020603050405020304" pitchFamily="18" charset="0"/>
                <a:sym typeface="+mn-ea"/>
              </a:rPr>
              <a:t>responsibility of keeping this intact and observing the rule lies with the writer.</a:t>
            </a:r>
            <a:endParaRPr sz="1800">
              <a:latin typeface="Times New Roman" panose="02020603050405020304" pitchFamily="18" charset="0"/>
              <a:cs typeface="Times New Roman" panose="02020603050405020304" pitchFamily="18" charset="0"/>
              <a:sym typeface="+mn-ea"/>
            </a:endParaRPr>
          </a:p>
          <a:p>
            <a:pPr marL="0" algn="just" defTabSz="319405" eaLnBrk="1" fontAlgn="auto" hangingPunct="1">
              <a:lnSpc>
                <a:spcPct val="150000"/>
              </a:lnSpc>
              <a:spcBef>
                <a:spcPts val="400"/>
              </a:spcBef>
              <a:spcAft>
                <a:spcPts val="1200"/>
              </a:spcAft>
              <a:buSzTx/>
              <a:buNone/>
              <a:defRPr sz="3360">
                <a:solidFill>
                  <a:srgbClr val="000000"/>
                </a:solidFill>
                <a:latin typeface="Times Roman"/>
                <a:ea typeface="Times Roman"/>
                <a:cs typeface="Times Roman"/>
                <a:sym typeface="Times Roman"/>
              </a:defRPr>
            </a:pPr>
            <a:r>
              <a:rPr sz="1800" b="1">
                <a:latin typeface="Times New Roman" panose="02020603050405020304" pitchFamily="18" charset="0"/>
                <a:cs typeface="Times New Roman" panose="02020603050405020304" pitchFamily="18" charset="0"/>
                <a:sym typeface="+mn-ea"/>
              </a:rPr>
              <a:t>3.6 Building towards the climax</a:t>
            </a:r>
            <a:endParaRPr sz="1800" b="1">
              <a:latin typeface="Times New Roman" panose="02020603050405020304" pitchFamily="18" charset="0"/>
              <a:cs typeface="Times New Roman" panose="02020603050405020304" pitchFamily="18" charset="0"/>
            </a:endParaRPr>
          </a:p>
          <a:p>
            <a:pPr marL="0" algn="just" defTabSz="319405" eaLnBrk="1" fontAlgn="auto" hangingPunct="1">
              <a:lnSpc>
                <a:spcPct val="150000"/>
              </a:lnSpc>
              <a:spcBef>
                <a:spcPts val="400"/>
              </a:spcBef>
              <a:spcAft>
                <a:spcPts val="1200"/>
              </a:spcAft>
              <a:buSzTx/>
              <a:buNone/>
              <a:defRPr sz="3360">
                <a:solidFill>
                  <a:srgbClr val="000000"/>
                </a:solidFill>
                <a:latin typeface="Times Roman"/>
                <a:ea typeface="Times Roman"/>
                <a:cs typeface="Times Roman"/>
                <a:sym typeface="Times Roman"/>
              </a:defRPr>
            </a:pPr>
            <a:r>
              <a:rPr sz="1800">
                <a:latin typeface="Times New Roman" panose="02020603050405020304" pitchFamily="18" charset="0"/>
                <a:cs typeface="Times New Roman" panose="02020603050405020304" pitchFamily="18" charset="0"/>
                <a:sym typeface="+mn-ea"/>
              </a:rPr>
              <a:t>Main body should be used as a portion, which is building the feature towards the climax. Hence, it must be planned in this manner that reader is expecting</a:t>
            </a:r>
            <a:r>
              <a:rPr lang="en-US" sz="1800">
                <a:latin typeface="Times New Roman" panose="02020603050405020304" pitchFamily="18" charset="0"/>
                <a:cs typeface="Times New Roman" panose="02020603050405020304" pitchFamily="18" charset="0"/>
                <a:sym typeface="+mn-ea"/>
              </a:rPr>
              <a:t> </a:t>
            </a:r>
            <a:r>
              <a:rPr sz="1800">
                <a:latin typeface="Times New Roman" panose="02020603050405020304" pitchFamily="18" charset="0"/>
                <a:cs typeface="Times New Roman" panose="02020603050405020304" pitchFamily="18" charset="0"/>
                <a:sym typeface="+mn-ea"/>
              </a:rPr>
              <a:t>the climax after the main body.</a:t>
            </a:r>
            <a:endParaRPr sz="1800">
              <a:latin typeface="Times New Roman" panose="02020603050405020304" pitchFamily="18" charset="0"/>
              <a:cs typeface="Times New Roman" panose="02020603050405020304" pitchFamily="18" charset="0"/>
              <a:sym typeface="+mn-ea"/>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tructure of a Feature"/>
          <p:cNvSpPr txBox="1"/>
          <p:nvPr>
            <p:ph type="title"/>
          </p:nvPr>
        </p:nvSpPr>
        <p:spPr>
          <a:xfrm>
            <a:off x="736600" y="38264"/>
            <a:ext cx="10718800" cy="899589"/>
          </a:xfrm>
          <a:prstGeom prst="rect">
            <a:avLst/>
          </a:prstGeom>
        </p:spPr>
        <p:txBody>
          <a:bodyPr>
            <a:normAutofit/>
          </a:bodyPr>
          <a:lstStyle>
            <a:lvl1pPr defTabSz="445770">
              <a:defRPr sz="5830">
                <a:effectLst>
                  <a:outerShdw blurRad="34290" dist="6858" dir="5400000" rotWithShape="0">
                    <a:srgbClr val="000000">
                      <a:alpha val="30000"/>
                    </a:srgbClr>
                  </a:outerShdw>
                </a:effectLst>
              </a:defRPr>
            </a:lvl1pPr>
          </a:lstStyle>
          <a:p>
            <a:r>
              <a:rPr sz="2665" b="1"/>
              <a:t>Structure of a Feature </a:t>
            </a:r>
            <a:r>
              <a:rPr lang="en-US" sz="2665" b="1"/>
              <a:t>- Conclusion</a:t>
            </a:r>
            <a:endParaRPr lang="en-US" sz="2665" b="1"/>
          </a:p>
        </p:txBody>
      </p:sp>
      <p:sp>
        <p:nvSpPr>
          <p:cNvPr id="224" name="3.5 But never omit important if it is required so…"/>
          <p:cNvSpPr txBox="1"/>
          <p:nvPr>
            <p:ph type="body" idx="1"/>
          </p:nvPr>
        </p:nvSpPr>
        <p:spPr>
          <a:xfrm>
            <a:off x="614680" y="701993"/>
            <a:ext cx="11184890" cy="6058853"/>
          </a:xfrm>
          <a:prstGeom prst="rect">
            <a:avLst/>
          </a:prstGeom>
        </p:spPr>
        <p:txBody>
          <a:bodyPr>
            <a:normAutofit fontScale="60000"/>
          </a:bodyPr>
          <a:lstStyle/>
          <a:p>
            <a:pPr marL="0" indent="0" defTabSz="333375">
              <a:spcBef>
                <a:spcPts val="400"/>
              </a:spcBef>
              <a:buSzTx/>
              <a:buNone/>
              <a:defRPr sz="3505" b="1">
                <a:solidFill>
                  <a:srgbClr val="000000"/>
                </a:solidFill>
                <a:latin typeface="Times Roman"/>
                <a:ea typeface="Times Roman"/>
                <a:cs typeface="Times Roman"/>
                <a:sym typeface="Times Roman"/>
              </a:defRPr>
            </a:pPr>
            <a:endParaRPr b="1"/>
          </a:p>
          <a:p>
            <a:pPr marL="0" indent="0" defTabSz="333375">
              <a:spcBef>
                <a:spcPts val="400"/>
              </a:spcBef>
              <a:buSzTx/>
              <a:buNone/>
              <a:defRPr sz="3505" b="1">
                <a:solidFill>
                  <a:srgbClr val="000000"/>
                </a:solidFill>
                <a:latin typeface="Times Roman"/>
                <a:ea typeface="Times Roman"/>
                <a:cs typeface="Times Roman"/>
                <a:sym typeface="Times Roman"/>
              </a:defRPr>
            </a:pPr>
          </a:p>
          <a:p>
            <a:pPr marL="0" algn="just" defTabSz="424815">
              <a:spcBef>
                <a:spcPts val="600"/>
              </a:spcBef>
              <a:buSzTx/>
              <a:buNone/>
              <a:defRPr sz="4465">
                <a:solidFill>
                  <a:srgbClr val="000000"/>
                </a:solidFill>
                <a:latin typeface="Times Roman"/>
                <a:ea typeface="Times Roman"/>
                <a:cs typeface="Times Roman"/>
                <a:sym typeface="Times Roman"/>
              </a:defRPr>
            </a:pPr>
            <a:r>
              <a:rPr sz="3300" b="1">
                <a:latin typeface="Times New Roman" panose="02020603050405020304"/>
                <a:ea typeface="Times New Roman" panose="02020603050405020304"/>
                <a:cs typeface="Times New Roman" panose="02020603050405020304"/>
              </a:rPr>
              <a:t>4 Conclusion</a:t>
            </a:r>
            <a:endParaRPr sz="3300" b="1">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b="0">
                <a:latin typeface="Times New Roman" panose="02020603050405020304"/>
                <a:ea typeface="Times New Roman" panose="02020603050405020304"/>
                <a:cs typeface="Times New Roman" panose="02020603050405020304"/>
              </a:rPr>
              <a:t>The conclusion should give the reader a sense of </a:t>
            </a:r>
            <a:endParaRPr sz="3300" b="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b="0">
                <a:latin typeface="Times New Roman" panose="02020603050405020304"/>
                <a:ea typeface="Times New Roman" panose="02020603050405020304"/>
                <a:cs typeface="Times New Roman" panose="02020603050405020304"/>
              </a:rPr>
              <a:t>satisfaction. You need to tie the conclusion to the lead sothat the story has unity. Often you can do this through a short, tight summary, occasionally, </a:t>
            </a:r>
            <a:endParaRPr sz="3300" b="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b="0">
                <a:latin typeface="Times New Roman" panose="02020603050405020304"/>
                <a:ea typeface="Times New Roman" panose="02020603050405020304"/>
                <a:cs typeface="Times New Roman" panose="02020603050405020304"/>
              </a:rPr>
              <a:t>you can conclude with an anecdote or</a:t>
            </a:r>
            <a:r>
              <a:rPr lang="en-US" sz="3300" b="0">
                <a:latin typeface="Times New Roman" panose="02020603050405020304"/>
                <a:ea typeface="Times New Roman" panose="02020603050405020304"/>
                <a:cs typeface="Times New Roman" panose="02020603050405020304"/>
              </a:rPr>
              <a:t> </a:t>
            </a:r>
            <a:r>
              <a:rPr sz="3300" b="0">
                <a:latin typeface="Times New Roman" panose="02020603050405020304"/>
                <a:ea typeface="Times New Roman" panose="02020603050405020304"/>
                <a:cs typeface="Times New Roman" panose="02020603050405020304"/>
              </a:rPr>
              <a:t>a quote that </a:t>
            </a:r>
            <a:endParaRPr sz="3300" b="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b="0">
                <a:latin typeface="Times New Roman" panose="02020603050405020304"/>
                <a:ea typeface="Times New Roman" panose="02020603050405020304"/>
                <a:cs typeface="Times New Roman" panose="02020603050405020304"/>
              </a:rPr>
              <a:t>sums up the substance of the story. With a narrative </a:t>
            </a:r>
            <a:endParaRPr sz="3300" b="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b="0">
                <a:latin typeface="Times New Roman" panose="02020603050405020304"/>
                <a:ea typeface="Times New Roman" panose="02020603050405020304"/>
                <a:cs typeface="Times New Roman" panose="02020603050405020304"/>
              </a:rPr>
              <a:t>approach, you build toward a climax.</a:t>
            </a:r>
            <a:endParaRPr sz="3300" b="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endParaRPr sz="330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endParaRPr sz="3300">
              <a:latin typeface="Times New Roman" panose="02020603050405020304"/>
              <a:ea typeface="Times New Roman" panose="02020603050405020304"/>
              <a:cs typeface="Times New Roman" panose="02020603050405020304"/>
            </a:endParaRP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tructure of a Feature"/>
          <p:cNvSpPr txBox="1"/>
          <p:nvPr>
            <p:ph type="title"/>
          </p:nvPr>
        </p:nvSpPr>
        <p:spPr>
          <a:xfrm>
            <a:off x="736600" y="193521"/>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Length</a:t>
            </a:r>
            <a:endParaRPr lang="en-US"/>
          </a:p>
        </p:txBody>
      </p:sp>
      <p:sp>
        <p:nvSpPr>
          <p:cNvPr id="224" name="3.5 But never omit important if it is required so…"/>
          <p:cNvSpPr txBox="1"/>
          <p:nvPr>
            <p:ph type="body" idx="1"/>
          </p:nvPr>
        </p:nvSpPr>
        <p:spPr>
          <a:xfrm>
            <a:off x="736600" y="1010285"/>
            <a:ext cx="11184890" cy="5926773"/>
          </a:xfrm>
          <a:prstGeom prst="rect">
            <a:avLst/>
          </a:prstGeom>
        </p:spPr>
        <p:txBody>
          <a:bodyPr>
            <a:normAutofit fontScale="60000"/>
          </a:bodyPr>
          <a:lstStyle/>
          <a:p>
            <a:pPr marL="0" indent="0" defTabSz="333375">
              <a:spcBef>
                <a:spcPts val="400"/>
              </a:spcBef>
              <a:buSzTx/>
              <a:buNone/>
              <a:defRPr sz="3505" b="1">
                <a:solidFill>
                  <a:srgbClr val="000000"/>
                </a:solidFill>
                <a:latin typeface="Times Roman"/>
                <a:ea typeface="Times Roman"/>
                <a:cs typeface="Times Roman"/>
                <a:sym typeface="Times Roman"/>
              </a:defRPr>
            </a:pPr>
            <a:endParaRPr b="1"/>
          </a:p>
          <a:p>
            <a:pPr marL="0" indent="0" defTabSz="333375">
              <a:spcBef>
                <a:spcPts val="400"/>
              </a:spcBef>
              <a:buSzTx/>
              <a:buNone/>
              <a:defRPr sz="3505" b="1">
                <a:solidFill>
                  <a:srgbClr val="000000"/>
                </a:solidFill>
                <a:latin typeface="Times Roman"/>
                <a:ea typeface="Times Roman"/>
                <a:cs typeface="Times Roman"/>
                <a:sym typeface="Times Roman"/>
              </a:defRPr>
            </a:pPr>
          </a:p>
          <a:p>
            <a:pPr marL="0" algn="just" defTabSz="424815">
              <a:spcBef>
                <a:spcPts val="600"/>
              </a:spcBef>
              <a:buSzTx/>
              <a:buNone/>
              <a:defRPr sz="4465">
                <a:solidFill>
                  <a:srgbClr val="000000"/>
                </a:solidFill>
                <a:latin typeface="Times Roman"/>
                <a:ea typeface="Times Roman"/>
                <a:cs typeface="Times Roman"/>
                <a:sym typeface="Times Roman"/>
              </a:defRPr>
            </a:pPr>
            <a:r>
              <a:rPr sz="4285" b="1">
                <a:latin typeface="Times New Roman" panose="02020603050405020304"/>
                <a:ea typeface="Times New Roman" panose="02020603050405020304"/>
                <a:cs typeface="Times New Roman" panose="02020603050405020304"/>
              </a:rPr>
              <a:t>5 Length</a:t>
            </a:r>
            <a:endParaRPr sz="4285" b="1">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endParaRPr sz="3300" b="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If a reporter asks how long a feature story should be, the editor </a:t>
            </a:r>
            <a:endParaRPr sz="330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may reply, 'as long as you keep it interesting.'  Feature  stories  vary in length from two or three paragraphs to 15 or 20 triple-spaced sheets of</a:t>
            </a:r>
            <a:r>
              <a:rPr lang="en-US" sz="3300">
                <a:latin typeface="Times New Roman" panose="02020603050405020304"/>
                <a:ea typeface="Times New Roman" panose="02020603050405020304"/>
                <a:cs typeface="Times New Roman" panose="02020603050405020304"/>
              </a:rPr>
              <a:t> </a:t>
            </a:r>
            <a:r>
              <a:rPr sz="3300">
                <a:latin typeface="Times New Roman" panose="02020603050405020304"/>
                <a:ea typeface="Times New Roman" panose="02020603050405020304"/>
                <a:cs typeface="Times New Roman" panose="02020603050405020304"/>
              </a:rPr>
              <a:t>copy. Readers' interest is  the  main  yardstick </a:t>
            </a:r>
            <a:endParaRPr sz="3300">
              <a:latin typeface="Times New Roman" panose="02020603050405020304"/>
              <a:ea typeface="Times New Roman" panose="02020603050405020304"/>
              <a:cs typeface="Times New Roman" panose="02020603050405020304"/>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by which they are judged. And editors are paid to accurately</a:t>
            </a:r>
            <a:endParaRPr sz="3300">
              <a:latin typeface="Times New Roman" panose="02020603050405020304"/>
              <a:ea typeface="Times New Roman" panose="02020603050405020304"/>
              <a:cs typeface="Times New Roman" panose="02020603050405020304"/>
              <a:sym typeface="Times Roman"/>
            </a:endParaRPr>
          </a:p>
          <a:p>
            <a:pPr marL="0" algn="just" defTabSz="424815">
              <a:spcBef>
                <a:spcPts val="600"/>
              </a:spcBef>
              <a:buSzTx/>
              <a:buNone/>
              <a:defRPr sz="4465">
                <a:solidFill>
                  <a:srgbClr val="000000"/>
                </a:solidFill>
                <a:latin typeface="Times Roman"/>
                <a:ea typeface="Times Roman"/>
                <a:cs typeface="Times Roman"/>
                <a:sym typeface="Times Roman"/>
              </a:defRPr>
            </a:pPr>
            <a:r>
              <a:rPr sz="3300">
                <a:latin typeface="Times New Roman" panose="02020603050405020304"/>
                <a:ea typeface="Times New Roman" panose="02020603050405020304"/>
                <a:cs typeface="Times New Roman" panose="02020603050405020304"/>
              </a:rPr>
              <a:t>assess readers' interest.</a:t>
            </a:r>
            <a:endParaRPr sz="3300">
              <a:latin typeface="Times New Roman" panose="02020603050405020304"/>
              <a:ea typeface="Times New Roman" panose="02020603050405020304"/>
              <a:cs typeface="Times New Roman" panose="02020603050405020304"/>
              <a:sym typeface="Times Roman"/>
            </a:endParaRPr>
          </a:p>
          <a:p>
            <a:pPr marL="0" indent="0" defTabSz="333375">
              <a:spcBef>
                <a:spcPts val="400"/>
              </a:spcBef>
              <a:buSzTx/>
              <a:buNone/>
              <a:defRPr sz="3505">
                <a:solidFill>
                  <a:srgbClr val="000000"/>
                </a:solidFill>
                <a:latin typeface="Times Roman"/>
                <a:ea typeface="Times Roman"/>
                <a:cs typeface="Times Roman"/>
                <a:sym typeface="Times Roman"/>
              </a:defRPr>
            </a:pP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317"/>
            <a:ext cx="10972800" cy="1143000"/>
          </a:xfrm>
        </p:spPr>
        <p:txBody>
          <a:bodyPr>
            <a:noAutofit/>
          </a:bodyPr>
          <a:lstStyle/>
          <a:p>
            <a:r>
              <a:rPr lang="en-US" altLang="zh-CN" sz="4000" b="1" dirty="0" smtClean="0">
                <a:latin typeface="+mn-lt"/>
                <a:cs typeface="Times New Roman" panose="02020603050405020304" pitchFamily="18" charset="0"/>
              </a:rPr>
              <a:t>Language features of news (</a:t>
            </a:r>
            <a:r>
              <a:rPr lang="en-US" altLang="zh-CN" sz="4000" b="1" dirty="0">
                <a:latin typeface="+mn-lt"/>
                <a:cs typeface="Times New Roman" panose="02020603050405020304" pitchFamily="18" charset="0"/>
              </a:rPr>
              <a:t>structure</a:t>
            </a:r>
            <a:r>
              <a:rPr lang="en-US" altLang="zh-CN" sz="4000" b="1" dirty="0" smtClean="0">
                <a:latin typeface="+mn-lt"/>
                <a:cs typeface="Times New Roman" panose="02020603050405020304" pitchFamily="18" charset="0"/>
              </a:rPr>
              <a:t>) </a:t>
            </a:r>
            <a:endParaRPr lang="zh-CN" altLang="en-US" sz="4000" b="1" dirty="0">
              <a:latin typeface="+mn-lt"/>
              <a:cs typeface="Times New Roman" panose="02020603050405020304" pitchFamily="18" charset="0"/>
            </a:endParaRPr>
          </a:p>
        </p:txBody>
      </p:sp>
      <p:sp>
        <p:nvSpPr>
          <p:cNvPr id="3" name="内容占位符 2"/>
          <p:cNvSpPr>
            <a:spLocks noGrp="1"/>
          </p:cNvSpPr>
          <p:nvPr>
            <p:ph idx="1"/>
          </p:nvPr>
        </p:nvSpPr>
        <p:spPr>
          <a:xfrm>
            <a:off x="74930" y="1143000"/>
            <a:ext cx="11901805" cy="4983480"/>
          </a:xfrm>
        </p:spPr>
        <p:txBody>
          <a:bodyPr>
            <a:noAutofit/>
          </a:bodyPr>
          <a:lstStyle/>
          <a:p>
            <a:r>
              <a:rPr lang="en-US" sz="4400" dirty="0" smtClean="0">
                <a:latin typeface="+mn-lt"/>
                <a:cs typeface="Times New Roman" panose="02020603050405020304" pitchFamily="18" charset="0"/>
              </a:rPr>
              <a:t>The structure of a </a:t>
            </a:r>
            <a:r>
              <a:rPr lang="en-US" sz="4400" b="1" dirty="0" smtClean="0">
                <a:latin typeface="+mn-lt"/>
                <a:cs typeface="Times New Roman" panose="02020603050405020304" pitchFamily="18" charset="0"/>
              </a:rPr>
              <a:t>News Report </a:t>
            </a:r>
            <a:r>
              <a:rPr lang="en-US" sz="4400" dirty="0" smtClean="0">
                <a:latin typeface="+mn-lt"/>
                <a:cs typeface="Times New Roman" panose="02020603050405020304" pitchFamily="18" charset="0"/>
              </a:rPr>
              <a:t>follows a specific structure. The parts of this structure are identified and defined below:</a:t>
            </a:r>
            <a:endParaRPr lang="en-US" sz="4400" dirty="0" smtClean="0">
              <a:latin typeface="+mn-lt"/>
              <a:cs typeface="Times New Roman" panose="02020603050405020304" pitchFamily="18" charset="0"/>
            </a:endParaRPr>
          </a:p>
          <a:p>
            <a:r>
              <a:rPr lang="en-US" sz="4400" b="1" dirty="0" smtClean="0">
                <a:latin typeface="+mn-lt"/>
                <a:cs typeface="Times New Roman" panose="02020603050405020304" pitchFamily="18" charset="0"/>
              </a:rPr>
              <a:t>Headline: </a:t>
            </a:r>
            <a:r>
              <a:rPr lang="en-US" sz="4400" dirty="0" smtClean="0">
                <a:latin typeface="+mn-lt"/>
                <a:cs typeface="Times New Roman" panose="02020603050405020304" pitchFamily="18" charset="0"/>
              </a:rPr>
              <a:t>The Headline is the title of the article which is made up of 10 words or less. This title has two purposes: to introduce the </a:t>
            </a:r>
            <a:r>
              <a:rPr lang="en-US" sz="4400" u="sng" dirty="0" smtClean="0">
                <a:latin typeface="+mn-lt"/>
                <a:cs typeface="Times New Roman" panose="02020603050405020304" pitchFamily="18" charset="0"/>
              </a:rPr>
              <a:t>topic</a:t>
            </a:r>
            <a:r>
              <a:rPr lang="en-US" sz="4400" dirty="0" smtClean="0">
                <a:latin typeface="+mn-lt"/>
                <a:cs typeface="Times New Roman" panose="02020603050405020304" pitchFamily="18" charset="0"/>
              </a:rPr>
              <a:t> of the article and to capture the </a:t>
            </a:r>
            <a:r>
              <a:rPr lang="en-US" sz="4400" u="sng" dirty="0" smtClean="0">
                <a:latin typeface="+mn-lt"/>
                <a:cs typeface="Times New Roman" panose="02020603050405020304" pitchFamily="18" charset="0"/>
              </a:rPr>
              <a:t>readers’ interest</a:t>
            </a:r>
            <a:r>
              <a:rPr lang="en-US" sz="4400" dirty="0" smtClean="0">
                <a:latin typeface="+mn-lt"/>
                <a:cs typeface="Times New Roman" panose="02020603050405020304" pitchFamily="18" charset="0"/>
              </a:rPr>
              <a:t>, usually through controversial wording.</a:t>
            </a:r>
            <a:endParaRPr lang="en-US" altLang="en-US" sz="4400" dirty="0" smtClean="0">
              <a:latin typeface="+mn-lt"/>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2950" y="714375"/>
            <a:ext cx="10420350" cy="4526280"/>
          </a:xfrm>
        </p:spPr>
        <p:txBody>
          <a:bodyPr>
            <a:noAutofit/>
          </a:bodyPr>
          <a:lstStyle/>
          <a:p>
            <a:r>
              <a:rPr lang="en-US" sz="3600" b="1" dirty="0" smtClean="0">
                <a:latin typeface="+mn-lt"/>
                <a:cs typeface="Times New Roman" panose="02020603050405020304" pitchFamily="18" charset="0"/>
              </a:rPr>
              <a:t>Subheading</a:t>
            </a:r>
            <a:r>
              <a:rPr lang="zh-CN" altLang="en-US" sz="3600" b="1" dirty="0" smtClean="0">
                <a:latin typeface="+mn-lt"/>
                <a:cs typeface="Times New Roman" panose="02020603050405020304" pitchFamily="18" charset="0"/>
              </a:rPr>
              <a:t>（副标题）</a:t>
            </a:r>
            <a:r>
              <a:rPr lang="en-US" sz="3600" b="1" dirty="0" smtClean="0">
                <a:latin typeface="+mn-lt"/>
                <a:cs typeface="Times New Roman" panose="02020603050405020304" pitchFamily="18" charset="0"/>
              </a:rPr>
              <a:t>: </a:t>
            </a:r>
            <a:r>
              <a:rPr lang="en-US" sz="3600" dirty="0" smtClean="0">
                <a:latin typeface="+mn-lt"/>
                <a:cs typeface="Times New Roman" panose="02020603050405020304" pitchFamily="18" charset="0"/>
              </a:rPr>
              <a:t>The Subheading, which is not always included in an article, expands upon the Headline’s content, if needed. </a:t>
            </a:r>
            <a:endParaRPr lang="en-US" sz="3600" dirty="0" smtClean="0">
              <a:latin typeface="+mn-lt"/>
              <a:cs typeface="Times New Roman" panose="02020603050405020304" pitchFamily="18" charset="0"/>
            </a:endParaRPr>
          </a:p>
          <a:p>
            <a:r>
              <a:rPr lang="en-US" sz="3600" b="1" dirty="0" smtClean="0">
                <a:latin typeface="+mn-lt"/>
                <a:cs typeface="Times New Roman" panose="02020603050405020304" pitchFamily="18" charset="0"/>
              </a:rPr>
              <a:t>By-line</a:t>
            </a:r>
            <a:r>
              <a:rPr lang="zh-CN" altLang="en-US" sz="3600" b="1" dirty="0" smtClean="0">
                <a:latin typeface="+mn-lt"/>
                <a:cs typeface="Times New Roman" panose="02020603050405020304" pitchFamily="18" charset="0"/>
              </a:rPr>
              <a:t>（署名行）</a:t>
            </a:r>
            <a:r>
              <a:rPr lang="en-US" sz="3600" b="1" dirty="0" smtClean="0">
                <a:latin typeface="+mn-lt"/>
                <a:cs typeface="Times New Roman" panose="02020603050405020304" pitchFamily="18" charset="0"/>
              </a:rPr>
              <a:t>: </a:t>
            </a:r>
            <a:r>
              <a:rPr lang="en-US" sz="3600" dirty="0" smtClean="0">
                <a:latin typeface="+mn-lt"/>
                <a:cs typeface="Times New Roman" panose="02020603050405020304" pitchFamily="18" charset="0"/>
              </a:rPr>
              <a:t>The by-line includes the article’s author’s name, and sometimes that person’s occupation.</a:t>
            </a:r>
            <a:endParaRPr lang="en-US" altLang="en-US" sz="3600" dirty="0" smtClean="0">
              <a:latin typeface="+mn-lt"/>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7975" y="785495"/>
            <a:ext cx="11381105" cy="4526280"/>
          </a:xfrm>
        </p:spPr>
        <p:txBody>
          <a:bodyPr>
            <a:noAutofit/>
          </a:bodyPr>
          <a:lstStyle/>
          <a:p>
            <a:r>
              <a:rPr lang="en-US" sz="4800" b="1" dirty="0" smtClean="0">
                <a:latin typeface="+mn-lt"/>
                <a:cs typeface="Times New Roman" panose="02020603050405020304" pitchFamily="18" charset="0"/>
              </a:rPr>
              <a:t>Summary Lead: </a:t>
            </a:r>
            <a:r>
              <a:rPr lang="en-US" sz="4800" dirty="0" smtClean="0">
                <a:latin typeface="+mn-lt"/>
                <a:cs typeface="Times New Roman" panose="02020603050405020304" pitchFamily="18" charset="0"/>
              </a:rPr>
              <a:t>The Summary Lead consists of the first paragraph, the 1-2 sentences consisting of less than 30 words that begin an article. The content of this paragraph consists of the 5WH (who, what, where, when, why, and how) of the article. </a:t>
            </a:r>
            <a:endParaRPr lang="en-US" altLang="en-US" sz="4800" dirty="0" smtClean="0">
              <a:latin typeface="+mn-lt"/>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158750"/>
            <a:ext cx="11532870" cy="5081905"/>
          </a:xfrm>
        </p:spPr>
        <p:txBody>
          <a:bodyPr>
            <a:noAutofit/>
          </a:bodyPr>
          <a:lstStyle/>
          <a:p>
            <a:r>
              <a:rPr lang="en-US" sz="4400" b="1" dirty="0" smtClean="0">
                <a:latin typeface="+mn-lt"/>
                <a:cs typeface="Times New Roman" panose="02020603050405020304" pitchFamily="18" charset="0"/>
              </a:rPr>
              <a:t>Fact-based Paragraphs: </a:t>
            </a:r>
            <a:r>
              <a:rPr lang="en-US" sz="4400" dirty="0" smtClean="0">
                <a:latin typeface="+mn-lt"/>
                <a:cs typeface="Times New Roman" panose="02020603050405020304" pitchFamily="18" charset="0"/>
              </a:rPr>
              <a:t>The remainder of the article consists of short paragraphs that expand on the 5WH mentioned in the Summary Lead and include quotations from key people involved in or related to the article. The content of these paragraphs is </a:t>
            </a:r>
            <a:r>
              <a:rPr lang="en-US" sz="4400" u="sng" dirty="0" smtClean="0">
                <a:latin typeface="+mn-lt"/>
                <a:cs typeface="Times New Roman" panose="02020603050405020304" pitchFamily="18" charset="0"/>
              </a:rPr>
              <a:t>fact-based</a:t>
            </a:r>
            <a:r>
              <a:rPr lang="en-US" sz="4400" dirty="0" smtClean="0">
                <a:latin typeface="+mn-lt"/>
                <a:cs typeface="Times New Roman" panose="02020603050405020304" pitchFamily="18" charset="0"/>
              </a:rPr>
              <a:t> and organized from </a:t>
            </a:r>
            <a:r>
              <a:rPr lang="en-US" sz="4400" u="sng" dirty="0" smtClean="0">
                <a:latin typeface="+mn-lt"/>
                <a:cs typeface="Times New Roman" panose="02020603050405020304" pitchFamily="18" charset="0"/>
              </a:rPr>
              <a:t>most to least important</a:t>
            </a:r>
            <a:r>
              <a:rPr lang="en-US" sz="4400" dirty="0" smtClean="0">
                <a:latin typeface="+mn-lt"/>
                <a:cs typeface="Times New Roman" panose="02020603050405020304" pitchFamily="18" charset="0"/>
              </a:rPr>
              <a:t>, so that the editor can cut the bottom paragraphs out if needed. </a:t>
            </a:r>
            <a:endParaRPr lang="en-US" altLang="en-US" sz="4400" dirty="0" smtClean="0">
              <a:latin typeface="+mn-lt"/>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095472" y="357166"/>
          <a:ext cx="8286750" cy="5984875"/>
        </p:xfrm>
        <a:graphic>
          <a:graphicData uri="http://schemas.openxmlformats.org/drawingml/2006/table">
            <a:tbl>
              <a:tblPr/>
              <a:tblGrid>
                <a:gridCol w="2214245"/>
                <a:gridCol w="6072505"/>
              </a:tblGrid>
              <a:tr h="356235">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Element</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Definition</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3105">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Headline</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Catches your attention </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Sums up the story</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8705">
                <a:tc>
                  <a:txBody>
                    <a:bodyPr/>
                    <a:lstStyle/>
                    <a:p>
                      <a:pPr algn="ctr">
                        <a:spcAft>
                          <a:spcPts val="0"/>
                        </a:spcAft>
                      </a:pPr>
                      <a:r>
                        <a:rPr lang="en-US" sz="2000" b="1" kern="100">
                          <a:latin typeface="Times New Roman" panose="02020603050405020304"/>
                          <a:ea typeface="宋体" panose="02010600030101010101" pitchFamily="2" charset="-122"/>
                          <a:cs typeface="Times New Roman" panose="02020603050405020304"/>
                        </a:rPr>
                        <a:t>byline</a:t>
                      </a:r>
                      <a:endParaRPr lang="zh-CN" sz="2000" b="1" kern="10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Writer’s name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Writer’s Specialty, e.g. sports, food, crime, current </a:t>
                      </a:r>
                      <a:r>
                        <a:rPr lang="en-US" sz="2000" kern="0" dirty="0" smtClean="0">
                          <a:solidFill>
                            <a:srgbClr val="000000"/>
                          </a:solidFill>
                          <a:latin typeface="Times New Roman" panose="02020603050405020304"/>
                          <a:ea typeface="宋体" panose="02010600030101010101" pitchFamily="2" charset="-122"/>
                          <a:cs typeface="Times New Roman" panose="02020603050405020304"/>
                        </a:rPr>
                        <a:t>  </a:t>
                      </a:r>
                      <a:endParaRPr lang="en-US" sz="2000" kern="0" dirty="0" smtClean="0">
                        <a:solidFill>
                          <a:srgbClr val="000000"/>
                        </a:solidFill>
                        <a:latin typeface="Times New Roman" panose="02020603050405020304"/>
                        <a:ea typeface="宋体" panose="02010600030101010101" pitchFamily="2" charset="-122"/>
                        <a:cs typeface="Times New Roman" panose="02020603050405020304"/>
                      </a:endParaRPr>
                    </a:p>
                    <a:p>
                      <a:pPr algn="l">
                        <a:spcAft>
                          <a:spcPts val="0"/>
                        </a:spcAft>
                      </a:pPr>
                      <a:r>
                        <a:rPr lang="en-US" sz="2000" kern="0" dirty="0" smtClean="0">
                          <a:solidFill>
                            <a:srgbClr val="000000"/>
                          </a:solidFill>
                          <a:latin typeface="Times New Roman" panose="02020603050405020304"/>
                          <a:ea typeface="宋体" panose="02010600030101010101" pitchFamily="2" charset="-122"/>
                          <a:cs typeface="Times New Roman" panose="02020603050405020304"/>
                        </a:rPr>
                        <a:t>   events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algn="ctr">
                        <a:spcAft>
                          <a:spcPts val="0"/>
                        </a:spcAft>
                      </a:pPr>
                      <a:r>
                        <a:rPr lang="en-US" sz="2000" b="1" kern="100" dirty="0" err="1" smtClean="0">
                          <a:solidFill>
                            <a:srgbClr val="000000"/>
                          </a:solidFill>
                          <a:latin typeface="Times New Roman" panose="02020603050405020304"/>
                          <a:ea typeface="宋体" panose="02010600030101010101" pitchFamily="2" charset="-122"/>
                          <a:cs typeface="Times New Roman" panose="02020603050405020304"/>
                        </a:rPr>
                        <a:t>Placeline</a:t>
                      </a:r>
                      <a:r>
                        <a:rPr lang="en-US" sz="2000" b="1" kern="100" dirty="0" smtClean="0">
                          <a:solidFill>
                            <a:srgbClr val="000000"/>
                          </a:solidFill>
                          <a:latin typeface="Times New Roman" panose="02020603050405020304"/>
                          <a:ea typeface="宋体" panose="02010600030101010101" pitchFamily="2" charset="-122"/>
                          <a:cs typeface="Times New Roman" panose="02020603050405020304"/>
                        </a:rPr>
                        <a:t> </a:t>
                      </a:r>
                      <a:endParaRPr lang="en-US" sz="2000" b="1" kern="100" dirty="0" smtClean="0">
                        <a:solidFill>
                          <a:srgbClr val="000000"/>
                        </a:solidFill>
                        <a:latin typeface="Times New Roman" panose="02020603050405020304"/>
                        <a:ea typeface="宋体" panose="02010600030101010101" pitchFamily="2" charset="-122"/>
                        <a:cs typeface="Times New Roman" panose="02020603050405020304"/>
                      </a:endParaRPr>
                    </a:p>
                    <a:p>
                      <a:pPr algn="ctr">
                        <a:spcAft>
                          <a:spcPts val="0"/>
                        </a:spcAft>
                      </a:pPr>
                      <a:r>
                        <a:rPr lang="en-US" altLang="zh-CN" sz="2000" b="1" kern="100" dirty="0" smtClean="0">
                          <a:solidFill>
                            <a:srgbClr val="000000"/>
                          </a:solidFill>
                          <a:latin typeface="Times New Roman" panose="02020603050405020304"/>
                          <a:ea typeface="宋体" panose="02010600030101010101" pitchFamily="2" charset="-122"/>
                          <a:cs typeface="Times New Roman" panose="02020603050405020304"/>
                        </a:rPr>
                        <a:t>(optional)</a:t>
                      </a:r>
                      <a:endParaRPr lang="zh-CN" sz="2000" b="1" kern="100" dirty="0" smtClean="0">
                        <a:solidFill>
                          <a:srgbClr val="00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 Where the story begins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8705">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Lead</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The opening section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Gives most important information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Should answer most of the 5W’s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2470">
                <a:tc>
                  <a:txBody>
                    <a:bodyPr/>
                    <a:lstStyle/>
                    <a:p>
                      <a:pPr algn="ctr">
                        <a:spcAft>
                          <a:spcPts val="0"/>
                        </a:spcAft>
                      </a:pPr>
                      <a:r>
                        <a:rPr lang="en-US" sz="2000" b="1" kern="100">
                          <a:solidFill>
                            <a:srgbClr val="000000"/>
                          </a:solidFill>
                          <a:latin typeface="Times New Roman" panose="02020603050405020304"/>
                          <a:ea typeface="宋体" panose="02010600030101010101" pitchFamily="2" charset="-122"/>
                          <a:cs typeface="Times New Roman" panose="02020603050405020304"/>
                        </a:rPr>
                        <a:t>Body</a:t>
                      </a:r>
                      <a:endParaRPr lang="zh-CN" sz="2000" b="1" kern="10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Supplies detail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Most important details come first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235">
                <a:tc>
                  <a:txBody>
                    <a:bodyPr/>
                    <a:lstStyle/>
                    <a:p>
                      <a:pPr algn="ctr">
                        <a:spcAft>
                          <a:spcPts val="0"/>
                        </a:spcAft>
                      </a:pPr>
                      <a:r>
                        <a:rPr lang="en-US" sz="2000" b="1" kern="100">
                          <a:solidFill>
                            <a:srgbClr val="000000"/>
                          </a:solidFill>
                          <a:latin typeface="Times New Roman" panose="02020603050405020304"/>
                          <a:ea typeface="宋体" panose="02010600030101010101" pitchFamily="2" charset="-122"/>
                          <a:cs typeface="Times New Roman" panose="02020603050405020304"/>
                        </a:rPr>
                        <a:t>Facts</a:t>
                      </a:r>
                      <a:endParaRPr lang="zh-CN" sz="2000" b="1" kern="10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 Simple true statements</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9340">
                <a:tc>
                  <a:txBody>
                    <a:bodyPr/>
                    <a:lstStyle/>
                    <a:p>
                      <a:pPr algn="ctr">
                        <a:spcAft>
                          <a:spcPts val="0"/>
                        </a:spcAft>
                      </a:pPr>
                      <a:r>
                        <a:rPr lang="en-US" sz="2000" b="1" kern="100" dirty="0">
                          <a:solidFill>
                            <a:srgbClr val="000000"/>
                          </a:solidFill>
                          <a:latin typeface="Times New Roman" panose="02020603050405020304"/>
                          <a:ea typeface="宋体" panose="02010600030101010101" pitchFamily="2" charset="-122"/>
                          <a:cs typeface="Times New Roman" panose="02020603050405020304"/>
                        </a:rPr>
                        <a:t>Quotation</a:t>
                      </a:r>
                      <a:endParaRPr lang="zh-CN" sz="20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What someone actually said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Adds accuracy </a:t>
                      </a:r>
                      <a:endParaRPr lang="zh-CN" sz="2000" kern="100" dirty="0">
                        <a:latin typeface="Calibri" panose="020F0502020204030204"/>
                        <a:ea typeface="宋体" panose="02010600030101010101" pitchFamily="2" charset="-122"/>
                        <a:cs typeface="Times New Roman" panose="02020603050405020304"/>
                      </a:endParaRPr>
                    </a:p>
                    <a:p>
                      <a:pPr algn="l">
                        <a:spcAft>
                          <a:spcPts val="0"/>
                        </a:spcAft>
                      </a:pPr>
                      <a:r>
                        <a:rPr lang="en-US" sz="2000" kern="0" dirty="0">
                          <a:solidFill>
                            <a:srgbClr val="000000"/>
                          </a:solidFill>
                          <a:latin typeface="Times New Roman" panose="02020603050405020304"/>
                          <a:ea typeface="宋体" panose="02010600030101010101" pitchFamily="2" charset="-122"/>
                          <a:cs typeface="Times New Roman" panose="02020603050405020304"/>
                        </a:rPr>
                        <a:t>• Adds “at the scene” feeling</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24034" y="0"/>
            <a:ext cx="8229600" cy="511156"/>
          </a:xfrm>
        </p:spPr>
        <p:txBody>
          <a:bodyPr>
            <a:noAutofit/>
          </a:bodyPr>
          <a:lstStyle/>
          <a:p>
            <a:r>
              <a:rPr lang="en-US" altLang="zh-CN" sz="3600" dirty="0" smtClean="0">
                <a:latin typeface="+mn-lt"/>
                <a:cs typeface="Times New Roman" panose="02020603050405020304" pitchFamily="18" charset="0"/>
              </a:rPr>
              <a:t>Exercise-analysis of the news structure</a:t>
            </a:r>
            <a:endParaRPr lang="zh-CN" altLang="en-US" sz="3600" dirty="0">
              <a:latin typeface="+mn-lt"/>
              <a:cs typeface="Times New Roman" panose="02020603050405020304" pitchFamily="18" charset="0"/>
            </a:endParaRPr>
          </a:p>
        </p:txBody>
      </p:sp>
      <p:sp>
        <p:nvSpPr>
          <p:cNvPr id="3" name="内容占位符 2"/>
          <p:cNvSpPr>
            <a:spLocks noGrp="1"/>
          </p:cNvSpPr>
          <p:nvPr>
            <p:ph idx="1"/>
          </p:nvPr>
        </p:nvSpPr>
        <p:spPr>
          <a:xfrm>
            <a:off x="1673225" y="499745"/>
            <a:ext cx="8915400" cy="6274435"/>
          </a:xfrm>
        </p:spPr>
        <p:txBody>
          <a:bodyPr>
            <a:noAutofit/>
          </a:bodyPr>
          <a:lstStyle/>
          <a:p>
            <a:pPr algn="ctr">
              <a:buNone/>
            </a:pPr>
            <a:r>
              <a:rPr lang="en-US" sz="1600" b="1" dirty="0" smtClean="0">
                <a:latin typeface="+mn-lt"/>
                <a:cs typeface="Times New Roman" panose="02020603050405020304" pitchFamily="18" charset="0"/>
              </a:rPr>
              <a:t>Students Grow Flying Sauce </a:t>
            </a:r>
            <a:endParaRPr lang="en-US" sz="1600" dirty="0" smtClean="0">
              <a:latin typeface="+mn-lt"/>
              <a:cs typeface="Times New Roman" panose="02020603050405020304" pitchFamily="18" charset="0"/>
            </a:endParaRPr>
          </a:p>
          <a:p>
            <a:pPr algn="ctr">
              <a:buNone/>
            </a:pPr>
            <a:r>
              <a:rPr lang="en-US" sz="1600" dirty="0" smtClean="0">
                <a:latin typeface="+mn-lt"/>
                <a:cs typeface="Times New Roman" panose="02020603050405020304" pitchFamily="18" charset="0"/>
              </a:rPr>
              <a:t>Jim Wilkes, Science Reporter </a:t>
            </a:r>
            <a:endParaRPr lang="en-US" sz="1600" dirty="0" smtClean="0">
              <a:latin typeface="+mn-lt"/>
              <a:cs typeface="Times New Roman" panose="02020603050405020304" pitchFamily="18" charset="0"/>
            </a:endParaRPr>
          </a:p>
          <a:p>
            <a:r>
              <a:rPr lang="en-US" sz="1600" b="1" dirty="0" smtClean="0">
                <a:latin typeface="+mn-lt"/>
                <a:cs typeface="Times New Roman" panose="02020603050405020304" pitchFamily="18" charset="0"/>
              </a:rPr>
              <a:t>TORONTO - In the cult movie classic Attack of the Killer Tomatoes, mutant  vegetables cut a deadly swath through the community, consuming everyone in their path. </a:t>
            </a:r>
            <a:endParaRPr lang="en-US" sz="1600" b="1" dirty="0" smtClean="0">
              <a:latin typeface="+mn-lt"/>
              <a:cs typeface="Times New Roman" panose="02020603050405020304" pitchFamily="18" charset="0"/>
            </a:endParaRPr>
          </a:p>
          <a:p>
            <a:r>
              <a:rPr lang="en-US" sz="1600" b="1" dirty="0" smtClean="0">
                <a:latin typeface="+mn-lt"/>
                <a:cs typeface="Times New Roman" panose="02020603050405020304" pitchFamily="18" charset="0"/>
              </a:rPr>
              <a:t>But Canadian astronaut Bob </a:t>
            </a:r>
            <a:r>
              <a:rPr lang="en-US" sz="1600" b="1" dirty="0" err="1" smtClean="0">
                <a:latin typeface="+mn-lt"/>
                <a:cs typeface="Times New Roman" panose="02020603050405020304" pitchFamily="18" charset="0"/>
              </a:rPr>
              <a:t>Thirsk</a:t>
            </a:r>
            <a:r>
              <a:rPr lang="en-US" sz="1600" b="1" dirty="0" smtClean="0">
                <a:latin typeface="+mn-lt"/>
                <a:cs typeface="Times New Roman" panose="02020603050405020304" pitchFamily="18" charset="0"/>
              </a:rPr>
              <a:t> says Toronto students cultivating tomato seeds from space shouldn’t worry about like imitating art. </a:t>
            </a:r>
            <a:endParaRPr lang="en-US" sz="1600" b="1" dirty="0" smtClean="0">
              <a:latin typeface="+mn-lt"/>
              <a:cs typeface="Times New Roman" panose="02020603050405020304" pitchFamily="18" charset="0"/>
            </a:endParaRPr>
          </a:p>
          <a:p>
            <a:r>
              <a:rPr lang="en-US" sz="1600" dirty="0" smtClean="0">
                <a:latin typeface="+mn-lt"/>
                <a:cs typeface="Times New Roman" panose="02020603050405020304" pitchFamily="18" charset="0"/>
              </a:rPr>
              <a:t>“There should be no fear on the part of teachers or parents about any toxic fruit growing from these tomato plants,” said </a:t>
            </a:r>
            <a:r>
              <a:rPr lang="en-US" sz="1600" dirty="0" err="1" smtClean="0">
                <a:latin typeface="+mn-lt"/>
                <a:cs typeface="Times New Roman" panose="02020603050405020304" pitchFamily="18" charset="0"/>
              </a:rPr>
              <a:t>Thirsk</a:t>
            </a:r>
            <a:r>
              <a:rPr lang="en-US" sz="1600" dirty="0" smtClean="0">
                <a:latin typeface="+mn-lt"/>
                <a:cs typeface="Times New Roman" panose="02020603050405020304" pitchFamily="18" charset="0"/>
              </a:rPr>
              <a:t>, who flew aboard the shuttle Columbia on a 17-day mission in 1996. </a:t>
            </a:r>
            <a:endParaRPr lang="en-US" sz="1600" dirty="0" smtClean="0">
              <a:latin typeface="+mn-lt"/>
              <a:cs typeface="Times New Roman" panose="02020603050405020304" pitchFamily="18" charset="0"/>
            </a:endParaRPr>
          </a:p>
          <a:p>
            <a:r>
              <a:rPr lang="en-US" sz="1600" dirty="0" smtClean="0">
                <a:latin typeface="+mn-lt"/>
                <a:cs typeface="Times New Roman" panose="02020603050405020304" pitchFamily="18" charset="0"/>
              </a:rPr>
              <a:t>He said he’ll eat tomatoes produced from the high-flying seeds or use them to make salsa or ketchup. </a:t>
            </a:r>
            <a:endParaRPr lang="en-US" sz="1600" dirty="0" smtClean="0">
              <a:latin typeface="+mn-lt"/>
              <a:cs typeface="Times New Roman" panose="02020603050405020304" pitchFamily="18" charset="0"/>
            </a:endParaRPr>
          </a:p>
          <a:p>
            <a:r>
              <a:rPr lang="en-US" sz="1600" dirty="0" err="1" smtClean="0">
                <a:latin typeface="+mn-lt"/>
                <a:cs typeface="Times New Roman" panose="02020603050405020304" pitchFamily="18" charset="0"/>
              </a:rPr>
              <a:t>Thirsk</a:t>
            </a:r>
            <a:r>
              <a:rPr lang="en-US" sz="1600" dirty="0" smtClean="0">
                <a:latin typeface="+mn-lt"/>
                <a:cs typeface="Times New Roman" panose="02020603050405020304" pitchFamily="18" charset="0"/>
              </a:rPr>
              <a:t> visited students at St. </a:t>
            </a:r>
            <a:r>
              <a:rPr lang="en-US" sz="1600" dirty="0" err="1" smtClean="0">
                <a:latin typeface="+mn-lt"/>
                <a:cs typeface="Times New Roman" panose="02020603050405020304" pitchFamily="18" charset="0"/>
              </a:rPr>
              <a:t>Cecillia</a:t>
            </a:r>
            <a:r>
              <a:rPr lang="en-US" sz="1600" dirty="0" smtClean="0">
                <a:latin typeface="+mn-lt"/>
                <a:cs typeface="Times New Roman" panose="02020603050405020304" pitchFamily="18" charset="0"/>
              </a:rPr>
              <a:t> Catholic School on Annette St. yesterday to check up on their experiments with tomato seeds taken into space by astronaut Mark </a:t>
            </a:r>
            <a:r>
              <a:rPr lang="en-US" sz="1600" dirty="0" err="1" smtClean="0">
                <a:latin typeface="+mn-lt"/>
                <a:cs typeface="Times New Roman" panose="02020603050405020304" pitchFamily="18" charset="0"/>
              </a:rPr>
              <a:t>Garneau</a:t>
            </a:r>
            <a:r>
              <a:rPr lang="en-US" sz="1600" dirty="0" smtClean="0">
                <a:latin typeface="+mn-lt"/>
                <a:cs typeface="Times New Roman" panose="02020603050405020304" pitchFamily="18" charset="0"/>
              </a:rPr>
              <a:t>. </a:t>
            </a:r>
            <a:endParaRPr lang="en-US" sz="1600" dirty="0" smtClean="0">
              <a:latin typeface="+mn-lt"/>
              <a:cs typeface="Times New Roman" panose="02020603050405020304" pitchFamily="18" charset="0"/>
            </a:endParaRPr>
          </a:p>
          <a:p>
            <a:r>
              <a:rPr lang="en-US" sz="1600" dirty="0" smtClean="0">
                <a:latin typeface="+mn-lt"/>
                <a:cs typeface="Times New Roman" panose="02020603050405020304" pitchFamily="18" charset="0"/>
              </a:rPr>
              <a:t>The </a:t>
            </a:r>
            <a:r>
              <a:rPr lang="en-US" sz="1600" dirty="0" err="1" smtClean="0">
                <a:latin typeface="+mn-lt"/>
                <a:cs typeface="Times New Roman" panose="02020603050405020304" pitchFamily="18" charset="0"/>
              </a:rPr>
              <a:t>Tomatosphere</a:t>
            </a:r>
            <a:r>
              <a:rPr lang="en-US" sz="1600" dirty="0" smtClean="0">
                <a:latin typeface="+mn-lt"/>
                <a:cs typeface="Times New Roman" panose="02020603050405020304" pitchFamily="18" charset="0"/>
              </a:rPr>
              <a:t> project involves 2,500 secondary school classrooms across Canada growing 400,000 seeds, half of which made the trip to space. Space plants are said to grow faster and taller. </a:t>
            </a:r>
            <a:endParaRPr lang="en-US" sz="1600" dirty="0" smtClean="0">
              <a:latin typeface="+mn-lt"/>
              <a:cs typeface="Times New Roman" panose="02020603050405020304" pitchFamily="18" charset="0"/>
            </a:endParaRPr>
          </a:p>
          <a:p>
            <a:r>
              <a:rPr lang="en-US" sz="1600" dirty="0" smtClean="0">
                <a:latin typeface="+mn-lt"/>
                <a:cs typeface="Times New Roman" panose="02020603050405020304" pitchFamily="18" charset="0"/>
              </a:rPr>
              <a:t>“The space-flown seeds made 170 orbits of the Earth, travelled more than 7 million kilometers and spent 12 days weightless,” </a:t>
            </a:r>
            <a:r>
              <a:rPr lang="en-US" sz="1600" dirty="0" err="1" smtClean="0">
                <a:latin typeface="+mn-lt"/>
                <a:cs typeface="Times New Roman" panose="02020603050405020304" pitchFamily="18" charset="0"/>
              </a:rPr>
              <a:t>Thirsk</a:t>
            </a:r>
            <a:r>
              <a:rPr lang="en-US" sz="1600" dirty="0" smtClean="0">
                <a:latin typeface="+mn-lt"/>
                <a:cs typeface="Times New Roman" panose="02020603050405020304" pitchFamily="18" charset="0"/>
              </a:rPr>
              <a:t> said. </a:t>
            </a:r>
            <a:endParaRPr lang="en-US" sz="1600" dirty="0" smtClean="0">
              <a:latin typeface="+mn-lt"/>
              <a:cs typeface="Times New Roman" panose="02020603050405020304" pitchFamily="18" charset="0"/>
            </a:endParaRPr>
          </a:p>
          <a:p>
            <a:r>
              <a:rPr lang="en-US" sz="1600" dirty="0" smtClean="0">
                <a:latin typeface="+mn-lt"/>
                <a:cs typeface="Times New Roman" panose="02020603050405020304" pitchFamily="18" charset="0"/>
              </a:rPr>
              <a:t>At the end of June, schools will send results of their experiment to the Canadian Space Agency which will compile the date and make conclusions. </a:t>
            </a:r>
            <a:endParaRPr lang="en-US" sz="1600" dirty="0" smtClean="0">
              <a:latin typeface="+mn-lt"/>
              <a:cs typeface="Times New Roman" panose="02020603050405020304" pitchFamily="18" charset="0"/>
            </a:endParaRPr>
          </a:p>
          <a:p>
            <a:r>
              <a:rPr lang="en-US" sz="1600" dirty="0" err="1" smtClean="0">
                <a:latin typeface="+mn-lt"/>
                <a:cs typeface="Times New Roman" panose="02020603050405020304" pitchFamily="18" charset="0"/>
              </a:rPr>
              <a:t>Thirsk</a:t>
            </a:r>
            <a:r>
              <a:rPr lang="en-US" sz="1600" dirty="0" smtClean="0">
                <a:latin typeface="+mn-lt"/>
                <a:cs typeface="Times New Roman" panose="02020603050405020304" pitchFamily="18" charset="0"/>
              </a:rPr>
              <a:t> said the program is designed to introduce space science to young Canadians. “I can see that in these classrooms we have potential future Canadian scientists and astronauts,” he said. “I find that incredibly exciting.” </a:t>
            </a:r>
            <a:endParaRPr lang="zh-CN" altLang="en-US" sz="1600" dirty="0">
              <a:latin typeface="+mn-lt"/>
              <a:cs typeface="Times New Roman" panose="02020603050405020304" pitchFamily="18" charset="0"/>
            </a:endParaRPr>
          </a:p>
        </p:txBody>
      </p:sp>
      <p:sp>
        <p:nvSpPr>
          <p:cNvPr id="5" name="矩形标注 4"/>
          <p:cNvSpPr/>
          <p:nvPr/>
        </p:nvSpPr>
        <p:spPr>
          <a:xfrm>
            <a:off x="7968615" y="499745"/>
            <a:ext cx="1823720" cy="297815"/>
          </a:xfrm>
          <a:prstGeom prst="wedgeRectCallout">
            <a:avLst>
              <a:gd name="adj1" fmla="val -68928"/>
              <a:gd name="adj2" fmla="val 18621"/>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kern="100" dirty="0">
                <a:solidFill>
                  <a:srgbClr val="FF0000"/>
                </a:solidFill>
                <a:latin typeface="Times New Roman" panose="02020603050405020304"/>
                <a:ea typeface="宋体" panose="02010600030101010101" pitchFamily="2" charset="-122"/>
                <a:cs typeface="Times New Roman" panose="02020603050405020304"/>
                <a:sym typeface="+mn-ea"/>
              </a:rPr>
              <a:t>Headline</a:t>
            </a:r>
            <a:endParaRPr lang="zh-CN" altLang="en-US"/>
          </a:p>
        </p:txBody>
      </p:sp>
      <p:sp>
        <p:nvSpPr>
          <p:cNvPr id="6" name="矩形标注 5"/>
          <p:cNvSpPr/>
          <p:nvPr/>
        </p:nvSpPr>
        <p:spPr>
          <a:xfrm>
            <a:off x="8039735" y="764540"/>
            <a:ext cx="2538730" cy="297815"/>
          </a:xfrm>
          <a:prstGeom prst="wedgeRectCallout">
            <a:avLst>
              <a:gd name="adj1" fmla="val -68928"/>
              <a:gd name="adj2" fmla="val 18621"/>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kern="100" dirty="0">
                <a:solidFill>
                  <a:srgbClr val="FF0000"/>
                </a:solidFill>
                <a:latin typeface="Times New Roman" panose="02020603050405020304"/>
                <a:ea typeface="宋体" panose="02010600030101010101" pitchFamily="2" charset="-122"/>
                <a:cs typeface="Times New Roman" panose="02020603050405020304"/>
                <a:sym typeface="+mn-ea"/>
              </a:rPr>
              <a:t>Byline </a:t>
            </a:r>
            <a:r>
              <a:rPr lang="zh-CN" altLang="en-US" b="1" kern="100" dirty="0">
                <a:solidFill>
                  <a:srgbClr val="FF0000"/>
                </a:solidFill>
                <a:latin typeface="Times New Roman" panose="02020603050405020304"/>
                <a:ea typeface="宋体" panose="02010600030101010101" pitchFamily="2" charset="-122"/>
                <a:cs typeface="Times New Roman" panose="02020603050405020304"/>
                <a:sym typeface="+mn-ea"/>
              </a:rPr>
              <a:t>本报</a:t>
            </a:r>
            <a:r>
              <a:rPr lang="zh-CN" altLang="en-US" b="1" kern="100" dirty="0">
                <a:solidFill>
                  <a:srgbClr val="FF0000"/>
                </a:solidFill>
                <a:latin typeface="Times New Roman" panose="02020603050405020304"/>
                <a:ea typeface="宋体" panose="02010600030101010101" pitchFamily="2" charset="-122"/>
                <a:cs typeface="Times New Roman" panose="02020603050405020304"/>
                <a:sym typeface="+mn-ea"/>
              </a:rPr>
              <a:t>科学记者</a:t>
            </a:r>
            <a:endParaRPr lang="zh-CN" altLang="en-US" b="1" kern="100" dirty="0">
              <a:solidFill>
                <a:srgbClr val="FF0000"/>
              </a:solidFill>
              <a:latin typeface="Times New Roman" panose="02020603050405020304"/>
              <a:ea typeface="宋体" panose="02010600030101010101" pitchFamily="2" charset="-122"/>
              <a:cs typeface="Times New Roman" panose="02020603050405020304"/>
              <a:sym typeface="+mn-ea"/>
            </a:endParaRPr>
          </a:p>
        </p:txBody>
      </p:sp>
      <p:sp>
        <p:nvSpPr>
          <p:cNvPr id="7" name="矩形标注 6"/>
          <p:cNvSpPr/>
          <p:nvPr/>
        </p:nvSpPr>
        <p:spPr>
          <a:xfrm>
            <a:off x="1775460" y="548640"/>
            <a:ext cx="2538730" cy="297815"/>
          </a:xfrm>
          <a:prstGeom prst="wedgeRectCallout">
            <a:avLst>
              <a:gd name="adj1" fmla="val -13006"/>
              <a:gd name="adj2" fmla="val 137846"/>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kern="100" dirty="0">
                <a:solidFill>
                  <a:srgbClr val="FF0000"/>
                </a:solidFill>
                <a:latin typeface="Times New Roman" panose="02020603050405020304"/>
                <a:ea typeface="宋体" panose="02010600030101010101" pitchFamily="2" charset="-122"/>
                <a:cs typeface="Times New Roman" panose="02020603050405020304"/>
                <a:sym typeface="+mn-ea"/>
              </a:rPr>
              <a:t>Placeline </a:t>
            </a:r>
            <a:endParaRPr lang="en-US" b="1" kern="100" dirty="0">
              <a:solidFill>
                <a:srgbClr val="FF0000"/>
              </a:solidFill>
              <a:latin typeface="Times New Roman" panose="02020603050405020304"/>
              <a:ea typeface="宋体" panose="02010600030101010101" pitchFamily="2" charset="-122"/>
              <a:cs typeface="Times New Roman" panose="02020603050405020304"/>
              <a:sym typeface="+mn-ea"/>
            </a:endParaRPr>
          </a:p>
        </p:txBody>
      </p:sp>
      <p:sp>
        <p:nvSpPr>
          <p:cNvPr id="8" name="矩形标注 7"/>
          <p:cNvSpPr/>
          <p:nvPr/>
        </p:nvSpPr>
        <p:spPr>
          <a:xfrm>
            <a:off x="8293735" y="1917065"/>
            <a:ext cx="2538730" cy="297815"/>
          </a:xfrm>
          <a:prstGeom prst="wedgeRectCallout">
            <a:avLst>
              <a:gd name="adj1" fmla="val -69259"/>
              <a:gd name="adj2" fmla="val -36567"/>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kern="100" dirty="0">
                <a:solidFill>
                  <a:srgbClr val="FF0000"/>
                </a:solidFill>
                <a:latin typeface="Times New Roman" panose="02020603050405020304"/>
                <a:ea typeface="宋体" panose="02010600030101010101" pitchFamily="2" charset="-122"/>
                <a:cs typeface="Times New Roman" panose="02020603050405020304"/>
                <a:sym typeface="+mn-ea"/>
              </a:rPr>
              <a:t>Lead</a:t>
            </a:r>
            <a:endParaRPr lang="en-US" b="1" kern="100" dirty="0">
              <a:solidFill>
                <a:srgbClr val="FF0000"/>
              </a:solidFill>
              <a:latin typeface="Times New Roman" panose="02020603050405020304"/>
              <a:ea typeface="宋体" panose="02010600030101010101" pitchFamily="2" charset="-122"/>
              <a:cs typeface="Times New Roman" panose="02020603050405020304"/>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bldLvl="0" animBg="1"/>
      <p:bldP spid="6" grpId="1" animBg="1"/>
      <p:bldP spid="7" grpId="0" bldLvl="0" animBg="1"/>
      <p:bldP spid="7" grpId="1" animBg="1"/>
      <p:bldP spid="8" grpId="0" bldLvl="0" animBg="1"/>
      <p:bldP spid="8" grpId="1" animBg="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_rels/them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18651</Words>
  <Application>WPS 演示</Application>
  <PresentationFormat>宽屏</PresentationFormat>
  <Paragraphs>564</Paragraphs>
  <Slides>60</Slides>
  <Notes>4</Notes>
  <HiddenSlides>0</HiddenSlides>
  <MMClips>0</MMClips>
  <ScaleCrop>false</ScaleCrop>
  <HeadingPairs>
    <vt:vector size="6" baseType="variant">
      <vt:variant>
        <vt:lpstr>已用的字体</vt:lpstr>
      </vt:variant>
      <vt:variant>
        <vt:i4>29</vt:i4>
      </vt:variant>
      <vt:variant>
        <vt:lpstr>主题</vt:lpstr>
      </vt:variant>
      <vt:variant>
        <vt:i4>2</vt:i4>
      </vt:variant>
      <vt:variant>
        <vt:lpstr>幻灯片标题</vt:lpstr>
      </vt:variant>
      <vt:variant>
        <vt:i4>60</vt:i4>
      </vt:variant>
    </vt:vector>
  </HeadingPairs>
  <TitlesOfParts>
    <vt:vector size="91" baseType="lpstr">
      <vt:lpstr>Arial</vt:lpstr>
      <vt:lpstr>宋体</vt:lpstr>
      <vt:lpstr>Wingdings</vt:lpstr>
      <vt:lpstr>Wingdings</vt:lpstr>
      <vt:lpstr>微软雅黑</vt:lpstr>
      <vt:lpstr>Arial Unicode MS</vt:lpstr>
      <vt:lpstr>Calibri</vt:lpstr>
      <vt:lpstr>Verdana</vt:lpstr>
      <vt:lpstr>华文新魏</vt:lpstr>
      <vt:lpstr>Times New Roman</vt:lpstr>
      <vt:lpstr>Arial</vt:lpstr>
      <vt:lpstr>Helvetica</vt:lpstr>
      <vt:lpstr>Helvetica Neue</vt:lpstr>
      <vt:lpstr>Times Roman</vt:lpstr>
      <vt:lpstr>Segoe Print</vt:lpstr>
      <vt:lpstr>Verdana</vt:lpstr>
      <vt:lpstr>Times New Roman</vt:lpstr>
      <vt:lpstr>MS PGothic</vt:lpstr>
      <vt:lpstr>Helvetica</vt:lpstr>
      <vt:lpstr>Helvetica Neue</vt:lpstr>
      <vt:lpstr>Times Roman</vt:lpstr>
      <vt:lpstr>华文新魏</vt:lpstr>
      <vt:lpstr>Helvetica LT Pro</vt:lpstr>
      <vt:lpstr>Wingdings 2</vt:lpstr>
      <vt:lpstr>Calibri</vt:lpstr>
      <vt:lpstr>Cambria</vt:lpstr>
      <vt:lpstr>华文楷体</vt:lpstr>
      <vt:lpstr>隶书</vt:lpstr>
      <vt:lpstr>Maiandra GD</vt:lpstr>
      <vt:lpstr>WPS</vt:lpstr>
      <vt:lpstr>龙腾四海</vt:lpstr>
      <vt:lpstr>新闻知识汇总</vt:lpstr>
      <vt:lpstr>Unit 1</vt:lpstr>
      <vt:lpstr>Language features of news (Grammar) </vt:lpstr>
      <vt:lpstr>Tense</vt:lpstr>
      <vt:lpstr>Tense</vt:lpstr>
      <vt:lpstr>Voice</vt:lpstr>
      <vt:lpstr>PowerPoint 演示文稿</vt:lpstr>
      <vt:lpstr>premodifiers</vt:lpstr>
      <vt:lpstr>PowerPoint 演示文稿</vt:lpstr>
      <vt:lpstr>PowerPoint 演示文稿</vt:lpstr>
      <vt:lpstr>Exercise</vt:lpstr>
      <vt:lpstr>Source attribution(出处)</vt:lpstr>
      <vt:lpstr>Unit 2</vt:lpstr>
      <vt:lpstr>Language features of news 新闻语言特征</vt:lpstr>
      <vt:lpstr>What newspaper or magazine do you know or read?</vt:lpstr>
      <vt:lpstr>PowerPoint 演示文稿</vt:lpstr>
      <vt:lpstr>Language of news: compound word</vt:lpstr>
      <vt:lpstr>Three forms of compound words</vt:lpstr>
      <vt:lpstr>Noun compounds</vt:lpstr>
      <vt:lpstr>Adjective compounds  </vt:lpstr>
      <vt:lpstr>Verb compounds </vt:lpstr>
      <vt:lpstr>Compounds with hyphens</vt:lpstr>
      <vt:lpstr>Unit 3</vt:lpstr>
      <vt:lpstr>Features of News Headlines </vt:lpstr>
      <vt:lpstr>Grammatical Features</vt:lpstr>
      <vt:lpstr>Grammatical Features</vt:lpstr>
      <vt:lpstr>Grammatical Features</vt:lpstr>
      <vt:lpstr>Grammatical Features</vt:lpstr>
      <vt:lpstr>Grammatical Features</vt:lpstr>
      <vt:lpstr>Grammatical Features</vt:lpstr>
      <vt:lpstr>Grammatical Features</vt:lpstr>
      <vt:lpstr>Lexical Features</vt:lpstr>
      <vt:lpstr>Lexical Features</vt:lpstr>
      <vt:lpstr>Exercise</vt:lpstr>
      <vt:lpstr>Exercise</vt:lpstr>
      <vt:lpstr>PowerPoint 演示文稿</vt:lpstr>
      <vt:lpstr>PowerPoint 演示文稿</vt:lpstr>
      <vt:lpstr>What is a Feature?</vt:lpstr>
      <vt:lpstr>Types of Features </vt:lpstr>
      <vt:lpstr>PowerPoint 演示文稿</vt:lpstr>
      <vt:lpstr>Types of Features </vt:lpstr>
      <vt:lpstr>Definitions of Features </vt:lpstr>
      <vt:lpstr>Definitions of Features </vt:lpstr>
      <vt:lpstr>Definitions of Features </vt:lpstr>
      <vt:lpstr>Difference between a News story and  a Feature </vt:lpstr>
      <vt:lpstr>Difference between a News story and  a Feature </vt:lpstr>
      <vt:lpstr>Structure of a Feature </vt:lpstr>
      <vt:lpstr>Structure of a Feature - Intro or Lead</vt:lpstr>
      <vt:lpstr>Structure of a Feature - Transtion </vt:lpstr>
      <vt:lpstr>Structure of a Feature - Body</vt:lpstr>
      <vt:lpstr>Structure of a Feature - Body</vt:lpstr>
      <vt:lpstr>Structure of a Feature - Body</vt:lpstr>
      <vt:lpstr>Structure of a Feature - Conclusion</vt:lpstr>
      <vt:lpstr>Structure of a Feature - Length</vt:lpstr>
      <vt:lpstr>Language features of news (structure) </vt:lpstr>
      <vt:lpstr>PowerPoint 演示文稿</vt:lpstr>
      <vt:lpstr>PowerPoint 演示文稿</vt:lpstr>
      <vt:lpstr>PowerPoint 演示文稿</vt:lpstr>
      <vt:lpstr>PowerPoint 演示文稿</vt:lpstr>
      <vt:lpstr>Exercise-analysis of the news structure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章晔</cp:lastModifiedBy>
  <cp:revision>159</cp:revision>
  <dcterms:created xsi:type="dcterms:W3CDTF">2019-06-19T02:08:00Z</dcterms:created>
  <dcterms:modified xsi:type="dcterms:W3CDTF">2026-04-27T12:07:52Z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16A717ABFFC14DFA8981A7AAA035725B_11</vt:lpwstr>
  </property>
</Properties>
</file>